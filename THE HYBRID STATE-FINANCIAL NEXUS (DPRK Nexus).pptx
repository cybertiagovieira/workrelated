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Arial MT Pro Bold" charset="1" panose="020B0802020202020204"/>
      <p:regular r:id="rId7"/>
    </p:embeddedFont>
    <p:embeddedFont>
      <p:font typeface="Arial MT Pro" charset="1" panose="020B050202020202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03180"/>
          </a:xfrm>
          <a:custGeom>
            <a:avLst/>
            <a:gdLst/>
            <a:ahLst/>
            <a:cxnLst/>
            <a:rect r="r" b="b" t="t" l="l"/>
            <a:pathLst>
              <a:path h="10203180" w="18288000">
                <a:moveTo>
                  <a:pt x="0" y="0"/>
                </a:moveTo>
                <a:lnTo>
                  <a:pt x="18288000" y="0"/>
                </a:lnTo>
                <a:lnTo>
                  <a:pt x="18288000" y="10203180"/>
                </a:lnTo>
                <a:lnTo>
                  <a:pt x="0" y="10203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7216" y="8938616"/>
            <a:ext cx="451361" cy="432356"/>
          </a:xfrm>
          <a:custGeom>
            <a:avLst/>
            <a:gdLst/>
            <a:ahLst/>
            <a:cxnLst/>
            <a:rect r="r" b="b" t="t" l="l"/>
            <a:pathLst>
              <a:path h="432356" w="451361">
                <a:moveTo>
                  <a:pt x="0" y="0"/>
                </a:moveTo>
                <a:lnTo>
                  <a:pt x="451361" y="0"/>
                </a:lnTo>
                <a:lnTo>
                  <a:pt x="451361" y="432357"/>
                </a:lnTo>
                <a:lnTo>
                  <a:pt x="0" y="4323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6027" y="145640"/>
            <a:ext cx="1729359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4500" spc="-22">
                <a:solidFill>
                  <a:srgbClr val="18564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2025 Cyber Threat Landscape: The Rise of the Hybrid Adversary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3758" y="1329789"/>
            <a:ext cx="4331613" cy="596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b="true" sz="1639" spc="36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"HYBRID" STATE-FINANCIAL NEXUS</a:t>
            </a:r>
          </a:p>
          <a:p>
            <a:pPr algn="l">
              <a:lnSpc>
                <a:spcPts val="2295"/>
              </a:lnSpc>
            </a:pPr>
            <a:r>
              <a:rPr lang="en-US" b="true" sz="1639" spc="36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(DPRK Nexus)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0836" y="2187883"/>
            <a:ext cx="3410900" cy="1425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b="true" sz="1599" spc="3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Lazarus Group: The $3.4 Billion</a:t>
            </a:r>
          </a:p>
          <a:p>
            <a:pPr algn="l">
              <a:lnSpc>
                <a:spcPts val="1943"/>
              </a:lnSpc>
            </a:pPr>
            <a:r>
              <a:rPr lang="en-US" b="true" sz="1599" spc="3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Crypto-Theft Driver</a:t>
            </a:r>
          </a:p>
          <a:p>
            <a:pPr algn="l">
              <a:lnSpc>
                <a:spcPts val="1822"/>
              </a:lnSpc>
            </a:pPr>
            <a:r>
              <a:rPr lang="en-US" sz="1500" spc="3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Responsible for record-breaking thefts,</a:t>
            </a:r>
          </a:p>
          <a:p>
            <a:pPr algn="l">
              <a:lnSpc>
                <a:spcPts val="1822"/>
              </a:lnSpc>
            </a:pPr>
            <a:r>
              <a:rPr lang="en-US" sz="1500" spc="3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including the $1.3 billion Bybit heist achieved via a sophisticated supply chain expioit in storage software.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4410" y="3855202"/>
            <a:ext cx="3223379" cy="1425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43"/>
              </a:lnSpc>
              <a:spcBef>
                <a:spcPct val="0"/>
              </a:spcBef>
            </a:pPr>
            <a:r>
              <a:rPr lang="en-US" b="true" sz="1599" spc="3" strike="noStrike" u="none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Famous Chollima: The IT</a:t>
            </a:r>
          </a:p>
          <a:p>
            <a:pPr algn="l" marL="0" indent="0" lvl="0">
              <a:lnSpc>
                <a:spcPts val="1943"/>
              </a:lnSpc>
              <a:spcBef>
                <a:spcPct val="0"/>
              </a:spcBef>
            </a:pPr>
            <a:r>
              <a:rPr lang="en-US" b="true" sz="1599" spc="3" strike="noStrike" u="none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Insider Threat</a:t>
            </a:r>
          </a:p>
          <a:p>
            <a:pPr algn="l" marL="0" indent="0" lvl="0">
              <a:lnSpc>
                <a:spcPts val="1822"/>
              </a:lnSpc>
              <a:spcBef>
                <a:spcPct val="0"/>
              </a:spcBef>
            </a:pPr>
            <a:r>
              <a:rPr lang="en-US" sz="1500" spc="3" strike="noStrike" u="none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North Koreen actors posed as remote IT developers to infiltrate Western Fintechs and European defense sectore to inject backdoors.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57800" y="2556525"/>
            <a:ext cx="3011869" cy="1406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22"/>
              </a:lnSpc>
              <a:spcBef>
                <a:spcPct val="0"/>
              </a:spcBef>
            </a:pPr>
            <a:r>
              <a:rPr lang="en-US" b="true" sz="1500" spc="3" strike="noStrike" u="none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Social Engineering 2.0 via "Operation DreamJob":</a:t>
            </a:r>
          </a:p>
          <a:p>
            <a:pPr algn="l" marL="0" indent="0" lvl="0">
              <a:lnSpc>
                <a:spcPts val="1822"/>
              </a:lnSpc>
              <a:spcBef>
                <a:spcPct val="0"/>
              </a:spcBef>
            </a:pPr>
            <a:r>
              <a:rPr lang="en-US" sz="1500" spc="3" strike="noStrike" u="none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Actors utilized Linkedin and WhatsApp for month-long engagements to deliver payloads, moving beyond standard plushing.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17320" y="5877006"/>
            <a:ext cx="2860477" cy="49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1"/>
              </a:lnSpc>
            </a:pPr>
            <a:r>
              <a:rPr lang="en-US" b="true" sz="1553" spc="77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RANSOMWARE CARTELS &amp;</a:t>
            </a:r>
          </a:p>
          <a:p>
            <a:pPr algn="l">
              <a:lnSpc>
                <a:spcPts val="1811"/>
              </a:lnSpc>
            </a:pPr>
            <a:r>
              <a:rPr lang="en-US" b="true" sz="1553" spc="77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SPLINTER GROUPS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2897" y="6692546"/>
            <a:ext cx="3043714" cy="439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6"/>
              </a:lnSpc>
            </a:pPr>
            <a:r>
              <a:rPr lang="en-US" b="true" sz="1500" spc="-12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Fragmentation and Resurgence of</a:t>
            </a:r>
          </a:p>
          <a:p>
            <a:pPr algn="l">
              <a:lnSpc>
                <a:spcPts val="1636"/>
              </a:lnSpc>
            </a:pPr>
            <a:r>
              <a:rPr lang="en-US" b="true" sz="1500" spc="-12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"Big Game Hunting"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38285" y="3353093"/>
            <a:ext cx="1122283" cy="49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6"/>
              </a:lnSpc>
            </a:pPr>
            <a:r>
              <a:rPr lang="en-US" b="true" sz="1599" spc="182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European</a:t>
            </a:r>
          </a:p>
          <a:p>
            <a:pPr algn="ctr">
              <a:lnSpc>
                <a:spcPts val="1846"/>
              </a:lnSpc>
            </a:pPr>
            <a:r>
              <a:rPr lang="en-US" b="true" sz="1599" spc="182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defense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17789" y="3839897"/>
            <a:ext cx="714256" cy="516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b="true" sz="1425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Western</a:t>
            </a:r>
          </a:p>
          <a:p>
            <a:pPr algn="ctr">
              <a:lnSpc>
                <a:spcPts val="1996"/>
              </a:lnSpc>
            </a:pPr>
            <a:r>
              <a:rPr lang="en-US" b="true" sz="1425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fintech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2897" y="7196976"/>
            <a:ext cx="3592020" cy="99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0"/>
              </a:lnSpc>
            </a:pPr>
            <a:r>
              <a:rPr lang="en-US" sz="1500" spc="3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Following law enforcement actions against major cartels, aggressive splinter groups like RansomHub and Qilin emerged with ruthless "double extortion"</a:t>
            </a:r>
          </a:p>
          <a:p>
            <a:pPr algn="l">
              <a:lnSpc>
                <a:spcPts val="1570"/>
              </a:lnSpc>
            </a:pPr>
            <a:r>
              <a:rPr lang="en-US" sz="1500" spc="3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tactics.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2896" y="8759570"/>
            <a:ext cx="2234684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 spc="-10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Jaguar Land Rover (JLR)</a:t>
            </a:r>
          </a:p>
          <a:p>
            <a:pPr algn="l">
              <a:lnSpc>
                <a:spcPts val="2100"/>
              </a:lnSpc>
            </a:pPr>
            <a:r>
              <a:rPr lang="en-US" b="true" sz="1500" spc="-10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Catastrophic Outage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5977" y="9295500"/>
            <a:ext cx="3870603" cy="873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1"/>
              </a:lnSpc>
            </a:pPr>
            <a:r>
              <a:rPr lang="en-US" sz="1500" spc="21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A ransomware attack forced a 5-week</a:t>
            </a:r>
          </a:p>
          <a:p>
            <a:pPr algn="l">
              <a:lnSpc>
                <a:spcPts val="1671"/>
              </a:lnSpc>
            </a:pPr>
            <a:r>
              <a:rPr lang="en-US" sz="1500" spc="21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standown of UK plants, resulting in an</a:t>
            </a:r>
          </a:p>
          <a:p>
            <a:pPr algn="l">
              <a:lnSpc>
                <a:spcPts val="1671"/>
              </a:lnSpc>
            </a:pPr>
            <a:r>
              <a:rPr lang="en-US" sz="1500" spc="21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estimated £1.9 billion (22.3 billion) economic</a:t>
            </a:r>
          </a:p>
          <a:p>
            <a:pPr algn="l">
              <a:lnSpc>
                <a:spcPts val="1671"/>
              </a:lnSpc>
            </a:pPr>
            <a:r>
              <a:rPr lang="en-US" sz="1500" spc="21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impact.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59275" y="2452391"/>
            <a:ext cx="1926550" cy="493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0"/>
              </a:lnSpc>
            </a:pPr>
            <a:r>
              <a:rPr lang="en-US" b="true" sz="1500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Western cloud-based</a:t>
            </a:r>
          </a:p>
          <a:p>
            <a:pPr algn="ctr">
              <a:lnSpc>
                <a:spcPts val="1810"/>
              </a:lnSpc>
            </a:pPr>
            <a:r>
              <a:rPr lang="en-US" b="true" sz="1500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organizations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46382" y="4334842"/>
            <a:ext cx="385524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 spc="22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2025 TOP EXPLOITED VULNERABILITIES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69669" y="4674021"/>
            <a:ext cx="1183481" cy="32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5"/>
              </a:lnSpc>
              <a:spcBef>
                <a:spcPct val="0"/>
              </a:spcBef>
            </a:pPr>
            <a:r>
              <a:rPr lang="en-US" b="true" sz="1400" spc="-25" strike="noStrike" u="non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Target System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84849" y="4647374"/>
            <a:ext cx="1704380" cy="32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5"/>
              </a:lnSpc>
            </a:pPr>
            <a:r>
              <a:rPr lang="en-US" b="true" sz="1400" spc="-25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Primary Threat Actor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68465" y="4657710"/>
            <a:ext cx="1025485" cy="32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5"/>
              </a:lnSpc>
              <a:spcBef>
                <a:spcPct val="0"/>
              </a:spcBef>
            </a:pPr>
            <a:r>
              <a:rPr lang="en-US" b="true" sz="1400" spc="-25" strike="noStrike" u="non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Vulnerability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84037" y="7776416"/>
            <a:ext cx="2768370" cy="1177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59"/>
              </a:lnSpc>
              <a:spcBef>
                <a:spcPct val="0"/>
              </a:spcBef>
            </a:pPr>
            <a:r>
              <a:rPr lang="en-US" b="true" sz="1400" spc="19" strike="noStrike" u="none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LockBit 5.0: Targeting Core Banking </a:t>
            </a:r>
            <a:r>
              <a:rPr lang="en-US" b="true" sz="1400" spc="19" strike="noStrike" u="none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</a:t>
            </a:r>
            <a:r>
              <a:rPr lang="en-US" b="true" sz="1400" spc="19" strike="noStrike" u="none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nfrastructure</a:t>
            </a:r>
          </a:p>
          <a:p>
            <a:pPr algn="l" marL="0" indent="0" lvl="0">
              <a:lnSpc>
                <a:spcPts val="1559"/>
              </a:lnSpc>
              <a:spcBef>
                <a:spcPct val="0"/>
              </a:spcBef>
            </a:pPr>
            <a:r>
              <a:rPr lang="en-US" sz="1400" spc="19" strike="noStrike" u="none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The resurfaced group deployed cross-platform capabilities specifically targeting Linux and V</a:t>
            </a:r>
            <a:r>
              <a:rPr lang="en-US" sz="1400" spc="19" strike="noStrike" u="none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M</a:t>
            </a:r>
            <a:r>
              <a:rPr lang="en-US" sz="1400" spc="19" strike="noStrike" u="none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ware E</a:t>
            </a:r>
            <a:r>
              <a:rPr lang="en-US" sz="1400" spc="19" strike="noStrike" u="none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S</a:t>
            </a:r>
            <a:r>
              <a:rPr lang="en-US" sz="1400" spc="19" strike="noStrike" u="none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X</a:t>
            </a:r>
            <a:r>
              <a:rPr lang="en-US" sz="1400" spc="19" strike="noStrike" u="none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i</a:t>
            </a:r>
            <a:r>
              <a:rPr lang="en-US" sz="1400" spc="19" strike="noStrike" u="none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 servers.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12080" y="9054845"/>
            <a:ext cx="3579376" cy="1083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1"/>
              </a:lnSpc>
              <a:spcBef>
                <a:spcPct val="0"/>
              </a:spcBef>
            </a:pPr>
            <a:r>
              <a:rPr lang="en-US" b="true" sz="1500" spc="21" strike="noStrike" u="none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Cl0p: Weaponizing Zero-Day</a:t>
            </a:r>
          </a:p>
          <a:p>
            <a:pPr algn="l" marL="0" indent="0" lvl="0">
              <a:lnSpc>
                <a:spcPts val="1671"/>
              </a:lnSpc>
              <a:spcBef>
                <a:spcPct val="0"/>
              </a:spcBef>
            </a:pPr>
            <a:r>
              <a:rPr lang="en-US" b="true" sz="1500" spc="21" strike="noStrike" u="none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Exploits</a:t>
            </a:r>
          </a:p>
          <a:p>
            <a:pPr algn="l" marL="0" indent="0" lvl="0">
              <a:lnSpc>
                <a:spcPts val="1671"/>
              </a:lnSpc>
              <a:spcBef>
                <a:spcPct val="0"/>
              </a:spcBef>
            </a:pPr>
            <a:r>
              <a:rPr lang="en-US" sz="1500" spc="21" strike="noStrike" u="none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Utilized CVE-2025-61882 in Oracle E-</a:t>
            </a:r>
          </a:p>
          <a:p>
            <a:pPr algn="l" marL="0" indent="0" lvl="0">
              <a:lnSpc>
                <a:spcPts val="1671"/>
              </a:lnSpc>
              <a:spcBef>
                <a:spcPct val="0"/>
              </a:spcBef>
            </a:pPr>
            <a:r>
              <a:rPr lang="en-US" sz="1500" spc="21" strike="noStrike" u="none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Business Suite to perform mass extortion</a:t>
            </a:r>
          </a:p>
          <a:p>
            <a:pPr algn="l" marL="0" indent="0" lvl="0">
              <a:lnSpc>
                <a:spcPts val="1671"/>
              </a:lnSpc>
              <a:spcBef>
                <a:spcPct val="0"/>
              </a:spcBef>
            </a:pPr>
            <a:r>
              <a:rPr lang="en-US" sz="1500" spc="21" strike="noStrike" u="none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against multinational ERP systems.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029099" y="7515278"/>
            <a:ext cx="2275523" cy="609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3"/>
              </a:lnSpc>
            </a:pPr>
            <a:r>
              <a:rPr lang="en-US" b="true" sz="1500" spc="7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European manufacturing</a:t>
            </a:r>
          </a:p>
          <a:p>
            <a:pPr algn="ctr">
              <a:lnSpc>
                <a:spcPts val="1573"/>
              </a:lnSpc>
            </a:pPr>
            <a:r>
              <a:rPr lang="en-US" b="true" sz="1500" spc="7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and core banking</a:t>
            </a:r>
          </a:p>
          <a:p>
            <a:pPr algn="ctr">
              <a:lnSpc>
                <a:spcPts val="1573"/>
              </a:lnSpc>
            </a:pPr>
            <a:r>
              <a:rPr lang="en-US" b="true" sz="1500" spc="7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targets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73690" y="7611617"/>
            <a:ext cx="2936200" cy="1481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1"/>
              </a:lnSpc>
            </a:pPr>
            <a:r>
              <a:rPr lang="en-US" b="true" sz="1400" spc="1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Inter-Bank</a:t>
            </a:r>
          </a:p>
          <a:p>
            <a:pPr algn="l">
              <a:lnSpc>
                <a:spcPts val="1491"/>
              </a:lnSpc>
            </a:pPr>
            <a:r>
              <a:rPr lang="en-US" b="true" sz="1400" spc="1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Messaging Exploitation</a:t>
            </a:r>
          </a:p>
          <a:p>
            <a:pPr algn="l">
              <a:lnSpc>
                <a:spcPts val="1491"/>
              </a:lnSpc>
            </a:pPr>
            <a:r>
              <a:rPr lang="en-US" sz="1400" spc="1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Targeted a monolithic third-party software provider to compromise over 100 financial institutions, specifically causing secondary infections across UK and European banking partner networks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73690" y="9111043"/>
            <a:ext cx="3337646" cy="1036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8"/>
              </a:lnSpc>
            </a:pPr>
            <a:r>
              <a:rPr lang="en-US" b="true" sz="1500" spc="-9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Volt Typhoon: Edge Device</a:t>
            </a:r>
          </a:p>
          <a:p>
            <a:pPr algn="l">
              <a:lnSpc>
                <a:spcPts val="1588"/>
              </a:lnSpc>
            </a:pPr>
            <a:r>
              <a:rPr lang="en-US" b="true" sz="1500" spc="-9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Exploitation</a:t>
            </a:r>
          </a:p>
          <a:p>
            <a:pPr algn="l">
              <a:lnSpc>
                <a:spcPts val="1588"/>
              </a:lnSpc>
            </a:pPr>
            <a:r>
              <a:rPr lang="en-US" sz="1500" spc="-9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Targeted FortiWeb WAF appliances (CVE-2025-64448) to maintain persistencein critical infrastructure.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830300" y="1383740"/>
            <a:ext cx="3460909" cy="49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b="true" sz="1599" spc="46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CLOUD &amp; IDENTITY SPECIALISTS</a:t>
            </a:r>
          </a:p>
          <a:p>
            <a:pPr algn="l">
              <a:lnSpc>
                <a:spcPts val="1855"/>
              </a:lnSpc>
            </a:pPr>
            <a:r>
              <a:rPr lang="en-US" b="true" sz="1599" spc="46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(Advanced eCrime)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60951" y="2083063"/>
            <a:ext cx="3947784" cy="1131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8"/>
              </a:lnSpc>
            </a:pPr>
            <a:r>
              <a:rPr lang="en-US" b="true" sz="1500" spc="-1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16 Billion Credential "Mega Leak"</a:t>
            </a:r>
          </a:p>
          <a:p>
            <a:pPr algn="l">
              <a:lnSpc>
                <a:spcPts val="1738"/>
              </a:lnSpc>
            </a:pPr>
            <a:r>
              <a:rPr lang="en-US" sz="1500" spc="-1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An early 2025 aggregation of historical breaches rendered password-based authentication obsolete and fueled automated account takeovers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086359" y="3291024"/>
            <a:ext cx="3201641" cy="1236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88"/>
              </a:lnSpc>
              <a:spcBef>
                <a:spcPct val="0"/>
              </a:spcBef>
            </a:pPr>
            <a:r>
              <a:rPr lang="en-US" b="true" sz="1500" spc="-9" strike="noStrike" u="none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Scattered Spider (UNC3944):</a:t>
            </a:r>
          </a:p>
          <a:p>
            <a:pPr algn="l" marL="0" indent="0" lvl="0">
              <a:lnSpc>
                <a:spcPts val="1588"/>
              </a:lnSpc>
              <a:spcBef>
                <a:spcPct val="0"/>
              </a:spcBef>
            </a:pPr>
            <a:r>
              <a:rPr lang="en-US" b="true" sz="1500" spc="-9" strike="noStrike" u="none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Identity Hijacking</a:t>
            </a:r>
          </a:p>
          <a:p>
            <a:pPr algn="l" marL="0" indent="0" lvl="0">
              <a:lnSpc>
                <a:spcPts val="1588"/>
              </a:lnSpc>
              <a:spcBef>
                <a:spcPct val="0"/>
              </a:spcBef>
            </a:pPr>
            <a:r>
              <a:rPr lang="en-US" sz="1500" spc="-9" strike="noStrike" u="none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Targeted global retail (Marks &amp; Spencer) and alrlines using "MFA Fatigue" and social engineering to impersonate IT support.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687550" y="4594234"/>
            <a:ext cx="3600450" cy="1036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88"/>
              </a:lnSpc>
              <a:spcBef>
                <a:spcPct val="0"/>
              </a:spcBef>
            </a:pPr>
            <a:r>
              <a:rPr lang="en-US" b="true" sz="1500" spc="-9" strike="noStrike" u="none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SaaS-to-SaaS Lateral Movement</a:t>
            </a:r>
          </a:p>
          <a:p>
            <a:pPr algn="l" marL="0" indent="0" lvl="0">
              <a:lnSpc>
                <a:spcPts val="1588"/>
              </a:lnSpc>
              <a:spcBef>
                <a:spcPct val="0"/>
              </a:spcBef>
            </a:pPr>
            <a:r>
              <a:rPr lang="en-US" sz="1500" spc="-9" strike="noStrike" u="none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ShinyHunters compromised OAuth</a:t>
            </a:r>
          </a:p>
          <a:p>
            <a:pPr algn="l" marL="0" indent="0" lvl="0">
              <a:lnSpc>
                <a:spcPts val="1588"/>
              </a:lnSpc>
              <a:spcBef>
                <a:spcPct val="0"/>
              </a:spcBef>
            </a:pPr>
            <a:r>
              <a:rPr lang="en-US" sz="1500" spc="-9" strike="noStrike" u="none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integration tokens (e.g., Salesforce/Salesloft) to access data without needing direct user credentials.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944600" y="5837239"/>
            <a:ext cx="3807023" cy="50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6"/>
              </a:lnSpc>
            </a:pPr>
            <a:r>
              <a:rPr lang="en-US" b="true" sz="1549" spc="75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STATE-SPONSORED ESPIONAGE &amp;</a:t>
            </a:r>
          </a:p>
          <a:p>
            <a:pPr algn="l">
              <a:lnSpc>
                <a:spcPts val="1876"/>
              </a:lnSpc>
            </a:pPr>
            <a:r>
              <a:rPr lang="en-US" b="true" sz="1549" spc="75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DISRUPTION (China &amp; Russia Nexus)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138910" y="6744308"/>
            <a:ext cx="4149090" cy="1036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88"/>
              </a:lnSpc>
              <a:spcBef>
                <a:spcPct val="0"/>
              </a:spcBef>
            </a:pPr>
            <a:r>
              <a:rPr lang="en-US" b="true" sz="1500" spc="-9" strike="noStrike" u="none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Salt Typhoon: Rapid Weaponization of</a:t>
            </a:r>
          </a:p>
          <a:p>
            <a:pPr algn="l" marL="0" indent="0" lvl="0">
              <a:lnSpc>
                <a:spcPts val="1588"/>
              </a:lnSpc>
              <a:spcBef>
                <a:spcPct val="0"/>
              </a:spcBef>
            </a:pPr>
            <a:r>
              <a:rPr lang="en-US" b="true" sz="1500" spc="-9" strike="noStrike" u="none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Vulnerabilities</a:t>
            </a:r>
          </a:p>
          <a:p>
            <a:pPr algn="l" marL="0" indent="0" lvl="0">
              <a:lnSpc>
                <a:spcPts val="1588"/>
              </a:lnSpc>
              <a:spcBef>
                <a:spcPct val="0"/>
              </a:spcBef>
            </a:pPr>
            <a:r>
              <a:rPr lang="en-US" sz="1500" spc="-9" strike="noStrike" u="none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Exploited "ToolShell" vulnerabilities in Microsoft</a:t>
            </a:r>
          </a:p>
          <a:p>
            <a:pPr algn="l" marL="0" indent="0" lvl="0">
              <a:lnSpc>
                <a:spcPts val="1588"/>
              </a:lnSpc>
              <a:spcBef>
                <a:spcPct val="0"/>
              </a:spcBef>
            </a:pPr>
            <a:r>
              <a:rPr lang="en-US" sz="1500" spc="-9" strike="noStrike" u="none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SharePoint to compromise government and healthcare networks globally.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137540" y="7890686"/>
            <a:ext cx="4150460" cy="1222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3"/>
              </a:lnSpc>
            </a:pPr>
            <a:r>
              <a:rPr lang="en-US" b="true" sz="1500" spc="6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NoName057(16): DDoS as Strategic</a:t>
            </a:r>
          </a:p>
          <a:p>
            <a:pPr algn="l">
              <a:lnSpc>
                <a:spcPts val="1923"/>
              </a:lnSpc>
            </a:pPr>
            <a:r>
              <a:rPr lang="en-US" b="true" sz="1500" spc="6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Harassment</a:t>
            </a:r>
          </a:p>
          <a:p>
            <a:pPr algn="l">
              <a:lnSpc>
                <a:spcPts val="1923"/>
              </a:lnSpc>
            </a:pPr>
            <a:r>
              <a:rPr lang="en-US" sz="1500" spc="6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Russia-aligned hacktivists targeted European</a:t>
            </a:r>
          </a:p>
          <a:p>
            <a:pPr algn="l">
              <a:lnSpc>
                <a:spcPts val="1923"/>
              </a:lnSpc>
            </a:pPr>
            <a:r>
              <a:rPr lang="en-US" sz="1500" spc="6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transport and public administration to disrupt support for Ukraine.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182359" y="9450515"/>
            <a:ext cx="4105641" cy="63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88"/>
              </a:lnSpc>
              <a:spcBef>
                <a:spcPct val="0"/>
              </a:spcBef>
            </a:pPr>
            <a:r>
              <a:rPr lang="en-US" sz="1500" spc="-9" strike="noStrike" u="none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Maintained a high operational tempo targeting ministries of foreign affairs and telecommunications.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694051" y="4993427"/>
            <a:ext cx="1363623" cy="1300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400" spc="-5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CVE-2025-61882</a:t>
            </a:r>
          </a:p>
          <a:p>
            <a:pPr algn="l">
              <a:lnSpc>
                <a:spcPts val="2613"/>
              </a:lnSpc>
            </a:pPr>
            <a:r>
              <a:rPr lang="en-US" sz="1400" spc="-5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CVE-2025-53770</a:t>
            </a:r>
          </a:p>
          <a:p>
            <a:pPr algn="l">
              <a:lnSpc>
                <a:spcPts val="2613"/>
              </a:lnSpc>
            </a:pPr>
            <a:r>
              <a:rPr lang="en-US" sz="1400" spc="-5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CVE-2025-64446</a:t>
            </a:r>
          </a:p>
          <a:p>
            <a:pPr algn="l">
              <a:lnSpc>
                <a:spcPts val="2613"/>
              </a:lnSpc>
            </a:pPr>
            <a:r>
              <a:rPr lang="en-US" sz="1400" spc="-5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CVE-2025-10035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161248" y="4977765"/>
            <a:ext cx="1635800" cy="1300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3"/>
              </a:lnSpc>
              <a:spcBef>
                <a:spcPct val="0"/>
              </a:spcBef>
            </a:pPr>
            <a:r>
              <a:rPr lang="en-US" sz="1400" spc="-5" strike="noStrike" u="none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Oracle EBS (ERP)</a:t>
            </a:r>
          </a:p>
          <a:p>
            <a:pPr algn="l" marL="0" indent="0" lvl="0">
              <a:lnSpc>
                <a:spcPts val="2613"/>
              </a:lnSpc>
              <a:spcBef>
                <a:spcPct val="0"/>
              </a:spcBef>
            </a:pPr>
            <a:r>
              <a:rPr lang="en-US" sz="1400" spc="-5" strike="noStrike" u="none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Microsoft SharePoint</a:t>
            </a:r>
          </a:p>
          <a:p>
            <a:pPr algn="l" marL="0" indent="0" lvl="0">
              <a:lnSpc>
                <a:spcPts val="2613"/>
              </a:lnSpc>
              <a:spcBef>
                <a:spcPct val="0"/>
              </a:spcBef>
            </a:pPr>
            <a:r>
              <a:rPr lang="en-US" sz="1400" spc="-5" strike="noStrike" u="none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FortiWeb WAF</a:t>
            </a:r>
          </a:p>
          <a:p>
            <a:pPr algn="l" marL="0" indent="0" lvl="0">
              <a:lnSpc>
                <a:spcPts val="2613"/>
              </a:lnSpc>
              <a:spcBef>
                <a:spcPct val="0"/>
              </a:spcBef>
            </a:pPr>
            <a:r>
              <a:rPr lang="en-US" sz="1400" spc="-5" strike="noStrike" u="none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GoAnywhere MFT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920466" y="4993427"/>
            <a:ext cx="1688068" cy="1303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57"/>
              </a:lnSpc>
              <a:spcBef>
                <a:spcPct val="0"/>
              </a:spcBef>
            </a:pPr>
            <a:r>
              <a:rPr lang="en-US" sz="1370" spc="-5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Cl0p</a:t>
            </a:r>
            <a:r>
              <a:rPr lang="en-US" sz="1370" spc="-5" strike="noStrike" u="none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Ransomware</a:t>
            </a:r>
          </a:p>
          <a:p>
            <a:pPr algn="l" marL="0" indent="0" lvl="0">
              <a:lnSpc>
                <a:spcPts val="2557"/>
              </a:lnSpc>
              <a:spcBef>
                <a:spcPct val="0"/>
              </a:spcBef>
            </a:pPr>
            <a:r>
              <a:rPr lang="en-US" sz="1370" spc="-5" strike="noStrike" u="none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Salt Typhoon / APT27</a:t>
            </a:r>
          </a:p>
          <a:p>
            <a:pPr algn="l" marL="0" indent="0" lvl="0">
              <a:lnSpc>
                <a:spcPts val="2557"/>
              </a:lnSpc>
              <a:spcBef>
                <a:spcPct val="0"/>
              </a:spcBef>
            </a:pPr>
            <a:r>
              <a:rPr lang="en-US" sz="1370" spc="-5" strike="noStrike" u="none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Volt Typhoon</a:t>
            </a:r>
          </a:p>
          <a:p>
            <a:pPr algn="l" marL="0" indent="0" lvl="0">
              <a:lnSpc>
                <a:spcPts val="2557"/>
              </a:lnSpc>
              <a:spcBef>
                <a:spcPct val="0"/>
              </a:spcBef>
            </a:pPr>
            <a:r>
              <a:rPr lang="en-US" sz="1370" spc="-5" strike="noStrike" u="none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LockBit 5.0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182359" y="9162668"/>
            <a:ext cx="4040981" cy="270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3"/>
              </a:lnSpc>
            </a:pPr>
            <a:r>
              <a:rPr lang="en-US" b="true" sz="1500" spc="-32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Mustang Panda (HoneyMyte): European Focus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389156" y="2881732"/>
            <a:ext cx="3555444" cy="129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b="true" sz="1372">
                <a:solidFill>
                  <a:srgbClr val="3735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UNCSS37 (The Snowflake Actor)</a:t>
            </a:r>
          </a:p>
          <a:p>
            <a:pPr algn="l">
              <a:lnSpc>
                <a:spcPts val="1657"/>
              </a:lnSpc>
            </a:pPr>
            <a:r>
              <a:rPr lang="en-US" sz="1372">
                <a:solidFill>
                  <a:srgbClr val="373531"/>
                </a:solidFill>
                <a:latin typeface="Arial MT Pro"/>
                <a:ea typeface="Arial MT Pro"/>
                <a:cs typeface="Arial MT Pro"/>
                <a:sym typeface="Arial MT Pro"/>
              </a:rPr>
              <a:t>Systematically targeted over 160 organizations, including Santander and Tickermaster, by exploiting cloud environments leaking Multi-Factor Authentication (MFA)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DAHA1bwdZd0</dc:identifier>
  <dcterms:modified xsi:type="dcterms:W3CDTF">2011-08-01T06:04:30Z</dcterms:modified>
  <cp:revision>1</cp:revision>
  <dc:title>THE "HYBRID" STATE-FINANCIAL NEXUS (DPRK Nexus)</dc:title>
</cp:coreProperties>
</file>