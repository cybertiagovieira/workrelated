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embeddedFontLst>
    <p:embeddedFont>
      <p:font typeface="Crimson Pro Medium"/>
      <p:regular r:id="rId201314"/>
    </p:embeddedFont>
    <p:embeddedFont>
      <p:font typeface="Crimson Pro ExtraBold"/>
      <p:regular r:id="rId201315"/>
    </p:embeddedFont>
    <p:embeddedFont>
      <p:font typeface="Crimson Pro Black"/>
      <p:regular r:id="rId201316"/>
    </p:embeddedFont>
    <p:embeddedFont>
      <p:font typeface="Crimson Pro ExtraLight"/>
      <p:regular r:id="rId201317"/>
    </p:embeddedFont>
    <p:embeddedFont>
      <p:font typeface="Crimson Pro Light"/>
      <p:regular r:id="rId201318"/>
    </p:embeddedFont>
    <p:embeddedFont>
      <p:font typeface="Crimson Pro"/>
      <p:regular r:id="rId201319"/>
    </p:embeddedFont>
    <p:embeddedFont>
      <p:font typeface="Crimson Pro SemiBold"/>
      <p:regular r:id="rId201320"/>
    </p:embeddedFont>
    <p:embeddedFont>
      <p:font typeface="Crimson Pro Bold"/>
      <p:regular r:id="rId201321"/>
    </p:embeddedFont>
    <p:embeddedFont>
      <p:font typeface="Heebo Thin"/>
      <p:regular r:id="rId201322"/>
    </p:embeddedFont>
    <p:embeddedFont>
      <p:font typeface="Heebo ExtraLight"/>
      <p:regular r:id="rId201323"/>
    </p:embeddedFont>
    <p:embeddedFont>
      <p:font typeface="Heebo Light"/>
      <p:regular r:id="rId201324"/>
    </p:embeddedFont>
    <p:embeddedFont>
      <p:font typeface="Heebo"/>
      <p:regular r:id="rId201325"/>
    </p:embeddedFont>
    <p:embeddedFont>
      <p:font typeface="Heebo Medium"/>
      <p:regular r:id="rId201326"/>
    </p:embeddedFont>
    <p:embeddedFont>
      <p:font typeface="Heebo SemiBold"/>
      <p:regular r:id="rId201327"/>
    </p:embeddedFont>
    <p:embeddedFont>
      <p:font typeface="Heebo Bold"/>
      <p:regular r:id="rId201328"/>
    </p:embeddedFont>
    <p:embeddedFont>
      <p:font typeface="Heebo ExtraBold"/>
      <p:regular r:id="rId201329"/>
    </p:embeddedFont>
    <p:embeddedFont>
      <p:font typeface="Heebo Black"/>
      <p:regular r:id="rId20133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1"/>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1475" y="828477"/>
            <a:ext cx="1884514" cy="213717"/>
          </a:xfrm>
          <a:prstGeom prst="roundRect">
            <a:avLst>
              <a:gd name="adj" fmla="val 7894"/>
            </a:avLst>
          </a:prstGeom>
          <a:solidFill>
            <a:srgbClr val="CCFFF3"/>
          </a:solidFill>
          <a:ln/>
        </p:spPr>
      </p:sp>
      <p:sp>
        <p:nvSpPr>
          <p:cNvPr id="3" name="Text 1"/>
          <p:cNvSpPr/>
          <p:nvPr/>
        </p:nvSpPr>
        <p:spPr>
          <a:xfrm>
            <a:off x="745809" y="870645"/>
            <a:ext cx="2325431" cy="129381"/>
          </a:xfrm>
          <a:prstGeom prst="rect">
            <a:avLst/>
          </a:prstGeom>
          <a:noFill/>
          <a:ln/>
        </p:spPr>
        <p:txBody>
          <a:bodyPr wrap="none" lIns="0" tIns="0" rIns="0" bIns="0" rtlCol="0" anchor="t"/>
          <a:lstStyle/>
          <a:p>
            <a:pPr algn="l" indent="0" marL="0">
              <a:lnSpc>
                <a:spcPct val="96000"/>
              </a:lnSpc>
              <a:buNone/>
            </a:pPr>
            <a:r>
              <a:rPr lang="en-US" sz="850" dirty="0">
                <a:solidFill>
                  <a:srgbClr val="000000"/>
                </a:solidFill>
                <a:latin typeface="Heebo" pitchFamily="34" charset="0"/>
                <a:ea typeface="Heebo" pitchFamily="34" charset="-122"/>
                <a:cs typeface="Heebo" pitchFamily="34" charset="-120"/>
              </a:rPr>
              <a:t>2025–2026 STRATEGIC OUTLOOK</a:t>
            </a:r>
            <a:endParaRPr lang="en-US" sz="850" dirty="0"/>
          </a:p>
        </p:txBody>
      </p:sp>
      <p:sp>
        <p:nvSpPr>
          <p:cNvPr id="4" name="Text 2"/>
          <p:cNvSpPr/>
          <p:nvPr/>
        </p:nvSpPr>
        <p:spPr>
          <a:xfrm>
            <a:off x="661475" y="1089918"/>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00674F"/>
                </a:solidFill>
                <a:latin typeface="Crimson Pro SemiBold" pitchFamily="34" charset="0"/>
                <a:ea typeface="Crimson Pro SemiBold" pitchFamily="34" charset="-122"/>
                <a:cs typeface="Crimson Pro SemiBold" pitchFamily="34" charset="-120"/>
              </a:rPr>
              <a:t>Operational Cybersecurity Outlook: EU Asset Management</a:t>
            </a:r>
            <a:endParaRPr lang="en-US" sz="2750" dirty="0"/>
          </a:p>
        </p:txBody>
      </p:sp>
      <p:sp>
        <p:nvSpPr>
          <p:cNvPr id="5" name="Text 3"/>
          <p:cNvSpPr/>
          <p:nvPr/>
        </p:nvSpPr>
        <p:spPr>
          <a:xfrm>
            <a:off x="661475" y="1708348"/>
            <a:ext cx="1086874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In an era of deep digital integration and geopolitical volatility, EU asset management faces a complex cyber threat landscape. Boards must shift from perimeter-based security toward proactive, evidence-based digital resilience frameworks.</a:t>
            </a:r>
            <a:endParaRPr lang="en-US" sz="1100" dirty="0"/>
          </a:p>
        </p:txBody>
      </p:sp>
      <p:sp>
        <p:nvSpPr>
          <p:cNvPr id="6" name="Text 4"/>
          <p:cNvSpPr/>
          <p:nvPr/>
        </p:nvSpPr>
        <p:spPr>
          <a:xfrm>
            <a:off x="661475" y="2303661"/>
            <a:ext cx="10868745" cy="351433"/>
          </a:xfrm>
          <a:prstGeom prst="rect">
            <a:avLst/>
          </a:prstGeom>
          <a:noFill/>
          <a:ln/>
        </p:spPr>
        <p:txBody>
          <a:bodyPr wrap="none" lIns="0" tIns="0" rIns="0" bIns="0" rtlCol="0" anchor="t"/>
          <a:lstStyle/>
          <a:p>
            <a:pPr algn="l" indent="0" marL="0">
              <a:lnSpc>
                <a:spcPct val="104000"/>
              </a:lnSpc>
              <a:buNone/>
            </a:pPr>
            <a:r>
              <a:rPr lang="en-US" sz="2200" dirty="0">
                <a:solidFill>
                  <a:srgbClr val="00674F"/>
                </a:solidFill>
                <a:latin typeface="Crimson Pro SemiBold" pitchFamily="34" charset="0"/>
                <a:ea typeface="Crimson Pro SemiBold" pitchFamily="34" charset="-122"/>
                <a:cs typeface="Crimson Pro SemiBold" pitchFamily="34" charset="-120"/>
              </a:rPr>
              <a:t>Top 5 Cybersecurity Threats (2025–2026)</a:t>
            </a:r>
            <a:endParaRPr lang="en-US" sz="2200" dirty="0"/>
          </a:p>
        </p:txBody>
      </p:sp>
      <p:sp>
        <p:nvSpPr>
          <p:cNvPr id="7" name="Shape 5"/>
          <p:cNvSpPr/>
          <p:nvPr/>
        </p:nvSpPr>
        <p:spPr>
          <a:xfrm>
            <a:off x="661475" y="2834283"/>
            <a:ext cx="10868745" cy="2644775"/>
          </a:xfrm>
          <a:prstGeom prst="roundRect">
            <a:avLst>
              <a:gd name="adj" fmla="val 797"/>
            </a:avLst>
          </a:prstGeom>
          <a:noFill/>
          <a:ln w="6350">
            <a:solidFill>
              <a:srgbClr val="000000">
                <a:alpha val="8000"/>
              </a:srgbClr>
            </a:solidFill>
            <a:prstDash val="solid"/>
          </a:ln>
        </p:spPr>
      </p:sp>
      <p:sp>
        <p:nvSpPr>
          <p:cNvPr id="8" name="Shape 6"/>
          <p:cNvSpPr/>
          <p:nvPr/>
        </p:nvSpPr>
        <p:spPr>
          <a:xfrm>
            <a:off x="661475" y="3207841"/>
            <a:ext cx="10868745" cy="8787"/>
          </a:xfrm>
          <a:prstGeom prst="rect">
            <a:avLst/>
          </a:prstGeom>
          <a:solidFill>
            <a:srgbClr val="000000">
              <a:alpha val="8000"/>
            </a:srgbClr>
          </a:solidFill>
          <a:ln/>
        </p:spPr>
      </p:sp>
      <p:sp>
        <p:nvSpPr>
          <p:cNvPr id="9" name="Shape 7"/>
          <p:cNvSpPr/>
          <p:nvPr/>
        </p:nvSpPr>
        <p:spPr>
          <a:xfrm>
            <a:off x="661475" y="3578225"/>
            <a:ext cx="10868745" cy="8787"/>
          </a:xfrm>
          <a:prstGeom prst="rect">
            <a:avLst/>
          </a:prstGeom>
          <a:solidFill>
            <a:srgbClr val="000000">
              <a:alpha val="8000"/>
            </a:srgbClr>
          </a:solidFill>
          <a:ln/>
        </p:spPr>
      </p:sp>
      <p:sp>
        <p:nvSpPr>
          <p:cNvPr id="10" name="Shape 8"/>
          <p:cNvSpPr/>
          <p:nvPr/>
        </p:nvSpPr>
        <p:spPr>
          <a:xfrm>
            <a:off x="661475" y="4156670"/>
            <a:ext cx="10868745" cy="8787"/>
          </a:xfrm>
          <a:prstGeom prst="rect">
            <a:avLst/>
          </a:prstGeom>
          <a:solidFill>
            <a:srgbClr val="000000">
              <a:alpha val="8000"/>
            </a:srgbClr>
          </a:solidFill>
          <a:ln/>
        </p:spPr>
      </p:sp>
      <p:sp>
        <p:nvSpPr>
          <p:cNvPr id="11" name="Shape 9"/>
          <p:cNvSpPr/>
          <p:nvPr/>
        </p:nvSpPr>
        <p:spPr>
          <a:xfrm>
            <a:off x="661475" y="4735116"/>
            <a:ext cx="10868745" cy="8787"/>
          </a:xfrm>
          <a:prstGeom prst="rect">
            <a:avLst/>
          </a:prstGeom>
          <a:solidFill>
            <a:srgbClr val="000000">
              <a:alpha val="8000"/>
            </a:srgbClr>
          </a:solidFill>
          <a:ln/>
        </p:spPr>
      </p:sp>
      <p:sp>
        <p:nvSpPr>
          <p:cNvPr id="12" name="Shape 10"/>
          <p:cNvSpPr/>
          <p:nvPr/>
        </p:nvSpPr>
        <p:spPr>
          <a:xfrm>
            <a:off x="661475" y="5105499"/>
            <a:ext cx="10868745" cy="8787"/>
          </a:xfrm>
          <a:prstGeom prst="rect">
            <a:avLst/>
          </a:prstGeom>
          <a:solidFill>
            <a:srgbClr val="000000">
              <a:alpha val="8000"/>
            </a:srgbClr>
          </a:solidFill>
          <a:ln/>
        </p:spPr>
      </p:sp>
      <p:sp>
        <p:nvSpPr>
          <p:cNvPr id="13" name="Text 11"/>
          <p:cNvSpPr/>
          <p:nvPr/>
        </p:nvSpPr>
        <p:spPr>
          <a:xfrm>
            <a:off x="809506" y="2918619"/>
            <a:ext cx="3946525" cy="208062"/>
          </a:xfrm>
          <a:prstGeom prst="rect">
            <a:avLst/>
          </a:prstGeom>
          <a:noFill/>
          <a:ln/>
        </p:spPr>
        <p:txBody>
          <a:bodyPr wrap="none" lIns="0" tIns="0" rIns="0" bIns="0" rtlCol="0" anchor="t"/>
          <a:lstStyle/>
          <a:p>
            <a:pPr algn="l" indent="0" marL="0">
              <a:lnSpc>
                <a:spcPct val="123000"/>
              </a:lnSpc>
              <a:buNone/>
            </a:pPr>
            <a:r>
              <a:rPr lang="en-US" sz="1100" b="1" dirty="0">
                <a:solidFill>
                  <a:srgbClr val="000000"/>
                </a:solidFill>
                <a:latin typeface="Heebo Bold" pitchFamily="34" charset="0"/>
                <a:ea typeface="Heebo Bold" pitchFamily="34" charset="-122"/>
                <a:cs typeface="Heebo Bold" pitchFamily="34" charset="-120"/>
              </a:rPr>
              <a:t>Threat Category</a:t>
            </a:r>
            <a:endParaRPr lang="en-US" sz="1100" dirty="0"/>
          </a:p>
        </p:txBody>
      </p:sp>
      <p:sp>
        <p:nvSpPr>
          <p:cNvPr id="14" name="Text 12"/>
          <p:cNvSpPr/>
          <p:nvPr/>
        </p:nvSpPr>
        <p:spPr>
          <a:xfrm>
            <a:off x="4427427" y="2918619"/>
            <a:ext cx="3946525" cy="208062"/>
          </a:xfrm>
          <a:prstGeom prst="rect">
            <a:avLst/>
          </a:prstGeom>
          <a:noFill/>
          <a:ln/>
        </p:spPr>
        <p:txBody>
          <a:bodyPr wrap="none" lIns="0" tIns="0" rIns="0" bIns="0" rtlCol="0" anchor="t"/>
          <a:lstStyle/>
          <a:p>
            <a:pPr algn="l" indent="0" marL="0">
              <a:lnSpc>
                <a:spcPct val="123000"/>
              </a:lnSpc>
              <a:buNone/>
            </a:pPr>
            <a:r>
              <a:rPr lang="en-US" sz="1100" b="1" dirty="0">
                <a:solidFill>
                  <a:srgbClr val="000000"/>
                </a:solidFill>
                <a:latin typeface="Heebo Bold" pitchFamily="34" charset="0"/>
                <a:ea typeface="Heebo Bold" pitchFamily="34" charset="-122"/>
                <a:cs typeface="Heebo Bold" pitchFamily="34" charset="-120"/>
              </a:rPr>
              <a:t>Risk Level</a:t>
            </a:r>
            <a:endParaRPr lang="en-US" sz="1100" dirty="0"/>
          </a:p>
        </p:txBody>
      </p:sp>
      <p:sp>
        <p:nvSpPr>
          <p:cNvPr id="15" name="Text 13"/>
          <p:cNvSpPr/>
          <p:nvPr/>
        </p:nvSpPr>
        <p:spPr>
          <a:xfrm>
            <a:off x="8045348" y="2918619"/>
            <a:ext cx="3946525" cy="208062"/>
          </a:xfrm>
          <a:prstGeom prst="rect">
            <a:avLst/>
          </a:prstGeom>
          <a:noFill/>
          <a:ln/>
        </p:spPr>
        <p:txBody>
          <a:bodyPr wrap="none" lIns="0" tIns="0" rIns="0" bIns="0" rtlCol="0" anchor="t"/>
          <a:lstStyle/>
          <a:p>
            <a:pPr algn="l" indent="0" marL="0">
              <a:lnSpc>
                <a:spcPct val="123000"/>
              </a:lnSpc>
              <a:buNone/>
            </a:pPr>
            <a:r>
              <a:rPr lang="en-US" sz="1100" b="1" dirty="0">
                <a:solidFill>
                  <a:srgbClr val="000000"/>
                </a:solidFill>
                <a:latin typeface="Heebo Bold" pitchFamily="34" charset="0"/>
                <a:ea typeface="Heebo Bold" pitchFamily="34" charset="-122"/>
                <a:cs typeface="Heebo Bold" pitchFamily="34" charset="-120"/>
              </a:rPr>
              <a:t>Key Metric</a:t>
            </a:r>
            <a:endParaRPr lang="en-US" sz="1100" dirty="0"/>
          </a:p>
        </p:txBody>
      </p:sp>
      <p:sp>
        <p:nvSpPr>
          <p:cNvPr id="16" name="Text 14"/>
          <p:cNvSpPr/>
          <p:nvPr/>
        </p:nvSpPr>
        <p:spPr>
          <a:xfrm>
            <a:off x="809506" y="3289002"/>
            <a:ext cx="3946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1. Identity-Centric Intrusion &amp; Credential Abuse</a:t>
            </a:r>
            <a:endParaRPr lang="en-US" sz="1100" dirty="0"/>
          </a:p>
        </p:txBody>
      </p:sp>
      <p:sp>
        <p:nvSpPr>
          <p:cNvPr id="17" name="Text 15"/>
          <p:cNvSpPr/>
          <p:nvPr/>
        </p:nvSpPr>
        <p:spPr>
          <a:xfrm>
            <a:off x="4427427" y="3289002"/>
            <a:ext cx="3946525" cy="208062"/>
          </a:xfrm>
          <a:prstGeom prst="rect">
            <a:avLst/>
          </a:prstGeom>
          <a:noFill/>
          <a:ln/>
        </p:spPr>
        <p:txBody>
          <a:bodyPr wrap="none" lIns="0" tIns="0" rIns="0" bIns="0" rtlCol="0" anchor="t"/>
          <a:lstStyle/>
          <a:p>
            <a:pPr algn="l" indent="0" marL="0">
              <a:lnSpc>
                <a:spcPct val="123000"/>
              </a:lnSpc>
              <a:buNone/>
            </a:pPr>
            <a:r>
              <a:rPr lang="en-US" sz="1100" b="1" dirty="0">
                <a:solidFill>
                  <a:srgbClr val="00915E"/>
                </a:solidFill>
                <a:latin typeface="Heebo Bold" pitchFamily="34" charset="0"/>
                <a:ea typeface="Heebo Bold" pitchFamily="34" charset="-122"/>
                <a:cs typeface="Heebo Bold" pitchFamily="34" charset="-120"/>
              </a:rPr>
              <a:t>Critical</a:t>
            </a:r>
            <a:endParaRPr lang="en-US" sz="1100" dirty="0"/>
          </a:p>
        </p:txBody>
      </p:sp>
      <p:sp>
        <p:nvSpPr>
          <p:cNvPr id="18" name="Text 16"/>
          <p:cNvSpPr/>
          <p:nvPr/>
        </p:nvSpPr>
        <p:spPr>
          <a:xfrm>
            <a:off x="8045348" y="3289002"/>
            <a:ext cx="3946525" cy="208062"/>
          </a:xfrm>
          <a:prstGeom prst="rect">
            <a:avLst/>
          </a:prstGeom>
          <a:noFill/>
          <a:ln/>
        </p:spPr>
        <p:txBody>
          <a:bodyPr wrap="none" lIns="0" tIns="0" rIns="0" bIns="0" rtlCol="0" anchor="t"/>
          <a:lstStyle/>
          <a:p>
            <a:pPr algn="l" indent="0" marL="0">
              <a:lnSpc>
                <a:spcPct val="123000"/>
              </a:lnSpc>
              <a:buNone/>
            </a:pPr>
            <a:r>
              <a:rPr lang="en-US" sz="1100" b="1" dirty="0">
                <a:solidFill>
                  <a:srgbClr val="00915E"/>
                </a:solidFill>
                <a:latin typeface="Heebo Bold" pitchFamily="34" charset="0"/>
                <a:ea typeface="Heebo Bold" pitchFamily="34" charset="-122"/>
                <a:cs typeface="Heebo Bold" pitchFamily="34" charset="-120"/>
              </a:rPr>
              <a:t>97%</a:t>
            </a:r>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 of identity attacks use password spraying</a:t>
            </a:r>
            <a:endParaRPr lang="en-US" sz="1100" dirty="0"/>
          </a:p>
        </p:txBody>
      </p:sp>
      <p:sp>
        <p:nvSpPr>
          <p:cNvPr id="19" name="Text 17"/>
          <p:cNvSpPr/>
          <p:nvPr/>
        </p:nvSpPr>
        <p:spPr>
          <a:xfrm>
            <a:off x="809506" y="3659386"/>
            <a:ext cx="3946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2. AI-Generated Phishing &amp; Cognitive Impersonation</a:t>
            </a:r>
            <a:endParaRPr lang="en-US" sz="1100" dirty="0"/>
          </a:p>
        </p:txBody>
      </p:sp>
      <p:sp>
        <p:nvSpPr>
          <p:cNvPr id="20" name="Text 18"/>
          <p:cNvSpPr/>
          <p:nvPr/>
        </p:nvSpPr>
        <p:spPr>
          <a:xfrm>
            <a:off x="4427427" y="3659386"/>
            <a:ext cx="3946525" cy="208062"/>
          </a:xfrm>
          <a:prstGeom prst="rect">
            <a:avLst/>
          </a:prstGeom>
          <a:noFill/>
          <a:ln/>
        </p:spPr>
        <p:txBody>
          <a:bodyPr wrap="none" lIns="0" tIns="0" rIns="0" bIns="0" rtlCol="0" anchor="t"/>
          <a:lstStyle/>
          <a:p>
            <a:pPr algn="l" indent="0" marL="0">
              <a:lnSpc>
                <a:spcPct val="123000"/>
              </a:lnSpc>
              <a:buNone/>
            </a:pPr>
            <a:r>
              <a:rPr lang="en-US" sz="1100" b="1" dirty="0">
                <a:solidFill>
                  <a:srgbClr val="00915E"/>
                </a:solidFill>
                <a:latin typeface="Heebo Bold" pitchFamily="34" charset="0"/>
                <a:ea typeface="Heebo Bold" pitchFamily="34" charset="-122"/>
                <a:cs typeface="Heebo Bold" pitchFamily="34" charset="-120"/>
              </a:rPr>
              <a:t>High</a:t>
            </a:r>
            <a:endParaRPr lang="en-US" sz="1100" dirty="0"/>
          </a:p>
        </p:txBody>
      </p:sp>
      <p:sp>
        <p:nvSpPr>
          <p:cNvPr id="21" name="Text 19"/>
          <p:cNvSpPr/>
          <p:nvPr/>
        </p:nvSpPr>
        <p:spPr>
          <a:xfrm>
            <a:off x="8045348" y="3659386"/>
            <a:ext cx="3336941"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NLP phishing and voice-cloned deepfakes bypass automated filters to execute fraudulent transfers</a:t>
            </a:r>
            <a:endParaRPr lang="en-US" sz="1100" dirty="0"/>
          </a:p>
        </p:txBody>
      </p:sp>
      <p:sp>
        <p:nvSpPr>
          <p:cNvPr id="22" name="Text 20"/>
          <p:cNvSpPr/>
          <p:nvPr/>
        </p:nvSpPr>
        <p:spPr>
          <a:xfrm>
            <a:off x="809506" y="4237831"/>
            <a:ext cx="3946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3. Multi-Extortion &amp; Pure Data Ransomware</a:t>
            </a:r>
            <a:endParaRPr lang="en-US" sz="1100" dirty="0"/>
          </a:p>
        </p:txBody>
      </p:sp>
      <p:sp>
        <p:nvSpPr>
          <p:cNvPr id="23" name="Text 21"/>
          <p:cNvSpPr/>
          <p:nvPr/>
        </p:nvSpPr>
        <p:spPr>
          <a:xfrm>
            <a:off x="4427427" y="4237831"/>
            <a:ext cx="3946525" cy="208062"/>
          </a:xfrm>
          <a:prstGeom prst="rect">
            <a:avLst/>
          </a:prstGeom>
          <a:noFill/>
          <a:ln/>
        </p:spPr>
        <p:txBody>
          <a:bodyPr wrap="none" lIns="0" tIns="0" rIns="0" bIns="0" rtlCol="0" anchor="t"/>
          <a:lstStyle/>
          <a:p>
            <a:pPr algn="l" indent="0" marL="0">
              <a:lnSpc>
                <a:spcPct val="123000"/>
              </a:lnSpc>
              <a:buNone/>
            </a:pPr>
            <a:r>
              <a:rPr lang="en-US" sz="1100" b="1" dirty="0">
                <a:solidFill>
                  <a:srgbClr val="00915E"/>
                </a:solidFill>
                <a:latin typeface="Heebo Bold" pitchFamily="34" charset="0"/>
                <a:ea typeface="Heebo Bold" pitchFamily="34" charset="-122"/>
                <a:cs typeface="Heebo Bold" pitchFamily="34" charset="-120"/>
              </a:rPr>
              <a:t>Critical</a:t>
            </a:r>
            <a:endParaRPr lang="en-US" sz="1100" dirty="0"/>
          </a:p>
        </p:txBody>
      </p:sp>
      <p:sp>
        <p:nvSpPr>
          <p:cNvPr id="24" name="Text 22"/>
          <p:cNvSpPr/>
          <p:nvPr/>
        </p:nvSpPr>
        <p:spPr>
          <a:xfrm>
            <a:off x="8045348" y="4237831"/>
            <a:ext cx="3336941"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Threat actors focus on data leak exposure over encryption, targeting proprietary IP</a:t>
            </a:r>
            <a:endParaRPr lang="en-US" sz="1100" dirty="0"/>
          </a:p>
        </p:txBody>
      </p:sp>
      <p:sp>
        <p:nvSpPr>
          <p:cNvPr id="25" name="Text 23"/>
          <p:cNvSpPr/>
          <p:nvPr/>
        </p:nvSpPr>
        <p:spPr>
          <a:xfrm>
            <a:off x="809506" y="4816277"/>
            <a:ext cx="3946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4. Third-Party Supply Chain &amp; API Abuse</a:t>
            </a:r>
            <a:endParaRPr lang="en-US" sz="1100" dirty="0"/>
          </a:p>
        </p:txBody>
      </p:sp>
      <p:sp>
        <p:nvSpPr>
          <p:cNvPr id="26" name="Text 24"/>
          <p:cNvSpPr/>
          <p:nvPr/>
        </p:nvSpPr>
        <p:spPr>
          <a:xfrm>
            <a:off x="4427427" y="4816277"/>
            <a:ext cx="3946525" cy="208062"/>
          </a:xfrm>
          <a:prstGeom prst="rect">
            <a:avLst/>
          </a:prstGeom>
          <a:noFill/>
          <a:ln/>
        </p:spPr>
        <p:txBody>
          <a:bodyPr wrap="none" lIns="0" tIns="0" rIns="0" bIns="0" rtlCol="0" anchor="t"/>
          <a:lstStyle/>
          <a:p>
            <a:pPr algn="l" indent="0" marL="0">
              <a:lnSpc>
                <a:spcPct val="123000"/>
              </a:lnSpc>
              <a:buNone/>
            </a:pPr>
            <a:r>
              <a:rPr lang="en-US" sz="1100" b="1" dirty="0">
                <a:solidFill>
                  <a:srgbClr val="00915E"/>
                </a:solidFill>
                <a:latin typeface="Heebo Bold" pitchFamily="34" charset="0"/>
                <a:ea typeface="Heebo Bold" pitchFamily="34" charset="-122"/>
                <a:cs typeface="Heebo Bold" pitchFamily="34" charset="-120"/>
              </a:rPr>
              <a:t>High</a:t>
            </a:r>
            <a:endParaRPr lang="en-US" sz="1100" dirty="0"/>
          </a:p>
        </p:txBody>
      </p:sp>
      <p:sp>
        <p:nvSpPr>
          <p:cNvPr id="27" name="Text 25"/>
          <p:cNvSpPr/>
          <p:nvPr/>
        </p:nvSpPr>
        <p:spPr>
          <a:xfrm>
            <a:off x="8045348" y="4816277"/>
            <a:ext cx="3946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Third-party breaches doubled; </a:t>
            </a:r>
            <a:pPr algn="l" indent="0" marL="0">
              <a:lnSpc>
                <a:spcPct val="123000"/>
              </a:lnSpc>
              <a:buNone/>
            </a:pPr>
            <a:r>
              <a:rPr lang="en-US" sz="1100" b="1" dirty="0">
                <a:solidFill>
                  <a:srgbClr val="00915E"/>
                </a:solidFill>
                <a:latin typeface="Heebo Bold" pitchFamily="34" charset="0"/>
                <a:ea typeface="Heebo Bold" pitchFamily="34" charset="-122"/>
                <a:cs typeface="Heebo Bold" pitchFamily="34" charset="-120"/>
              </a:rPr>
              <a:t>30%</a:t>
            </a:r>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 of all intrusions</a:t>
            </a:r>
            <a:endParaRPr lang="en-US" sz="1100" dirty="0"/>
          </a:p>
        </p:txBody>
      </p:sp>
      <p:sp>
        <p:nvSpPr>
          <p:cNvPr id="28" name="Text 26"/>
          <p:cNvSpPr/>
          <p:nvPr/>
        </p:nvSpPr>
        <p:spPr>
          <a:xfrm>
            <a:off x="809506" y="5186660"/>
            <a:ext cx="3946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5. Cloud Posture Gaps &amp; Shadow AI Exposure</a:t>
            </a:r>
            <a:endParaRPr lang="en-US" sz="1100" dirty="0"/>
          </a:p>
        </p:txBody>
      </p:sp>
      <p:sp>
        <p:nvSpPr>
          <p:cNvPr id="29" name="Text 27"/>
          <p:cNvSpPr/>
          <p:nvPr/>
        </p:nvSpPr>
        <p:spPr>
          <a:xfrm>
            <a:off x="4427427" y="5186660"/>
            <a:ext cx="3946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Moderate-High</a:t>
            </a:r>
            <a:endParaRPr lang="en-US" sz="1100" dirty="0"/>
          </a:p>
        </p:txBody>
      </p:sp>
      <p:sp>
        <p:nvSpPr>
          <p:cNvPr id="30" name="Text 28"/>
          <p:cNvSpPr/>
          <p:nvPr/>
        </p:nvSpPr>
        <p:spPr>
          <a:xfrm>
            <a:off x="8045348" y="5186660"/>
            <a:ext cx="3946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Shadow AI in </a:t>
            </a:r>
            <a:pPr algn="l" indent="0" marL="0">
              <a:lnSpc>
                <a:spcPct val="123000"/>
              </a:lnSpc>
              <a:buNone/>
            </a:pPr>
            <a:r>
              <a:rPr lang="en-US" sz="1100" b="1" dirty="0">
                <a:solidFill>
                  <a:srgbClr val="00915E"/>
                </a:solidFill>
                <a:latin typeface="Heebo Bold" pitchFamily="34" charset="0"/>
                <a:ea typeface="Heebo Bold" pitchFamily="34" charset="-122"/>
                <a:cs typeface="Heebo Bold" pitchFamily="34" charset="-120"/>
              </a:rPr>
              <a:t>20%</a:t>
            </a:r>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 of breaches; exposes PII at </a:t>
            </a:r>
            <a:pPr algn="l" indent="0" marL="0">
              <a:lnSpc>
                <a:spcPct val="123000"/>
              </a:lnSpc>
              <a:buNone/>
            </a:pPr>
            <a:r>
              <a:rPr lang="en-US" sz="1100" b="1" dirty="0">
                <a:solidFill>
                  <a:srgbClr val="00915E"/>
                </a:solidFill>
                <a:latin typeface="Heebo Bold" pitchFamily="34" charset="0"/>
                <a:ea typeface="Heebo Bold" pitchFamily="34" charset="-122"/>
                <a:cs typeface="Heebo Bold" pitchFamily="34" charset="-120"/>
              </a:rPr>
              <a:t>65%</a:t>
            </a:r>
            <a:endParaRPr lang="en-US" sz="1100" dirty="0"/>
          </a:p>
        </p:txBody>
      </p:sp>
      <p:sp>
        <p:nvSpPr>
          <p:cNvPr id="31" name="Text 29"/>
          <p:cNvSpPr/>
          <p:nvPr/>
        </p:nvSpPr>
        <p:spPr>
          <a:xfrm>
            <a:off x="661475" y="5613400"/>
            <a:ext cx="1086874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000000"/>
                </a:solidFill>
                <a:latin typeface="Heebo" pitchFamily="34" charset="0"/>
                <a:ea typeface="Heebo" pitchFamily="34" charset="-122"/>
                <a:cs typeface="Heebo" pitchFamily="34" charset="-120"/>
              </a:rPr>
              <a:t>Core dependencies — NAV calculation chains, OMS/PMS infrastructure, and market-data feeds — represent concentrated risk. AIFMs delegating NAV to third-party administrators face systemic exposure: pricing manipulation or publication delays threaten investor harm and redemption suspensions.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469602"/>
            <a:ext cx="10868745" cy="225723"/>
          </a:xfrm>
          <a:prstGeom prst="rect">
            <a:avLst/>
          </a:prstGeom>
          <a:noFill/>
          <a:ln/>
        </p:spPr>
        <p:txBody>
          <a:bodyPr wrap="none" lIns="0" tIns="0" rIns="0" bIns="0" rtlCol="0" anchor="t"/>
          <a:lstStyle/>
          <a:p>
            <a:pPr algn="l" indent="0" marL="0">
              <a:lnSpc>
                <a:spcPct val="104000"/>
              </a:lnSpc>
              <a:buNone/>
            </a:pPr>
            <a:r>
              <a:rPr lang="en-US" sz="1400" dirty="0">
                <a:solidFill>
                  <a:srgbClr val="00674F"/>
                </a:solidFill>
                <a:latin typeface="Crimson Pro SemiBold" pitchFamily="34" charset="0"/>
                <a:ea typeface="Crimson Pro SemiBold" pitchFamily="34" charset="-122"/>
                <a:cs typeface="Crimson Pro SemiBold" pitchFamily="34" charset="-120"/>
              </a:rPr>
              <a:t>Financial Impact: Asset Management Sector</a:t>
            </a:r>
            <a:endParaRPr lang="en-US" sz="1400" dirty="0"/>
          </a:p>
        </p:txBody>
      </p:sp>
      <p:sp>
        <p:nvSpPr>
          <p:cNvPr id="3" name="Text 1"/>
          <p:cNvSpPr/>
          <p:nvPr/>
        </p:nvSpPr>
        <p:spPr>
          <a:xfrm>
            <a:off x="661475" y="758329"/>
            <a:ext cx="11478330" cy="82947"/>
          </a:xfrm>
          <a:prstGeom prst="rect">
            <a:avLst/>
          </a:prstGeom>
          <a:noFill/>
          <a:ln/>
        </p:spPr>
        <p:txBody>
          <a:bodyPr wrap="none" lIns="0" tIns="0" rIns="0" bIns="0" rtlCol="0" anchor="t"/>
          <a:lstStyle/>
          <a:p>
            <a:pPr algn="l" indent="0" marL="0">
              <a:lnSpc>
                <a:spcPct val="96000"/>
              </a:lnSpc>
              <a:buNone/>
            </a:pPr>
            <a:r>
              <a:rPr lang="en-US" sz="550" dirty="0">
                <a:solidFill>
                  <a:srgbClr val="000000"/>
                </a:solidFill>
                <a:latin typeface="Heebo" pitchFamily="34" charset="0"/>
                <a:ea typeface="Heebo" pitchFamily="34" charset="-122"/>
                <a:cs typeface="Heebo" pitchFamily="34" charset="-120"/>
              </a:rPr>
              <a:t>The financial services industry absorbs the </a:t>
            </a:r>
            <a:pPr algn="l" indent="0" marL="0">
              <a:lnSpc>
                <a:spcPct val="96000"/>
              </a:lnSpc>
              <a:buNone/>
            </a:pPr>
            <a:r>
              <a:rPr lang="en-US" sz="550" b="1" dirty="0">
                <a:solidFill>
                  <a:srgbClr val="000000"/>
                </a:solidFill>
                <a:latin typeface="Heebo Bold" pitchFamily="34" charset="0"/>
                <a:ea typeface="Heebo Bold" pitchFamily="34" charset="-122"/>
                <a:cs typeface="Heebo Bold" pitchFamily="34" charset="-120"/>
              </a:rPr>
              <a:t>second-highest data breach costs globally</a:t>
            </a:r>
            <a:pPr algn="l" indent="0" marL="0">
              <a:lnSpc>
                <a:spcPct val="96000"/>
              </a:lnSpc>
              <a:buNone/>
            </a:pPr>
            <a:r>
              <a:rPr lang="en-US" sz="550" dirty="0">
                <a:solidFill>
                  <a:srgbClr val="000000"/>
                </a:solidFill>
                <a:latin typeface="Heebo" pitchFamily="34" charset="0"/>
                <a:ea typeface="Heebo" pitchFamily="34" charset="-122"/>
                <a:cs typeface="Heebo" pitchFamily="34" charset="-120"/>
              </a:rPr>
              <a:t>, driven by stringent regulation, complex recovery pipelines, and reputational damage. Asset management carries unique cost premiums distinguishing it from cross-industry baselines.</a:t>
            </a:r>
            <a:endParaRPr lang="en-US" sz="550" dirty="0"/>
          </a:p>
        </p:txBody>
      </p:sp>
      <p:sp>
        <p:nvSpPr>
          <p:cNvPr id="4" name="Text 2"/>
          <p:cNvSpPr/>
          <p:nvPr/>
        </p:nvSpPr>
        <p:spPr>
          <a:xfrm>
            <a:off x="1608990" y="912813"/>
            <a:ext cx="3519499" cy="238323"/>
          </a:xfrm>
          <a:prstGeom prst="rect">
            <a:avLst/>
          </a:prstGeom>
          <a:noFill/>
          <a:ln/>
        </p:spPr>
        <p:txBody>
          <a:bodyPr wrap="none" lIns="0" tIns="0" rIns="0" bIns="0" rtlCol="0" anchor="t"/>
          <a:lstStyle/>
          <a:p>
            <a:pPr algn="ctr" indent="0" marL="0">
              <a:lnSpc>
                <a:spcPct val="83000"/>
              </a:lnSpc>
              <a:buNone/>
            </a:pPr>
            <a:r>
              <a:rPr lang="en-US" sz="1850" dirty="0">
                <a:solidFill>
                  <a:srgbClr val="00915E"/>
                </a:solidFill>
                <a:latin typeface="Crimson Pro SemiBold" pitchFamily="34" charset="0"/>
                <a:ea typeface="Crimson Pro SemiBold" pitchFamily="34" charset="-122"/>
                <a:cs typeface="Crimson Pro SemiBold" pitchFamily="34" charset="-120"/>
              </a:rPr>
              <a:t>$5.56M</a:t>
            </a:r>
            <a:endParaRPr lang="en-US" sz="1850" dirty="0"/>
          </a:p>
        </p:txBody>
      </p:sp>
      <p:sp>
        <p:nvSpPr>
          <p:cNvPr id="5" name="Text 3"/>
          <p:cNvSpPr/>
          <p:nvPr/>
        </p:nvSpPr>
        <p:spPr>
          <a:xfrm>
            <a:off x="661475" y="1210866"/>
            <a:ext cx="5414629" cy="112812"/>
          </a:xfrm>
          <a:prstGeom prst="rect">
            <a:avLst/>
          </a:prstGeom>
          <a:noFill/>
          <a:ln/>
        </p:spPr>
        <p:txBody>
          <a:bodyPr wrap="none" lIns="0" tIns="0" rIns="0" bIns="0" rtlCol="0" anchor="t"/>
          <a:lstStyle/>
          <a:p>
            <a:pPr algn="ctr" indent="0" marL="0">
              <a:lnSpc>
                <a:spcPct val="104000"/>
              </a:lnSpc>
              <a:buNone/>
            </a:pPr>
            <a:r>
              <a:rPr lang="en-US" sz="700" dirty="0">
                <a:solidFill>
                  <a:srgbClr val="000000"/>
                </a:solidFill>
                <a:latin typeface="Crimson Pro SemiBold" pitchFamily="34" charset="0"/>
                <a:ea typeface="Crimson Pro SemiBold" pitchFamily="34" charset="-122"/>
                <a:cs typeface="Crimson Pro SemiBold" pitchFamily="34" charset="-120"/>
              </a:rPr>
              <a:t>Avg. Data Breach Cost</a:t>
            </a:r>
            <a:endParaRPr lang="en-US" sz="700" dirty="0"/>
          </a:p>
        </p:txBody>
      </p:sp>
      <p:sp>
        <p:nvSpPr>
          <p:cNvPr id="6" name="Text 4"/>
          <p:cNvSpPr/>
          <p:nvPr/>
        </p:nvSpPr>
        <p:spPr>
          <a:xfrm>
            <a:off x="661475" y="1342529"/>
            <a:ext cx="5414629" cy="82947"/>
          </a:xfrm>
          <a:prstGeom prst="rect">
            <a:avLst/>
          </a:prstGeom>
          <a:noFill/>
          <a:ln/>
        </p:spPr>
        <p:txBody>
          <a:bodyPr wrap="none" lIns="0" tIns="0" rIns="0" bIns="0" rtlCol="0" anchor="t"/>
          <a:lstStyle/>
          <a:p>
            <a:pPr algn="ctr" indent="0" marL="0">
              <a:lnSpc>
                <a:spcPct val="96000"/>
              </a:lnSpc>
              <a:buNone/>
            </a:pPr>
            <a:r>
              <a:rPr lang="en-US" sz="550" dirty="0">
                <a:solidFill>
                  <a:srgbClr val="000000"/>
                </a:solidFill>
                <a:latin typeface="Heebo" pitchFamily="34" charset="0"/>
                <a:ea typeface="Heebo" pitchFamily="34" charset="-122"/>
                <a:cs typeface="Heebo" pitchFamily="34" charset="-120"/>
              </a:rPr>
              <a:t>vs. $4.44M global baseline — a </a:t>
            </a:r>
            <a:pPr algn="ctr" indent="0" marL="0">
              <a:lnSpc>
                <a:spcPct val="96000"/>
              </a:lnSpc>
              <a:buNone/>
            </a:pPr>
            <a:r>
              <a:rPr lang="en-US" sz="550" b="1" dirty="0">
                <a:solidFill>
                  <a:srgbClr val="000000"/>
                </a:solidFill>
                <a:latin typeface="Heebo Bold" pitchFamily="34" charset="0"/>
                <a:ea typeface="Heebo Bold" pitchFamily="34" charset="-122"/>
                <a:cs typeface="Heebo Bold" pitchFamily="34" charset="-120"/>
              </a:rPr>
              <a:t>$1.12M sector premium</a:t>
            </a:r>
            <a:endParaRPr lang="en-US" sz="550" dirty="0"/>
          </a:p>
        </p:txBody>
      </p:sp>
      <p:sp>
        <p:nvSpPr>
          <p:cNvPr id="7" name="Text 5"/>
          <p:cNvSpPr/>
          <p:nvPr/>
        </p:nvSpPr>
        <p:spPr>
          <a:xfrm>
            <a:off x="7063107" y="912813"/>
            <a:ext cx="3519499" cy="238323"/>
          </a:xfrm>
          <a:prstGeom prst="rect">
            <a:avLst/>
          </a:prstGeom>
          <a:noFill/>
          <a:ln/>
        </p:spPr>
        <p:txBody>
          <a:bodyPr wrap="none" lIns="0" tIns="0" rIns="0" bIns="0" rtlCol="0" anchor="t"/>
          <a:lstStyle/>
          <a:p>
            <a:pPr algn="ctr" indent="0" marL="0">
              <a:lnSpc>
                <a:spcPct val="83000"/>
              </a:lnSpc>
              <a:buNone/>
            </a:pPr>
            <a:r>
              <a:rPr lang="en-US" sz="1850" dirty="0">
                <a:solidFill>
                  <a:srgbClr val="00915E"/>
                </a:solidFill>
                <a:latin typeface="Crimson Pro SemiBold" pitchFamily="34" charset="0"/>
                <a:ea typeface="Crimson Pro SemiBold" pitchFamily="34" charset="-122"/>
                <a:cs typeface="Crimson Pro SemiBold" pitchFamily="34" charset="-120"/>
              </a:rPr>
              <a:t>$2.58M</a:t>
            </a:r>
            <a:endParaRPr lang="en-US" sz="1850" dirty="0"/>
          </a:p>
        </p:txBody>
      </p:sp>
      <p:sp>
        <p:nvSpPr>
          <p:cNvPr id="8" name="Text 6"/>
          <p:cNvSpPr/>
          <p:nvPr/>
        </p:nvSpPr>
        <p:spPr>
          <a:xfrm>
            <a:off x="6115492" y="1210866"/>
            <a:ext cx="5414728" cy="112812"/>
          </a:xfrm>
          <a:prstGeom prst="rect">
            <a:avLst/>
          </a:prstGeom>
          <a:noFill/>
          <a:ln/>
        </p:spPr>
        <p:txBody>
          <a:bodyPr wrap="none" lIns="0" tIns="0" rIns="0" bIns="0" rtlCol="0" anchor="t"/>
          <a:lstStyle/>
          <a:p>
            <a:pPr algn="ctr" indent="0" marL="0">
              <a:lnSpc>
                <a:spcPct val="104000"/>
              </a:lnSpc>
              <a:buNone/>
            </a:pPr>
            <a:r>
              <a:rPr lang="en-US" sz="700" dirty="0">
                <a:solidFill>
                  <a:srgbClr val="000000"/>
                </a:solidFill>
                <a:latin typeface="Crimson Pro SemiBold" pitchFamily="34" charset="0"/>
                <a:ea typeface="Crimson Pro SemiBold" pitchFamily="34" charset="-122"/>
                <a:cs typeface="Crimson Pro SemiBold" pitchFamily="34" charset="-120"/>
              </a:rPr>
              <a:t>Ransomware Recovery</a:t>
            </a:r>
            <a:endParaRPr lang="en-US" sz="700" dirty="0"/>
          </a:p>
        </p:txBody>
      </p:sp>
      <p:sp>
        <p:nvSpPr>
          <p:cNvPr id="9" name="Text 7"/>
          <p:cNvSpPr/>
          <p:nvPr/>
        </p:nvSpPr>
        <p:spPr>
          <a:xfrm>
            <a:off x="6115492" y="1342529"/>
            <a:ext cx="5414728" cy="82947"/>
          </a:xfrm>
          <a:prstGeom prst="rect">
            <a:avLst/>
          </a:prstGeom>
          <a:noFill/>
          <a:ln/>
        </p:spPr>
        <p:txBody>
          <a:bodyPr wrap="none" lIns="0" tIns="0" rIns="0" bIns="0" rtlCol="0" anchor="t"/>
          <a:lstStyle/>
          <a:p>
            <a:pPr algn="ctr" indent="0" marL="0">
              <a:lnSpc>
                <a:spcPct val="96000"/>
              </a:lnSpc>
              <a:buNone/>
            </a:pPr>
            <a:r>
              <a:rPr lang="en-US" sz="550" dirty="0">
                <a:solidFill>
                  <a:srgbClr val="000000"/>
                </a:solidFill>
                <a:latin typeface="Heebo" pitchFamily="34" charset="0"/>
                <a:ea typeface="Heebo" pitchFamily="34" charset="-122"/>
                <a:cs typeface="Heebo" pitchFamily="34" charset="-120"/>
              </a:rPr>
              <a:t>vs. $1.50M baseline — a </a:t>
            </a:r>
            <a:pPr algn="ctr" indent="0" marL="0">
              <a:lnSpc>
                <a:spcPct val="96000"/>
              </a:lnSpc>
              <a:buNone/>
            </a:pPr>
            <a:r>
              <a:rPr lang="en-US" sz="550" b="1" dirty="0">
                <a:solidFill>
                  <a:srgbClr val="000000"/>
                </a:solidFill>
                <a:latin typeface="Heebo Bold" pitchFamily="34" charset="0"/>
                <a:ea typeface="Heebo Bold" pitchFamily="34" charset="-122"/>
                <a:cs typeface="Heebo Bold" pitchFamily="34" charset="-120"/>
              </a:rPr>
              <a:t>$1.08M premium</a:t>
            </a:r>
            <a:pPr algn="ctr" indent="0" marL="0">
              <a:lnSpc>
                <a:spcPct val="96000"/>
              </a:lnSpc>
              <a:buNone/>
            </a:pPr>
            <a:r>
              <a:rPr lang="en-US" sz="550" dirty="0">
                <a:solidFill>
                  <a:srgbClr val="000000"/>
                </a:solidFill>
                <a:latin typeface="Heebo" pitchFamily="34" charset="0"/>
                <a:ea typeface="Heebo" pitchFamily="34" charset="-122"/>
                <a:cs typeface="Heebo" pitchFamily="34" charset="-120"/>
              </a:rPr>
              <a:t> (excludes ransom)</a:t>
            </a:r>
            <a:endParaRPr lang="en-US" sz="550" dirty="0"/>
          </a:p>
        </p:txBody>
      </p:sp>
      <p:sp>
        <p:nvSpPr>
          <p:cNvPr id="10" name="Text 8"/>
          <p:cNvSpPr/>
          <p:nvPr/>
        </p:nvSpPr>
        <p:spPr>
          <a:xfrm>
            <a:off x="1608990" y="1524595"/>
            <a:ext cx="3519499" cy="238323"/>
          </a:xfrm>
          <a:prstGeom prst="rect">
            <a:avLst/>
          </a:prstGeom>
          <a:noFill/>
          <a:ln/>
        </p:spPr>
        <p:txBody>
          <a:bodyPr wrap="none" lIns="0" tIns="0" rIns="0" bIns="0" rtlCol="0" anchor="t"/>
          <a:lstStyle/>
          <a:p>
            <a:pPr algn="ctr" indent="0" marL="0">
              <a:lnSpc>
                <a:spcPct val="83000"/>
              </a:lnSpc>
              <a:buNone/>
            </a:pPr>
            <a:r>
              <a:rPr lang="en-US" sz="1850" dirty="0">
                <a:solidFill>
                  <a:srgbClr val="00915E"/>
                </a:solidFill>
                <a:latin typeface="Crimson Pro SemiBold" pitchFamily="34" charset="0"/>
                <a:ea typeface="Crimson Pro SemiBold" pitchFamily="34" charset="-122"/>
                <a:cs typeface="Crimson Pro SemiBold" pitchFamily="34" charset="-120"/>
              </a:rPr>
              <a:t>219</a:t>
            </a:r>
            <a:endParaRPr lang="en-US" sz="1850" dirty="0"/>
          </a:p>
        </p:txBody>
      </p:sp>
      <p:sp>
        <p:nvSpPr>
          <p:cNvPr id="11" name="Text 9"/>
          <p:cNvSpPr/>
          <p:nvPr/>
        </p:nvSpPr>
        <p:spPr>
          <a:xfrm>
            <a:off x="661475" y="1822648"/>
            <a:ext cx="5414629" cy="112812"/>
          </a:xfrm>
          <a:prstGeom prst="rect">
            <a:avLst/>
          </a:prstGeom>
          <a:noFill/>
          <a:ln/>
        </p:spPr>
        <p:txBody>
          <a:bodyPr wrap="none" lIns="0" tIns="0" rIns="0" bIns="0" rtlCol="0" anchor="t"/>
          <a:lstStyle/>
          <a:p>
            <a:pPr algn="ctr" indent="0" marL="0">
              <a:lnSpc>
                <a:spcPct val="104000"/>
              </a:lnSpc>
              <a:buNone/>
            </a:pPr>
            <a:r>
              <a:rPr lang="en-US" sz="700" dirty="0">
                <a:solidFill>
                  <a:srgbClr val="000000"/>
                </a:solidFill>
                <a:latin typeface="Crimson Pro SemiBold" pitchFamily="34" charset="0"/>
                <a:ea typeface="Crimson Pro SemiBold" pitchFamily="34" charset="-122"/>
                <a:cs typeface="Crimson Pro SemiBold" pitchFamily="34" charset="-120"/>
              </a:rPr>
              <a:t>Breach Lifecycle (Days)</a:t>
            </a:r>
            <a:endParaRPr lang="en-US" sz="700" dirty="0"/>
          </a:p>
        </p:txBody>
      </p:sp>
      <p:sp>
        <p:nvSpPr>
          <p:cNvPr id="12" name="Text 10"/>
          <p:cNvSpPr/>
          <p:nvPr/>
        </p:nvSpPr>
        <p:spPr>
          <a:xfrm>
            <a:off x="661475" y="1954312"/>
            <a:ext cx="5414629" cy="82947"/>
          </a:xfrm>
          <a:prstGeom prst="rect">
            <a:avLst/>
          </a:prstGeom>
          <a:noFill/>
          <a:ln/>
        </p:spPr>
        <p:txBody>
          <a:bodyPr wrap="none" lIns="0" tIns="0" rIns="0" bIns="0" rtlCol="0" anchor="t"/>
          <a:lstStyle/>
          <a:p>
            <a:pPr algn="ctr" indent="0" marL="0">
              <a:lnSpc>
                <a:spcPct val="96000"/>
              </a:lnSpc>
              <a:buNone/>
            </a:pPr>
            <a:r>
              <a:rPr lang="en-US" sz="550" dirty="0">
                <a:solidFill>
                  <a:srgbClr val="000000"/>
                </a:solidFill>
                <a:latin typeface="Heebo" pitchFamily="34" charset="0"/>
                <a:ea typeface="Heebo" pitchFamily="34" charset="-122"/>
                <a:cs typeface="Heebo" pitchFamily="34" charset="-120"/>
              </a:rPr>
              <a:t>168 to identify, 51 to contain — </a:t>
            </a:r>
            <a:pPr algn="ctr" indent="0" marL="0">
              <a:lnSpc>
                <a:spcPct val="96000"/>
              </a:lnSpc>
              <a:buNone/>
            </a:pPr>
            <a:r>
              <a:rPr lang="en-US" sz="550" b="1" dirty="0">
                <a:solidFill>
                  <a:srgbClr val="000000"/>
                </a:solidFill>
                <a:latin typeface="Heebo Bold" pitchFamily="34" charset="0"/>
                <a:ea typeface="Heebo Bold" pitchFamily="34" charset="-122"/>
                <a:cs typeface="Heebo Bold" pitchFamily="34" charset="-120"/>
              </a:rPr>
              <a:t>22 days faster</a:t>
            </a:r>
            <a:pPr algn="ctr" indent="0" marL="0">
              <a:lnSpc>
                <a:spcPct val="96000"/>
              </a:lnSpc>
              <a:buNone/>
            </a:pPr>
            <a:r>
              <a:rPr lang="en-US" sz="550" dirty="0">
                <a:solidFill>
                  <a:srgbClr val="000000"/>
                </a:solidFill>
                <a:latin typeface="Heebo" pitchFamily="34" charset="0"/>
                <a:ea typeface="Heebo" pitchFamily="34" charset="-122"/>
                <a:cs typeface="Heebo" pitchFamily="34" charset="-120"/>
              </a:rPr>
              <a:t> than global average</a:t>
            </a:r>
            <a:endParaRPr lang="en-US" sz="550" dirty="0"/>
          </a:p>
        </p:txBody>
      </p:sp>
      <p:sp>
        <p:nvSpPr>
          <p:cNvPr id="13" name="Text 11"/>
          <p:cNvSpPr/>
          <p:nvPr/>
        </p:nvSpPr>
        <p:spPr>
          <a:xfrm>
            <a:off x="7063107" y="1524595"/>
            <a:ext cx="3519499" cy="238323"/>
          </a:xfrm>
          <a:prstGeom prst="rect">
            <a:avLst/>
          </a:prstGeom>
          <a:noFill/>
          <a:ln/>
        </p:spPr>
        <p:txBody>
          <a:bodyPr wrap="none" lIns="0" tIns="0" rIns="0" bIns="0" rtlCol="0" anchor="t"/>
          <a:lstStyle/>
          <a:p>
            <a:pPr algn="ctr" indent="0" marL="0">
              <a:lnSpc>
                <a:spcPct val="83000"/>
              </a:lnSpc>
              <a:buNone/>
            </a:pPr>
            <a:r>
              <a:rPr lang="en-US" sz="1850" dirty="0">
                <a:solidFill>
                  <a:srgbClr val="00915E"/>
                </a:solidFill>
                <a:latin typeface="Crimson Pro SemiBold" pitchFamily="34" charset="0"/>
                <a:ea typeface="Crimson Pro SemiBold" pitchFamily="34" charset="-122"/>
                <a:cs typeface="Crimson Pro SemiBold" pitchFamily="34" charset="-120"/>
              </a:rPr>
              <a:t>$5.49M</a:t>
            </a:r>
            <a:endParaRPr lang="en-US" sz="1850" dirty="0"/>
          </a:p>
        </p:txBody>
      </p:sp>
      <p:sp>
        <p:nvSpPr>
          <p:cNvPr id="14" name="Text 12"/>
          <p:cNvSpPr/>
          <p:nvPr/>
        </p:nvSpPr>
        <p:spPr>
          <a:xfrm>
            <a:off x="6115492" y="1822648"/>
            <a:ext cx="5414728" cy="112812"/>
          </a:xfrm>
          <a:prstGeom prst="rect">
            <a:avLst/>
          </a:prstGeom>
          <a:noFill/>
          <a:ln/>
        </p:spPr>
        <p:txBody>
          <a:bodyPr wrap="none" lIns="0" tIns="0" rIns="0" bIns="0" rtlCol="0" anchor="t"/>
          <a:lstStyle/>
          <a:p>
            <a:pPr algn="ctr" indent="0" marL="0">
              <a:lnSpc>
                <a:spcPct val="104000"/>
              </a:lnSpc>
              <a:buNone/>
            </a:pPr>
            <a:r>
              <a:rPr lang="en-US" sz="700" dirty="0">
                <a:solidFill>
                  <a:srgbClr val="000000"/>
                </a:solidFill>
                <a:latin typeface="Crimson Pro SemiBold" pitchFamily="34" charset="0"/>
                <a:ea typeface="Crimson Pro SemiBold" pitchFamily="34" charset="-122"/>
                <a:cs typeface="Crimson Pro SemiBold" pitchFamily="34" charset="-120"/>
              </a:rPr>
              <a:t>Dwell-Time Penalty</a:t>
            </a:r>
            <a:endParaRPr lang="en-US" sz="700" dirty="0"/>
          </a:p>
        </p:txBody>
      </p:sp>
      <p:sp>
        <p:nvSpPr>
          <p:cNvPr id="15" name="Text 13"/>
          <p:cNvSpPr/>
          <p:nvPr/>
        </p:nvSpPr>
        <p:spPr>
          <a:xfrm>
            <a:off x="6115492" y="1954312"/>
            <a:ext cx="5414728" cy="82947"/>
          </a:xfrm>
          <a:prstGeom prst="rect">
            <a:avLst/>
          </a:prstGeom>
          <a:noFill/>
          <a:ln/>
        </p:spPr>
        <p:txBody>
          <a:bodyPr wrap="none" lIns="0" tIns="0" rIns="0" bIns="0" rtlCol="0" anchor="t"/>
          <a:lstStyle/>
          <a:p>
            <a:pPr algn="ctr" indent="0" marL="0">
              <a:lnSpc>
                <a:spcPct val="96000"/>
              </a:lnSpc>
              <a:buNone/>
            </a:pPr>
            <a:r>
              <a:rPr lang="en-US" sz="550" dirty="0">
                <a:solidFill>
                  <a:srgbClr val="000000"/>
                </a:solidFill>
                <a:latin typeface="Heebo" pitchFamily="34" charset="0"/>
                <a:ea typeface="Heebo" pitchFamily="34" charset="-122"/>
                <a:cs typeface="Heebo" pitchFamily="34" charset="-120"/>
              </a:rPr>
              <a:t>Cost when containment exceeds 200 days, vs. $3.61M for faster response</a:t>
            </a:r>
            <a:endParaRPr lang="en-US" sz="550" dirty="0"/>
          </a:p>
        </p:txBody>
      </p:sp>
      <p:sp>
        <p:nvSpPr>
          <p:cNvPr id="16" name="Text 14"/>
          <p:cNvSpPr/>
          <p:nvPr/>
        </p:nvSpPr>
        <p:spPr>
          <a:xfrm>
            <a:off x="661475" y="2084487"/>
            <a:ext cx="10868745" cy="180578"/>
          </a:xfrm>
          <a:prstGeom prst="rect">
            <a:avLst/>
          </a:prstGeom>
          <a:noFill/>
          <a:ln/>
        </p:spPr>
        <p:txBody>
          <a:bodyPr wrap="none" lIns="0" tIns="0" rIns="0" bIns="0" rtlCol="0" anchor="t"/>
          <a:lstStyle/>
          <a:p>
            <a:pPr algn="l" indent="0" marL="0">
              <a:lnSpc>
                <a:spcPct val="104000"/>
              </a:lnSpc>
              <a:buNone/>
            </a:pPr>
            <a:r>
              <a:rPr lang="en-US" sz="1100" dirty="0">
                <a:solidFill>
                  <a:srgbClr val="00674F"/>
                </a:solidFill>
                <a:latin typeface="Crimson Pro SemiBold" pitchFamily="34" charset="0"/>
                <a:ea typeface="Crimson Pro SemiBold" pitchFamily="34" charset="-122"/>
                <a:cs typeface="Crimson Pro SemiBold" pitchFamily="34" charset="-120"/>
              </a:rPr>
              <a:t>Cost Breakdown by Category</a:t>
            </a:r>
            <a:endParaRPr lang="en-US" sz="1100" dirty="0"/>
          </a:p>
        </p:txBody>
      </p:sp>
      <p:pic>
        <p:nvPicPr>
          <p:cNvPr id="17" name="Image 0" descr="preencoded.png">    </p:cNvPr>
          <p:cNvPicPr>
            <a:picLocks noChangeAspect="1"/>
          </p:cNvPicPr>
          <p:nvPr/>
        </p:nvPicPr>
        <p:blipFill>
          <a:blip r:embed="rId1"/>
          <a:stretch>
            <a:fillRect/>
          </a:stretch>
        </p:blipFill>
        <p:spPr>
          <a:xfrm>
            <a:off x="661475" y="2312293"/>
            <a:ext cx="7064595" cy="3957737"/>
          </a:xfrm>
          <a:prstGeom prst="rect">
            <a:avLst/>
          </a:prstGeom>
        </p:spPr>
      </p:pic>
      <p:sp>
        <p:nvSpPr>
          <p:cNvPr id="18" name="Text 15"/>
          <p:cNvSpPr/>
          <p:nvPr/>
        </p:nvSpPr>
        <p:spPr>
          <a:xfrm>
            <a:off x="661475" y="6305451"/>
            <a:ext cx="11478330" cy="82947"/>
          </a:xfrm>
          <a:prstGeom prst="rect">
            <a:avLst/>
          </a:prstGeom>
          <a:noFill/>
          <a:ln/>
        </p:spPr>
        <p:txBody>
          <a:bodyPr wrap="none" lIns="0" tIns="0" rIns="0" bIns="0" rtlCol="0" anchor="t"/>
          <a:lstStyle/>
          <a:p>
            <a:pPr algn="l" indent="0" marL="0">
              <a:lnSpc>
                <a:spcPct val="96000"/>
              </a:lnSpc>
              <a:buNone/>
            </a:pPr>
            <a:r>
              <a:rPr lang="en-US" sz="550" dirty="0">
                <a:solidFill>
                  <a:srgbClr val="000000"/>
                </a:solidFill>
                <a:latin typeface="Heebo" pitchFamily="34" charset="0"/>
                <a:ea typeface="Heebo" pitchFamily="34" charset="-122"/>
                <a:cs typeface="Heebo" pitchFamily="34" charset="-120"/>
              </a:rPr>
              <a:t>Detection and lost business costs each represent </a:t>
            </a:r>
            <a:pPr algn="l" indent="0" marL="0">
              <a:lnSpc>
                <a:spcPct val="96000"/>
              </a:lnSpc>
              <a:buNone/>
            </a:pPr>
            <a:r>
              <a:rPr lang="en-US" sz="550" b="1" dirty="0">
                <a:solidFill>
                  <a:srgbClr val="00915E"/>
                </a:solidFill>
                <a:latin typeface="Heebo Bold" pitchFamily="34" charset="0"/>
                <a:ea typeface="Heebo Bold" pitchFamily="34" charset="-122"/>
                <a:cs typeface="Heebo Bold" pitchFamily="34" charset="-120"/>
              </a:rPr>
              <a:t>33%</a:t>
            </a:r>
            <a:pPr algn="l" indent="0" marL="0">
              <a:lnSpc>
                <a:spcPct val="96000"/>
              </a:lnSpc>
              <a:buNone/>
            </a:pPr>
            <a:r>
              <a:rPr lang="en-US" sz="550" dirty="0">
                <a:solidFill>
                  <a:srgbClr val="000000"/>
                </a:solidFill>
                <a:latin typeface="Heebo" pitchFamily="34" charset="0"/>
                <a:ea typeface="Heebo" pitchFamily="34" charset="-122"/>
                <a:cs typeface="Heebo" pitchFamily="34" charset="-120"/>
              </a:rPr>
              <a:t> of total breach costs. Lost business encompasses institutional client churn, investor redemptions, and valuation delays — risks uniquely acute in asset management.</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87673"/>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00674F"/>
                </a:solidFill>
                <a:latin typeface="Crimson Pro SemiBold" pitchFamily="34" charset="0"/>
                <a:ea typeface="Crimson Pro SemiBold" pitchFamily="34" charset="-122"/>
                <a:cs typeface="Crimson Pro SemiBold" pitchFamily="34" charset="-120"/>
              </a:rPr>
              <a:t>Financial Impact: Worst-Case Scenarios</a:t>
            </a:r>
            <a:endParaRPr lang="en-US" sz="2400" dirty="0"/>
          </a:p>
        </p:txBody>
      </p:sp>
      <p:sp>
        <p:nvSpPr>
          <p:cNvPr id="3" name="Text 1"/>
          <p:cNvSpPr/>
          <p:nvPr/>
        </p:nvSpPr>
        <p:spPr>
          <a:xfrm>
            <a:off x="661475" y="1161355"/>
            <a:ext cx="10868745"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When cyber-operational disruptions strike interconnected asset management infrastructure, financial fallout propagates rapidly, threatening fund solvency and broader non-bank financial intermediation channels.</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613198"/>
            <a:ext cx="3560872" cy="1932186"/>
          </a:xfrm>
          <a:prstGeom prst="rect">
            <a:avLst/>
          </a:prstGeom>
        </p:spPr>
      </p:pic>
      <p:sp>
        <p:nvSpPr>
          <p:cNvPr id="5" name="Text 2"/>
          <p:cNvSpPr/>
          <p:nvPr/>
        </p:nvSpPr>
        <p:spPr>
          <a:xfrm>
            <a:off x="848994" y="1749921"/>
            <a:ext cx="3236633" cy="387548"/>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Scenario 1: Automated Valuation Model Corruption</a:t>
            </a:r>
            <a:endParaRPr lang="en-US" sz="1200" dirty="0"/>
          </a:p>
        </p:txBody>
      </p:sp>
      <p:sp>
        <p:nvSpPr>
          <p:cNvPr id="6" name="Text 3"/>
          <p:cNvSpPr/>
          <p:nvPr/>
        </p:nvSpPr>
        <p:spPr>
          <a:xfrm>
            <a:off x="848994" y="2193230"/>
            <a:ext cx="3236633" cy="1215430"/>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An adversary compromises a benchmark provider or administrator API, injecting false pricing parameters. The fund publishes inflated NAVs across trading cycles, triggering incorrect subscription and redemption pricing. Discovery forces trading freezes, retrospective recalculations for thousands of institutional accounts, and restitution liabilities outpacing breach remediation costs.</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15312" y="1613198"/>
            <a:ext cx="3560971" cy="1932186"/>
          </a:xfrm>
          <a:prstGeom prst="rect">
            <a:avLst/>
          </a:prstGeom>
        </p:spPr>
      </p:pic>
      <p:sp>
        <p:nvSpPr>
          <p:cNvPr id="8" name="Text 4"/>
          <p:cNvSpPr/>
          <p:nvPr/>
        </p:nvSpPr>
        <p:spPr>
          <a:xfrm>
            <a:off x="4502831" y="1749921"/>
            <a:ext cx="3236732" cy="387548"/>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Scenario 2: Ransomware-Induced Operational Freeze</a:t>
            </a:r>
            <a:endParaRPr lang="en-US" sz="1200" dirty="0"/>
          </a:p>
        </p:txBody>
      </p:sp>
      <p:sp>
        <p:nvSpPr>
          <p:cNvPr id="9" name="Text 5"/>
          <p:cNvSpPr/>
          <p:nvPr/>
        </p:nvSpPr>
        <p:spPr>
          <a:xfrm>
            <a:off x="4502831" y="2193230"/>
            <a:ext cx="3236732" cy="1215430"/>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Coordinated ransomware locks the primary Order Management System during market volatility. Trading desks are locked out; institutional investors perceive elevated risk, prompting rapid fund redemptions. Unable to calculate stable NAV or access liquid capital, the manager suspends redemptions and executes fire sales of illiquid assets, generating massive capital losses.</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69249" y="1613198"/>
            <a:ext cx="3560872" cy="1932186"/>
          </a:xfrm>
          <a:prstGeom prst="rect">
            <a:avLst/>
          </a:prstGeom>
        </p:spPr>
      </p:pic>
      <p:sp>
        <p:nvSpPr>
          <p:cNvPr id="11" name="Text 6"/>
          <p:cNvSpPr/>
          <p:nvPr/>
        </p:nvSpPr>
        <p:spPr>
          <a:xfrm>
            <a:off x="8156768" y="1749921"/>
            <a:ext cx="3236633" cy="193774"/>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Crimson Pro SemiBold" pitchFamily="34" charset="0"/>
                <a:ea typeface="Crimson Pro SemiBold" pitchFamily="34" charset="-122"/>
                <a:cs typeface="Crimson Pro SemiBold" pitchFamily="34" charset="-120"/>
              </a:rPr>
              <a:t>Scenario 3: Digital Asset Custody Compromise</a:t>
            </a:r>
            <a:endParaRPr lang="en-US" sz="1200" dirty="0"/>
          </a:p>
        </p:txBody>
      </p:sp>
      <p:sp>
        <p:nvSpPr>
          <p:cNvPr id="12" name="Text 7"/>
          <p:cNvSpPr/>
          <p:nvPr/>
        </p:nvSpPr>
        <p:spPr>
          <a:xfrm>
            <a:off x="8156768" y="1999456"/>
            <a:ext cx="3236633"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A state-sponsored group steals API keys and bypasses multi-signature controls to exfiltrate private cryptographic keys. Blockchain's irreversible nature causes immediate asset loss, triggering regulatory license revocation and permanent brand erosion among institutional allocators.</a:t>
            </a:r>
            <a:endParaRPr lang="en-US" sz="950" dirty="0"/>
          </a:p>
        </p:txBody>
      </p:sp>
      <p:sp>
        <p:nvSpPr>
          <p:cNvPr id="13" name="Text 8"/>
          <p:cNvSpPr/>
          <p:nvPr/>
        </p:nvSpPr>
        <p:spPr>
          <a:xfrm>
            <a:off x="661475" y="3684885"/>
            <a:ext cx="10868745" cy="310059"/>
          </a:xfrm>
          <a:prstGeom prst="rect">
            <a:avLst/>
          </a:prstGeom>
          <a:noFill/>
          <a:ln/>
        </p:spPr>
        <p:txBody>
          <a:bodyPr wrap="none" lIns="0" tIns="0" rIns="0" bIns="0" rtlCol="0" anchor="t"/>
          <a:lstStyle/>
          <a:p>
            <a:pPr algn="l" indent="0" marL="0">
              <a:lnSpc>
                <a:spcPct val="104000"/>
              </a:lnSpc>
              <a:buNone/>
            </a:pPr>
            <a:r>
              <a:rPr lang="en-US" sz="1950" dirty="0">
                <a:solidFill>
                  <a:srgbClr val="00674F"/>
                </a:solidFill>
                <a:latin typeface="Crimson Pro SemiBold" pitchFamily="34" charset="0"/>
                <a:ea typeface="Crimson Pro SemiBold" pitchFamily="34" charset="-122"/>
                <a:cs typeface="Crimson Pro SemiBold" pitchFamily="34" charset="-120"/>
              </a:rPr>
              <a:t>Long-Term Financial Consequences</a:t>
            </a:r>
            <a:endParaRPr lang="en-US" sz="1950" dirty="0"/>
          </a:p>
        </p:txBody>
      </p:sp>
      <p:sp>
        <p:nvSpPr>
          <p:cNvPr id="14" name="Shape 9"/>
          <p:cNvSpPr/>
          <p:nvPr/>
        </p:nvSpPr>
        <p:spPr>
          <a:xfrm>
            <a:off x="661475" y="4134445"/>
            <a:ext cx="10868745" cy="2135783"/>
          </a:xfrm>
          <a:prstGeom prst="roundRect">
            <a:avLst>
              <a:gd name="adj" fmla="val 871"/>
            </a:avLst>
          </a:prstGeom>
          <a:noFill/>
          <a:ln w="6350">
            <a:solidFill>
              <a:srgbClr val="000000">
                <a:alpha val="8000"/>
              </a:srgbClr>
            </a:solidFill>
            <a:prstDash val="solid"/>
          </a:ln>
        </p:spPr>
      </p:sp>
      <p:sp>
        <p:nvSpPr>
          <p:cNvPr id="15" name="Shape 10"/>
          <p:cNvSpPr/>
          <p:nvPr/>
        </p:nvSpPr>
        <p:spPr>
          <a:xfrm>
            <a:off x="661475" y="4441825"/>
            <a:ext cx="10868745" cy="7753"/>
          </a:xfrm>
          <a:prstGeom prst="rect">
            <a:avLst/>
          </a:prstGeom>
          <a:solidFill>
            <a:srgbClr val="000000">
              <a:alpha val="8000"/>
            </a:srgbClr>
          </a:solidFill>
          <a:ln/>
        </p:spPr>
      </p:sp>
      <p:sp>
        <p:nvSpPr>
          <p:cNvPr id="16" name="Shape 11"/>
          <p:cNvSpPr/>
          <p:nvPr/>
        </p:nvSpPr>
        <p:spPr>
          <a:xfrm>
            <a:off x="661475" y="4746030"/>
            <a:ext cx="10868745" cy="7753"/>
          </a:xfrm>
          <a:prstGeom prst="rect">
            <a:avLst/>
          </a:prstGeom>
          <a:solidFill>
            <a:srgbClr val="000000">
              <a:alpha val="8000"/>
            </a:srgbClr>
          </a:solidFill>
          <a:ln/>
        </p:spPr>
      </p:sp>
      <p:sp>
        <p:nvSpPr>
          <p:cNvPr id="17" name="Shape 12"/>
          <p:cNvSpPr/>
          <p:nvPr/>
        </p:nvSpPr>
        <p:spPr>
          <a:xfrm>
            <a:off x="661475" y="5050234"/>
            <a:ext cx="10868745" cy="7753"/>
          </a:xfrm>
          <a:prstGeom prst="rect">
            <a:avLst/>
          </a:prstGeom>
          <a:solidFill>
            <a:srgbClr val="000000">
              <a:alpha val="8000"/>
            </a:srgbClr>
          </a:solidFill>
          <a:ln/>
        </p:spPr>
      </p:sp>
      <p:sp>
        <p:nvSpPr>
          <p:cNvPr id="18" name="Shape 13"/>
          <p:cNvSpPr/>
          <p:nvPr/>
        </p:nvSpPr>
        <p:spPr>
          <a:xfrm>
            <a:off x="661475" y="5354439"/>
            <a:ext cx="10868745" cy="7753"/>
          </a:xfrm>
          <a:prstGeom prst="rect">
            <a:avLst/>
          </a:prstGeom>
          <a:solidFill>
            <a:srgbClr val="000000">
              <a:alpha val="8000"/>
            </a:srgbClr>
          </a:solidFill>
          <a:ln/>
        </p:spPr>
      </p:sp>
      <p:sp>
        <p:nvSpPr>
          <p:cNvPr id="19" name="Shape 14"/>
          <p:cNvSpPr/>
          <p:nvPr/>
        </p:nvSpPr>
        <p:spPr>
          <a:xfrm>
            <a:off x="661475" y="5658644"/>
            <a:ext cx="10868745" cy="7753"/>
          </a:xfrm>
          <a:prstGeom prst="rect">
            <a:avLst/>
          </a:prstGeom>
          <a:solidFill>
            <a:srgbClr val="000000">
              <a:alpha val="8000"/>
            </a:srgbClr>
          </a:solidFill>
          <a:ln/>
        </p:spPr>
      </p:sp>
      <p:sp>
        <p:nvSpPr>
          <p:cNvPr id="20" name="Shape 15"/>
          <p:cNvSpPr/>
          <p:nvPr/>
        </p:nvSpPr>
        <p:spPr>
          <a:xfrm>
            <a:off x="661475" y="5962848"/>
            <a:ext cx="10868745" cy="7753"/>
          </a:xfrm>
          <a:prstGeom prst="rect">
            <a:avLst/>
          </a:prstGeom>
          <a:solidFill>
            <a:srgbClr val="000000">
              <a:alpha val="8000"/>
            </a:srgbClr>
          </a:solidFill>
          <a:ln/>
        </p:spPr>
      </p:sp>
      <p:sp>
        <p:nvSpPr>
          <p:cNvPr id="21" name="Text 16"/>
          <p:cNvSpPr/>
          <p:nvPr/>
        </p:nvSpPr>
        <p:spPr>
          <a:xfrm>
            <a:off x="793036" y="4202906"/>
            <a:ext cx="3979465" cy="173633"/>
          </a:xfrm>
          <a:prstGeom prst="rect">
            <a:avLst/>
          </a:prstGeom>
          <a:noFill/>
          <a:ln/>
        </p:spPr>
        <p:txBody>
          <a:bodyPr wrap="none" lIns="0" tIns="0" rIns="0" bIns="0" rtlCol="0" anchor="t"/>
          <a:lstStyle/>
          <a:p>
            <a:pPr algn="l" indent="0" marL="0">
              <a:lnSpc>
                <a:spcPct val="117000"/>
              </a:lnSpc>
              <a:buNone/>
            </a:pPr>
            <a:r>
              <a:rPr lang="en-US" sz="950" b="1" dirty="0">
                <a:solidFill>
                  <a:srgbClr val="000000"/>
                </a:solidFill>
                <a:latin typeface="Heebo Bold" pitchFamily="34" charset="0"/>
                <a:ea typeface="Heebo Bold" pitchFamily="34" charset="-122"/>
                <a:cs typeface="Heebo Bold" pitchFamily="34" charset="-120"/>
              </a:rPr>
              <a:t>Consequence</a:t>
            </a:r>
            <a:endParaRPr lang="en-US" sz="950" dirty="0"/>
          </a:p>
        </p:txBody>
      </p:sp>
      <p:sp>
        <p:nvSpPr>
          <p:cNvPr id="22" name="Text 17"/>
          <p:cNvSpPr/>
          <p:nvPr/>
        </p:nvSpPr>
        <p:spPr>
          <a:xfrm>
            <a:off x="4410957" y="4202906"/>
            <a:ext cx="3979465" cy="173633"/>
          </a:xfrm>
          <a:prstGeom prst="rect">
            <a:avLst/>
          </a:prstGeom>
          <a:noFill/>
          <a:ln/>
        </p:spPr>
        <p:txBody>
          <a:bodyPr wrap="none" lIns="0" tIns="0" rIns="0" bIns="0" rtlCol="0" anchor="t"/>
          <a:lstStyle/>
          <a:p>
            <a:pPr algn="l" indent="0" marL="0">
              <a:lnSpc>
                <a:spcPct val="117000"/>
              </a:lnSpc>
              <a:buNone/>
            </a:pPr>
            <a:r>
              <a:rPr lang="en-US" sz="950" b="1" dirty="0">
                <a:solidFill>
                  <a:srgbClr val="000000"/>
                </a:solidFill>
                <a:latin typeface="Heebo Bold" pitchFamily="34" charset="0"/>
                <a:ea typeface="Heebo Bold" pitchFamily="34" charset="-122"/>
                <a:cs typeface="Heebo Bold" pitchFamily="34" charset="-120"/>
              </a:rPr>
              <a:t>Potential Exposure</a:t>
            </a:r>
            <a:endParaRPr lang="en-US" sz="950" dirty="0"/>
          </a:p>
        </p:txBody>
      </p:sp>
      <p:sp>
        <p:nvSpPr>
          <p:cNvPr id="23" name="Text 18"/>
          <p:cNvSpPr/>
          <p:nvPr/>
        </p:nvSpPr>
        <p:spPr>
          <a:xfrm>
            <a:off x="8028878" y="4202906"/>
            <a:ext cx="3979465" cy="173633"/>
          </a:xfrm>
          <a:prstGeom prst="rect">
            <a:avLst/>
          </a:prstGeom>
          <a:noFill/>
          <a:ln/>
        </p:spPr>
        <p:txBody>
          <a:bodyPr wrap="none" lIns="0" tIns="0" rIns="0" bIns="0" rtlCol="0" anchor="t"/>
          <a:lstStyle/>
          <a:p>
            <a:pPr algn="l" indent="0" marL="0">
              <a:lnSpc>
                <a:spcPct val="117000"/>
              </a:lnSpc>
              <a:buNone/>
            </a:pPr>
            <a:r>
              <a:rPr lang="en-US" sz="950" b="1" dirty="0">
                <a:solidFill>
                  <a:srgbClr val="000000"/>
                </a:solidFill>
                <a:latin typeface="Heebo Bold" pitchFamily="34" charset="0"/>
                <a:ea typeface="Heebo Bold" pitchFamily="34" charset="-122"/>
                <a:cs typeface="Heebo Bold" pitchFamily="34" charset="-120"/>
              </a:rPr>
              <a:t>Driver</a:t>
            </a:r>
            <a:endParaRPr lang="en-US" sz="950" dirty="0"/>
          </a:p>
        </p:txBody>
      </p:sp>
      <p:sp>
        <p:nvSpPr>
          <p:cNvPr id="24" name="Text 19"/>
          <p:cNvSpPr/>
          <p:nvPr/>
        </p:nvSpPr>
        <p:spPr>
          <a:xfrm>
            <a:off x="793036" y="4507111"/>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DORA Statutory Turnover Fines</a:t>
            </a:r>
            <a:endParaRPr lang="en-US" sz="950" dirty="0"/>
          </a:p>
        </p:txBody>
      </p:sp>
      <p:sp>
        <p:nvSpPr>
          <p:cNvPr id="25" name="Text 20"/>
          <p:cNvSpPr/>
          <p:nvPr/>
        </p:nvSpPr>
        <p:spPr>
          <a:xfrm>
            <a:off x="4410957" y="4507111"/>
            <a:ext cx="3979465" cy="173633"/>
          </a:xfrm>
          <a:prstGeom prst="rect">
            <a:avLst/>
          </a:prstGeom>
          <a:noFill/>
          <a:ln/>
        </p:spPr>
        <p:txBody>
          <a:bodyPr wrap="none" lIns="0" tIns="0" rIns="0" bIns="0" rtlCol="0" anchor="t"/>
          <a:lstStyle/>
          <a:p>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Up to 2%</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of global annual turnover</a:t>
            </a:r>
            <a:endParaRPr lang="en-US" sz="950" dirty="0"/>
          </a:p>
        </p:txBody>
      </p:sp>
      <p:sp>
        <p:nvSpPr>
          <p:cNvPr id="26" name="Text 21"/>
          <p:cNvSpPr/>
          <p:nvPr/>
        </p:nvSpPr>
        <p:spPr>
          <a:xfrm>
            <a:off x="8028878" y="4507111"/>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ICT risk management non-compliance</a:t>
            </a:r>
            <a:endParaRPr lang="en-US" sz="950" dirty="0"/>
          </a:p>
        </p:txBody>
      </p:sp>
      <p:sp>
        <p:nvSpPr>
          <p:cNvPr id="27" name="Text 22"/>
          <p:cNvSpPr/>
          <p:nvPr/>
        </p:nvSpPr>
        <p:spPr>
          <a:xfrm>
            <a:off x="793036" y="4811316"/>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DORA Daily Non-Compliance Penalties</a:t>
            </a:r>
            <a:endParaRPr lang="en-US" sz="950" dirty="0"/>
          </a:p>
        </p:txBody>
      </p:sp>
      <p:sp>
        <p:nvSpPr>
          <p:cNvPr id="28" name="Text 23"/>
          <p:cNvSpPr/>
          <p:nvPr/>
        </p:nvSpPr>
        <p:spPr>
          <a:xfrm>
            <a:off x="4410957" y="4811316"/>
            <a:ext cx="3979465" cy="173633"/>
          </a:xfrm>
          <a:prstGeom prst="rect">
            <a:avLst/>
          </a:prstGeom>
          <a:noFill/>
          <a:ln/>
        </p:spPr>
        <p:txBody>
          <a:bodyPr wrap="none" lIns="0" tIns="0" rIns="0" bIns="0" rtlCol="0" anchor="t"/>
          <a:lstStyle/>
          <a:p>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Up to 1%</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of average daily global turnover</a:t>
            </a:r>
            <a:endParaRPr lang="en-US" sz="950" dirty="0"/>
          </a:p>
        </p:txBody>
      </p:sp>
      <p:sp>
        <p:nvSpPr>
          <p:cNvPr id="29" name="Text 24"/>
          <p:cNvSpPr/>
          <p:nvPr/>
        </p:nvSpPr>
        <p:spPr>
          <a:xfrm>
            <a:off x="8028878" y="4811316"/>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Daily fines until compliance remediated</a:t>
            </a:r>
            <a:endParaRPr lang="en-US" sz="950" dirty="0"/>
          </a:p>
        </p:txBody>
      </p:sp>
      <p:sp>
        <p:nvSpPr>
          <p:cNvPr id="30" name="Text 25"/>
          <p:cNvSpPr/>
          <p:nvPr/>
        </p:nvSpPr>
        <p:spPr>
          <a:xfrm>
            <a:off x="793036" y="5115520"/>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Regulatory Personal Liability</a:t>
            </a:r>
            <a:endParaRPr lang="en-US" sz="950" dirty="0"/>
          </a:p>
        </p:txBody>
      </p:sp>
      <p:sp>
        <p:nvSpPr>
          <p:cNvPr id="31" name="Text 26"/>
          <p:cNvSpPr/>
          <p:nvPr/>
        </p:nvSpPr>
        <p:spPr>
          <a:xfrm>
            <a:off x="4410957" y="5115520"/>
            <a:ext cx="3979465" cy="173633"/>
          </a:xfrm>
          <a:prstGeom prst="rect">
            <a:avLst/>
          </a:prstGeom>
          <a:noFill/>
          <a:ln/>
        </p:spPr>
        <p:txBody>
          <a:bodyPr wrap="none" lIns="0" tIns="0" rIns="0" bIns="0" rtlCol="0" anchor="t"/>
          <a:lstStyle/>
          <a:p>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Up to EUR 1M</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personal fines</a:t>
            </a:r>
            <a:endParaRPr lang="en-US" sz="950" dirty="0"/>
          </a:p>
        </p:txBody>
      </p:sp>
      <p:sp>
        <p:nvSpPr>
          <p:cNvPr id="32" name="Text 27"/>
          <p:cNvSpPr/>
          <p:nvPr/>
        </p:nvSpPr>
        <p:spPr>
          <a:xfrm>
            <a:off x="8028878" y="5115520"/>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Senior management oversight failures</a:t>
            </a:r>
            <a:endParaRPr lang="en-US" sz="950" dirty="0"/>
          </a:p>
        </p:txBody>
      </p:sp>
      <p:sp>
        <p:nvSpPr>
          <p:cNvPr id="33" name="Text 28"/>
          <p:cNvSpPr/>
          <p:nvPr/>
        </p:nvSpPr>
        <p:spPr>
          <a:xfrm>
            <a:off x="793036" y="5419725"/>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Institutional Capital Outflows</a:t>
            </a:r>
            <a:endParaRPr lang="en-US" sz="950" dirty="0"/>
          </a:p>
        </p:txBody>
      </p:sp>
      <p:sp>
        <p:nvSpPr>
          <p:cNvPr id="34" name="Text 29"/>
          <p:cNvSpPr/>
          <p:nvPr/>
        </p:nvSpPr>
        <p:spPr>
          <a:xfrm>
            <a:off x="4410957" y="5419725"/>
            <a:ext cx="3979465" cy="173633"/>
          </a:xfrm>
          <a:prstGeom prst="rect">
            <a:avLst/>
          </a:prstGeom>
          <a:noFill/>
          <a:ln/>
        </p:spPr>
        <p:txBody>
          <a:bodyPr wrap="none" lIns="0" tIns="0" rIns="0" bIns="0" rtlCol="0" anchor="t"/>
          <a:lstStyle/>
          <a:p>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Over $700M</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AUM loss</a:t>
            </a:r>
            <a:endParaRPr lang="en-US" sz="950" dirty="0"/>
          </a:p>
        </p:txBody>
      </p:sp>
      <p:sp>
        <p:nvSpPr>
          <p:cNvPr id="35" name="Text 30"/>
          <p:cNvSpPr/>
          <p:nvPr/>
        </p:nvSpPr>
        <p:spPr>
          <a:xfrm>
            <a:off x="8028878" y="5419725"/>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Investor goodwill erosion, sovereign wealth exits</a:t>
            </a:r>
            <a:endParaRPr lang="en-US" sz="950" dirty="0"/>
          </a:p>
        </p:txBody>
      </p:sp>
      <p:sp>
        <p:nvSpPr>
          <p:cNvPr id="36" name="Text 31"/>
          <p:cNvSpPr/>
          <p:nvPr/>
        </p:nvSpPr>
        <p:spPr>
          <a:xfrm>
            <a:off x="793036" y="5723930"/>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M&amp;A Valuation Adjustments</a:t>
            </a:r>
            <a:endParaRPr lang="en-US" sz="950" dirty="0"/>
          </a:p>
        </p:txBody>
      </p:sp>
      <p:sp>
        <p:nvSpPr>
          <p:cNvPr id="37" name="Text 32"/>
          <p:cNvSpPr/>
          <p:nvPr/>
        </p:nvSpPr>
        <p:spPr>
          <a:xfrm>
            <a:off x="4410957" y="5723930"/>
            <a:ext cx="3979465" cy="173633"/>
          </a:xfrm>
          <a:prstGeom prst="rect">
            <a:avLst/>
          </a:prstGeom>
          <a:noFill/>
          <a:ln/>
        </p:spPr>
        <p:txBody>
          <a:bodyPr wrap="none" lIns="0" tIns="0" rIns="0" bIns="0" rtlCol="0" anchor="t"/>
          <a:lstStyle/>
          <a:p>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17%</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of pending transactions</a:t>
            </a:r>
            <a:endParaRPr lang="en-US" sz="950" dirty="0"/>
          </a:p>
        </p:txBody>
      </p:sp>
      <p:sp>
        <p:nvSpPr>
          <p:cNvPr id="38" name="Text 33"/>
          <p:cNvSpPr/>
          <p:nvPr/>
        </p:nvSpPr>
        <p:spPr>
          <a:xfrm>
            <a:off x="8028878" y="5723930"/>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Security due diligence findings</a:t>
            </a:r>
            <a:endParaRPr lang="en-US" sz="950" dirty="0"/>
          </a:p>
        </p:txBody>
      </p:sp>
      <p:sp>
        <p:nvSpPr>
          <p:cNvPr id="39" name="Text 34"/>
          <p:cNvSpPr/>
          <p:nvPr/>
        </p:nvSpPr>
        <p:spPr>
          <a:xfrm>
            <a:off x="793036" y="6028134"/>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Insurance Premium Escalation</a:t>
            </a:r>
            <a:endParaRPr lang="en-US" sz="950" dirty="0"/>
          </a:p>
        </p:txBody>
      </p:sp>
      <p:sp>
        <p:nvSpPr>
          <p:cNvPr id="40" name="Text 35"/>
          <p:cNvSpPr/>
          <p:nvPr/>
        </p:nvSpPr>
        <p:spPr>
          <a:xfrm>
            <a:off x="4410957" y="6028134"/>
            <a:ext cx="3979465" cy="173633"/>
          </a:xfrm>
          <a:prstGeom prst="rect">
            <a:avLst/>
          </a:prstGeom>
          <a:noFill/>
          <a:ln/>
        </p:spPr>
        <p:txBody>
          <a:bodyPr wrap="none" lIns="0" tIns="0" rIns="0" bIns="0" rtlCol="0" anchor="t"/>
          <a:lstStyle/>
          <a:p>
            <a:pPr algn="l" indent="0" marL="0">
              <a:lnSpc>
                <a:spcPct val="117000"/>
              </a:lnSpc>
              <a:buNone/>
            </a:pPr>
            <a:r>
              <a:rPr lang="en-US" sz="950" b="1" dirty="0">
                <a:solidFill>
                  <a:srgbClr val="00915E"/>
                </a:solidFill>
                <a:latin typeface="Heebo Bold" pitchFamily="34" charset="0"/>
                <a:ea typeface="Heebo Bold" pitchFamily="34" charset="-122"/>
                <a:cs typeface="Heebo Bold" pitchFamily="34" charset="-120"/>
              </a:rPr>
              <a:t>15–20%</a:t>
            </a:r>
            <a:pPr algn="l" indent="0" marL="0">
              <a:lnSpc>
                <a:spcPct val="117000"/>
              </a:lnSpc>
              <a:buNone/>
            </a:pPr>
            <a:r>
              <a:rPr lang="en-US" sz="950" dirty="0">
                <a:solidFill>
                  <a:srgbClr val="000000"/>
                </a:solidFill>
                <a:latin typeface="Heebo" pitchFamily="34" charset="0"/>
                <a:ea typeface="Heebo" pitchFamily="34" charset="-122"/>
                <a:cs typeface="Heebo" pitchFamily="34" charset="-120"/>
              </a:rPr>
              <a:t> premium hikes</a:t>
            </a:r>
            <a:endParaRPr lang="en-US" sz="950" dirty="0"/>
          </a:p>
        </p:txBody>
      </p:sp>
      <p:sp>
        <p:nvSpPr>
          <p:cNvPr id="41" name="Text 36"/>
          <p:cNvSpPr/>
          <p:nvPr/>
        </p:nvSpPr>
        <p:spPr>
          <a:xfrm>
            <a:off x="8028878" y="6028134"/>
            <a:ext cx="3979465"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Heebo" pitchFamily="34" charset="0"/>
                <a:ea typeface="Heebo" pitchFamily="34" charset="-122"/>
                <a:cs typeface="Heebo" pitchFamily="34" charset="-120"/>
              </a:rPr>
              <a:t>Adverse claims history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69218"/>
            <a:ext cx="10868745" cy="267692"/>
          </a:xfrm>
          <a:prstGeom prst="rect">
            <a:avLst/>
          </a:prstGeom>
          <a:noFill/>
          <a:ln/>
        </p:spPr>
        <p:txBody>
          <a:bodyPr wrap="none" lIns="0" tIns="0" rIns="0" bIns="0" rtlCol="0" anchor="t"/>
          <a:lstStyle/>
          <a:p>
            <a:pPr algn="l" indent="0" marL="0">
              <a:lnSpc>
                <a:spcPct val="104000"/>
              </a:lnSpc>
              <a:buNone/>
            </a:pPr>
            <a:r>
              <a:rPr lang="en-US" sz="1650" dirty="0">
                <a:solidFill>
                  <a:srgbClr val="00674F"/>
                </a:solidFill>
                <a:latin typeface="Crimson Pro SemiBold" pitchFamily="34" charset="0"/>
                <a:ea typeface="Crimson Pro SemiBold" pitchFamily="34" charset="-122"/>
                <a:cs typeface="Crimson Pro SemiBold" pitchFamily="34" charset="-120"/>
              </a:rPr>
              <a:t>Case Study: Capita Ransomware &amp; Data Exfiltration</a:t>
            </a:r>
            <a:endParaRPr lang="en-US" sz="1650" dirty="0"/>
          </a:p>
        </p:txBody>
      </p:sp>
      <p:sp>
        <p:nvSpPr>
          <p:cNvPr id="3" name="Text 1"/>
          <p:cNvSpPr/>
          <p:nvPr/>
        </p:nvSpPr>
        <p:spPr>
          <a:xfrm>
            <a:off x="661475" y="925612"/>
            <a:ext cx="11478330" cy="103981"/>
          </a:xfrm>
          <a:prstGeom prst="rect">
            <a:avLst/>
          </a:prstGeom>
          <a:noFill/>
          <a:ln/>
        </p:spPr>
        <p:txBody>
          <a:bodyPr wrap="none" lIns="0" tIns="0" rIns="0" bIns="0" rtlCol="0" anchor="t"/>
          <a:lstStyle/>
          <a:p>
            <a:pPr algn="l" indent="0" marL="0">
              <a:lnSpc>
                <a:spcPct val="101000"/>
              </a:lnSpc>
              <a:buNone/>
            </a:pPr>
            <a:r>
              <a:rPr lang="en-US" sz="650" dirty="0">
                <a:solidFill>
                  <a:srgbClr val="000000"/>
                </a:solidFill>
                <a:latin typeface="Heebo" pitchFamily="34" charset="0"/>
                <a:ea typeface="Heebo" pitchFamily="34" charset="-122"/>
                <a:cs typeface="Heebo" pitchFamily="34" charset="-120"/>
              </a:rPr>
              <a:t>The ransomware campaign against Capita PLC highlights cascading risks of outsourced administration in regulated environments. Russian-based group </a:t>
            </a:r>
            <a:pPr algn="l" indent="0" marL="0">
              <a:lnSpc>
                <a:spcPct val="101000"/>
              </a:lnSpc>
              <a:buNone/>
            </a:pPr>
            <a:r>
              <a:rPr lang="en-US" sz="650" b="1" dirty="0">
                <a:solidFill>
                  <a:srgbClr val="000000"/>
                </a:solidFill>
                <a:latin typeface="Heebo Bold" pitchFamily="34" charset="0"/>
                <a:ea typeface="Heebo Bold" pitchFamily="34" charset="-122"/>
                <a:cs typeface="Heebo Bold" pitchFamily="34" charset="-120"/>
              </a:rPr>
              <a:t>Black Basta</a:t>
            </a:r>
            <a:pPr algn="l" indent="0" marL="0">
              <a:lnSpc>
                <a:spcPct val="101000"/>
              </a:lnSpc>
              <a:buNone/>
            </a:pPr>
            <a:r>
              <a:rPr lang="en-US" sz="650" dirty="0">
                <a:solidFill>
                  <a:srgbClr val="000000"/>
                </a:solidFill>
                <a:latin typeface="Heebo" pitchFamily="34" charset="0"/>
                <a:ea typeface="Heebo" pitchFamily="34" charset="-122"/>
                <a:cs typeface="Heebo" pitchFamily="34" charset="-120"/>
              </a:rPr>
              <a:t> exploited a single workstation to compromise systems serving over 600 pension schemes.</a:t>
            </a:r>
            <a:endParaRPr lang="en-US" sz="650" dirty="0"/>
          </a:p>
        </p:txBody>
      </p:sp>
      <p:sp>
        <p:nvSpPr>
          <p:cNvPr id="4" name="Text 2"/>
          <p:cNvSpPr/>
          <p:nvPr/>
        </p:nvSpPr>
        <p:spPr>
          <a:xfrm>
            <a:off x="1607601" y="1122263"/>
            <a:ext cx="3514240" cy="282674"/>
          </a:xfrm>
          <a:prstGeom prst="rect">
            <a:avLst/>
          </a:prstGeom>
          <a:noFill/>
          <a:ln/>
        </p:spPr>
        <p:txBody>
          <a:bodyPr wrap="none" lIns="0" tIns="0" rIns="0" bIns="0" rtlCol="0" anchor="t"/>
          <a:lstStyle/>
          <a:p>
            <a:pPr algn="ctr" indent="0" marL="0">
              <a:lnSpc>
                <a:spcPct val="83000"/>
              </a:lnSpc>
              <a:buNone/>
            </a:pPr>
            <a:r>
              <a:rPr lang="en-US" sz="2200" dirty="0">
                <a:solidFill>
                  <a:srgbClr val="00915E"/>
                </a:solidFill>
                <a:latin typeface="Crimson Pro SemiBold" pitchFamily="34" charset="0"/>
                <a:ea typeface="Crimson Pro SemiBold" pitchFamily="34" charset="-122"/>
                <a:cs typeface="Crimson Pro SemiBold" pitchFamily="34" charset="-120"/>
              </a:rPr>
              <a:t>1TB</a:t>
            </a:r>
            <a:endParaRPr lang="en-US" sz="2200" dirty="0"/>
          </a:p>
        </p:txBody>
      </p:sp>
      <p:sp>
        <p:nvSpPr>
          <p:cNvPr id="5" name="Text 3"/>
          <p:cNvSpPr/>
          <p:nvPr/>
        </p:nvSpPr>
        <p:spPr>
          <a:xfrm>
            <a:off x="661475" y="1480939"/>
            <a:ext cx="5406592" cy="133747"/>
          </a:xfrm>
          <a:prstGeom prst="rect">
            <a:avLst/>
          </a:prstGeom>
          <a:noFill/>
          <a:ln/>
        </p:spPr>
        <p:txBody>
          <a:bodyPr wrap="none" lIns="0" tIns="0" rIns="0" bIns="0" rtlCol="0" anchor="t"/>
          <a:lstStyle/>
          <a:p>
            <a:pPr algn="ctr"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Data Exfiltrated</a:t>
            </a:r>
            <a:endParaRPr lang="en-US" sz="800" dirty="0"/>
          </a:p>
        </p:txBody>
      </p:sp>
      <p:sp>
        <p:nvSpPr>
          <p:cNvPr id="6" name="Text 4"/>
          <p:cNvSpPr/>
          <p:nvPr/>
        </p:nvSpPr>
        <p:spPr>
          <a:xfrm>
            <a:off x="661475" y="1641277"/>
            <a:ext cx="5406592" cy="103981"/>
          </a:xfrm>
          <a:prstGeom prst="rect">
            <a:avLst/>
          </a:prstGeom>
          <a:noFill/>
          <a:ln/>
        </p:spPr>
        <p:txBody>
          <a:bodyPr wrap="none" lIns="0" tIns="0" rIns="0" bIns="0" rtlCol="0" anchor="t"/>
          <a:lstStyle/>
          <a:p>
            <a:pPr algn="ctr" indent="0" marL="0">
              <a:lnSpc>
                <a:spcPct val="101000"/>
              </a:lnSpc>
              <a:buNone/>
            </a:pPr>
            <a:r>
              <a:rPr lang="en-US" sz="650" dirty="0">
                <a:solidFill>
                  <a:srgbClr val="000000"/>
                </a:solidFill>
                <a:latin typeface="Heebo" pitchFamily="34" charset="0"/>
                <a:ea typeface="Heebo" pitchFamily="34" charset="-122"/>
                <a:cs typeface="Heebo" pitchFamily="34" charset="-120"/>
              </a:rPr>
              <a:t>Included National Insurance numbers, banking credentials, and passport scans</a:t>
            </a:r>
            <a:endParaRPr lang="en-US" sz="650" dirty="0"/>
          </a:p>
        </p:txBody>
      </p:sp>
      <p:sp>
        <p:nvSpPr>
          <p:cNvPr id="7" name="Text 5"/>
          <p:cNvSpPr/>
          <p:nvPr/>
        </p:nvSpPr>
        <p:spPr>
          <a:xfrm>
            <a:off x="7069655" y="1122263"/>
            <a:ext cx="3514339" cy="282674"/>
          </a:xfrm>
          <a:prstGeom prst="rect">
            <a:avLst/>
          </a:prstGeom>
          <a:noFill/>
          <a:ln/>
        </p:spPr>
        <p:txBody>
          <a:bodyPr wrap="none" lIns="0" tIns="0" rIns="0" bIns="0" rtlCol="0" anchor="t"/>
          <a:lstStyle/>
          <a:p>
            <a:pPr algn="ctr" indent="0" marL="0">
              <a:lnSpc>
                <a:spcPct val="83000"/>
              </a:lnSpc>
              <a:buNone/>
            </a:pPr>
            <a:r>
              <a:rPr lang="en-US" sz="2200" dirty="0">
                <a:solidFill>
                  <a:srgbClr val="00915E"/>
                </a:solidFill>
                <a:latin typeface="Crimson Pro SemiBold" pitchFamily="34" charset="0"/>
                <a:ea typeface="Crimson Pro SemiBold" pitchFamily="34" charset="-122"/>
                <a:cs typeface="Crimson Pro SemiBold" pitchFamily="34" charset="-120"/>
              </a:rPr>
              <a:t>6.6M</a:t>
            </a:r>
            <a:endParaRPr lang="en-US" sz="2200" dirty="0"/>
          </a:p>
        </p:txBody>
      </p:sp>
      <p:sp>
        <p:nvSpPr>
          <p:cNvPr id="8" name="Text 6"/>
          <p:cNvSpPr/>
          <p:nvPr/>
        </p:nvSpPr>
        <p:spPr>
          <a:xfrm>
            <a:off x="6123529" y="1480939"/>
            <a:ext cx="5406691" cy="133747"/>
          </a:xfrm>
          <a:prstGeom prst="rect">
            <a:avLst/>
          </a:prstGeom>
          <a:noFill/>
          <a:ln/>
        </p:spPr>
        <p:txBody>
          <a:bodyPr wrap="none" lIns="0" tIns="0" rIns="0" bIns="0" rtlCol="0" anchor="t"/>
          <a:lstStyle/>
          <a:p>
            <a:pPr algn="ctr"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Individuals Affected</a:t>
            </a:r>
            <a:endParaRPr lang="en-US" sz="800" dirty="0"/>
          </a:p>
        </p:txBody>
      </p:sp>
      <p:sp>
        <p:nvSpPr>
          <p:cNvPr id="9" name="Text 7"/>
          <p:cNvSpPr/>
          <p:nvPr/>
        </p:nvSpPr>
        <p:spPr>
          <a:xfrm>
            <a:off x="6123529" y="1641277"/>
            <a:ext cx="5406691" cy="103981"/>
          </a:xfrm>
          <a:prstGeom prst="rect">
            <a:avLst/>
          </a:prstGeom>
          <a:noFill/>
          <a:ln/>
        </p:spPr>
        <p:txBody>
          <a:bodyPr wrap="none" lIns="0" tIns="0" rIns="0" bIns="0" rtlCol="0" anchor="t"/>
          <a:lstStyle/>
          <a:p>
            <a:pPr algn="ctr" indent="0" marL="0">
              <a:lnSpc>
                <a:spcPct val="101000"/>
              </a:lnSpc>
              <a:buNone/>
            </a:pPr>
            <a:r>
              <a:rPr lang="en-US" sz="650" dirty="0">
                <a:solidFill>
                  <a:srgbClr val="000000"/>
                </a:solidFill>
                <a:latin typeface="Heebo" pitchFamily="34" charset="0"/>
                <a:ea typeface="Heebo" pitchFamily="34" charset="-122"/>
                <a:cs typeface="Heebo" pitchFamily="34" charset="-120"/>
              </a:rPr>
              <a:t>Generated 93 regulatory complaints and hundreds of corporate notices</a:t>
            </a:r>
            <a:endParaRPr lang="en-US" sz="650" dirty="0"/>
          </a:p>
        </p:txBody>
      </p:sp>
      <p:sp>
        <p:nvSpPr>
          <p:cNvPr id="10" name="Text 8"/>
          <p:cNvSpPr/>
          <p:nvPr/>
        </p:nvSpPr>
        <p:spPr>
          <a:xfrm>
            <a:off x="1607601" y="1876723"/>
            <a:ext cx="3514240" cy="282674"/>
          </a:xfrm>
          <a:prstGeom prst="rect">
            <a:avLst/>
          </a:prstGeom>
          <a:noFill/>
          <a:ln/>
        </p:spPr>
        <p:txBody>
          <a:bodyPr wrap="none" lIns="0" tIns="0" rIns="0" bIns="0" rtlCol="0" anchor="t"/>
          <a:lstStyle/>
          <a:p>
            <a:pPr algn="ctr" indent="0" marL="0">
              <a:lnSpc>
                <a:spcPct val="83000"/>
              </a:lnSpc>
              <a:buNone/>
            </a:pPr>
            <a:r>
              <a:rPr lang="en-US" sz="2200" dirty="0">
                <a:solidFill>
                  <a:srgbClr val="00915E"/>
                </a:solidFill>
                <a:latin typeface="Crimson Pro SemiBold" pitchFamily="34" charset="0"/>
                <a:ea typeface="Crimson Pro SemiBold" pitchFamily="34" charset="-122"/>
                <a:cs typeface="Crimson Pro SemiBold" pitchFamily="34" charset="-120"/>
              </a:rPr>
              <a:t>£14M</a:t>
            </a:r>
            <a:endParaRPr lang="en-US" sz="2200" dirty="0"/>
          </a:p>
        </p:txBody>
      </p:sp>
      <p:sp>
        <p:nvSpPr>
          <p:cNvPr id="11" name="Text 9"/>
          <p:cNvSpPr/>
          <p:nvPr/>
        </p:nvSpPr>
        <p:spPr>
          <a:xfrm>
            <a:off x="661475" y="2235398"/>
            <a:ext cx="5406592" cy="133747"/>
          </a:xfrm>
          <a:prstGeom prst="rect">
            <a:avLst/>
          </a:prstGeom>
          <a:noFill/>
          <a:ln/>
        </p:spPr>
        <p:txBody>
          <a:bodyPr wrap="none" lIns="0" tIns="0" rIns="0" bIns="0" rtlCol="0" anchor="t"/>
          <a:lstStyle/>
          <a:p>
            <a:pPr algn="ctr"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ICO Penalty (Oct 2025)</a:t>
            </a:r>
            <a:endParaRPr lang="en-US" sz="800" dirty="0"/>
          </a:p>
        </p:txBody>
      </p:sp>
      <p:sp>
        <p:nvSpPr>
          <p:cNvPr id="12" name="Text 10"/>
          <p:cNvSpPr/>
          <p:nvPr/>
        </p:nvSpPr>
        <p:spPr>
          <a:xfrm>
            <a:off x="661475" y="2395736"/>
            <a:ext cx="5406592" cy="103981"/>
          </a:xfrm>
          <a:prstGeom prst="rect">
            <a:avLst/>
          </a:prstGeom>
          <a:noFill/>
          <a:ln/>
        </p:spPr>
        <p:txBody>
          <a:bodyPr wrap="none" lIns="0" tIns="0" rIns="0" bIns="0" rtlCol="0" anchor="t"/>
          <a:lstStyle/>
          <a:p>
            <a:pPr algn="ctr" indent="0" marL="0">
              <a:lnSpc>
                <a:spcPct val="101000"/>
              </a:lnSpc>
              <a:buNone/>
            </a:pPr>
            <a:r>
              <a:rPr lang="en-US" sz="650" dirty="0">
                <a:solidFill>
                  <a:srgbClr val="000000"/>
                </a:solidFill>
                <a:latin typeface="Heebo" pitchFamily="34" charset="0"/>
                <a:ea typeface="Heebo" pitchFamily="34" charset="-122"/>
                <a:cs typeface="Heebo" pitchFamily="34" charset="-120"/>
              </a:rPr>
              <a:t>Reduced from £45M due to remediation and GCHQ cooperation</a:t>
            </a:r>
            <a:endParaRPr lang="en-US" sz="650" dirty="0"/>
          </a:p>
        </p:txBody>
      </p:sp>
      <p:sp>
        <p:nvSpPr>
          <p:cNvPr id="13" name="Text 11"/>
          <p:cNvSpPr/>
          <p:nvPr/>
        </p:nvSpPr>
        <p:spPr>
          <a:xfrm>
            <a:off x="7069655" y="1876723"/>
            <a:ext cx="3514339" cy="282674"/>
          </a:xfrm>
          <a:prstGeom prst="rect">
            <a:avLst/>
          </a:prstGeom>
          <a:noFill/>
          <a:ln/>
        </p:spPr>
        <p:txBody>
          <a:bodyPr wrap="none" lIns="0" tIns="0" rIns="0" bIns="0" rtlCol="0" anchor="t"/>
          <a:lstStyle/>
          <a:p>
            <a:pPr algn="ctr" indent="0" marL="0">
              <a:lnSpc>
                <a:spcPct val="83000"/>
              </a:lnSpc>
              <a:buNone/>
            </a:pPr>
            <a:r>
              <a:rPr lang="en-US" sz="2200" dirty="0">
                <a:solidFill>
                  <a:srgbClr val="00915E"/>
                </a:solidFill>
                <a:latin typeface="Crimson Pro SemiBold" pitchFamily="34" charset="0"/>
                <a:ea typeface="Crimson Pro SemiBold" pitchFamily="34" charset="-122"/>
                <a:cs typeface="Crimson Pro SemiBold" pitchFamily="34" charset="-120"/>
              </a:rPr>
              <a:t>8,000+</a:t>
            </a:r>
            <a:endParaRPr lang="en-US" sz="2200" dirty="0"/>
          </a:p>
        </p:txBody>
      </p:sp>
      <p:sp>
        <p:nvSpPr>
          <p:cNvPr id="14" name="Text 12"/>
          <p:cNvSpPr/>
          <p:nvPr/>
        </p:nvSpPr>
        <p:spPr>
          <a:xfrm>
            <a:off x="6123529" y="2235398"/>
            <a:ext cx="5406691" cy="133747"/>
          </a:xfrm>
          <a:prstGeom prst="rect">
            <a:avLst/>
          </a:prstGeom>
          <a:noFill/>
          <a:ln/>
        </p:spPr>
        <p:txBody>
          <a:bodyPr wrap="none" lIns="0" tIns="0" rIns="0" bIns="0" rtlCol="0" anchor="t"/>
          <a:lstStyle/>
          <a:p>
            <a:pPr algn="ctr"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Class-Action Claimants</a:t>
            </a:r>
            <a:endParaRPr lang="en-US" sz="800" dirty="0"/>
          </a:p>
        </p:txBody>
      </p:sp>
      <p:sp>
        <p:nvSpPr>
          <p:cNvPr id="15" name="Text 13"/>
          <p:cNvSpPr/>
          <p:nvPr/>
        </p:nvSpPr>
        <p:spPr>
          <a:xfrm>
            <a:off x="6123529" y="2395736"/>
            <a:ext cx="5406691" cy="103981"/>
          </a:xfrm>
          <a:prstGeom prst="rect">
            <a:avLst/>
          </a:prstGeom>
          <a:noFill/>
          <a:ln/>
        </p:spPr>
        <p:txBody>
          <a:bodyPr wrap="none" lIns="0" tIns="0" rIns="0" bIns="0" rtlCol="0" anchor="t"/>
          <a:lstStyle/>
          <a:p>
            <a:pPr algn="ctr" indent="0" marL="0">
              <a:lnSpc>
                <a:spcPct val="101000"/>
              </a:lnSpc>
              <a:buNone/>
            </a:pPr>
            <a:r>
              <a:rPr lang="en-US" sz="650" dirty="0">
                <a:solidFill>
                  <a:srgbClr val="000000"/>
                </a:solidFill>
                <a:latin typeface="Heebo" pitchFamily="34" charset="0"/>
                <a:ea typeface="Heebo" pitchFamily="34" charset="-122"/>
                <a:cs typeface="Heebo" pitchFamily="34" charset="-120"/>
              </a:rPr>
              <a:t>High Court multi-party claim driven by negligent loss of special category data</a:t>
            </a:r>
            <a:endParaRPr lang="en-US" sz="650" dirty="0"/>
          </a:p>
        </p:txBody>
      </p:sp>
      <p:sp>
        <p:nvSpPr>
          <p:cNvPr id="16" name="Text 14"/>
          <p:cNvSpPr/>
          <p:nvPr/>
        </p:nvSpPr>
        <p:spPr>
          <a:xfrm>
            <a:off x="661475" y="2566194"/>
            <a:ext cx="10868745" cy="214114"/>
          </a:xfrm>
          <a:prstGeom prst="rect">
            <a:avLst/>
          </a:prstGeom>
          <a:noFill/>
          <a:ln/>
        </p:spPr>
        <p:txBody>
          <a:bodyPr wrap="none" lIns="0" tIns="0" rIns="0" bIns="0" rtlCol="0" anchor="t"/>
          <a:lstStyle/>
          <a:p>
            <a:pPr algn="l" indent="0" marL="0">
              <a:lnSpc>
                <a:spcPct val="104000"/>
              </a:lnSpc>
              <a:buNone/>
            </a:pPr>
            <a:r>
              <a:rPr lang="en-US" sz="1300" dirty="0">
                <a:solidFill>
                  <a:srgbClr val="00674F"/>
                </a:solidFill>
                <a:latin typeface="Crimson Pro SemiBold" pitchFamily="34" charset="0"/>
                <a:ea typeface="Crimson Pro SemiBold" pitchFamily="34" charset="-122"/>
                <a:cs typeface="Crimson Pro SemiBold" pitchFamily="34" charset="-120"/>
              </a:rPr>
              <a:t>Operational Impact Timeline</a:t>
            </a:r>
            <a:endParaRPr lang="en-US" sz="1300" dirty="0"/>
          </a:p>
        </p:txBody>
      </p:sp>
      <p:sp>
        <p:nvSpPr>
          <p:cNvPr id="17" name="Shape 15"/>
          <p:cNvSpPr/>
          <p:nvPr/>
        </p:nvSpPr>
        <p:spPr>
          <a:xfrm>
            <a:off x="6089498" y="2846784"/>
            <a:ext cx="12700" cy="3154660"/>
          </a:xfrm>
          <a:prstGeom prst="roundRect">
            <a:avLst>
              <a:gd name="adj" fmla="val 101182"/>
            </a:avLst>
          </a:prstGeom>
          <a:solidFill>
            <a:srgbClr val="19AA77"/>
          </a:solidFill>
          <a:ln/>
        </p:spPr>
      </p:sp>
      <p:sp>
        <p:nvSpPr>
          <p:cNvPr id="18" name="Shape 16"/>
          <p:cNvSpPr/>
          <p:nvPr/>
        </p:nvSpPr>
        <p:spPr>
          <a:xfrm>
            <a:off x="5755238" y="2936776"/>
            <a:ext cx="256970" cy="12700"/>
          </a:xfrm>
          <a:prstGeom prst="roundRect">
            <a:avLst>
              <a:gd name="adj" fmla="val 101182"/>
            </a:avLst>
          </a:prstGeom>
          <a:solidFill>
            <a:srgbClr val="19AA77"/>
          </a:solidFill>
          <a:ln/>
        </p:spPr>
      </p:sp>
      <p:sp>
        <p:nvSpPr>
          <p:cNvPr id="19" name="Shape 17"/>
          <p:cNvSpPr/>
          <p:nvPr/>
        </p:nvSpPr>
        <p:spPr>
          <a:xfrm>
            <a:off x="5999509" y="2846784"/>
            <a:ext cx="192678" cy="192683"/>
          </a:xfrm>
          <a:prstGeom prst="roundRect">
            <a:avLst>
              <a:gd name="adj" fmla="val 6669"/>
            </a:avLst>
          </a:prstGeom>
          <a:solidFill>
            <a:srgbClr val="00915E"/>
          </a:solidFill>
          <a:ln/>
        </p:spPr>
      </p:sp>
      <p:sp>
        <p:nvSpPr>
          <p:cNvPr id="20" name="Text 18"/>
          <p:cNvSpPr/>
          <p:nvPr/>
        </p:nvSpPr>
        <p:spPr>
          <a:xfrm>
            <a:off x="6031605" y="2862858"/>
            <a:ext cx="128485" cy="160536"/>
          </a:xfrm>
          <a:prstGeom prst="rect">
            <a:avLst/>
          </a:prstGeom>
          <a:noFill/>
          <a:ln/>
        </p:spPr>
        <p:txBody>
          <a:bodyPr wrap="none" lIns="0" tIns="0" rIns="0" bIns="0" rtlCol="0" anchor="ctr"/>
          <a:lstStyle/>
          <a:p>
            <a:pPr algn="ctr" indent="0" marL="0">
              <a:lnSpc>
                <a:spcPct val="100000"/>
              </a:lnSpc>
              <a:buNone/>
            </a:pPr>
            <a:r>
              <a:rPr lang="en-US" sz="1000" dirty="0">
                <a:solidFill>
                  <a:srgbClr val="FFFFFF"/>
                </a:solidFill>
                <a:latin typeface="Crimson Pro SemiBold" pitchFamily="34" charset="0"/>
                <a:ea typeface="Crimson Pro SemiBold" pitchFamily="34" charset="-122"/>
                <a:cs typeface="Crimson Pro SemiBold" pitchFamily="34" charset="-120"/>
              </a:rPr>
              <a:t>1</a:t>
            </a:r>
            <a:endParaRPr lang="en-US" sz="1000" dirty="0"/>
          </a:p>
        </p:txBody>
      </p:sp>
      <p:sp>
        <p:nvSpPr>
          <p:cNvPr id="21" name="Text 19"/>
          <p:cNvSpPr/>
          <p:nvPr/>
        </p:nvSpPr>
        <p:spPr>
          <a:xfrm>
            <a:off x="661475" y="2876153"/>
            <a:ext cx="5006056" cy="133747"/>
          </a:xfrm>
          <a:prstGeom prst="rect">
            <a:avLst/>
          </a:prstGeom>
          <a:noFill/>
          <a:ln/>
        </p:spPr>
        <p:txBody>
          <a:bodyPr wrap="none" lIns="0" tIns="0" rIns="0" bIns="0" rtlCol="0" anchor="t"/>
          <a:lstStyle/>
          <a:p>
            <a:pPr algn="r"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22 Mar 2023</a:t>
            </a:r>
            <a:endParaRPr lang="en-US" sz="800" dirty="0"/>
          </a:p>
        </p:txBody>
      </p:sp>
      <p:sp>
        <p:nvSpPr>
          <p:cNvPr id="22" name="Text 20"/>
          <p:cNvSpPr/>
          <p:nvPr/>
        </p:nvSpPr>
        <p:spPr>
          <a:xfrm>
            <a:off x="661475" y="3036491"/>
            <a:ext cx="5006056" cy="103981"/>
          </a:xfrm>
          <a:prstGeom prst="rect">
            <a:avLst/>
          </a:prstGeom>
          <a:noFill/>
          <a:ln/>
        </p:spPr>
        <p:txBody>
          <a:bodyPr wrap="none" lIns="0" tIns="0" rIns="0" bIns="0" rtlCol="0" anchor="t"/>
          <a:lstStyle/>
          <a:p>
            <a:pPr algn="r" indent="0" marL="0">
              <a:lnSpc>
                <a:spcPct val="101000"/>
              </a:lnSpc>
              <a:buNone/>
            </a:pPr>
            <a:r>
              <a:rPr lang="en-US" sz="650" dirty="0">
                <a:solidFill>
                  <a:srgbClr val="000000"/>
                </a:solidFill>
                <a:latin typeface="Heebo" pitchFamily="34" charset="0"/>
                <a:ea typeface="Heebo" pitchFamily="34" charset="-122"/>
                <a:cs typeface="Heebo" pitchFamily="34" charset="-120"/>
              </a:rPr>
              <a:t>Initial infection via malicious email. Workstation compromised; malware connects to command server.</a:t>
            </a:r>
            <a:endParaRPr lang="en-US" sz="650" dirty="0"/>
          </a:p>
        </p:txBody>
      </p:sp>
      <p:sp>
        <p:nvSpPr>
          <p:cNvPr id="23" name="Shape 21"/>
          <p:cNvSpPr/>
          <p:nvPr/>
        </p:nvSpPr>
        <p:spPr>
          <a:xfrm>
            <a:off x="6179487" y="3368080"/>
            <a:ext cx="256970" cy="12700"/>
          </a:xfrm>
          <a:prstGeom prst="roundRect">
            <a:avLst>
              <a:gd name="adj" fmla="val 101182"/>
            </a:avLst>
          </a:prstGeom>
          <a:solidFill>
            <a:srgbClr val="19AA77"/>
          </a:solidFill>
          <a:ln/>
        </p:spPr>
      </p:sp>
      <p:sp>
        <p:nvSpPr>
          <p:cNvPr id="24" name="Shape 22"/>
          <p:cNvSpPr/>
          <p:nvPr/>
        </p:nvSpPr>
        <p:spPr>
          <a:xfrm>
            <a:off x="5999509" y="3278088"/>
            <a:ext cx="192678" cy="192683"/>
          </a:xfrm>
          <a:prstGeom prst="roundRect">
            <a:avLst>
              <a:gd name="adj" fmla="val 6669"/>
            </a:avLst>
          </a:prstGeom>
          <a:solidFill>
            <a:srgbClr val="00915E"/>
          </a:solidFill>
          <a:ln/>
        </p:spPr>
      </p:sp>
      <p:sp>
        <p:nvSpPr>
          <p:cNvPr id="25" name="Text 23"/>
          <p:cNvSpPr/>
          <p:nvPr/>
        </p:nvSpPr>
        <p:spPr>
          <a:xfrm>
            <a:off x="6031605" y="3294162"/>
            <a:ext cx="128485" cy="160536"/>
          </a:xfrm>
          <a:prstGeom prst="rect">
            <a:avLst/>
          </a:prstGeom>
          <a:noFill/>
          <a:ln/>
        </p:spPr>
        <p:txBody>
          <a:bodyPr wrap="none" lIns="0" tIns="0" rIns="0" bIns="0" rtlCol="0" anchor="ctr"/>
          <a:lstStyle/>
          <a:p>
            <a:pPr algn="ctr" indent="0" marL="0">
              <a:lnSpc>
                <a:spcPct val="100000"/>
              </a:lnSpc>
              <a:buNone/>
            </a:pPr>
            <a:r>
              <a:rPr lang="en-US" sz="1000" dirty="0">
                <a:solidFill>
                  <a:srgbClr val="FFFFFF"/>
                </a:solidFill>
                <a:latin typeface="Crimson Pro SemiBold" pitchFamily="34" charset="0"/>
                <a:ea typeface="Crimson Pro SemiBold" pitchFamily="34" charset="-122"/>
                <a:cs typeface="Crimson Pro SemiBold" pitchFamily="34" charset="-120"/>
              </a:rPr>
              <a:t>2</a:t>
            </a:r>
            <a:endParaRPr lang="en-US" sz="1000" dirty="0"/>
          </a:p>
        </p:txBody>
      </p:sp>
      <p:sp>
        <p:nvSpPr>
          <p:cNvPr id="26" name="Text 24"/>
          <p:cNvSpPr/>
          <p:nvPr/>
        </p:nvSpPr>
        <p:spPr>
          <a:xfrm>
            <a:off x="6524164" y="3307457"/>
            <a:ext cx="5006056" cy="133747"/>
          </a:xfrm>
          <a:prstGeom prst="rect">
            <a:avLst/>
          </a:prstGeom>
          <a:noFill/>
          <a:ln/>
        </p:spPr>
        <p:txBody>
          <a:bodyPr wrap="none" lIns="0" tIns="0" rIns="0" bIns="0" rtlCol="0" anchor="t"/>
          <a:lstStyle/>
          <a:p>
            <a:pPr algn="l"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T + 10 Minutes</a:t>
            </a:r>
            <a:endParaRPr lang="en-US" sz="800" dirty="0"/>
          </a:p>
        </p:txBody>
      </p:sp>
      <p:sp>
        <p:nvSpPr>
          <p:cNvPr id="27" name="Text 25"/>
          <p:cNvSpPr/>
          <p:nvPr/>
        </p:nvSpPr>
        <p:spPr>
          <a:xfrm>
            <a:off x="6524164" y="3467795"/>
            <a:ext cx="5006056" cy="103981"/>
          </a:xfrm>
          <a:prstGeom prst="rect">
            <a:avLst/>
          </a:prstGeom>
          <a:noFill/>
          <a:ln/>
        </p:spPr>
        <p:txBody>
          <a:bodyPr wrap="none" lIns="0" tIns="0" rIns="0" bIns="0" rtlCol="0" anchor="t"/>
          <a:lstStyle/>
          <a:p>
            <a:pPr algn="l" indent="0" marL="0">
              <a:lnSpc>
                <a:spcPct val="101000"/>
              </a:lnSpc>
              <a:buNone/>
            </a:pPr>
            <a:r>
              <a:rPr lang="en-US" sz="650" dirty="0">
                <a:solidFill>
                  <a:srgbClr val="000000"/>
                </a:solidFill>
                <a:latin typeface="Heebo" pitchFamily="34" charset="0"/>
                <a:ea typeface="Heebo" pitchFamily="34" charset="-122"/>
                <a:cs typeface="Heebo" pitchFamily="34" charset="-120"/>
              </a:rPr>
              <a:t>EDR flags high-risk alert — misclassified or un-escalated due to understaffing.</a:t>
            </a:r>
            <a:endParaRPr lang="en-US" sz="650" dirty="0"/>
          </a:p>
        </p:txBody>
      </p:sp>
      <p:sp>
        <p:nvSpPr>
          <p:cNvPr id="28" name="Shape 26"/>
          <p:cNvSpPr/>
          <p:nvPr/>
        </p:nvSpPr>
        <p:spPr>
          <a:xfrm>
            <a:off x="5755238" y="3769717"/>
            <a:ext cx="256970" cy="12700"/>
          </a:xfrm>
          <a:prstGeom prst="roundRect">
            <a:avLst>
              <a:gd name="adj" fmla="val 101182"/>
            </a:avLst>
          </a:prstGeom>
          <a:solidFill>
            <a:srgbClr val="19AA77"/>
          </a:solidFill>
          <a:ln/>
        </p:spPr>
      </p:sp>
      <p:sp>
        <p:nvSpPr>
          <p:cNvPr id="29" name="Shape 27"/>
          <p:cNvSpPr/>
          <p:nvPr/>
        </p:nvSpPr>
        <p:spPr>
          <a:xfrm>
            <a:off x="5999509" y="3679726"/>
            <a:ext cx="192678" cy="192683"/>
          </a:xfrm>
          <a:prstGeom prst="roundRect">
            <a:avLst>
              <a:gd name="adj" fmla="val 6669"/>
            </a:avLst>
          </a:prstGeom>
          <a:solidFill>
            <a:srgbClr val="00915E"/>
          </a:solidFill>
          <a:ln/>
        </p:spPr>
      </p:sp>
      <p:sp>
        <p:nvSpPr>
          <p:cNvPr id="30" name="Text 28"/>
          <p:cNvSpPr/>
          <p:nvPr/>
        </p:nvSpPr>
        <p:spPr>
          <a:xfrm>
            <a:off x="6031605" y="3695799"/>
            <a:ext cx="128485" cy="160536"/>
          </a:xfrm>
          <a:prstGeom prst="rect">
            <a:avLst/>
          </a:prstGeom>
          <a:noFill/>
          <a:ln/>
        </p:spPr>
        <p:txBody>
          <a:bodyPr wrap="none" lIns="0" tIns="0" rIns="0" bIns="0" rtlCol="0" anchor="ctr"/>
          <a:lstStyle/>
          <a:p>
            <a:pPr algn="ctr" indent="0" marL="0">
              <a:lnSpc>
                <a:spcPct val="100000"/>
              </a:lnSpc>
              <a:buNone/>
            </a:pPr>
            <a:r>
              <a:rPr lang="en-US" sz="1000" dirty="0">
                <a:solidFill>
                  <a:srgbClr val="FFFFFF"/>
                </a:solidFill>
                <a:latin typeface="Crimson Pro SemiBold" pitchFamily="34" charset="0"/>
                <a:ea typeface="Crimson Pro SemiBold" pitchFamily="34" charset="-122"/>
                <a:cs typeface="Crimson Pro SemiBold" pitchFamily="34" charset="-120"/>
              </a:rPr>
              <a:t>3</a:t>
            </a:r>
            <a:endParaRPr lang="en-US" sz="1000" dirty="0"/>
          </a:p>
        </p:txBody>
      </p:sp>
      <p:sp>
        <p:nvSpPr>
          <p:cNvPr id="31" name="Text 29"/>
          <p:cNvSpPr/>
          <p:nvPr/>
        </p:nvSpPr>
        <p:spPr>
          <a:xfrm>
            <a:off x="661475" y="3709095"/>
            <a:ext cx="5006056" cy="133747"/>
          </a:xfrm>
          <a:prstGeom prst="rect">
            <a:avLst/>
          </a:prstGeom>
          <a:noFill/>
          <a:ln/>
        </p:spPr>
        <p:txBody>
          <a:bodyPr wrap="none" lIns="0" tIns="0" rIns="0" bIns="0" rtlCol="0" anchor="t"/>
          <a:lstStyle/>
          <a:p>
            <a:pPr algn="r"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T + 58 Hours</a:t>
            </a:r>
            <a:endParaRPr lang="en-US" sz="800" dirty="0"/>
          </a:p>
        </p:txBody>
      </p:sp>
      <p:sp>
        <p:nvSpPr>
          <p:cNvPr id="32" name="Text 30"/>
          <p:cNvSpPr/>
          <p:nvPr/>
        </p:nvSpPr>
        <p:spPr>
          <a:xfrm>
            <a:off x="661475" y="3869432"/>
            <a:ext cx="5006056" cy="103981"/>
          </a:xfrm>
          <a:prstGeom prst="rect">
            <a:avLst/>
          </a:prstGeom>
          <a:noFill/>
          <a:ln/>
        </p:spPr>
        <p:txBody>
          <a:bodyPr wrap="none" lIns="0" tIns="0" rIns="0" bIns="0" rtlCol="0" anchor="t"/>
          <a:lstStyle/>
          <a:p>
            <a:pPr algn="r" indent="0" marL="0">
              <a:lnSpc>
                <a:spcPct val="101000"/>
              </a:lnSpc>
              <a:buNone/>
            </a:pPr>
            <a:r>
              <a:rPr lang="en-US" sz="650" dirty="0">
                <a:solidFill>
                  <a:srgbClr val="000000"/>
                </a:solidFill>
                <a:latin typeface="Heebo" pitchFamily="34" charset="0"/>
                <a:ea typeface="Heebo" pitchFamily="34" charset="-122"/>
                <a:cs typeface="Heebo" pitchFamily="34" charset="-120"/>
              </a:rPr>
              <a:t>Device unquarantined. Adversaries harvest credentials via LSASS memory, compromising </a:t>
            </a:r>
            <a:pPr algn="r" indent="0" marL="0">
              <a:lnSpc>
                <a:spcPct val="101000"/>
              </a:lnSpc>
              <a:buNone/>
            </a:pPr>
            <a:r>
              <a:rPr lang="en-US" sz="650" b="1" dirty="0">
                <a:solidFill>
                  <a:srgbClr val="000000"/>
                </a:solidFill>
                <a:latin typeface="Heebo Bold" pitchFamily="34" charset="0"/>
                <a:ea typeface="Heebo Bold" pitchFamily="34" charset="-122"/>
                <a:cs typeface="Heebo Bold" pitchFamily="34" charset="-120"/>
              </a:rPr>
              <a:t>CAPITAL\backupadmin</a:t>
            </a:r>
            <a:pPr algn="r" indent="0" marL="0">
              <a:lnSpc>
                <a:spcPct val="101000"/>
              </a:lnSpc>
              <a:buNone/>
            </a:pPr>
            <a:r>
              <a:rPr lang="en-US" sz="650" dirty="0">
                <a:solidFill>
                  <a:srgbClr val="000000"/>
                </a:solidFill>
                <a:latin typeface="Heebo" pitchFamily="34" charset="0"/>
                <a:ea typeface="Heebo" pitchFamily="34" charset="-122"/>
                <a:cs typeface="Heebo" pitchFamily="34" charset="-120"/>
              </a:rPr>
              <a:t> account.</a:t>
            </a:r>
            <a:endParaRPr lang="en-US" sz="650" dirty="0"/>
          </a:p>
        </p:txBody>
      </p:sp>
      <p:sp>
        <p:nvSpPr>
          <p:cNvPr id="33" name="Shape 31"/>
          <p:cNvSpPr/>
          <p:nvPr/>
        </p:nvSpPr>
        <p:spPr>
          <a:xfrm>
            <a:off x="6179487" y="4171454"/>
            <a:ext cx="256970" cy="12700"/>
          </a:xfrm>
          <a:prstGeom prst="roundRect">
            <a:avLst>
              <a:gd name="adj" fmla="val 101182"/>
            </a:avLst>
          </a:prstGeom>
          <a:solidFill>
            <a:srgbClr val="19AA77"/>
          </a:solidFill>
          <a:ln/>
        </p:spPr>
      </p:sp>
      <p:sp>
        <p:nvSpPr>
          <p:cNvPr id="34" name="Shape 32"/>
          <p:cNvSpPr/>
          <p:nvPr/>
        </p:nvSpPr>
        <p:spPr>
          <a:xfrm>
            <a:off x="5999509" y="4081463"/>
            <a:ext cx="192678" cy="192683"/>
          </a:xfrm>
          <a:prstGeom prst="roundRect">
            <a:avLst>
              <a:gd name="adj" fmla="val 6669"/>
            </a:avLst>
          </a:prstGeom>
          <a:solidFill>
            <a:srgbClr val="00915E"/>
          </a:solidFill>
          <a:ln/>
        </p:spPr>
      </p:sp>
      <p:sp>
        <p:nvSpPr>
          <p:cNvPr id="35" name="Text 33"/>
          <p:cNvSpPr/>
          <p:nvPr/>
        </p:nvSpPr>
        <p:spPr>
          <a:xfrm>
            <a:off x="6031605" y="4097536"/>
            <a:ext cx="128485" cy="160536"/>
          </a:xfrm>
          <a:prstGeom prst="rect">
            <a:avLst/>
          </a:prstGeom>
          <a:noFill/>
          <a:ln/>
        </p:spPr>
        <p:txBody>
          <a:bodyPr wrap="none" lIns="0" tIns="0" rIns="0" bIns="0" rtlCol="0" anchor="ctr"/>
          <a:lstStyle/>
          <a:p>
            <a:pPr algn="ctr" indent="0" marL="0">
              <a:lnSpc>
                <a:spcPct val="100000"/>
              </a:lnSpc>
              <a:buNone/>
            </a:pPr>
            <a:r>
              <a:rPr lang="en-US" sz="1000" dirty="0">
                <a:solidFill>
                  <a:srgbClr val="FFFFFF"/>
                </a:solidFill>
                <a:latin typeface="Crimson Pro SemiBold" pitchFamily="34" charset="0"/>
                <a:ea typeface="Crimson Pro SemiBold" pitchFamily="34" charset="-122"/>
                <a:cs typeface="Crimson Pro SemiBold" pitchFamily="34" charset="-120"/>
              </a:rPr>
              <a:t>4</a:t>
            </a:r>
            <a:endParaRPr lang="en-US" sz="1000" dirty="0"/>
          </a:p>
        </p:txBody>
      </p:sp>
      <p:sp>
        <p:nvSpPr>
          <p:cNvPr id="36" name="Text 34"/>
          <p:cNvSpPr/>
          <p:nvPr/>
        </p:nvSpPr>
        <p:spPr>
          <a:xfrm>
            <a:off x="6524164" y="4110831"/>
            <a:ext cx="5006056" cy="133747"/>
          </a:xfrm>
          <a:prstGeom prst="rect">
            <a:avLst/>
          </a:prstGeom>
          <a:noFill/>
          <a:ln/>
        </p:spPr>
        <p:txBody>
          <a:bodyPr wrap="none" lIns="0" tIns="0" rIns="0" bIns="0" rtlCol="0" anchor="t"/>
          <a:lstStyle/>
          <a:p>
            <a:pPr algn="l"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25–28 Mar 2023</a:t>
            </a:r>
            <a:endParaRPr lang="en-US" sz="800" dirty="0"/>
          </a:p>
        </p:txBody>
      </p:sp>
      <p:sp>
        <p:nvSpPr>
          <p:cNvPr id="37" name="Text 35"/>
          <p:cNvSpPr/>
          <p:nvPr/>
        </p:nvSpPr>
        <p:spPr>
          <a:xfrm>
            <a:off x="6524164" y="4271169"/>
            <a:ext cx="5006056" cy="103981"/>
          </a:xfrm>
          <a:prstGeom prst="rect">
            <a:avLst/>
          </a:prstGeom>
          <a:noFill/>
          <a:ln/>
        </p:spPr>
        <p:txBody>
          <a:bodyPr wrap="none" lIns="0" tIns="0" rIns="0" bIns="0" rtlCol="0" anchor="t"/>
          <a:lstStyle/>
          <a:p>
            <a:pPr algn="l" indent="0" marL="0">
              <a:lnSpc>
                <a:spcPct val="101000"/>
              </a:lnSpc>
              <a:buNone/>
            </a:pPr>
            <a:r>
              <a:rPr lang="en-US" sz="650" dirty="0">
                <a:solidFill>
                  <a:srgbClr val="000000"/>
                </a:solidFill>
                <a:latin typeface="Heebo" pitchFamily="34" charset="0"/>
                <a:ea typeface="Heebo" pitchFamily="34" charset="-122"/>
                <a:cs typeface="Heebo" pitchFamily="34" charset="-120"/>
              </a:rPr>
              <a:t>Multi-domain lateral movement via flat Active Directory, accessing segregated networks.</a:t>
            </a:r>
            <a:endParaRPr lang="en-US" sz="650" dirty="0"/>
          </a:p>
        </p:txBody>
      </p:sp>
      <p:sp>
        <p:nvSpPr>
          <p:cNvPr id="38" name="Shape 36"/>
          <p:cNvSpPr/>
          <p:nvPr/>
        </p:nvSpPr>
        <p:spPr>
          <a:xfrm>
            <a:off x="5755238" y="4573191"/>
            <a:ext cx="256970" cy="12700"/>
          </a:xfrm>
          <a:prstGeom prst="roundRect">
            <a:avLst>
              <a:gd name="adj" fmla="val 101182"/>
            </a:avLst>
          </a:prstGeom>
          <a:solidFill>
            <a:srgbClr val="19AA77"/>
          </a:solidFill>
          <a:ln/>
        </p:spPr>
      </p:sp>
      <p:sp>
        <p:nvSpPr>
          <p:cNvPr id="39" name="Shape 37"/>
          <p:cNvSpPr/>
          <p:nvPr/>
        </p:nvSpPr>
        <p:spPr>
          <a:xfrm>
            <a:off x="5999509" y="4483199"/>
            <a:ext cx="192678" cy="192683"/>
          </a:xfrm>
          <a:prstGeom prst="roundRect">
            <a:avLst>
              <a:gd name="adj" fmla="val 6669"/>
            </a:avLst>
          </a:prstGeom>
          <a:solidFill>
            <a:srgbClr val="00915E"/>
          </a:solidFill>
          <a:ln/>
        </p:spPr>
      </p:sp>
      <p:sp>
        <p:nvSpPr>
          <p:cNvPr id="40" name="Text 38"/>
          <p:cNvSpPr/>
          <p:nvPr/>
        </p:nvSpPr>
        <p:spPr>
          <a:xfrm>
            <a:off x="6031605" y="4499273"/>
            <a:ext cx="128485" cy="160536"/>
          </a:xfrm>
          <a:prstGeom prst="rect">
            <a:avLst/>
          </a:prstGeom>
          <a:noFill/>
          <a:ln/>
        </p:spPr>
        <p:txBody>
          <a:bodyPr wrap="none" lIns="0" tIns="0" rIns="0" bIns="0" rtlCol="0" anchor="ctr"/>
          <a:lstStyle/>
          <a:p>
            <a:pPr algn="ctr" indent="0" marL="0">
              <a:lnSpc>
                <a:spcPct val="100000"/>
              </a:lnSpc>
              <a:buNone/>
            </a:pPr>
            <a:r>
              <a:rPr lang="en-US" sz="1000" dirty="0">
                <a:solidFill>
                  <a:srgbClr val="FFFFFF"/>
                </a:solidFill>
                <a:latin typeface="Crimson Pro SemiBold" pitchFamily="34" charset="0"/>
                <a:ea typeface="Crimson Pro SemiBold" pitchFamily="34" charset="-122"/>
                <a:cs typeface="Crimson Pro SemiBold" pitchFamily="34" charset="-120"/>
              </a:rPr>
              <a:t>5</a:t>
            </a:r>
            <a:endParaRPr lang="en-US" sz="1000" dirty="0"/>
          </a:p>
        </p:txBody>
      </p:sp>
      <p:sp>
        <p:nvSpPr>
          <p:cNvPr id="41" name="Text 39"/>
          <p:cNvSpPr/>
          <p:nvPr/>
        </p:nvSpPr>
        <p:spPr>
          <a:xfrm>
            <a:off x="661475" y="4512568"/>
            <a:ext cx="5006056" cy="133747"/>
          </a:xfrm>
          <a:prstGeom prst="rect">
            <a:avLst/>
          </a:prstGeom>
          <a:noFill/>
          <a:ln/>
        </p:spPr>
        <p:txBody>
          <a:bodyPr wrap="none" lIns="0" tIns="0" rIns="0" bIns="0" rtlCol="0" anchor="t"/>
          <a:lstStyle/>
          <a:p>
            <a:pPr algn="r"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29–30 Mar 2023</a:t>
            </a:r>
            <a:endParaRPr lang="en-US" sz="800" dirty="0"/>
          </a:p>
        </p:txBody>
      </p:sp>
      <p:sp>
        <p:nvSpPr>
          <p:cNvPr id="42" name="Text 40"/>
          <p:cNvSpPr/>
          <p:nvPr/>
        </p:nvSpPr>
        <p:spPr>
          <a:xfrm>
            <a:off x="661475" y="4672905"/>
            <a:ext cx="5006056" cy="103981"/>
          </a:xfrm>
          <a:prstGeom prst="rect">
            <a:avLst/>
          </a:prstGeom>
          <a:noFill/>
          <a:ln/>
        </p:spPr>
        <p:txBody>
          <a:bodyPr wrap="none" lIns="0" tIns="0" rIns="0" bIns="0" rtlCol="0" anchor="t"/>
          <a:lstStyle/>
          <a:p>
            <a:pPr algn="r" indent="0" marL="0">
              <a:lnSpc>
                <a:spcPct val="101000"/>
              </a:lnSpc>
              <a:buNone/>
            </a:pPr>
            <a:r>
              <a:rPr lang="en-US" sz="650" dirty="0">
                <a:solidFill>
                  <a:srgbClr val="000000"/>
                </a:solidFill>
                <a:latin typeface="Heebo" pitchFamily="34" charset="0"/>
                <a:ea typeface="Heebo" pitchFamily="34" charset="-122"/>
                <a:cs typeface="Heebo" pitchFamily="34" charset="-120"/>
              </a:rPr>
              <a:t>1TB exfiltrated from pension systems — PII and financial records for 325 pension clients.</a:t>
            </a:r>
            <a:endParaRPr lang="en-US" sz="650" dirty="0"/>
          </a:p>
        </p:txBody>
      </p:sp>
      <p:sp>
        <p:nvSpPr>
          <p:cNvPr id="43" name="Shape 41"/>
          <p:cNvSpPr/>
          <p:nvPr/>
        </p:nvSpPr>
        <p:spPr>
          <a:xfrm>
            <a:off x="6179487" y="4974927"/>
            <a:ext cx="256970" cy="12700"/>
          </a:xfrm>
          <a:prstGeom prst="roundRect">
            <a:avLst>
              <a:gd name="adj" fmla="val 101182"/>
            </a:avLst>
          </a:prstGeom>
          <a:solidFill>
            <a:srgbClr val="19AA77"/>
          </a:solidFill>
          <a:ln/>
        </p:spPr>
      </p:sp>
      <p:sp>
        <p:nvSpPr>
          <p:cNvPr id="44" name="Shape 42"/>
          <p:cNvSpPr/>
          <p:nvPr/>
        </p:nvSpPr>
        <p:spPr>
          <a:xfrm>
            <a:off x="5999509" y="4884936"/>
            <a:ext cx="192678" cy="192683"/>
          </a:xfrm>
          <a:prstGeom prst="roundRect">
            <a:avLst>
              <a:gd name="adj" fmla="val 6669"/>
            </a:avLst>
          </a:prstGeom>
          <a:solidFill>
            <a:srgbClr val="00915E"/>
          </a:solidFill>
          <a:ln/>
        </p:spPr>
      </p:sp>
      <p:sp>
        <p:nvSpPr>
          <p:cNvPr id="45" name="Text 43"/>
          <p:cNvSpPr/>
          <p:nvPr/>
        </p:nvSpPr>
        <p:spPr>
          <a:xfrm>
            <a:off x="6031605" y="4901009"/>
            <a:ext cx="128485" cy="160536"/>
          </a:xfrm>
          <a:prstGeom prst="rect">
            <a:avLst/>
          </a:prstGeom>
          <a:noFill/>
          <a:ln/>
        </p:spPr>
        <p:txBody>
          <a:bodyPr wrap="none" lIns="0" tIns="0" rIns="0" bIns="0" rtlCol="0" anchor="ctr"/>
          <a:lstStyle/>
          <a:p>
            <a:pPr algn="ctr" indent="0" marL="0">
              <a:lnSpc>
                <a:spcPct val="100000"/>
              </a:lnSpc>
              <a:buNone/>
            </a:pPr>
            <a:r>
              <a:rPr lang="en-US" sz="1000" dirty="0">
                <a:solidFill>
                  <a:srgbClr val="FFFFFF"/>
                </a:solidFill>
                <a:latin typeface="Crimson Pro SemiBold" pitchFamily="34" charset="0"/>
                <a:ea typeface="Crimson Pro SemiBold" pitchFamily="34" charset="-122"/>
                <a:cs typeface="Crimson Pro SemiBold" pitchFamily="34" charset="-120"/>
              </a:rPr>
              <a:t>6</a:t>
            </a:r>
            <a:endParaRPr lang="en-US" sz="1000" dirty="0"/>
          </a:p>
        </p:txBody>
      </p:sp>
      <p:sp>
        <p:nvSpPr>
          <p:cNvPr id="46" name="Text 44"/>
          <p:cNvSpPr/>
          <p:nvPr/>
        </p:nvSpPr>
        <p:spPr>
          <a:xfrm>
            <a:off x="6524164" y="4914305"/>
            <a:ext cx="5006056" cy="133747"/>
          </a:xfrm>
          <a:prstGeom prst="rect">
            <a:avLst/>
          </a:prstGeom>
          <a:noFill/>
          <a:ln/>
        </p:spPr>
        <p:txBody>
          <a:bodyPr wrap="none" lIns="0" tIns="0" rIns="0" bIns="0" rtlCol="0" anchor="t"/>
          <a:lstStyle/>
          <a:p>
            <a:pPr algn="l"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31 Mar 2023</a:t>
            </a:r>
            <a:endParaRPr lang="en-US" sz="800" dirty="0"/>
          </a:p>
        </p:txBody>
      </p:sp>
      <p:sp>
        <p:nvSpPr>
          <p:cNvPr id="47" name="Text 45"/>
          <p:cNvSpPr/>
          <p:nvPr/>
        </p:nvSpPr>
        <p:spPr>
          <a:xfrm>
            <a:off x="6524164" y="5074642"/>
            <a:ext cx="5006056" cy="103981"/>
          </a:xfrm>
          <a:prstGeom prst="rect">
            <a:avLst/>
          </a:prstGeom>
          <a:noFill/>
          <a:ln/>
        </p:spPr>
        <p:txBody>
          <a:bodyPr wrap="none" lIns="0" tIns="0" rIns="0" bIns="0" rtlCol="0" anchor="t"/>
          <a:lstStyle/>
          <a:p>
            <a:pPr algn="l" indent="0" marL="0">
              <a:lnSpc>
                <a:spcPct val="101000"/>
              </a:lnSpc>
              <a:buNone/>
            </a:pPr>
            <a:r>
              <a:rPr lang="en-US" sz="650" dirty="0">
                <a:solidFill>
                  <a:srgbClr val="000000"/>
                </a:solidFill>
                <a:latin typeface="Heebo" pitchFamily="34" charset="0"/>
                <a:ea typeface="Heebo" pitchFamily="34" charset="-122"/>
                <a:cs typeface="Heebo" pitchFamily="34" charset="-120"/>
              </a:rPr>
              <a:t>Black Basta ransomware deployed. Systems encrypted; staff locked out of applications.</a:t>
            </a:r>
            <a:endParaRPr lang="en-US" sz="650" dirty="0"/>
          </a:p>
        </p:txBody>
      </p:sp>
      <p:sp>
        <p:nvSpPr>
          <p:cNvPr id="48" name="Shape 46"/>
          <p:cNvSpPr/>
          <p:nvPr/>
        </p:nvSpPr>
        <p:spPr>
          <a:xfrm>
            <a:off x="5755238" y="5376664"/>
            <a:ext cx="256970" cy="12700"/>
          </a:xfrm>
          <a:prstGeom prst="roundRect">
            <a:avLst>
              <a:gd name="adj" fmla="val 101182"/>
            </a:avLst>
          </a:prstGeom>
          <a:solidFill>
            <a:srgbClr val="19AA77"/>
          </a:solidFill>
          <a:ln/>
        </p:spPr>
      </p:sp>
      <p:sp>
        <p:nvSpPr>
          <p:cNvPr id="49" name="Shape 47"/>
          <p:cNvSpPr/>
          <p:nvPr/>
        </p:nvSpPr>
        <p:spPr>
          <a:xfrm>
            <a:off x="5999509" y="5286673"/>
            <a:ext cx="192678" cy="192683"/>
          </a:xfrm>
          <a:prstGeom prst="roundRect">
            <a:avLst>
              <a:gd name="adj" fmla="val 6669"/>
            </a:avLst>
          </a:prstGeom>
          <a:solidFill>
            <a:srgbClr val="00915E"/>
          </a:solidFill>
          <a:ln/>
        </p:spPr>
      </p:sp>
      <p:sp>
        <p:nvSpPr>
          <p:cNvPr id="50" name="Text 48"/>
          <p:cNvSpPr/>
          <p:nvPr/>
        </p:nvSpPr>
        <p:spPr>
          <a:xfrm>
            <a:off x="6031605" y="5302746"/>
            <a:ext cx="128485" cy="160536"/>
          </a:xfrm>
          <a:prstGeom prst="rect">
            <a:avLst/>
          </a:prstGeom>
          <a:noFill/>
          <a:ln/>
        </p:spPr>
        <p:txBody>
          <a:bodyPr wrap="none" lIns="0" tIns="0" rIns="0" bIns="0" rtlCol="0" anchor="ctr"/>
          <a:lstStyle/>
          <a:p>
            <a:pPr algn="ctr" indent="0" marL="0">
              <a:lnSpc>
                <a:spcPct val="100000"/>
              </a:lnSpc>
              <a:buNone/>
            </a:pPr>
            <a:r>
              <a:rPr lang="en-US" sz="1000" dirty="0">
                <a:solidFill>
                  <a:srgbClr val="FFFFFF"/>
                </a:solidFill>
                <a:latin typeface="Crimson Pro SemiBold" pitchFamily="34" charset="0"/>
                <a:ea typeface="Crimson Pro SemiBold" pitchFamily="34" charset="-122"/>
                <a:cs typeface="Crimson Pro SemiBold" pitchFamily="34" charset="-120"/>
              </a:rPr>
              <a:t>7</a:t>
            </a:r>
            <a:endParaRPr lang="en-US" sz="1000" dirty="0"/>
          </a:p>
        </p:txBody>
      </p:sp>
      <p:sp>
        <p:nvSpPr>
          <p:cNvPr id="51" name="Text 49"/>
          <p:cNvSpPr/>
          <p:nvPr/>
        </p:nvSpPr>
        <p:spPr>
          <a:xfrm>
            <a:off x="661475" y="5316041"/>
            <a:ext cx="5006056" cy="133747"/>
          </a:xfrm>
          <a:prstGeom prst="rect">
            <a:avLst/>
          </a:prstGeom>
          <a:noFill/>
          <a:ln/>
        </p:spPr>
        <p:txBody>
          <a:bodyPr wrap="none" lIns="0" tIns="0" rIns="0" bIns="0" rtlCol="0" anchor="t"/>
          <a:lstStyle/>
          <a:p>
            <a:pPr algn="r" indent="0" marL="0">
              <a:lnSpc>
                <a:spcPct val="104000"/>
              </a:lnSpc>
              <a:buNone/>
            </a:pPr>
            <a:r>
              <a:rPr lang="en-US" sz="800" dirty="0">
                <a:solidFill>
                  <a:srgbClr val="000000"/>
                </a:solidFill>
                <a:latin typeface="Crimson Pro SemiBold" pitchFamily="34" charset="0"/>
                <a:ea typeface="Crimson Pro SemiBold" pitchFamily="34" charset="-122"/>
                <a:cs typeface="Crimson Pro SemiBold" pitchFamily="34" charset="-120"/>
              </a:rPr>
              <a:t>15 Oct 2025</a:t>
            </a:r>
            <a:endParaRPr lang="en-US" sz="800" dirty="0"/>
          </a:p>
        </p:txBody>
      </p:sp>
      <p:sp>
        <p:nvSpPr>
          <p:cNvPr id="52" name="Text 50"/>
          <p:cNvSpPr/>
          <p:nvPr/>
        </p:nvSpPr>
        <p:spPr>
          <a:xfrm>
            <a:off x="661475" y="5476379"/>
            <a:ext cx="5006056" cy="103981"/>
          </a:xfrm>
          <a:prstGeom prst="rect">
            <a:avLst/>
          </a:prstGeom>
          <a:noFill/>
          <a:ln/>
        </p:spPr>
        <p:txBody>
          <a:bodyPr wrap="none" lIns="0" tIns="0" rIns="0" bIns="0" rtlCol="0" anchor="t"/>
          <a:lstStyle/>
          <a:p>
            <a:pPr algn="r" indent="0" marL="0">
              <a:lnSpc>
                <a:spcPct val="101000"/>
              </a:lnSpc>
              <a:buNone/>
            </a:pPr>
            <a:r>
              <a:rPr lang="en-US" sz="650" dirty="0">
                <a:solidFill>
                  <a:srgbClr val="000000"/>
                </a:solidFill>
                <a:latin typeface="Heebo" pitchFamily="34" charset="0"/>
                <a:ea typeface="Heebo" pitchFamily="34" charset="-122"/>
                <a:cs typeface="Heebo" pitchFamily="34" charset="-120"/>
              </a:rPr>
              <a:t>UK ICO issues </a:t>
            </a:r>
            <a:pPr algn="r" indent="0" marL="0">
              <a:lnSpc>
                <a:spcPct val="101000"/>
              </a:lnSpc>
              <a:buNone/>
            </a:pPr>
            <a:r>
              <a:rPr lang="en-US" sz="650" b="1" dirty="0">
                <a:solidFill>
                  <a:srgbClr val="000000"/>
                </a:solidFill>
                <a:latin typeface="Heebo Bold" pitchFamily="34" charset="0"/>
                <a:ea typeface="Heebo Bold" pitchFamily="34" charset="-122"/>
                <a:cs typeface="Heebo Bold" pitchFamily="34" charset="-120"/>
              </a:rPr>
              <a:t>£14M</a:t>
            </a:r>
            <a:pPr algn="r" indent="0" marL="0">
              <a:lnSpc>
                <a:spcPct val="101000"/>
              </a:lnSpc>
              <a:buNone/>
            </a:pPr>
            <a:r>
              <a:rPr lang="en-US" sz="650" dirty="0">
                <a:solidFill>
                  <a:srgbClr val="000000"/>
                </a:solidFill>
                <a:latin typeface="Heebo" pitchFamily="34" charset="0"/>
                <a:ea typeface="Heebo" pitchFamily="34" charset="-122"/>
                <a:cs typeface="Heebo" pitchFamily="34" charset="-120"/>
              </a:rPr>
              <a:t> combined fine under UK GDPR for technical negligence.</a:t>
            </a:r>
            <a:endParaRPr lang="en-US" sz="650" dirty="0"/>
          </a:p>
        </p:txBody>
      </p:sp>
      <p:sp>
        <p:nvSpPr>
          <p:cNvPr id="53" name="Shape 51"/>
          <p:cNvSpPr/>
          <p:nvPr/>
        </p:nvSpPr>
        <p:spPr>
          <a:xfrm>
            <a:off x="661475" y="6051352"/>
            <a:ext cx="10868745" cy="237430"/>
          </a:xfrm>
          <a:prstGeom prst="roundRect">
            <a:avLst>
              <a:gd name="adj" fmla="val 5412"/>
            </a:avLst>
          </a:prstGeom>
          <a:solidFill>
            <a:srgbClr val="CCFFF3"/>
          </a:solidFill>
          <a:ln/>
        </p:spPr>
      </p:sp>
      <p:pic>
        <p:nvPicPr>
          <p:cNvPr id="54" name="Image 0" descr="preencoded.png">    </p:cNvPr>
          <p:cNvPicPr>
            <a:picLocks noChangeAspect="1"/>
          </p:cNvPicPr>
          <p:nvPr/>
        </p:nvPicPr>
        <p:blipFill>
          <a:blip r:embed="rId1"/>
          <a:stretch>
            <a:fillRect/>
          </a:stretch>
        </p:blipFill>
        <p:spPr>
          <a:xfrm>
            <a:off x="747098" y="6158309"/>
            <a:ext cx="107054" cy="85626"/>
          </a:xfrm>
          <a:prstGeom prst="rect">
            <a:avLst/>
          </a:prstGeom>
        </p:spPr>
      </p:pic>
      <p:sp>
        <p:nvSpPr>
          <p:cNvPr id="55" name="Text 52"/>
          <p:cNvSpPr/>
          <p:nvPr/>
        </p:nvSpPr>
        <p:spPr>
          <a:xfrm>
            <a:off x="939776" y="6117034"/>
            <a:ext cx="11114405" cy="103981"/>
          </a:xfrm>
          <a:prstGeom prst="rect">
            <a:avLst/>
          </a:prstGeom>
          <a:noFill/>
          <a:ln/>
        </p:spPr>
        <p:txBody>
          <a:bodyPr wrap="none" lIns="0" tIns="0" rIns="0" bIns="0" rtlCol="0" anchor="t"/>
          <a:lstStyle/>
          <a:p>
            <a:pPr algn="l" indent="0" marL="0">
              <a:lnSpc>
                <a:spcPct val="101000"/>
              </a:lnSpc>
              <a:buNone/>
            </a:pPr>
            <a:r>
              <a:rPr lang="en-US" sz="650" b="1" dirty="0">
                <a:solidFill>
                  <a:srgbClr val="000000"/>
                </a:solidFill>
                <a:latin typeface="Heebo Bold" pitchFamily="34" charset="0"/>
                <a:ea typeface="Heebo Bold" pitchFamily="34" charset="-122"/>
                <a:cs typeface="Heebo Bold" pitchFamily="34" charset="-120"/>
              </a:rPr>
              <a:t>Key Lessons:</a:t>
            </a:r>
            <a:pPr algn="l" indent="0" marL="0">
              <a:lnSpc>
                <a:spcPct val="101000"/>
              </a:lnSpc>
              <a:buNone/>
            </a:pPr>
            <a:r>
              <a:rPr lang="en-US" sz="650" dirty="0">
                <a:solidFill>
                  <a:srgbClr val="000000"/>
                </a:solidFill>
                <a:latin typeface="Heebo" pitchFamily="34" charset="0"/>
                <a:ea typeface="Heebo" pitchFamily="34" charset="-122"/>
                <a:cs typeface="Heebo" pitchFamily="34" charset="-120"/>
              </a:rPr>
              <a:t> Implement just-in-time (JIT) access and credential vaulting — over-privileged backup accounts enabled full domain control. Integrate SOAR capabilities: EDR alerts fired within 10 minutes, but delayed human response allowed 58 hours of unchecked propagation.</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26579"/>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00674F"/>
                </a:solidFill>
                <a:latin typeface="Crimson Pro SemiBold" pitchFamily="34" charset="0"/>
                <a:ea typeface="Crimson Pro SemiBold" pitchFamily="34" charset="-122"/>
                <a:cs typeface="Crimson Pro SemiBold" pitchFamily="34" charset="-120"/>
              </a:rPr>
              <a:t>Mitigation Strategies: Evidence-Based Approaches</a:t>
            </a:r>
            <a:endParaRPr lang="en-US" sz="2250" dirty="0"/>
          </a:p>
        </p:txBody>
      </p:sp>
      <p:sp>
        <p:nvSpPr>
          <p:cNvPr id="3" name="Text 1"/>
          <p:cNvSpPr/>
          <p:nvPr/>
        </p:nvSpPr>
        <p:spPr>
          <a:xfrm>
            <a:off x="661475" y="1250355"/>
            <a:ext cx="10868745"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To protect portfolio pricing, NAV calculation, and trade execution engines, asset managers must implement architectures that assume compromise, isolate external dependencies, and enforce continuous verification.</a:t>
            </a:r>
            <a:endParaRPr lang="en-US" sz="900" dirty="0"/>
          </a:p>
        </p:txBody>
      </p:sp>
      <p:sp>
        <p:nvSpPr>
          <p:cNvPr id="4" name="Shape 2"/>
          <p:cNvSpPr/>
          <p:nvPr/>
        </p:nvSpPr>
        <p:spPr>
          <a:xfrm>
            <a:off x="661475" y="1656358"/>
            <a:ext cx="10868745" cy="2278658"/>
          </a:xfrm>
          <a:prstGeom prst="roundRect">
            <a:avLst>
              <a:gd name="adj" fmla="val 762"/>
            </a:avLst>
          </a:prstGeom>
          <a:noFill/>
          <a:ln w="6350">
            <a:solidFill>
              <a:srgbClr val="000000">
                <a:alpha val="8000"/>
              </a:srgbClr>
            </a:solidFill>
            <a:prstDash val="solid"/>
          </a:ln>
        </p:spPr>
      </p:sp>
      <p:sp>
        <p:nvSpPr>
          <p:cNvPr id="5" name="Shape 3"/>
          <p:cNvSpPr/>
          <p:nvPr/>
        </p:nvSpPr>
        <p:spPr>
          <a:xfrm>
            <a:off x="661475" y="1933277"/>
            <a:ext cx="10868745" cy="7236"/>
          </a:xfrm>
          <a:prstGeom prst="rect">
            <a:avLst/>
          </a:prstGeom>
          <a:solidFill>
            <a:srgbClr val="000000">
              <a:alpha val="8000"/>
            </a:srgbClr>
          </a:solidFill>
          <a:ln/>
        </p:spPr>
      </p:sp>
      <p:sp>
        <p:nvSpPr>
          <p:cNvPr id="6" name="Shape 4"/>
          <p:cNvSpPr/>
          <p:nvPr/>
        </p:nvSpPr>
        <p:spPr>
          <a:xfrm>
            <a:off x="661475" y="2364482"/>
            <a:ext cx="10868745" cy="7236"/>
          </a:xfrm>
          <a:prstGeom prst="rect">
            <a:avLst/>
          </a:prstGeom>
          <a:solidFill>
            <a:srgbClr val="000000">
              <a:alpha val="8000"/>
            </a:srgbClr>
          </a:solidFill>
          <a:ln/>
        </p:spPr>
      </p:sp>
      <p:sp>
        <p:nvSpPr>
          <p:cNvPr id="7" name="Shape 5"/>
          <p:cNvSpPr/>
          <p:nvPr/>
        </p:nvSpPr>
        <p:spPr>
          <a:xfrm>
            <a:off x="661475" y="2795687"/>
            <a:ext cx="10868745" cy="7236"/>
          </a:xfrm>
          <a:prstGeom prst="rect">
            <a:avLst/>
          </a:prstGeom>
          <a:solidFill>
            <a:srgbClr val="000000">
              <a:alpha val="8000"/>
            </a:srgbClr>
          </a:solidFill>
          <a:ln/>
        </p:spPr>
      </p:sp>
      <p:sp>
        <p:nvSpPr>
          <p:cNvPr id="8" name="Shape 6"/>
          <p:cNvSpPr/>
          <p:nvPr/>
        </p:nvSpPr>
        <p:spPr>
          <a:xfrm>
            <a:off x="661475" y="3069431"/>
            <a:ext cx="10868745" cy="7236"/>
          </a:xfrm>
          <a:prstGeom prst="rect">
            <a:avLst/>
          </a:prstGeom>
          <a:solidFill>
            <a:srgbClr val="000000">
              <a:alpha val="8000"/>
            </a:srgbClr>
          </a:solidFill>
          <a:ln/>
        </p:spPr>
      </p:sp>
      <p:sp>
        <p:nvSpPr>
          <p:cNvPr id="9" name="Shape 7"/>
          <p:cNvSpPr/>
          <p:nvPr/>
        </p:nvSpPr>
        <p:spPr>
          <a:xfrm>
            <a:off x="661475" y="3500636"/>
            <a:ext cx="10868745" cy="7236"/>
          </a:xfrm>
          <a:prstGeom prst="rect">
            <a:avLst/>
          </a:prstGeom>
          <a:solidFill>
            <a:srgbClr val="000000">
              <a:alpha val="8000"/>
            </a:srgbClr>
          </a:solidFill>
          <a:ln/>
        </p:spPr>
      </p:sp>
      <p:sp>
        <p:nvSpPr>
          <p:cNvPr id="10" name="Text 8"/>
          <p:cNvSpPr/>
          <p:nvPr/>
        </p:nvSpPr>
        <p:spPr>
          <a:xfrm>
            <a:off x="783709" y="1717675"/>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Strategy</a:t>
            </a:r>
            <a:endParaRPr lang="en-US" sz="900" dirty="0"/>
          </a:p>
        </p:txBody>
      </p:sp>
      <p:sp>
        <p:nvSpPr>
          <p:cNvPr id="11" name="Text 9"/>
          <p:cNvSpPr/>
          <p:nvPr/>
        </p:nvSpPr>
        <p:spPr>
          <a:xfrm>
            <a:off x="3497671" y="1717675"/>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Effectiveness</a:t>
            </a:r>
            <a:endParaRPr lang="en-US" sz="900" dirty="0"/>
          </a:p>
        </p:txBody>
      </p:sp>
      <p:sp>
        <p:nvSpPr>
          <p:cNvPr id="12" name="Text 10"/>
          <p:cNvSpPr/>
          <p:nvPr/>
        </p:nvSpPr>
        <p:spPr>
          <a:xfrm>
            <a:off x="6211633" y="1717675"/>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Cost</a:t>
            </a:r>
            <a:endParaRPr lang="en-US" sz="900" dirty="0"/>
          </a:p>
        </p:txBody>
      </p:sp>
      <p:sp>
        <p:nvSpPr>
          <p:cNvPr id="13" name="Text 11"/>
          <p:cNvSpPr/>
          <p:nvPr/>
        </p:nvSpPr>
        <p:spPr>
          <a:xfrm>
            <a:off x="8925595" y="1717675"/>
            <a:ext cx="3092174" cy="157460"/>
          </a:xfrm>
          <a:prstGeom prst="rect">
            <a:avLst/>
          </a:prstGeom>
          <a:noFill/>
          <a:ln/>
        </p:spPr>
        <p:txBody>
          <a:bodyPr wrap="none" lIns="0" tIns="0" rIns="0" bIns="0" rtlCol="0" anchor="t"/>
          <a:lstStyle/>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ROI</a:t>
            </a:r>
            <a:endParaRPr lang="en-US" sz="900" dirty="0"/>
          </a:p>
        </p:txBody>
      </p:sp>
      <p:sp>
        <p:nvSpPr>
          <p:cNvPr id="14" name="Text 12"/>
          <p:cNvSpPr/>
          <p:nvPr/>
        </p:nvSpPr>
        <p:spPr>
          <a:xfrm>
            <a:off x="783709" y="1991420"/>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Zero Trust Architecture &amp; Micro-segmentation</a:t>
            </a:r>
            <a:endParaRPr lang="en-US" sz="900" dirty="0"/>
          </a:p>
        </p:txBody>
      </p:sp>
      <p:sp>
        <p:nvSpPr>
          <p:cNvPr id="15" name="Text 13"/>
          <p:cNvSpPr/>
          <p:nvPr/>
        </p:nvSpPr>
        <p:spPr>
          <a:xfrm>
            <a:off x="3497671" y="1991420"/>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Restricts lateral movement by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80%</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isolates trading engines</a:t>
            </a:r>
            <a:endParaRPr lang="en-US" sz="900" dirty="0"/>
          </a:p>
        </p:txBody>
      </p:sp>
      <p:sp>
        <p:nvSpPr>
          <p:cNvPr id="16" name="Text 14"/>
          <p:cNvSpPr/>
          <p:nvPr/>
        </p:nvSpPr>
        <p:spPr>
          <a:xfrm>
            <a:off x="6211633" y="1991420"/>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Moderate-High</a:t>
            </a:r>
            <a:endParaRPr lang="en-US" sz="900" dirty="0"/>
          </a:p>
        </p:txBody>
      </p:sp>
      <p:sp>
        <p:nvSpPr>
          <p:cNvPr id="17" name="Text 15"/>
          <p:cNvSpPr/>
          <p:nvPr/>
        </p:nvSpPr>
        <p:spPr>
          <a:xfrm>
            <a:off x="8925595" y="1991420"/>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Saves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$1.76M</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per breach; reduces ransom likelihood 3.2×</a:t>
            </a:r>
            <a:endParaRPr lang="en-US" sz="900" dirty="0"/>
          </a:p>
        </p:txBody>
      </p:sp>
      <p:sp>
        <p:nvSpPr>
          <p:cNvPr id="18" name="Text 16"/>
          <p:cNvSpPr/>
          <p:nvPr/>
        </p:nvSpPr>
        <p:spPr>
          <a:xfrm>
            <a:off x="783709" y="2422624"/>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AI-Powered SOC &amp; Automated SIEM Orchestration</a:t>
            </a:r>
            <a:endParaRPr lang="en-US" sz="900" dirty="0"/>
          </a:p>
        </p:txBody>
      </p:sp>
      <p:sp>
        <p:nvSpPr>
          <p:cNvPr id="19" name="Text 17"/>
          <p:cNvSpPr/>
          <p:nvPr/>
        </p:nvSpPr>
        <p:spPr>
          <a:xfrm>
            <a:off x="3497671" y="2422624"/>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Speeds containment by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80 days</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mitigates alert overload</a:t>
            </a:r>
            <a:endParaRPr lang="en-US" sz="900" dirty="0"/>
          </a:p>
        </p:txBody>
      </p:sp>
      <p:sp>
        <p:nvSpPr>
          <p:cNvPr id="20" name="Text 18"/>
          <p:cNvSpPr/>
          <p:nvPr/>
        </p:nvSpPr>
        <p:spPr>
          <a:xfrm>
            <a:off x="6211633" y="2422624"/>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Moderate</a:t>
            </a:r>
            <a:endParaRPr lang="en-US" sz="900" dirty="0"/>
          </a:p>
        </p:txBody>
      </p:sp>
      <p:sp>
        <p:nvSpPr>
          <p:cNvPr id="21" name="Text 19"/>
          <p:cNvSpPr/>
          <p:nvPr/>
        </p:nvSpPr>
        <p:spPr>
          <a:xfrm>
            <a:off x="8925595" y="2422624"/>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Saves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$1.90M</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per breach; reduces analyst burnout</a:t>
            </a:r>
            <a:endParaRPr lang="en-US" sz="900" dirty="0"/>
          </a:p>
        </p:txBody>
      </p:sp>
      <p:sp>
        <p:nvSpPr>
          <p:cNvPr id="22" name="Text 20"/>
          <p:cNvSpPr/>
          <p:nvPr/>
        </p:nvSpPr>
        <p:spPr>
          <a:xfrm>
            <a:off x="783709" y="2853829"/>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Identity Threat Detection &amp; Passwordless MFA</a:t>
            </a:r>
            <a:endParaRPr lang="en-US" sz="900" dirty="0"/>
          </a:p>
        </p:txBody>
      </p:sp>
      <p:sp>
        <p:nvSpPr>
          <p:cNvPr id="23" name="Text 21"/>
          <p:cNvSpPr/>
          <p:nvPr/>
        </p:nvSpPr>
        <p:spPr>
          <a:xfrm>
            <a:off x="3497671" y="2853829"/>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Mitigates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97%</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of password-based attacks</a:t>
            </a:r>
            <a:endParaRPr lang="en-US" sz="900" dirty="0"/>
          </a:p>
        </p:txBody>
      </p:sp>
      <p:sp>
        <p:nvSpPr>
          <p:cNvPr id="24" name="Text 22"/>
          <p:cNvSpPr/>
          <p:nvPr/>
        </p:nvSpPr>
        <p:spPr>
          <a:xfrm>
            <a:off x="6211633" y="2853829"/>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Low-Moderate</a:t>
            </a:r>
            <a:endParaRPr lang="en-US" sz="900" dirty="0"/>
          </a:p>
        </p:txBody>
      </p:sp>
      <p:sp>
        <p:nvSpPr>
          <p:cNvPr id="25" name="Text 23"/>
          <p:cNvSpPr/>
          <p:nvPr/>
        </p:nvSpPr>
        <p:spPr>
          <a:xfrm>
            <a:off x="8925595" y="2853829"/>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Saves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$223K</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annually in admin override costs</a:t>
            </a:r>
            <a:endParaRPr lang="en-US" sz="900" dirty="0"/>
          </a:p>
        </p:txBody>
      </p:sp>
      <p:sp>
        <p:nvSpPr>
          <p:cNvPr id="26" name="Text 24"/>
          <p:cNvSpPr/>
          <p:nvPr/>
        </p:nvSpPr>
        <p:spPr>
          <a:xfrm>
            <a:off x="783709" y="3127573"/>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Validated Incident Response Drills</a:t>
            </a:r>
            <a:endParaRPr lang="en-US" sz="900" dirty="0"/>
          </a:p>
        </p:txBody>
      </p:sp>
      <p:sp>
        <p:nvSpPr>
          <p:cNvPr id="27" name="Text 25"/>
          <p:cNvSpPr/>
          <p:nvPr/>
        </p:nvSpPr>
        <p:spPr>
          <a:xfrm>
            <a:off x="3497671" y="3127573"/>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Ensures rapid quarantine; maintains availability</a:t>
            </a:r>
            <a:endParaRPr lang="en-US" sz="900" dirty="0"/>
          </a:p>
        </p:txBody>
      </p:sp>
      <p:sp>
        <p:nvSpPr>
          <p:cNvPr id="28" name="Text 26"/>
          <p:cNvSpPr/>
          <p:nvPr/>
        </p:nvSpPr>
        <p:spPr>
          <a:xfrm>
            <a:off x="6211633" y="3127573"/>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Low-Moderate</a:t>
            </a:r>
            <a:endParaRPr lang="en-US" sz="900" dirty="0"/>
          </a:p>
        </p:txBody>
      </p:sp>
      <p:sp>
        <p:nvSpPr>
          <p:cNvPr id="29" name="Text 27"/>
          <p:cNvSpPr/>
          <p:nvPr/>
        </p:nvSpPr>
        <p:spPr>
          <a:xfrm>
            <a:off x="8925595" y="3127573"/>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Saves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$2.66M</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 single most effective cost mitigator</a:t>
            </a:r>
            <a:endParaRPr lang="en-US" sz="900" dirty="0"/>
          </a:p>
        </p:txBody>
      </p:sp>
      <p:sp>
        <p:nvSpPr>
          <p:cNvPr id="30" name="Text 28"/>
          <p:cNvSpPr/>
          <p:nvPr/>
        </p:nvSpPr>
        <p:spPr>
          <a:xfrm>
            <a:off x="783709" y="355877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SaaS Supply Chain &amp; Vendor Isolation</a:t>
            </a:r>
            <a:endParaRPr lang="en-US" sz="900" dirty="0"/>
          </a:p>
        </p:txBody>
      </p:sp>
      <p:sp>
        <p:nvSpPr>
          <p:cNvPr id="31" name="Text 29"/>
          <p:cNvSpPr/>
          <p:nvPr/>
        </p:nvSpPr>
        <p:spPr>
          <a:xfrm>
            <a:off x="3497671" y="3558778"/>
            <a:ext cx="248258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Limits vendor access to segmented environments</a:t>
            </a:r>
            <a:endParaRPr lang="en-US" sz="900" dirty="0"/>
          </a:p>
        </p:txBody>
      </p:sp>
      <p:sp>
        <p:nvSpPr>
          <p:cNvPr id="32" name="Text 30"/>
          <p:cNvSpPr/>
          <p:nvPr/>
        </p:nvSpPr>
        <p:spPr>
          <a:xfrm>
            <a:off x="6211633" y="355877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Moderate</a:t>
            </a:r>
            <a:endParaRPr lang="en-US" sz="900" dirty="0"/>
          </a:p>
        </p:txBody>
      </p:sp>
      <p:sp>
        <p:nvSpPr>
          <p:cNvPr id="33" name="Text 31"/>
          <p:cNvSpPr/>
          <p:nvPr/>
        </p:nvSpPr>
        <p:spPr>
          <a:xfrm>
            <a:off x="8925595" y="3558778"/>
            <a:ext cx="3092174" cy="157460"/>
          </a:xfrm>
          <a:prstGeom prst="rect">
            <a:avLst/>
          </a:prstGeom>
          <a:noFill/>
          <a:ln/>
        </p:spPr>
        <p:txBody>
          <a:bodyPr wrap="none" lIns="0" tIns="0" rIns="0" bIns="0" rtlCol="0" anchor="t"/>
          <a:lstStyle/>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Saves </a:t>
            </a:r>
            <a:pPr algn="l" indent="0" marL="0">
              <a:lnSpc>
                <a:spcPct val="113000"/>
              </a:lnSpc>
              <a:buNone/>
            </a:pPr>
            <a:r>
              <a:rPr lang="en-US" sz="900" b="1" dirty="0">
                <a:solidFill>
                  <a:srgbClr val="00915E"/>
                </a:solidFill>
                <a:latin typeface="Heebo Bold" pitchFamily="34" charset="0"/>
                <a:ea typeface="Heebo Bold" pitchFamily="34" charset="-122"/>
                <a:cs typeface="Heebo Bold" pitchFamily="34" charset="-120"/>
              </a:rPr>
              <a:t>$227K</a:t>
            </a:r>
            <a:pPr algn="l" indent="0" marL="0">
              <a:lnSpc>
                <a:spcPct val="113000"/>
              </a:lnSpc>
              <a:buNone/>
            </a:pPr>
            <a:r>
              <a:rPr lang="en-US" sz="900" dirty="0">
                <a:solidFill>
                  <a:srgbClr val="000000"/>
                </a:solidFill>
                <a:latin typeface="Heebo" pitchFamily="34" charset="0"/>
                <a:ea typeface="Heebo" pitchFamily="34" charset="-122"/>
                <a:cs typeface="Heebo" pitchFamily="34" charset="-120"/>
              </a:rPr>
              <a:t> in supply chain premiums</a:t>
            </a:r>
            <a:endParaRPr lang="en-US" sz="900" dirty="0"/>
          </a:p>
        </p:txBody>
      </p:sp>
      <p:sp>
        <p:nvSpPr>
          <p:cNvPr id="34" name="Text 32"/>
          <p:cNvSpPr/>
          <p:nvPr/>
        </p:nvSpPr>
        <p:spPr>
          <a:xfrm>
            <a:off x="661475" y="4056559"/>
            <a:ext cx="10868745" cy="289421"/>
          </a:xfrm>
          <a:prstGeom prst="rect">
            <a:avLst/>
          </a:prstGeom>
          <a:noFill/>
          <a:ln/>
        </p:spPr>
        <p:txBody>
          <a:bodyPr wrap="none" lIns="0" tIns="0" rIns="0" bIns="0" rtlCol="0" anchor="t"/>
          <a:lstStyle/>
          <a:p>
            <a:pPr algn="l" indent="0" marL="0">
              <a:lnSpc>
                <a:spcPct val="104000"/>
              </a:lnSpc>
              <a:buNone/>
            </a:pPr>
            <a:r>
              <a:rPr lang="en-US" sz="1800" dirty="0">
                <a:solidFill>
                  <a:srgbClr val="00674F"/>
                </a:solidFill>
                <a:latin typeface="Crimson Pro SemiBold" pitchFamily="34" charset="0"/>
                <a:ea typeface="Crimson Pro SemiBold" pitchFamily="34" charset="-122"/>
                <a:cs typeface="Crimson Pro SemiBold" pitchFamily="34" charset="-120"/>
              </a:rPr>
              <a:t>Regulatory Context: DORA Compliance</a:t>
            </a:r>
            <a:endParaRPr lang="en-US" sz="1800" dirty="0"/>
          </a:p>
        </p:txBody>
      </p:sp>
      <p:sp>
        <p:nvSpPr>
          <p:cNvPr id="35" name="Shape 33"/>
          <p:cNvSpPr/>
          <p:nvPr/>
        </p:nvSpPr>
        <p:spPr>
          <a:xfrm>
            <a:off x="578133" y="4467523"/>
            <a:ext cx="5459871" cy="1663799"/>
          </a:xfrm>
          <a:prstGeom prst="roundRect">
            <a:avLst>
              <a:gd name="adj" fmla="val 1044"/>
            </a:avLst>
          </a:prstGeom>
          <a:solidFill>
            <a:srgbClr val="00674F"/>
          </a:solidFill>
          <a:ln/>
        </p:spPr>
      </p:sp>
      <p:sp>
        <p:nvSpPr>
          <p:cNvPr id="36" name="Text 34"/>
          <p:cNvSpPr/>
          <p:nvPr/>
        </p:nvSpPr>
        <p:spPr>
          <a:xfrm>
            <a:off x="693819" y="4548485"/>
            <a:ext cx="5228499" cy="180876"/>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Crimson Pro SemiBold" pitchFamily="34" charset="0"/>
                <a:ea typeface="Crimson Pro SemiBold" pitchFamily="34" charset="-122"/>
                <a:cs typeface="Crimson Pro SemiBold" pitchFamily="34" charset="-120"/>
              </a:rPr>
              <a:t>DORA as Lex Specialis</a:t>
            </a:r>
            <a:endParaRPr lang="en-US" sz="1100" dirty="0"/>
          </a:p>
        </p:txBody>
      </p:sp>
      <p:sp>
        <p:nvSpPr>
          <p:cNvPr id="37" name="Text 35"/>
          <p:cNvSpPr/>
          <p:nvPr/>
        </p:nvSpPr>
        <p:spPr>
          <a:xfrm>
            <a:off x="693819" y="4810323"/>
            <a:ext cx="5228499" cy="1017687"/>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Heebo" pitchFamily="34" charset="0"/>
                <a:ea typeface="Heebo" pitchFamily="34" charset="-122"/>
                <a:cs typeface="Heebo" pitchFamily="34" charset="-120"/>
              </a:rPr>
              <a:t>DORA governs EU financial entities as </a:t>
            </a:r>
            <a:pPr algn="l" indent="0" marL="0">
              <a:lnSpc>
                <a:spcPct val="113000"/>
              </a:lnSpc>
              <a:buNone/>
            </a:pPr>
            <a:r>
              <a:rPr lang="en-US" sz="900" i="1" dirty="0">
                <a:solidFill>
                  <a:srgbClr val="FFFFFF"/>
                </a:solidFill>
                <a:latin typeface="Heebo" pitchFamily="34" charset="0"/>
                <a:ea typeface="Heebo" pitchFamily="34" charset="-122"/>
                <a:cs typeface="Heebo" pitchFamily="34" charset="-120"/>
              </a:rPr>
              <a:t>lex specialis</a:t>
            </a:r>
            <a:pPr algn="l" indent="0" marL="0">
              <a:lnSpc>
                <a:spcPct val="113000"/>
              </a:lnSpc>
              <a:spcAft>
                <a:spcPts val="550"/>
              </a:spcAft>
              <a:buNone/>
            </a:pPr>
            <a:r>
              <a:rPr lang="en-US" sz="900" dirty="0">
                <a:solidFill>
                  <a:srgbClr val="FFFFFF"/>
                </a:solidFill>
                <a:latin typeface="Heebo" pitchFamily="34" charset="0"/>
                <a:ea typeface="Heebo" pitchFamily="34" charset="-122"/>
                <a:cs typeface="Heebo" pitchFamily="34" charset="-120"/>
              </a:rPr>
              <a:t> over NIS2 and CER Directives. Asset managers subject to DORA are generally exempt from direct NIS2 reporting, enabling a single integrated resilience strategy.</a:t>
            </a:r>
            <a:endParaRPr lang="en-US" sz="900" dirty="0"/>
          </a:p>
          <a:p>
            <a:pPr algn="l" indent="0" marL="0">
              <a:lnSpc>
                <a:spcPct val="113000"/>
              </a:lnSpc>
              <a:buNone/>
            </a:pPr>
            <a:r>
              <a:rPr lang="en-US" sz="900" dirty="0">
                <a:solidFill>
                  <a:srgbClr val="FFFFFF"/>
                </a:solidFill>
                <a:latin typeface="Heebo" pitchFamily="34" charset="0"/>
                <a:ea typeface="Heebo" pitchFamily="34" charset="-122"/>
                <a:cs typeface="Heebo" pitchFamily="34" charset="-120"/>
              </a:rPr>
              <a:t>The Joint-ESA 2025 Report recorded </a:t>
            </a:r>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3,383</a:t>
            </a:r>
            <a:pPr algn="l" indent="0" marL="0">
              <a:lnSpc>
                <a:spcPct val="113000"/>
              </a:lnSpc>
              <a:buNone/>
            </a:pPr>
            <a:r>
              <a:rPr lang="en-US" sz="900" dirty="0">
                <a:solidFill>
                  <a:srgbClr val="FFFFFF"/>
                </a:solidFill>
                <a:latin typeface="Heebo" pitchFamily="34" charset="0"/>
                <a:ea typeface="Heebo" pitchFamily="34" charset="-122"/>
                <a:cs typeface="Heebo" pitchFamily="34" charset="-120"/>
              </a:rPr>
              <a:t> major ICT incidents across EU finance, averaging </a:t>
            </a:r>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0.18</a:t>
            </a:r>
            <a:pPr algn="l" indent="0" marL="0">
              <a:lnSpc>
                <a:spcPct val="113000"/>
              </a:lnSpc>
              <a:buNone/>
            </a:pPr>
            <a:r>
              <a:rPr lang="en-US" sz="900" dirty="0">
                <a:solidFill>
                  <a:srgbClr val="FFFFFF"/>
                </a:solidFill>
                <a:latin typeface="Heebo" pitchFamily="34" charset="0"/>
                <a:ea typeface="Heebo" pitchFamily="34" charset="-122"/>
                <a:cs typeface="Heebo" pitchFamily="34" charset="-120"/>
              </a:rPr>
              <a:t> per entity. Approximately </a:t>
            </a:r>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100</a:t>
            </a:r>
            <a:pPr algn="l" indent="0" marL="0">
              <a:lnSpc>
                <a:spcPct val="113000"/>
              </a:lnSpc>
              <a:buNone/>
            </a:pPr>
            <a:r>
              <a:rPr lang="en-US" sz="900" dirty="0">
                <a:solidFill>
                  <a:srgbClr val="FFFFFF"/>
                </a:solidFill>
                <a:latin typeface="Heebo" pitchFamily="34" charset="0"/>
                <a:ea typeface="Heebo" pitchFamily="34" charset="-122"/>
                <a:cs typeface="Heebo" pitchFamily="34" charset="-120"/>
              </a:rPr>
              <a:t> were attributed to asset managers. System failures accounted for </a:t>
            </a:r>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51%</a:t>
            </a:r>
            <a:pPr algn="l" indent="0" marL="0">
              <a:lnSpc>
                <a:spcPct val="113000"/>
              </a:lnSpc>
              <a:buNone/>
            </a:pPr>
            <a:r>
              <a:rPr lang="en-US" sz="900" dirty="0">
                <a:solidFill>
                  <a:srgbClr val="FFFFFF"/>
                </a:solidFill>
                <a:latin typeface="Heebo" pitchFamily="34" charset="0"/>
                <a:ea typeface="Heebo" pitchFamily="34" charset="-122"/>
                <a:cs typeface="Heebo" pitchFamily="34" charset="-120"/>
              </a:rPr>
              <a:t> of disruptions; third-party failures represented </a:t>
            </a:r>
            <a:pPr algn="l" indent="0" marL="0">
              <a:lnSpc>
                <a:spcPct val="113000"/>
              </a:lnSpc>
              <a:buNone/>
            </a:pPr>
            <a:r>
              <a:rPr lang="en-US" sz="900" b="1" dirty="0">
                <a:solidFill>
                  <a:srgbClr val="FFFFFF"/>
                </a:solidFill>
                <a:latin typeface="Heebo Bold" pitchFamily="34" charset="0"/>
                <a:ea typeface="Heebo Bold" pitchFamily="34" charset="-122"/>
                <a:cs typeface="Heebo Bold" pitchFamily="34" charset="-120"/>
              </a:rPr>
              <a:t>29%</a:t>
            </a:r>
            <a:pPr algn="l" indent="0" marL="0">
              <a:lnSpc>
                <a:spcPct val="113000"/>
              </a:lnSpc>
              <a:buNone/>
            </a:pPr>
            <a:r>
              <a:rPr lang="en-US" sz="900" dirty="0">
                <a:solidFill>
                  <a:srgbClr val="FFFFFF"/>
                </a:solidFill>
                <a:latin typeface="Heebo" pitchFamily="34" charset="0"/>
                <a:ea typeface="Heebo" pitchFamily="34" charset="-122"/>
                <a:cs typeface="Heebo" pitchFamily="34" charset="-120"/>
              </a:rPr>
              <a:t> of root causes.</a:t>
            </a:r>
            <a:endParaRPr lang="en-US" sz="900" dirty="0"/>
          </a:p>
        </p:txBody>
      </p:sp>
      <p:sp>
        <p:nvSpPr>
          <p:cNvPr id="38" name="Text 36"/>
          <p:cNvSpPr/>
          <p:nvPr/>
        </p:nvSpPr>
        <p:spPr>
          <a:xfrm>
            <a:off x="6243382" y="4548485"/>
            <a:ext cx="5293188" cy="180876"/>
          </a:xfrm>
          <a:prstGeom prst="rect">
            <a:avLst/>
          </a:prstGeom>
          <a:noFill/>
          <a:ln/>
        </p:spPr>
        <p:txBody>
          <a:bodyPr wrap="none" lIns="0" tIns="0" rIns="0" bIns="0" rtlCol="0" anchor="t"/>
          <a:lstStyle/>
          <a:p>
            <a:pPr algn="l" indent="0" marL="0">
              <a:lnSpc>
                <a:spcPct val="104000"/>
              </a:lnSpc>
              <a:buNone/>
            </a:pPr>
            <a:r>
              <a:rPr lang="en-US" sz="1100" dirty="0">
                <a:solidFill>
                  <a:srgbClr val="00674F"/>
                </a:solidFill>
                <a:latin typeface="Crimson Pro SemiBold" pitchFamily="34" charset="0"/>
                <a:ea typeface="Crimson Pro SemiBold" pitchFamily="34" charset="-122"/>
                <a:cs typeface="Crimson Pro SemiBold" pitchFamily="34" charset="-120"/>
              </a:rPr>
              <a:t>Register of Information (RoI)</a:t>
            </a:r>
            <a:endParaRPr lang="en-US" sz="1100" dirty="0"/>
          </a:p>
        </p:txBody>
      </p:sp>
      <p:sp>
        <p:nvSpPr>
          <p:cNvPr id="39" name="Text 37"/>
          <p:cNvSpPr/>
          <p:nvPr/>
        </p:nvSpPr>
        <p:spPr>
          <a:xfrm>
            <a:off x="6243382" y="4810323"/>
            <a:ext cx="5293188" cy="1248073"/>
          </a:xfrm>
          <a:prstGeom prst="rect">
            <a:avLst/>
          </a:prstGeom>
          <a:noFill/>
          <a:ln/>
        </p:spPr>
        <p:txBody>
          <a:bodyPr wrap="square" lIns="0" tIns="0" rIns="0" bIns="0" rtlCol="0" anchor="t">
            <a:normAutofit/>
          </a:bodyPr>
          <a:lstStyle/>
          <a:p>
            <a:pPr algn="l" indent="0" marL="0">
              <a:lnSpc>
                <a:spcPct val="113000"/>
              </a:lnSpc>
              <a:spcAft>
                <a:spcPts val="550"/>
              </a:spcAft>
              <a:buNone/>
            </a:pPr>
            <a:r>
              <a:rPr lang="en-US" sz="900" dirty="0">
                <a:solidFill>
                  <a:srgbClr val="000000"/>
                </a:solidFill>
                <a:latin typeface="Heebo" pitchFamily="34" charset="0"/>
                <a:ea typeface="Heebo" pitchFamily="34" charset="-122"/>
                <a:cs typeface="Heebo" pitchFamily="34" charset="-120"/>
              </a:rPr>
              <a:t>Asset managers must maintain a comprehensive RoI documenting all third-party ICT contractual agreements. Submissions must use EBA taxonomy validation rules, delivered annually to the National Competent Authority in xBRL-CSV format.</a:t>
            </a:r>
            <a:endParaRPr lang="en-US" sz="900" dirty="0"/>
          </a:p>
          <a:p>
            <a:pPr algn="l" indent="0" marL="0">
              <a:lnSpc>
                <a:spcPct val="113000"/>
              </a:lnSpc>
              <a:buNone/>
            </a:pPr>
            <a:r>
              <a:rPr lang="en-US" sz="900" b="1" dirty="0">
                <a:solidFill>
                  <a:srgbClr val="000000"/>
                </a:solidFill>
                <a:latin typeface="Heebo Bold" pitchFamily="34" charset="0"/>
                <a:ea typeface="Heebo Bold" pitchFamily="34" charset="-122"/>
                <a:cs typeface="Heebo Bold" pitchFamily="34" charset="-120"/>
              </a:rPr>
              <a:t>Reporting Deadline: </a:t>
            </a:r>
            <a:pPr algn="l" indent="0" marL="0">
              <a:lnSpc>
                <a:spcPct val="113000"/>
              </a:lnSpc>
              <a:spcAft>
                <a:spcPts val="550"/>
              </a:spcAft>
              <a:buNone/>
            </a:pPr>
            <a:r>
              <a:rPr lang="en-US" sz="900" b="1" dirty="0">
                <a:solidFill>
                  <a:srgbClr val="00915E"/>
                </a:solidFill>
                <a:latin typeface="Heebo Bold" pitchFamily="34" charset="0"/>
                <a:ea typeface="Heebo Bold" pitchFamily="34" charset="-122"/>
                <a:cs typeface="Heebo Bold" pitchFamily="34" charset="-120"/>
              </a:rPr>
              <a:t>March 31, 2026</a:t>
            </a:r>
            <a:endParaRPr lang="en-US" sz="900" dirty="0"/>
          </a:p>
          <a:p>
            <a:pPr algn="l" indent="0" marL="0">
              <a:lnSpc>
                <a:spcPct val="113000"/>
              </a:lnSpc>
              <a:buNone/>
            </a:pPr>
            <a:r>
              <a:rPr lang="en-US" sz="900" dirty="0">
                <a:solidFill>
                  <a:srgbClr val="000000"/>
                </a:solidFill>
                <a:latin typeface="Heebo" pitchFamily="34" charset="0"/>
                <a:ea typeface="Heebo" pitchFamily="34" charset="-122"/>
                <a:cs typeface="Heebo" pitchFamily="34" charset="-120"/>
              </a:rPr>
              <a:t>Adherence transforms regulatory burden into strategic advantage — demonstrating to global institutional allocators that portfolio pricing, trade execution, and delegated pipelines are resilient to severe operational shocks.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2026-07-10T14:28:23Z</dcterms:created>
  <dcterms:modified xsi:type="dcterms:W3CDTF">2026-07-10T14:28:23Z</dcterms:modified>
</cp:coreProperties>
</file>