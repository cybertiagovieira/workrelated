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Internal evidence register - September 2026\n\nReporting Period: 1-30 September 2026\nEvidence Cut-off: 1 October 2026\n\n1. NetScaler ADC and Gateway Exploitation\n- Source: CISA Zero-day Alert (2026-09-28); NetScaler Security Bulletin (2026-09-30)\n- Claims: Global active exploitation of CVE-2026-88771 (unauthenticated command execution) and CVE-2026-88772 (RCE/DoS via DTLS).\n- 2LoD Assessment: Material threat to external application delivery and remote access edges. Managed cloud services are patched; customer-managed and legacy estates remain exposed until remediated.\n\n2. Compromised Azure Service Principals (Storm-3168)\n- Source: Microsoft Security Research (2026-09-25)\n- Claims: Active intrusions where service principals performed 300+ discovery operations followed by destructive deletion attempts against storage, key vaults, and app services.\n- 2LoD Assessment: Demonstrates risk of broadly privileged non-human identities. Resource locks and deletion protection are critical resilience controls.\n\n3. Cloudflare Containers Isolation Exposure\n- Source: Cloudflare Blog (2026-09-24)\n- Claims: Residual storage block reading across tenants due to unsafe dm-thin allocation setting. Provider-side remediation completed; no evidence of malicious exploitation found in provider telemetry.\n- 2LoD Assessment: Systemic dependency risk. Highlights importance of provider-side isolation assurance and residual data disposal controls.\n\n4. Critical Vulnerability Tracking\n- CVE-2026-88771: NetScaler ADC/Gateway, CVSS 9.5. Primary threat: Unauthenticated command execution.\n- CVE-2026-88772: NetScaler ADC/Gateway, CVSS 9.5. Primary threat: Remote code execution (DTLS).\n- CVE-2026-76504: Cisco Catalyst SD-WAN Manager, CVSS 9.8. Primary threat: Administrator API authentication bypass.\n\nPrior-period correction: None.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4" name="Text 0"/>
          <p:cNvSpPr/>
          <p:nvPr/>
        </p:nvSpPr>
        <p:spPr>
          <a:xfrm>
            <a:off x="142875" y="114300"/>
            <a:ext cx="8858250" cy="225028"/>
          </a:xfrm>
          <a:prstGeom prst="rect">
            <a:avLst/>
          </a:prstGeom>
          <a:noFill/>
          <a:ln/>
        </p:spPr>
        <p:txBody>
          <a:bodyPr wrap="square" lIns="0" tIns="0" rIns="0" bIns="0" rtlCol="0" anchor="t">
            <a:spAutoFit/>
          </a:bodyPr>
          <a:lstStyle/>
          <a:p>
            <a:pPr algn="l" indent="0" marL="0">
              <a:buNone/>
            </a:pPr>
            <a:r>
              <a:rPr lang="en-US" sz="1300" b="1" dirty="0">
                <a:solidFill>
                  <a:srgbClr val="00875A"/>
                </a:solidFill>
                <a:latin typeface="Inter Bold" pitchFamily="34" charset="0"/>
                <a:ea typeface="Inter Bold" pitchFamily="34" charset="-122"/>
                <a:cs typeface="Inter Bold" pitchFamily="34" charset="-120"/>
              </a:rPr>
              <a:t>CLOUD THREAT INTELLIGENCE BRIEFING</a:t>
            </a:r>
            <a:endParaRPr lang="en-US" sz="1300" dirty="0"/>
          </a:p>
        </p:txBody>
      </p:sp>
      <p:sp>
        <p:nvSpPr>
          <p:cNvPr id="5" name="Shape 1"/>
          <p:cNvSpPr/>
          <p:nvPr/>
        </p:nvSpPr>
        <p:spPr>
          <a:xfrm>
            <a:off x="142875" y="396478"/>
            <a:ext cx="8858250" cy="409984"/>
          </a:xfrm>
          <a:prstGeom prst="rect">
            <a:avLst/>
          </a:prstGeom>
          <a:solidFill>
            <a:srgbClr val="00875A"/>
          </a:solidFill>
          <a:ln/>
        </p:spPr>
      </p:sp>
      <p:sp>
        <p:nvSpPr>
          <p:cNvPr id="6" name="Shape 2"/>
          <p:cNvSpPr/>
          <p:nvPr/>
        </p:nvSpPr>
        <p:spPr>
          <a:xfrm>
            <a:off x="142875" y="396478"/>
            <a:ext cx="8858250" cy="21431"/>
          </a:xfrm>
          <a:prstGeom prst="rect">
            <a:avLst/>
          </a:prstGeom>
          <a:solidFill>
            <a:srgbClr val="00875A"/>
          </a:solidFill>
          <a:ln/>
        </p:spPr>
      </p:sp>
      <p:sp>
        <p:nvSpPr>
          <p:cNvPr id="7" name="Text 3"/>
          <p:cNvSpPr/>
          <p:nvPr/>
        </p:nvSpPr>
        <p:spPr>
          <a:xfrm>
            <a:off x="228600" y="453628"/>
            <a:ext cx="8686800" cy="274253"/>
          </a:xfrm>
          <a:prstGeom prst="rect">
            <a:avLst/>
          </a:prstGeom>
          <a:noFill/>
          <a:ln/>
        </p:spPr>
        <p:txBody>
          <a:bodyPr wrap="square" lIns="0" tIns="0" rIns="0" bIns="0" rtlCol="0" anchor="t">
            <a:spAutoFit/>
          </a:bodyPr>
          <a:lstStyle/>
          <a:p>
            <a:pPr algn="l" indent="0" marL="0">
              <a:lnSpc>
                <a:spcPct val="102400"/>
              </a:lnSpc>
              <a:buNone/>
            </a:pPr>
            <a:r>
              <a:rPr lang="en-US" sz="800" dirty="0">
                <a:solidFill>
                  <a:srgbClr val="FFFFFF"/>
                </a:solidFill>
                <a:latin typeface="Inter" pitchFamily="34" charset="0"/>
                <a:ea typeface="Inter" pitchFamily="34" charset="-122"/>
                <a:cs typeface="Inter" pitchFamily="34" charset="-120"/>
              </a:rPr>
              <a:t>Evidence indicates material exploitation of customer-managed network edges alongside a remediated shared-cloud isolation weakness. 2LoD prioritises external access, workload identities and supplier-managed control dependencies over unsubstantiated compromise claims.</a:t>
            </a:r>
            <a:endParaRPr lang="en-US" sz="800" dirty="0"/>
          </a:p>
        </p:txBody>
      </p:sp>
      <p:sp>
        <p:nvSpPr>
          <p:cNvPr id="8" name="Text 4"/>
          <p:cNvSpPr/>
          <p:nvPr/>
        </p:nvSpPr>
        <p:spPr>
          <a:xfrm>
            <a:off x="142875" y="870756"/>
            <a:ext cx="4364831" cy="185738"/>
          </a:xfrm>
          <a:prstGeom prst="rect">
            <a:avLst/>
          </a:prstGeom>
          <a:noFill/>
          <a:ln/>
        </p:spPr>
        <p:txBody>
          <a:bodyPr wrap="square" lIns="0" tIns="0" rIns="0" bIns="25527" rtlCol="0" anchor="t">
            <a:spAutoFit/>
          </a:bodyPr>
          <a:lstStyle/>
          <a:p>
            <a:pPr algn="l" indent="0" marL="0">
              <a:buNone/>
            </a:pPr>
            <a:r>
              <a:rPr lang="en-US" sz="900" b="1" dirty="0">
                <a:solidFill>
                  <a:srgbClr val="00875A"/>
                </a:solidFill>
                <a:latin typeface="Inter Bold" pitchFamily="34" charset="0"/>
                <a:ea typeface="Inter Bold" pitchFamily="34" charset="-122"/>
                <a:cs typeface="Inter Bold" pitchFamily="34" charset="-120"/>
              </a:rPr>
              <a:t>Threat Landscape &amp; Primary Incidents</a:t>
            </a:r>
            <a:endParaRPr lang="en-US" sz="900" dirty="0"/>
          </a:p>
        </p:txBody>
      </p:sp>
      <p:sp>
        <p:nvSpPr>
          <p:cNvPr id="9" name="Shape 5"/>
          <p:cNvSpPr/>
          <p:nvPr/>
        </p:nvSpPr>
        <p:spPr>
          <a:xfrm>
            <a:off x="142875" y="1185081"/>
            <a:ext cx="2139553" cy="400050"/>
          </a:xfrm>
          <a:prstGeom prst="rect">
            <a:avLst/>
          </a:prstGeom>
          <a:solidFill>
            <a:srgbClr val="00875A">
              <a:alpha val="3000"/>
            </a:srgbClr>
          </a:solidFill>
          <a:ln w="9144">
            <a:solidFill>
              <a:srgbClr val="00875A"/>
            </a:solidFill>
            <a:prstDash val="solid"/>
          </a:ln>
        </p:spPr>
      </p:sp>
      <p:sp>
        <p:nvSpPr>
          <p:cNvPr id="10" name="Text 6"/>
          <p:cNvSpPr/>
          <p:nvPr/>
        </p:nvSpPr>
        <p:spPr>
          <a:xfrm>
            <a:off x="185738" y="1227944"/>
            <a:ext cx="2046684" cy="192881"/>
          </a:xfrm>
          <a:prstGeom prst="rect">
            <a:avLst/>
          </a:prstGeom>
          <a:noFill/>
          <a:ln/>
        </p:spPr>
        <p:txBody>
          <a:bodyPr wrap="square" lIns="0" tIns="0" rIns="0" bIns="0" rtlCol="0" anchor="t">
            <a:spAutoFit/>
          </a:bodyPr>
          <a:lstStyle/>
          <a:p>
            <a:pPr algn="ctr" indent="0" marL="0">
              <a:buNone/>
            </a:pPr>
            <a:r>
              <a:rPr lang="en-US" sz="1100" b="1" dirty="0">
                <a:solidFill>
                  <a:srgbClr val="00875A"/>
                </a:solidFill>
                <a:latin typeface="Inter Bold" pitchFamily="34" charset="0"/>
                <a:ea typeface="Inter Bold" pitchFamily="34" charset="-122"/>
                <a:cs typeface="Inter Bold" pitchFamily="34" charset="-120"/>
              </a:rPr>
              <a:t>4+</a:t>
            </a:r>
            <a:endParaRPr lang="en-US" sz="1100" dirty="0"/>
          </a:p>
        </p:txBody>
      </p:sp>
      <p:sp>
        <p:nvSpPr>
          <p:cNvPr id="11" name="Text 7"/>
          <p:cNvSpPr/>
          <p:nvPr/>
        </p:nvSpPr>
        <p:spPr>
          <a:xfrm>
            <a:off x="185738" y="1435112"/>
            <a:ext cx="2046684" cy="92869"/>
          </a:xfrm>
          <a:prstGeom prst="rect">
            <a:avLst/>
          </a:prstGeom>
          <a:noFill/>
          <a:ln/>
        </p:spPr>
        <p:txBody>
          <a:bodyPr wrap="square" lIns="0" tIns="0" rIns="0" bIns="0" rtlCol="0" anchor="t">
            <a:spAutoFit/>
          </a:bodyPr>
          <a:lstStyle/>
          <a:p>
            <a:pPr algn="ctr" indent="0" marL="0">
              <a:buNone/>
            </a:pPr>
            <a:r>
              <a:rPr lang="en-US" sz="550" b="1" dirty="0">
                <a:solidFill>
                  <a:srgbClr val="111111"/>
                </a:solidFill>
                <a:latin typeface="Inter Bold" pitchFamily="34" charset="0"/>
                <a:ea typeface="Inter Bold" pitchFamily="34" charset="-122"/>
                <a:cs typeface="Inter Bold" pitchFamily="34" charset="-120"/>
              </a:rPr>
              <a:t>AFFECTED EDGE PLATFORMS</a:t>
            </a:r>
            <a:endParaRPr lang="en-US" sz="550" dirty="0"/>
          </a:p>
        </p:txBody>
      </p:sp>
      <p:sp>
        <p:nvSpPr>
          <p:cNvPr id="12" name="Shape 8"/>
          <p:cNvSpPr/>
          <p:nvPr/>
        </p:nvSpPr>
        <p:spPr>
          <a:xfrm>
            <a:off x="2361009" y="1185081"/>
            <a:ext cx="2146697" cy="400050"/>
          </a:xfrm>
          <a:prstGeom prst="rect">
            <a:avLst/>
          </a:prstGeom>
          <a:solidFill>
            <a:srgbClr val="00875A">
              <a:alpha val="3000"/>
            </a:srgbClr>
          </a:solidFill>
          <a:ln w="9144">
            <a:solidFill>
              <a:srgbClr val="00875A"/>
            </a:solidFill>
            <a:prstDash val="solid"/>
          </a:ln>
        </p:spPr>
      </p:sp>
      <p:sp>
        <p:nvSpPr>
          <p:cNvPr id="13" name="Text 9"/>
          <p:cNvSpPr/>
          <p:nvPr/>
        </p:nvSpPr>
        <p:spPr>
          <a:xfrm>
            <a:off x="2411016" y="1227944"/>
            <a:ext cx="2053828" cy="192881"/>
          </a:xfrm>
          <a:prstGeom prst="rect">
            <a:avLst/>
          </a:prstGeom>
          <a:noFill/>
          <a:ln/>
        </p:spPr>
        <p:txBody>
          <a:bodyPr wrap="square" lIns="0" tIns="0" rIns="0" bIns="0" rtlCol="0" anchor="t">
            <a:spAutoFit/>
          </a:bodyPr>
          <a:lstStyle/>
          <a:p>
            <a:pPr algn="ctr" indent="0" marL="0">
              <a:buNone/>
            </a:pPr>
            <a:r>
              <a:rPr lang="en-US" sz="1100" b="1" dirty="0">
                <a:solidFill>
                  <a:srgbClr val="00875A"/>
                </a:solidFill>
                <a:latin typeface="Inter Bold" pitchFamily="34" charset="0"/>
                <a:ea typeface="Inter Bold" pitchFamily="34" charset="-122"/>
                <a:cs typeface="Inter Bold" pitchFamily="34" charset="-120"/>
              </a:rPr>
              <a:t>12k</a:t>
            </a:r>
            <a:endParaRPr lang="en-US" sz="1100" dirty="0"/>
          </a:p>
        </p:txBody>
      </p:sp>
      <p:sp>
        <p:nvSpPr>
          <p:cNvPr id="14" name="Text 10"/>
          <p:cNvSpPr/>
          <p:nvPr/>
        </p:nvSpPr>
        <p:spPr>
          <a:xfrm>
            <a:off x="2411016" y="1435112"/>
            <a:ext cx="2053828" cy="92869"/>
          </a:xfrm>
          <a:prstGeom prst="rect">
            <a:avLst/>
          </a:prstGeom>
          <a:noFill/>
          <a:ln/>
        </p:spPr>
        <p:txBody>
          <a:bodyPr wrap="square" lIns="0" tIns="0" rIns="0" bIns="0" rtlCol="0" anchor="t">
            <a:spAutoFit/>
          </a:bodyPr>
          <a:lstStyle/>
          <a:p>
            <a:pPr algn="ctr" indent="0" marL="0">
              <a:buNone/>
            </a:pPr>
            <a:r>
              <a:rPr lang="en-US" sz="550" b="1" dirty="0">
                <a:solidFill>
                  <a:srgbClr val="111111"/>
                </a:solidFill>
                <a:latin typeface="Inter Bold" pitchFamily="34" charset="0"/>
                <a:ea typeface="Inter Bold" pitchFamily="34" charset="-122"/>
                <a:cs typeface="Inter Bold" pitchFamily="34" charset="-120"/>
              </a:rPr>
              <a:t>COMPROMISED ORG MAILBOXES</a:t>
            </a:r>
            <a:endParaRPr lang="en-US" sz="550" dirty="0"/>
          </a:p>
        </p:txBody>
      </p:sp>
      <p:sp>
        <p:nvSpPr>
          <p:cNvPr id="15" name="Text 11"/>
          <p:cNvSpPr/>
          <p:nvPr/>
        </p:nvSpPr>
        <p:spPr>
          <a:xfrm>
            <a:off x="142875" y="1713719"/>
            <a:ext cx="4364831" cy="121444"/>
          </a:xfrm>
          <a:prstGeom prst="rect">
            <a:avLst/>
          </a:prstGeom>
          <a:noFill/>
          <a:ln/>
        </p:spPr>
        <p:txBody>
          <a:bodyPr wrap="square" lIns="0" tIns="0" rIns="0" bIns="0" rtlCol="0" anchor="t">
            <a:spAutoFit/>
          </a:bodyPr>
          <a:lstStyle/>
          <a:p>
            <a:pPr algn="l" indent="0" marL="0">
              <a:buNone/>
            </a:pPr>
            <a:r>
              <a:rPr lang="en-US" sz="700" b="1" dirty="0">
                <a:solidFill>
                  <a:srgbClr val="111111"/>
                </a:solidFill>
                <a:latin typeface="Inter Bold" pitchFamily="34" charset="0"/>
                <a:ea typeface="Inter Bold" pitchFamily="34" charset="-122"/>
                <a:cs typeface="Inter Bold" pitchFamily="34" charset="-120"/>
              </a:rPr>
              <a:t>NetScaler ADC and Gateway Exploitation</a:t>
            </a:r>
            <a:endParaRPr lang="en-US" sz="700" dirty="0"/>
          </a:p>
        </p:txBody>
      </p:sp>
      <p:sp>
        <p:nvSpPr>
          <p:cNvPr id="16" name="Text 12"/>
          <p:cNvSpPr/>
          <p:nvPr/>
        </p:nvSpPr>
        <p:spPr>
          <a:xfrm>
            <a:off x="142875" y="1863737"/>
            <a:ext cx="4364831" cy="329171"/>
          </a:xfrm>
          <a:prstGeom prst="rect">
            <a:avLst/>
          </a:prstGeom>
          <a:noFill/>
          <a:ln/>
        </p:spPr>
        <p:txBody>
          <a:bodyPr wrap="square" lIns="0" tIns="0" rIns="0" bIns="0" rtlCol="0" anchor="t">
            <a:spAutoFit/>
          </a:bodyPr>
          <a:lstStyle/>
          <a:p>
            <a:pPr algn="l" indent="0" marL="0">
              <a:lnSpc>
                <a:spcPct val="102400"/>
              </a:lnSpc>
              <a:buNone/>
            </a:pPr>
            <a:r>
              <a:rPr lang="en-US" sz="600" dirty="0">
                <a:solidFill>
                  <a:srgbClr val="111111"/>
                </a:solidFill>
                <a:latin typeface="Inter" pitchFamily="34" charset="0"/>
                <a:ea typeface="Inter" pitchFamily="34" charset="-122"/>
                <a:cs typeface="Inter" pitchFamily="34" charset="-120"/>
              </a:rPr>
              <a:t>CISA reported global active exploitation of two zero-day flaws. NetScaler states one permits unauthenticated command execution, while the second can cause code execution or denial of service when DTLS is enabled on VPN virtual servers.</a:t>
            </a:r>
            <a:endParaRPr lang="en-US" sz="600" dirty="0"/>
          </a:p>
        </p:txBody>
      </p:sp>
      <p:sp>
        <p:nvSpPr>
          <p:cNvPr id="17" name="Text 13"/>
          <p:cNvSpPr/>
          <p:nvPr/>
        </p:nvSpPr>
        <p:spPr>
          <a:xfrm>
            <a:off x="142875" y="2221483"/>
            <a:ext cx="4364831" cy="85725"/>
          </a:xfrm>
          <a:prstGeom prst="rect">
            <a:avLst/>
          </a:prstGeom>
          <a:noFill/>
          <a:ln/>
        </p:spPr>
        <p:txBody>
          <a:bodyPr wrap="square" lIns="0" tIns="0" rIns="0" bIns="0" rtlCol="0" anchor="t">
            <a:spAutoFit/>
          </a:bodyPr>
          <a:lstStyle/>
          <a:p>
            <a:pPr algn="l" indent="0" marL="0">
              <a:buNone/>
            </a:pPr>
            <a:r>
              <a:rPr lang="en-US" sz="500" b="1" dirty="0">
                <a:solidFill>
                  <a:srgbClr val="00875A"/>
                </a:solidFill>
                <a:latin typeface="Inter Bold" pitchFamily="34" charset="0"/>
                <a:ea typeface="Inter Bold" pitchFamily="34" charset="-122"/>
                <a:cs typeface="Inter Bold" pitchFamily="34" charset="-120"/>
              </a:rPr>
              <a:t>CONTROL: Application-delivery and remote-access edge</a:t>
            </a:r>
            <a:endParaRPr lang="en-US" sz="500" dirty="0"/>
          </a:p>
        </p:txBody>
      </p:sp>
      <p:sp>
        <p:nvSpPr>
          <p:cNvPr id="18" name="Text 14"/>
          <p:cNvSpPr/>
          <p:nvPr/>
        </p:nvSpPr>
        <p:spPr>
          <a:xfrm>
            <a:off x="142875" y="2435796"/>
            <a:ext cx="4364831" cy="121444"/>
          </a:xfrm>
          <a:prstGeom prst="rect">
            <a:avLst/>
          </a:prstGeom>
          <a:noFill/>
          <a:ln/>
        </p:spPr>
        <p:txBody>
          <a:bodyPr wrap="square" lIns="0" tIns="0" rIns="0" bIns="0" rtlCol="0" anchor="t">
            <a:spAutoFit/>
          </a:bodyPr>
          <a:lstStyle/>
          <a:p>
            <a:pPr algn="l" indent="0" marL="0">
              <a:buNone/>
            </a:pPr>
            <a:r>
              <a:rPr lang="en-US" sz="700" b="1" dirty="0">
                <a:solidFill>
                  <a:srgbClr val="111111"/>
                </a:solidFill>
                <a:latin typeface="Inter Bold" pitchFamily="34" charset="0"/>
                <a:ea typeface="Inter Bold" pitchFamily="34" charset="-122"/>
                <a:cs typeface="Inter Bold" pitchFamily="34" charset="-120"/>
              </a:rPr>
              <a:t>Compromised Azure Service Principals</a:t>
            </a:r>
            <a:endParaRPr lang="en-US" sz="700" dirty="0"/>
          </a:p>
        </p:txBody>
      </p:sp>
      <p:sp>
        <p:nvSpPr>
          <p:cNvPr id="19" name="Text 15"/>
          <p:cNvSpPr/>
          <p:nvPr/>
        </p:nvSpPr>
        <p:spPr>
          <a:xfrm>
            <a:off x="142875" y="2585814"/>
            <a:ext cx="4364831" cy="329171"/>
          </a:xfrm>
          <a:prstGeom prst="rect">
            <a:avLst/>
          </a:prstGeom>
          <a:noFill/>
          <a:ln/>
        </p:spPr>
        <p:txBody>
          <a:bodyPr wrap="square" lIns="0" tIns="0" rIns="0" bIns="0" rtlCol="0" anchor="t">
            <a:spAutoFit/>
          </a:bodyPr>
          <a:lstStyle/>
          <a:p>
            <a:pPr algn="l" indent="0" marL="0">
              <a:lnSpc>
                <a:spcPct val="102400"/>
              </a:lnSpc>
              <a:buNone/>
            </a:pPr>
            <a:r>
              <a:rPr lang="en-US" sz="600" dirty="0">
                <a:solidFill>
                  <a:srgbClr val="111111"/>
                </a:solidFill>
                <a:latin typeface="Inter" pitchFamily="34" charset="0"/>
                <a:ea typeface="Inter" pitchFamily="34" charset="-122"/>
                <a:cs typeface="Inter" pitchFamily="34" charset="-120"/>
              </a:rPr>
              <a:t>Microsoft observed a compromised tenant where service principals conducted extended discovery followed by destructive actions against storage and key-management resources. The initial compromise route remains undetermined; resource locks stopped some attempted deletions.</a:t>
            </a:r>
            <a:endParaRPr lang="en-US" sz="600" dirty="0"/>
          </a:p>
        </p:txBody>
      </p:sp>
      <p:sp>
        <p:nvSpPr>
          <p:cNvPr id="20" name="Text 16"/>
          <p:cNvSpPr/>
          <p:nvPr/>
        </p:nvSpPr>
        <p:spPr>
          <a:xfrm>
            <a:off x="142875" y="2943560"/>
            <a:ext cx="4364831" cy="85725"/>
          </a:xfrm>
          <a:prstGeom prst="rect">
            <a:avLst/>
          </a:prstGeom>
          <a:noFill/>
          <a:ln/>
        </p:spPr>
        <p:txBody>
          <a:bodyPr wrap="square" lIns="0" tIns="0" rIns="0" bIns="0" rtlCol="0" anchor="t">
            <a:spAutoFit/>
          </a:bodyPr>
          <a:lstStyle/>
          <a:p>
            <a:pPr algn="l" indent="0" marL="0">
              <a:buNone/>
            </a:pPr>
            <a:r>
              <a:rPr lang="en-US" sz="500" b="1" dirty="0">
                <a:solidFill>
                  <a:srgbClr val="00875A"/>
                </a:solidFill>
                <a:latin typeface="Inter Bold" pitchFamily="34" charset="0"/>
                <a:ea typeface="Inter Bold" pitchFamily="34" charset="-122"/>
                <a:cs typeface="Inter Bold" pitchFamily="34" charset="-120"/>
              </a:rPr>
              <a:t>CONTROL: Workload-identity privilege management</a:t>
            </a:r>
            <a:endParaRPr lang="en-US" sz="500" dirty="0"/>
          </a:p>
        </p:txBody>
      </p:sp>
      <p:sp>
        <p:nvSpPr>
          <p:cNvPr id="21" name="Text 17"/>
          <p:cNvSpPr/>
          <p:nvPr/>
        </p:nvSpPr>
        <p:spPr>
          <a:xfrm>
            <a:off x="142875" y="3157872"/>
            <a:ext cx="4364831" cy="121444"/>
          </a:xfrm>
          <a:prstGeom prst="rect">
            <a:avLst/>
          </a:prstGeom>
          <a:noFill/>
          <a:ln/>
        </p:spPr>
        <p:txBody>
          <a:bodyPr wrap="square" lIns="0" tIns="0" rIns="0" bIns="0" rtlCol="0" anchor="t">
            <a:spAutoFit/>
          </a:bodyPr>
          <a:lstStyle/>
          <a:p>
            <a:pPr algn="l" indent="0" marL="0">
              <a:buNone/>
            </a:pPr>
            <a:r>
              <a:rPr lang="en-US" sz="700" b="1" dirty="0">
                <a:solidFill>
                  <a:srgbClr val="111111"/>
                </a:solidFill>
                <a:latin typeface="Inter Bold" pitchFamily="34" charset="0"/>
                <a:ea typeface="Inter Bold" pitchFamily="34" charset="-122"/>
                <a:cs typeface="Inter Bold" pitchFamily="34" charset="-120"/>
              </a:rPr>
              <a:t>Cloudflare Containers Isolation Exposure</a:t>
            </a:r>
            <a:endParaRPr lang="en-US" sz="700" dirty="0"/>
          </a:p>
        </p:txBody>
      </p:sp>
      <p:sp>
        <p:nvSpPr>
          <p:cNvPr id="22" name="Text 18"/>
          <p:cNvSpPr/>
          <p:nvPr/>
        </p:nvSpPr>
        <p:spPr>
          <a:xfrm>
            <a:off x="142875" y="3307891"/>
            <a:ext cx="4364831" cy="329171"/>
          </a:xfrm>
          <a:prstGeom prst="rect">
            <a:avLst/>
          </a:prstGeom>
          <a:noFill/>
          <a:ln/>
        </p:spPr>
        <p:txBody>
          <a:bodyPr wrap="square" lIns="0" tIns="0" rIns="0" bIns="0" rtlCol="0" anchor="t">
            <a:spAutoFit/>
          </a:bodyPr>
          <a:lstStyle/>
          <a:p>
            <a:pPr algn="l" indent="0" marL="0">
              <a:lnSpc>
                <a:spcPct val="102400"/>
              </a:lnSpc>
              <a:buNone/>
            </a:pPr>
            <a:r>
              <a:rPr lang="en-US" sz="600" dirty="0">
                <a:solidFill>
                  <a:srgbClr val="111111"/>
                </a:solidFill>
                <a:latin typeface="Inter" pitchFamily="34" charset="0"/>
                <a:ea typeface="Inter" pitchFamily="34" charset="-122"/>
                <a:cs typeface="Inter" pitchFamily="34" charset="-120"/>
              </a:rPr>
              <a:t>Cloudflare disclosed that residual storage blocks in its Containers service could be read across tenants. The provider removed the unsafe setting and retired running disks, reporting no evidence of malicious use in reviewed telemetry.</a:t>
            </a:r>
            <a:endParaRPr lang="en-US" sz="600" dirty="0"/>
          </a:p>
        </p:txBody>
      </p:sp>
      <p:sp>
        <p:nvSpPr>
          <p:cNvPr id="23" name="Text 19"/>
          <p:cNvSpPr/>
          <p:nvPr/>
        </p:nvSpPr>
        <p:spPr>
          <a:xfrm>
            <a:off x="142875" y="3665637"/>
            <a:ext cx="4364831" cy="85725"/>
          </a:xfrm>
          <a:prstGeom prst="rect">
            <a:avLst/>
          </a:prstGeom>
          <a:noFill/>
          <a:ln/>
        </p:spPr>
        <p:txBody>
          <a:bodyPr wrap="square" lIns="0" tIns="0" rIns="0" bIns="0" rtlCol="0" anchor="t">
            <a:spAutoFit/>
          </a:bodyPr>
          <a:lstStyle/>
          <a:p>
            <a:pPr algn="l" indent="0" marL="0">
              <a:buNone/>
            </a:pPr>
            <a:r>
              <a:rPr lang="en-US" sz="500" b="1" dirty="0">
                <a:solidFill>
                  <a:srgbClr val="00875A"/>
                </a:solidFill>
                <a:latin typeface="Inter Bold" pitchFamily="34" charset="0"/>
                <a:ea typeface="Inter Bold" pitchFamily="34" charset="-122"/>
                <a:cs typeface="Inter Bold" pitchFamily="34" charset="-120"/>
              </a:rPr>
              <a:t>CONTROL: Multi-tenant container-storage isolation</a:t>
            </a:r>
            <a:endParaRPr lang="en-US" sz="500" dirty="0"/>
          </a:p>
        </p:txBody>
      </p:sp>
      <p:sp>
        <p:nvSpPr>
          <p:cNvPr id="24" name="Text 20"/>
          <p:cNvSpPr/>
          <p:nvPr/>
        </p:nvSpPr>
        <p:spPr>
          <a:xfrm>
            <a:off x="4636294" y="870756"/>
            <a:ext cx="4364831" cy="185738"/>
          </a:xfrm>
          <a:prstGeom prst="rect">
            <a:avLst/>
          </a:prstGeom>
          <a:noFill/>
          <a:ln/>
        </p:spPr>
        <p:txBody>
          <a:bodyPr wrap="square" lIns="0" tIns="0" rIns="0" bIns="25527" rtlCol="0" anchor="t">
            <a:spAutoFit/>
          </a:bodyPr>
          <a:lstStyle/>
          <a:p>
            <a:pPr algn="l" indent="0" marL="0">
              <a:buNone/>
            </a:pPr>
            <a:r>
              <a:rPr lang="en-US" sz="900" b="1" dirty="0">
                <a:solidFill>
                  <a:srgbClr val="00875A"/>
                </a:solidFill>
                <a:latin typeface="Inter Bold" pitchFamily="34" charset="0"/>
                <a:ea typeface="Inter Bold" pitchFamily="34" charset="-122"/>
                <a:cs typeface="Inter Bold" pitchFamily="34" charset="-120"/>
              </a:rPr>
              <a:t>Systemic Risk Impact &amp; Recommendations</a:t>
            </a:r>
            <a:endParaRPr lang="en-US" sz="900" dirty="0"/>
          </a:p>
        </p:txBody>
      </p:sp>
      <p:sp>
        <p:nvSpPr>
          <p:cNvPr id="25" name="Text 21"/>
          <p:cNvSpPr/>
          <p:nvPr/>
        </p:nvSpPr>
        <p:spPr>
          <a:xfrm>
            <a:off x="4636294" y="1185081"/>
            <a:ext cx="4364831" cy="668387"/>
          </a:xfrm>
          <a:prstGeom prst="rect">
            <a:avLst/>
          </a:prstGeom>
          <a:noFill/>
          <a:ln/>
        </p:spPr>
        <p:txBody>
          <a:bodyPr wrap="square" lIns="0" tIns="0" rIns="0" bIns="0" rtlCol="0" anchor="t">
            <a:spAutoFit/>
          </a:bodyPr>
          <a:lstStyle/>
          <a:p>
            <a:pPr algn="l" indent="0" marL="0">
              <a:lnSpc>
                <a:spcPct val="104000"/>
              </a:lnSpc>
              <a:buNone/>
            </a:pPr>
            <a:r>
              <a:rPr lang="en-US" sz="600" dirty="0">
                <a:solidFill>
                  <a:srgbClr val="111111"/>
                </a:solidFill>
                <a:latin typeface="Inter" pitchFamily="34" charset="0"/>
                <a:ea typeface="Inter" pitchFamily="34" charset="-122"/>
                <a:cs typeface="Inter" pitchFamily="34" charset="-120"/>
              </a:rPr>
              <a:t>2LoD assessment: Compromise of an external access gateway or non-human identity can become enterprise-wide access to shared applications, data and network controls. Provider remediation reduces exposure only for named managed services, not connected customer-managed, legacy or supplier-operated estates. Cross-tenant residual-data exposure confirms shared-infrastructure assurance remains a dependency risk even absent reported malicious use. The EvilTokens token-theft campaign scale highlights systemic MFA bypass risk.</a:t>
            </a:r>
            <a:endParaRPr lang="en-US" sz="600" dirty="0"/>
          </a:p>
        </p:txBody>
      </p:sp>
      <p:sp>
        <p:nvSpPr>
          <p:cNvPr id="26" name="Shape 22"/>
          <p:cNvSpPr/>
          <p:nvPr/>
        </p:nvSpPr>
        <p:spPr>
          <a:xfrm>
            <a:off x="4639866" y="1985628"/>
            <a:ext cx="1319194" cy="150019"/>
          </a:xfrm>
          <a:prstGeom prst="rect">
            <a:avLst/>
          </a:prstGeom>
          <a:solidFill>
            <a:srgbClr val="00875A"/>
          </a:solidFill>
          <a:ln w="9144">
            <a:solidFill>
              <a:srgbClr val="00875A"/>
            </a:solidFill>
            <a:prstDash val="solid"/>
          </a:ln>
        </p:spPr>
      </p:sp>
      <p:sp>
        <p:nvSpPr>
          <p:cNvPr id="27" name="Text 23"/>
          <p:cNvSpPr/>
          <p:nvPr/>
        </p:nvSpPr>
        <p:spPr>
          <a:xfrm>
            <a:off x="4639866" y="1985628"/>
            <a:ext cx="1319194" cy="150019"/>
          </a:xfrm>
          <a:prstGeom prst="rect">
            <a:avLst/>
          </a:prstGeom>
          <a:noFill/>
          <a:ln/>
        </p:spPr>
        <p:txBody>
          <a:bodyPr wrap="square" lIns="51054" tIns="34036" rIns="51054" bIns="34036" rtlCol="0" anchor="ctr">
            <a:spAutoFit/>
          </a:bodyPr>
          <a:lstStyle/>
          <a:p>
            <a:pPr algn="l" indent="0" marL="0">
              <a:buNone/>
            </a:pPr>
            <a:r>
              <a:rPr lang="en-US" sz="500" b="1" dirty="0">
                <a:solidFill>
                  <a:srgbClr val="FFFFFF"/>
                </a:solidFill>
                <a:latin typeface="Inter Bold" pitchFamily="34" charset="0"/>
                <a:ea typeface="Inter Bold" pitchFamily="34" charset="-122"/>
                <a:cs typeface="Inter Bold" pitchFamily="34" charset="-120"/>
              </a:rPr>
              <a:t>Target CVE</a:t>
            </a:r>
            <a:endParaRPr lang="en-US" sz="500" dirty="0"/>
          </a:p>
        </p:txBody>
      </p:sp>
      <p:sp>
        <p:nvSpPr>
          <p:cNvPr id="28" name="Shape 24"/>
          <p:cNvSpPr/>
          <p:nvPr/>
        </p:nvSpPr>
        <p:spPr>
          <a:xfrm>
            <a:off x="5959060" y="1985628"/>
            <a:ext cx="1319194" cy="150019"/>
          </a:xfrm>
          <a:prstGeom prst="rect">
            <a:avLst/>
          </a:prstGeom>
          <a:solidFill>
            <a:srgbClr val="00875A"/>
          </a:solidFill>
          <a:ln w="9144">
            <a:solidFill>
              <a:srgbClr val="00875A"/>
            </a:solidFill>
            <a:prstDash val="solid"/>
          </a:ln>
        </p:spPr>
      </p:sp>
      <p:sp>
        <p:nvSpPr>
          <p:cNvPr id="29" name="Text 25"/>
          <p:cNvSpPr/>
          <p:nvPr/>
        </p:nvSpPr>
        <p:spPr>
          <a:xfrm>
            <a:off x="5959060" y="1985628"/>
            <a:ext cx="1319194" cy="150019"/>
          </a:xfrm>
          <a:prstGeom prst="rect">
            <a:avLst/>
          </a:prstGeom>
          <a:noFill/>
          <a:ln/>
        </p:spPr>
        <p:txBody>
          <a:bodyPr wrap="square" lIns="51054" tIns="34036" rIns="51054" bIns="34036" rtlCol="0" anchor="ctr">
            <a:spAutoFit/>
          </a:bodyPr>
          <a:lstStyle/>
          <a:p>
            <a:pPr algn="l" indent="0" marL="0">
              <a:buNone/>
            </a:pPr>
            <a:r>
              <a:rPr lang="en-US" sz="500" b="1" dirty="0">
                <a:solidFill>
                  <a:srgbClr val="FFFFFF"/>
                </a:solidFill>
                <a:latin typeface="Inter Bold" pitchFamily="34" charset="0"/>
                <a:ea typeface="Inter Bold" pitchFamily="34" charset="-122"/>
                <a:cs typeface="Inter Bold" pitchFamily="34" charset="-120"/>
              </a:rPr>
              <a:t>Affected Software</a:t>
            </a:r>
            <a:endParaRPr lang="en-US" sz="500" dirty="0"/>
          </a:p>
        </p:txBody>
      </p:sp>
      <p:sp>
        <p:nvSpPr>
          <p:cNvPr id="30" name="Shape 26"/>
          <p:cNvSpPr/>
          <p:nvPr/>
        </p:nvSpPr>
        <p:spPr>
          <a:xfrm>
            <a:off x="7278253" y="1985628"/>
            <a:ext cx="400050" cy="150019"/>
          </a:xfrm>
          <a:prstGeom prst="rect">
            <a:avLst/>
          </a:prstGeom>
          <a:solidFill>
            <a:srgbClr val="00875A"/>
          </a:solidFill>
          <a:ln w="9144">
            <a:solidFill>
              <a:srgbClr val="00875A"/>
            </a:solidFill>
            <a:prstDash val="solid"/>
          </a:ln>
        </p:spPr>
      </p:sp>
      <p:sp>
        <p:nvSpPr>
          <p:cNvPr id="31" name="Text 27"/>
          <p:cNvSpPr/>
          <p:nvPr/>
        </p:nvSpPr>
        <p:spPr>
          <a:xfrm>
            <a:off x="7278253" y="1985628"/>
            <a:ext cx="400050" cy="150019"/>
          </a:xfrm>
          <a:prstGeom prst="rect">
            <a:avLst/>
          </a:prstGeom>
          <a:noFill/>
          <a:ln/>
        </p:spPr>
        <p:txBody>
          <a:bodyPr wrap="none" lIns="51054" tIns="34036" rIns="51054" bIns="34036" rtlCol="0" anchor="ctr">
            <a:spAutoFit/>
          </a:bodyPr>
          <a:lstStyle/>
          <a:p>
            <a:pPr algn="l" indent="0" marL="0">
              <a:buNone/>
            </a:pPr>
            <a:r>
              <a:rPr lang="en-US" sz="500" b="1" dirty="0">
                <a:solidFill>
                  <a:srgbClr val="FFFFFF"/>
                </a:solidFill>
                <a:latin typeface="Inter Bold" pitchFamily="34" charset="0"/>
                <a:ea typeface="Inter Bold" pitchFamily="34" charset="-122"/>
                <a:cs typeface="Inter Bold" pitchFamily="34" charset="-120"/>
              </a:rPr>
              <a:t>CVSS</a:t>
            </a:r>
            <a:endParaRPr lang="en-US" sz="500" dirty="0"/>
          </a:p>
        </p:txBody>
      </p:sp>
      <p:sp>
        <p:nvSpPr>
          <p:cNvPr id="32" name="Shape 28"/>
          <p:cNvSpPr/>
          <p:nvPr/>
        </p:nvSpPr>
        <p:spPr>
          <a:xfrm>
            <a:off x="7678303" y="1985628"/>
            <a:ext cx="1319250" cy="150019"/>
          </a:xfrm>
          <a:prstGeom prst="rect">
            <a:avLst/>
          </a:prstGeom>
          <a:solidFill>
            <a:srgbClr val="00875A"/>
          </a:solidFill>
          <a:ln w="9144">
            <a:solidFill>
              <a:srgbClr val="00875A"/>
            </a:solidFill>
            <a:prstDash val="solid"/>
          </a:ln>
        </p:spPr>
      </p:sp>
      <p:sp>
        <p:nvSpPr>
          <p:cNvPr id="33" name="Text 29"/>
          <p:cNvSpPr/>
          <p:nvPr/>
        </p:nvSpPr>
        <p:spPr>
          <a:xfrm>
            <a:off x="7678303" y="1985628"/>
            <a:ext cx="1319250" cy="150019"/>
          </a:xfrm>
          <a:prstGeom prst="rect">
            <a:avLst/>
          </a:prstGeom>
          <a:noFill/>
          <a:ln/>
        </p:spPr>
        <p:txBody>
          <a:bodyPr wrap="square" lIns="51054" tIns="34036" rIns="51054" bIns="34036" rtlCol="0" anchor="ctr">
            <a:spAutoFit/>
          </a:bodyPr>
          <a:lstStyle/>
          <a:p>
            <a:pPr algn="l" indent="0" marL="0">
              <a:buNone/>
            </a:pPr>
            <a:r>
              <a:rPr lang="en-US" sz="500" b="1" dirty="0">
                <a:solidFill>
                  <a:srgbClr val="FFFFFF"/>
                </a:solidFill>
                <a:latin typeface="Inter Bold" pitchFamily="34" charset="0"/>
                <a:ea typeface="Inter Bold" pitchFamily="34" charset="-122"/>
                <a:cs typeface="Inter Bold" pitchFamily="34" charset="-120"/>
              </a:rPr>
              <a:t>Primary Threat</a:t>
            </a:r>
            <a:endParaRPr lang="en-US" sz="500" dirty="0"/>
          </a:p>
        </p:txBody>
      </p:sp>
      <p:sp>
        <p:nvSpPr>
          <p:cNvPr id="34" name="Text 30"/>
          <p:cNvSpPr/>
          <p:nvPr/>
        </p:nvSpPr>
        <p:spPr>
          <a:xfrm>
            <a:off x="4639866" y="2128503"/>
            <a:ext cx="1319194" cy="235744"/>
          </a:xfrm>
          <a:prstGeom prst="rect">
            <a:avLst/>
          </a:prstGeom>
          <a:noFill/>
          <a:ln/>
        </p:spPr>
        <p:txBody>
          <a:bodyPr wrap="square" lIns="51054" tIns="34036" rIns="51054" bIns="34036" rtlCol="0" anchor="t">
            <a:spAutoFit/>
          </a:bodyPr>
          <a:lstStyle/>
          <a:p>
            <a:pPr algn="l" indent="0" marL="0">
              <a:buNone/>
            </a:pPr>
            <a:r>
              <a:rPr lang="en-US" sz="500" dirty="0">
                <a:solidFill>
                  <a:srgbClr val="111111"/>
                </a:solidFill>
                <a:latin typeface="Inter" pitchFamily="34" charset="0"/>
                <a:ea typeface="Inter" pitchFamily="34" charset="-122"/>
                <a:cs typeface="Inter" pitchFamily="34" charset="-120"/>
              </a:rPr>
              <a:t>CVE-2026-88771</a:t>
            </a:r>
            <a:endParaRPr lang="en-US" sz="500" dirty="0"/>
          </a:p>
        </p:txBody>
      </p:sp>
      <p:sp>
        <p:nvSpPr>
          <p:cNvPr id="35" name="Text 31"/>
          <p:cNvSpPr/>
          <p:nvPr/>
        </p:nvSpPr>
        <p:spPr>
          <a:xfrm>
            <a:off x="5959060" y="2128503"/>
            <a:ext cx="1319194" cy="235744"/>
          </a:xfrm>
          <a:prstGeom prst="rect">
            <a:avLst/>
          </a:prstGeom>
          <a:noFill/>
          <a:ln/>
        </p:spPr>
        <p:txBody>
          <a:bodyPr wrap="square" lIns="51054" tIns="34036" rIns="51054" bIns="34036" rtlCol="0" anchor="t">
            <a:spAutoFit/>
          </a:bodyPr>
          <a:lstStyle/>
          <a:p>
            <a:pPr algn="l" indent="0" marL="0">
              <a:buNone/>
            </a:pPr>
            <a:r>
              <a:rPr lang="en-US" sz="500" dirty="0">
                <a:solidFill>
                  <a:srgbClr val="111111"/>
                </a:solidFill>
                <a:latin typeface="Inter" pitchFamily="34" charset="0"/>
                <a:ea typeface="Inter" pitchFamily="34" charset="-122"/>
                <a:cs typeface="Inter" pitchFamily="34" charset="-120"/>
              </a:rPr>
              <a:t>NetScaler ADC / Gateway</a:t>
            </a:r>
            <a:endParaRPr lang="en-US" sz="500" dirty="0"/>
          </a:p>
        </p:txBody>
      </p:sp>
      <p:sp>
        <p:nvSpPr>
          <p:cNvPr id="36" name="Text 32"/>
          <p:cNvSpPr/>
          <p:nvPr/>
        </p:nvSpPr>
        <p:spPr>
          <a:xfrm>
            <a:off x="7278253" y="2128503"/>
            <a:ext cx="400050" cy="235744"/>
          </a:xfrm>
          <a:prstGeom prst="rect">
            <a:avLst/>
          </a:prstGeom>
          <a:noFill/>
          <a:ln/>
        </p:spPr>
        <p:txBody>
          <a:bodyPr wrap="none" lIns="51054" tIns="34036" rIns="51054" bIns="34036" rtlCol="0" anchor="t">
            <a:spAutoFit/>
          </a:bodyPr>
          <a:lstStyle/>
          <a:p>
            <a:pPr algn="l" indent="0" marL="0">
              <a:buNone/>
            </a:pPr>
            <a:r>
              <a:rPr lang="en-US" sz="500" dirty="0">
                <a:solidFill>
                  <a:srgbClr val="111111"/>
                </a:solidFill>
                <a:latin typeface="Inter" pitchFamily="34" charset="0"/>
                <a:ea typeface="Inter" pitchFamily="34" charset="-122"/>
                <a:cs typeface="Inter" pitchFamily="34" charset="-120"/>
              </a:rPr>
              <a:t>9.5</a:t>
            </a:r>
            <a:endParaRPr lang="en-US" sz="500" dirty="0"/>
          </a:p>
        </p:txBody>
      </p:sp>
      <p:sp>
        <p:nvSpPr>
          <p:cNvPr id="37" name="Text 33"/>
          <p:cNvSpPr/>
          <p:nvPr/>
        </p:nvSpPr>
        <p:spPr>
          <a:xfrm>
            <a:off x="7678303" y="2128503"/>
            <a:ext cx="1319250" cy="235744"/>
          </a:xfrm>
          <a:prstGeom prst="rect">
            <a:avLst/>
          </a:prstGeom>
          <a:noFill/>
          <a:ln/>
        </p:spPr>
        <p:txBody>
          <a:bodyPr wrap="square" lIns="51054" tIns="34036" rIns="51054" bIns="34036" rtlCol="0" anchor="t">
            <a:spAutoFit/>
          </a:bodyPr>
          <a:lstStyle/>
          <a:p>
            <a:pPr algn="l" indent="0" marL="0">
              <a:buNone/>
            </a:pPr>
            <a:r>
              <a:rPr lang="en-US" sz="500" dirty="0">
                <a:solidFill>
                  <a:srgbClr val="111111"/>
                </a:solidFill>
                <a:latin typeface="Inter" pitchFamily="34" charset="0"/>
                <a:ea typeface="Inter" pitchFamily="34" charset="-122"/>
                <a:cs typeface="Inter" pitchFamily="34" charset="-120"/>
              </a:rPr>
              <a:t>Unauthenticated command execution</a:t>
            </a:r>
            <a:endParaRPr lang="en-US" sz="500" dirty="0"/>
          </a:p>
        </p:txBody>
      </p:sp>
      <p:sp>
        <p:nvSpPr>
          <p:cNvPr id="38" name="Text 34"/>
          <p:cNvSpPr/>
          <p:nvPr/>
        </p:nvSpPr>
        <p:spPr>
          <a:xfrm>
            <a:off x="4639866" y="2364246"/>
            <a:ext cx="1319194" cy="150019"/>
          </a:xfrm>
          <a:prstGeom prst="rect">
            <a:avLst/>
          </a:prstGeom>
          <a:noFill/>
          <a:ln/>
        </p:spPr>
        <p:txBody>
          <a:bodyPr wrap="square" lIns="51054" tIns="34036" rIns="51054" bIns="34036" rtlCol="0" anchor="t">
            <a:spAutoFit/>
          </a:bodyPr>
          <a:lstStyle/>
          <a:p>
            <a:pPr algn="l" indent="0" marL="0">
              <a:buNone/>
            </a:pPr>
            <a:r>
              <a:rPr lang="en-US" sz="500" dirty="0">
                <a:solidFill>
                  <a:srgbClr val="111111"/>
                </a:solidFill>
                <a:latin typeface="Inter" pitchFamily="34" charset="0"/>
                <a:ea typeface="Inter" pitchFamily="34" charset="-122"/>
                <a:cs typeface="Inter" pitchFamily="34" charset="-120"/>
              </a:rPr>
              <a:t>CVE-2026-88772</a:t>
            </a:r>
            <a:endParaRPr lang="en-US" sz="500" dirty="0"/>
          </a:p>
        </p:txBody>
      </p:sp>
      <p:sp>
        <p:nvSpPr>
          <p:cNvPr id="39" name="Text 35"/>
          <p:cNvSpPr/>
          <p:nvPr/>
        </p:nvSpPr>
        <p:spPr>
          <a:xfrm>
            <a:off x="5959060" y="2364246"/>
            <a:ext cx="1319194" cy="150019"/>
          </a:xfrm>
          <a:prstGeom prst="rect">
            <a:avLst/>
          </a:prstGeom>
          <a:noFill/>
          <a:ln/>
        </p:spPr>
        <p:txBody>
          <a:bodyPr wrap="square" lIns="51054" tIns="34036" rIns="51054" bIns="34036" rtlCol="0" anchor="t">
            <a:spAutoFit/>
          </a:bodyPr>
          <a:lstStyle/>
          <a:p>
            <a:pPr algn="l" indent="0" marL="0">
              <a:buNone/>
            </a:pPr>
            <a:r>
              <a:rPr lang="en-US" sz="500" dirty="0">
                <a:solidFill>
                  <a:srgbClr val="111111"/>
                </a:solidFill>
                <a:latin typeface="Inter" pitchFamily="34" charset="0"/>
                <a:ea typeface="Inter" pitchFamily="34" charset="-122"/>
                <a:cs typeface="Inter" pitchFamily="34" charset="-120"/>
              </a:rPr>
              <a:t>NetScaler ADC / Gateway</a:t>
            </a:r>
            <a:endParaRPr lang="en-US" sz="500" dirty="0"/>
          </a:p>
        </p:txBody>
      </p:sp>
      <p:sp>
        <p:nvSpPr>
          <p:cNvPr id="40" name="Text 36"/>
          <p:cNvSpPr/>
          <p:nvPr/>
        </p:nvSpPr>
        <p:spPr>
          <a:xfrm>
            <a:off x="7278253" y="2364246"/>
            <a:ext cx="400050" cy="150019"/>
          </a:xfrm>
          <a:prstGeom prst="rect">
            <a:avLst/>
          </a:prstGeom>
          <a:noFill/>
          <a:ln/>
        </p:spPr>
        <p:txBody>
          <a:bodyPr wrap="none" lIns="51054" tIns="34036" rIns="51054" bIns="34036" rtlCol="0" anchor="t">
            <a:spAutoFit/>
          </a:bodyPr>
          <a:lstStyle/>
          <a:p>
            <a:pPr algn="l" indent="0" marL="0">
              <a:buNone/>
            </a:pPr>
            <a:r>
              <a:rPr lang="en-US" sz="500" dirty="0">
                <a:solidFill>
                  <a:srgbClr val="111111"/>
                </a:solidFill>
                <a:latin typeface="Inter" pitchFamily="34" charset="0"/>
                <a:ea typeface="Inter" pitchFamily="34" charset="-122"/>
                <a:cs typeface="Inter" pitchFamily="34" charset="-120"/>
              </a:rPr>
              <a:t>9.5</a:t>
            </a:r>
            <a:endParaRPr lang="en-US" sz="500" dirty="0"/>
          </a:p>
        </p:txBody>
      </p:sp>
      <p:sp>
        <p:nvSpPr>
          <p:cNvPr id="41" name="Text 37"/>
          <p:cNvSpPr/>
          <p:nvPr/>
        </p:nvSpPr>
        <p:spPr>
          <a:xfrm>
            <a:off x="7678303" y="2364246"/>
            <a:ext cx="1319250" cy="150019"/>
          </a:xfrm>
          <a:prstGeom prst="rect">
            <a:avLst/>
          </a:prstGeom>
          <a:noFill/>
          <a:ln/>
        </p:spPr>
        <p:txBody>
          <a:bodyPr wrap="square" lIns="51054" tIns="34036" rIns="51054" bIns="34036" rtlCol="0" anchor="t">
            <a:spAutoFit/>
          </a:bodyPr>
          <a:lstStyle/>
          <a:p>
            <a:pPr algn="l" indent="0" marL="0">
              <a:buNone/>
            </a:pPr>
            <a:r>
              <a:rPr lang="en-US" sz="500" dirty="0">
                <a:solidFill>
                  <a:srgbClr val="111111"/>
                </a:solidFill>
                <a:latin typeface="Inter" pitchFamily="34" charset="0"/>
                <a:ea typeface="Inter" pitchFamily="34" charset="-122"/>
                <a:cs typeface="Inter" pitchFamily="34" charset="-120"/>
              </a:rPr>
              <a:t>Remote code execution (DTLS)</a:t>
            </a:r>
            <a:endParaRPr lang="en-US" sz="500" dirty="0"/>
          </a:p>
        </p:txBody>
      </p:sp>
      <p:sp>
        <p:nvSpPr>
          <p:cNvPr id="42" name="Text 38"/>
          <p:cNvSpPr/>
          <p:nvPr/>
        </p:nvSpPr>
        <p:spPr>
          <a:xfrm>
            <a:off x="4639866" y="2514265"/>
            <a:ext cx="1319194" cy="150019"/>
          </a:xfrm>
          <a:prstGeom prst="rect">
            <a:avLst/>
          </a:prstGeom>
          <a:noFill/>
          <a:ln/>
        </p:spPr>
        <p:txBody>
          <a:bodyPr wrap="square" lIns="51054" tIns="34036" rIns="51054" bIns="34036" rtlCol="0" anchor="t">
            <a:spAutoFit/>
          </a:bodyPr>
          <a:lstStyle/>
          <a:p>
            <a:pPr algn="l" indent="0" marL="0">
              <a:buNone/>
            </a:pPr>
            <a:r>
              <a:rPr lang="en-US" sz="500" dirty="0">
                <a:solidFill>
                  <a:srgbClr val="111111"/>
                </a:solidFill>
                <a:latin typeface="Inter" pitchFamily="34" charset="0"/>
                <a:ea typeface="Inter" pitchFamily="34" charset="-122"/>
                <a:cs typeface="Inter" pitchFamily="34" charset="-120"/>
              </a:rPr>
              <a:t>CVE-2026-76504</a:t>
            </a:r>
            <a:endParaRPr lang="en-US" sz="500" dirty="0"/>
          </a:p>
        </p:txBody>
      </p:sp>
      <p:sp>
        <p:nvSpPr>
          <p:cNvPr id="43" name="Text 39"/>
          <p:cNvSpPr/>
          <p:nvPr/>
        </p:nvSpPr>
        <p:spPr>
          <a:xfrm>
            <a:off x="5959060" y="2514265"/>
            <a:ext cx="1319194" cy="150019"/>
          </a:xfrm>
          <a:prstGeom prst="rect">
            <a:avLst/>
          </a:prstGeom>
          <a:noFill/>
          <a:ln/>
        </p:spPr>
        <p:txBody>
          <a:bodyPr wrap="square" lIns="51054" tIns="34036" rIns="51054" bIns="34036" rtlCol="0" anchor="t">
            <a:spAutoFit/>
          </a:bodyPr>
          <a:lstStyle/>
          <a:p>
            <a:pPr algn="l" indent="0" marL="0">
              <a:buNone/>
            </a:pPr>
            <a:r>
              <a:rPr lang="en-US" sz="500" dirty="0">
                <a:solidFill>
                  <a:srgbClr val="111111"/>
                </a:solidFill>
                <a:latin typeface="Inter" pitchFamily="34" charset="0"/>
                <a:ea typeface="Inter" pitchFamily="34" charset="-122"/>
                <a:cs typeface="Inter" pitchFamily="34" charset="-120"/>
              </a:rPr>
              <a:t>Cisco Catalyst SD-WAN</a:t>
            </a:r>
            <a:endParaRPr lang="en-US" sz="500" dirty="0"/>
          </a:p>
        </p:txBody>
      </p:sp>
      <p:sp>
        <p:nvSpPr>
          <p:cNvPr id="44" name="Text 40"/>
          <p:cNvSpPr/>
          <p:nvPr/>
        </p:nvSpPr>
        <p:spPr>
          <a:xfrm>
            <a:off x="7278253" y="2514265"/>
            <a:ext cx="400050" cy="150019"/>
          </a:xfrm>
          <a:prstGeom prst="rect">
            <a:avLst/>
          </a:prstGeom>
          <a:noFill/>
          <a:ln/>
        </p:spPr>
        <p:txBody>
          <a:bodyPr wrap="none" lIns="51054" tIns="34036" rIns="51054" bIns="34036" rtlCol="0" anchor="t">
            <a:spAutoFit/>
          </a:bodyPr>
          <a:lstStyle/>
          <a:p>
            <a:pPr algn="l" indent="0" marL="0">
              <a:buNone/>
            </a:pPr>
            <a:r>
              <a:rPr lang="en-US" sz="500" dirty="0">
                <a:solidFill>
                  <a:srgbClr val="111111"/>
                </a:solidFill>
                <a:latin typeface="Inter" pitchFamily="34" charset="0"/>
                <a:ea typeface="Inter" pitchFamily="34" charset="-122"/>
                <a:cs typeface="Inter" pitchFamily="34" charset="-120"/>
              </a:rPr>
              <a:t>9.8</a:t>
            </a:r>
            <a:endParaRPr lang="en-US" sz="500" dirty="0"/>
          </a:p>
        </p:txBody>
      </p:sp>
      <p:sp>
        <p:nvSpPr>
          <p:cNvPr id="45" name="Text 41"/>
          <p:cNvSpPr/>
          <p:nvPr/>
        </p:nvSpPr>
        <p:spPr>
          <a:xfrm>
            <a:off x="7678303" y="2514265"/>
            <a:ext cx="1319250" cy="150019"/>
          </a:xfrm>
          <a:prstGeom prst="rect">
            <a:avLst/>
          </a:prstGeom>
          <a:noFill/>
          <a:ln/>
        </p:spPr>
        <p:txBody>
          <a:bodyPr wrap="square" lIns="51054" tIns="34036" rIns="51054" bIns="34036" rtlCol="0" anchor="t">
            <a:spAutoFit/>
          </a:bodyPr>
          <a:lstStyle/>
          <a:p>
            <a:pPr algn="l" indent="0" marL="0">
              <a:buNone/>
            </a:pPr>
            <a:r>
              <a:rPr lang="en-US" sz="500" dirty="0">
                <a:solidFill>
                  <a:srgbClr val="111111"/>
                </a:solidFill>
                <a:latin typeface="Inter" pitchFamily="34" charset="0"/>
                <a:ea typeface="Inter" pitchFamily="34" charset="-122"/>
                <a:cs typeface="Inter" pitchFamily="34" charset="-120"/>
              </a:rPr>
              <a:t>Administrator API bypass</a:t>
            </a:r>
            <a:endParaRPr lang="en-US" sz="500" dirty="0"/>
          </a:p>
        </p:txBody>
      </p:sp>
      <p:sp>
        <p:nvSpPr>
          <p:cNvPr id="46" name="Text 42"/>
          <p:cNvSpPr/>
          <p:nvPr/>
        </p:nvSpPr>
        <p:spPr>
          <a:xfrm>
            <a:off x="4639866" y="2664284"/>
            <a:ext cx="1319194" cy="150019"/>
          </a:xfrm>
          <a:prstGeom prst="rect">
            <a:avLst/>
          </a:prstGeom>
          <a:noFill/>
          <a:ln/>
        </p:spPr>
        <p:txBody>
          <a:bodyPr wrap="square" lIns="51054" tIns="34036" rIns="51054" bIns="34036" rtlCol="0" anchor="t">
            <a:spAutoFit/>
          </a:bodyPr>
          <a:lstStyle/>
          <a:p>
            <a:pPr algn="l" indent="0" marL="0">
              <a:buNone/>
            </a:pPr>
            <a:r>
              <a:rPr lang="en-US" sz="500" dirty="0">
                <a:solidFill>
                  <a:srgbClr val="111111"/>
                </a:solidFill>
                <a:latin typeface="Inter" pitchFamily="34" charset="0"/>
                <a:ea typeface="Inter" pitchFamily="34" charset="-122"/>
                <a:cs typeface="Inter" pitchFamily="34" charset="-120"/>
              </a:rPr>
              <a:t>CVE-2026-85102</a:t>
            </a:r>
            <a:endParaRPr lang="en-US" sz="500" dirty="0"/>
          </a:p>
        </p:txBody>
      </p:sp>
      <p:sp>
        <p:nvSpPr>
          <p:cNvPr id="47" name="Text 43"/>
          <p:cNvSpPr/>
          <p:nvPr/>
        </p:nvSpPr>
        <p:spPr>
          <a:xfrm>
            <a:off x="5959060" y="2664284"/>
            <a:ext cx="1319194" cy="150019"/>
          </a:xfrm>
          <a:prstGeom prst="rect">
            <a:avLst/>
          </a:prstGeom>
          <a:noFill/>
          <a:ln/>
        </p:spPr>
        <p:txBody>
          <a:bodyPr wrap="square" lIns="51054" tIns="34036" rIns="51054" bIns="34036" rtlCol="0" anchor="t">
            <a:spAutoFit/>
          </a:bodyPr>
          <a:lstStyle/>
          <a:p>
            <a:pPr algn="l" indent="0" marL="0">
              <a:buNone/>
            </a:pPr>
            <a:r>
              <a:rPr lang="en-US" sz="500" dirty="0">
                <a:solidFill>
                  <a:srgbClr val="111111"/>
                </a:solidFill>
                <a:latin typeface="Inter" pitchFamily="34" charset="0"/>
                <a:ea typeface="Inter" pitchFamily="34" charset="-122"/>
                <a:cs typeface="Inter" pitchFamily="34" charset="-120"/>
              </a:rPr>
              <a:t>Check Point VPN</a:t>
            </a:r>
            <a:endParaRPr lang="en-US" sz="500" dirty="0"/>
          </a:p>
        </p:txBody>
      </p:sp>
      <p:sp>
        <p:nvSpPr>
          <p:cNvPr id="48" name="Text 44"/>
          <p:cNvSpPr/>
          <p:nvPr/>
        </p:nvSpPr>
        <p:spPr>
          <a:xfrm>
            <a:off x="7278253" y="2664284"/>
            <a:ext cx="400050" cy="150019"/>
          </a:xfrm>
          <a:prstGeom prst="rect">
            <a:avLst/>
          </a:prstGeom>
          <a:noFill/>
          <a:ln/>
        </p:spPr>
        <p:txBody>
          <a:bodyPr wrap="none" lIns="51054" tIns="34036" rIns="51054" bIns="34036" rtlCol="0" anchor="t">
            <a:spAutoFit/>
          </a:bodyPr>
          <a:lstStyle/>
          <a:p>
            <a:pPr algn="l" indent="0" marL="0">
              <a:buNone/>
            </a:pPr>
            <a:r>
              <a:rPr lang="en-US" sz="500" dirty="0">
                <a:solidFill>
                  <a:srgbClr val="111111"/>
                </a:solidFill>
                <a:latin typeface="Inter" pitchFamily="34" charset="0"/>
                <a:ea typeface="Inter" pitchFamily="34" charset="-122"/>
                <a:cs typeface="Inter" pitchFamily="34" charset="-120"/>
              </a:rPr>
              <a:t>9.8</a:t>
            </a:r>
            <a:endParaRPr lang="en-US" sz="500" dirty="0"/>
          </a:p>
        </p:txBody>
      </p:sp>
      <p:sp>
        <p:nvSpPr>
          <p:cNvPr id="49" name="Text 45"/>
          <p:cNvSpPr/>
          <p:nvPr/>
        </p:nvSpPr>
        <p:spPr>
          <a:xfrm>
            <a:off x="7678303" y="2664284"/>
            <a:ext cx="1319250" cy="150019"/>
          </a:xfrm>
          <a:prstGeom prst="rect">
            <a:avLst/>
          </a:prstGeom>
          <a:noFill/>
          <a:ln/>
        </p:spPr>
        <p:txBody>
          <a:bodyPr wrap="square" lIns="51054" tIns="34036" rIns="51054" bIns="34036" rtlCol="0" anchor="t">
            <a:spAutoFit/>
          </a:bodyPr>
          <a:lstStyle/>
          <a:p>
            <a:pPr algn="l" indent="0" marL="0">
              <a:buNone/>
            </a:pPr>
            <a:r>
              <a:rPr lang="en-US" sz="500" dirty="0">
                <a:solidFill>
                  <a:srgbClr val="111111"/>
                </a:solidFill>
                <a:latin typeface="Inter" pitchFamily="34" charset="0"/>
                <a:ea typeface="Inter" pitchFamily="34" charset="-122"/>
                <a:cs typeface="Inter" pitchFamily="34" charset="-120"/>
              </a:rPr>
              <a:t>Pre-authentication execution</a:t>
            </a:r>
            <a:endParaRPr lang="en-US" sz="500" dirty="0"/>
          </a:p>
        </p:txBody>
      </p:sp>
      <p:sp>
        <p:nvSpPr>
          <p:cNvPr id="50" name="Text 46"/>
          <p:cNvSpPr/>
          <p:nvPr/>
        </p:nvSpPr>
        <p:spPr>
          <a:xfrm>
            <a:off x="4639866" y="2814303"/>
            <a:ext cx="1319194" cy="150019"/>
          </a:xfrm>
          <a:prstGeom prst="rect">
            <a:avLst/>
          </a:prstGeom>
          <a:noFill/>
          <a:ln/>
        </p:spPr>
        <p:txBody>
          <a:bodyPr wrap="square" lIns="51054" tIns="34036" rIns="51054" bIns="34036" rtlCol="0" anchor="t">
            <a:spAutoFit/>
          </a:bodyPr>
          <a:lstStyle/>
          <a:p>
            <a:pPr algn="l" indent="0" marL="0">
              <a:buNone/>
            </a:pPr>
            <a:r>
              <a:rPr lang="en-US" sz="500" dirty="0">
                <a:solidFill>
                  <a:srgbClr val="111111"/>
                </a:solidFill>
                <a:latin typeface="Inter" pitchFamily="34" charset="0"/>
                <a:ea typeface="Inter" pitchFamily="34" charset="-122"/>
                <a:cs typeface="Inter" pitchFamily="34" charset="-120"/>
              </a:rPr>
              <a:t>CVE-2026-83548</a:t>
            </a:r>
            <a:endParaRPr lang="en-US" sz="500" dirty="0"/>
          </a:p>
        </p:txBody>
      </p:sp>
      <p:sp>
        <p:nvSpPr>
          <p:cNvPr id="51" name="Text 47"/>
          <p:cNvSpPr/>
          <p:nvPr/>
        </p:nvSpPr>
        <p:spPr>
          <a:xfrm>
            <a:off x="5959060" y="2814303"/>
            <a:ext cx="1319194" cy="150019"/>
          </a:xfrm>
          <a:prstGeom prst="rect">
            <a:avLst/>
          </a:prstGeom>
          <a:noFill/>
          <a:ln/>
        </p:spPr>
        <p:txBody>
          <a:bodyPr wrap="square" lIns="51054" tIns="34036" rIns="51054" bIns="34036" rtlCol="0" anchor="t">
            <a:spAutoFit/>
          </a:bodyPr>
          <a:lstStyle/>
          <a:p>
            <a:pPr algn="l" indent="0" marL="0">
              <a:buNone/>
            </a:pPr>
            <a:r>
              <a:rPr lang="en-US" sz="500" dirty="0">
                <a:solidFill>
                  <a:srgbClr val="111111"/>
                </a:solidFill>
                <a:latin typeface="Inter" pitchFamily="34" charset="0"/>
                <a:ea typeface="Inter" pitchFamily="34" charset="-122"/>
                <a:cs typeface="Inter" pitchFamily="34" charset="-120"/>
              </a:rPr>
              <a:t>SonicWall SMA 1000</a:t>
            </a:r>
            <a:endParaRPr lang="en-US" sz="500" dirty="0"/>
          </a:p>
        </p:txBody>
      </p:sp>
      <p:sp>
        <p:nvSpPr>
          <p:cNvPr id="52" name="Text 48"/>
          <p:cNvSpPr/>
          <p:nvPr/>
        </p:nvSpPr>
        <p:spPr>
          <a:xfrm>
            <a:off x="7278253" y="2814303"/>
            <a:ext cx="400050" cy="150019"/>
          </a:xfrm>
          <a:prstGeom prst="rect">
            <a:avLst/>
          </a:prstGeom>
          <a:noFill/>
          <a:ln/>
        </p:spPr>
        <p:txBody>
          <a:bodyPr wrap="none" lIns="51054" tIns="34036" rIns="51054" bIns="34036" rtlCol="0" anchor="t">
            <a:spAutoFit/>
          </a:bodyPr>
          <a:lstStyle/>
          <a:p>
            <a:pPr algn="l" indent="0" marL="0">
              <a:buNone/>
            </a:pPr>
            <a:r>
              <a:rPr lang="en-US" sz="500" dirty="0">
                <a:solidFill>
                  <a:srgbClr val="111111"/>
                </a:solidFill>
                <a:latin typeface="Inter" pitchFamily="34" charset="0"/>
                <a:ea typeface="Inter" pitchFamily="34" charset="-122"/>
                <a:cs typeface="Inter" pitchFamily="34" charset="-120"/>
              </a:rPr>
              <a:t>10.0</a:t>
            </a:r>
            <a:endParaRPr lang="en-US" sz="500" dirty="0"/>
          </a:p>
        </p:txBody>
      </p:sp>
      <p:sp>
        <p:nvSpPr>
          <p:cNvPr id="53" name="Text 49"/>
          <p:cNvSpPr/>
          <p:nvPr/>
        </p:nvSpPr>
        <p:spPr>
          <a:xfrm>
            <a:off x="7678303" y="2814303"/>
            <a:ext cx="1319250" cy="150019"/>
          </a:xfrm>
          <a:prstGeom prst="rect">
            <a:avLst/>
          </a:prstGeom>
          <a:noFill/>
          <a:ln/>
        </p:spPr>
        <p:txBody>
          <a:bodyPr wrap="square" lIns="51054" tIns="34036" rIns="51054" bIns="34036" rtlCol="0" anchor="t">
            <a:spAutoFit/>
          </a:bodyPr>
          <a:lstStyle/>
          <a:p>
            <a:pPr algn="l" indent="0" marL="0">
              <a:buNone/>
            </a:pPr>
            <a:r>
              <a:rPr lang="en-US" sz="500" dirty="0">
                <a:solidFill>
                  <a:srgbClr val="111111"/>
                </a:solidFill>
                <a:latin typeface="Inter" pitchFamily="34" charset="0"/>
                <a:ea typeface="Inter" pitchFamily="34" charset="-122"/>
                <a:cs typeface="Inter" pitchFamily="34" charset="-120"/>
              </a:rPr>
              <a:t>Pre-authentication SSRF</a:t>
            </a:r>
            <a:endParaRPr lang="en-US" sz="500" dirty="0"/>
          </a:p>
        </p:txBody>
      </p:sp>
      <p:sp>
        <p:nvSpPr>
          <p:cNvPr id="54" name="Shape 50"/>
          <p:cNvSpPr/>
          <p:nvPr/>
        </p:nvSpPr>
        <p:spPr>
          <a:xfrm>
            <a:off x="4643438" y="3132200"/>
            <a:ext cx="4350544" cy="160734"/>
          </a:xfrm>
          <a:prstGeom prst="rect">
            <a:avLst/>
          </a:prstGeom>
          <a:solidFill>
            <a:srgbClr val="00875A"/>
          </a:solidFill>
          <a:ln/>
        </p:spPr>
      </p:sp>
      <p:sp>
        <p:nvSpPr>
          <p:cNvPr id="55" name="Text 51"/>
          <p:cNvSpPr/>
          <p:nvPr/>
        </p:nvSpPr>
        <p:spPr>
          <a:xfrm>
            <a:off x="4643438" y="3132200"/>
            <a:ext cx="4350544" cy="160734"/>
          </a:xfrm>
          <a:prstGeom prst="rect">
            <a:avLst/>
          </a:prstGeom>
          <a:noFill/>
          <a:ln/>
        </p:spPr>
        <p:txBody>
          <a:bodyPr wrap="square" lIns="68072" tIns="34036" rIns="68072" bIns="34036" rtlCol="0" anchor="t">
            <a:spAutoFit/>
          </a:bodyPr>
          <a:lstStyle/>
          <a:p>
            <a:pPr algn="l" indent="0" marL="0">
              <a:buNone/>
            </a:pPr>
            <a:r>
              <a:rPr lang="en-US" sz="600" b="1" dirty="0">
                <a:solidFill>
                  <a:srgbClr val="FFFFFF"/>
                </a:solidFill>
                <a:latin typeface="Inter Bold" pitchFamily="34" charset="0"/>
                <a:ea typeface="Inter Bold" pitchFamily="34" charset="-122"/>
                <a:cs typeface="Inter Bold" pitchFamily="34" charset="-120"/>
              </a:rPr>
              <a:t>Remediate Exposed Access Gateways</a:t>
            </a:r>
            <a:endParaRPr lang="en-US" sz="600" dirty="0"/>
          </a:p>
        </p:txBody>
      </p:sp>
      <p:sp>
        <p:nvSpPr>
          <p:cNvPr id="56" name="Text 52"/>
          <p:cNvSpPr/>
          <p:nvPr/>
        </p:nvSpPr>
        <p:spPr>
          <a:xfrm>
            <a:off x="4643438" y="3292934"/>
            <a:ext cx="4350544" cy="382749"/>
          </a:xfrm>
          <a:prstGeom prst="rect">
            <a:avLst/>
          </a:prstGeom>
          <a:noFill/>
          <a:ln/>
        </p:spPr>
        <p:txBody>
          <a:bodyPr wrap="square" lIns="68072" tIns="51054" rIns="68072" bIns="51054" rtlCol="0" anchor="t">
            <a:spAutoFit/>
          </a:bodyPr>
          <a:lstStyle/>
          <a:p>
            <a:pPr algn="l" indent="0" marL="0">
              <a:lnSpc>
                <a:spcPct val="100800"/>
              </a:lnSpc>
              <a:buNone/>
            </a:pPr>
            <a:r>
              <a:rPr lang="en-US" sz="550" dirty="0">
                <a:solidFill>
                  <a:srgbClr val="111111"/>
                </a:solidFill>
                <a:latin typeface="Inter" pitchFamily="34" charset="0"/>
                <a:ea typeface="Inter" pitchFamily="34" charset="-122"/>
                <a:cs typeface="Inter" pitchFamily="34" charset="-120"/>
              </a:rPr>
              <a:t>Complete an independently evidenced inventory of exposed NetScaler, Check Point and SonicWall gateways; apply vendor fixes, disable unnecessary VPN services, and investigate indicators before business-as-usual closure.</a:t>
            </a:r>
            <a:endParaRPr lang="en-US" sz="550" dirty="0"/>
          </a:p>
        </p:txBody>
      </p:sp>
      <p:sp>
        <p:nvSpPr>
          <p:cNvPr id="57" name="Shape 53"/>
          <p:cNvSpPr/>
          <p:nvPr/>
        </p:nvSpPr>
        <p:spPr>
          <a:xfrm>
            <a:off x="4643438" y="3747120"/>
            <a:ext cx="4350544" cy="160734"/>
          </a:xfrm>
          <a:prstGeom prst="rect">
            <a:avLst/>
          </a:prstGeom>
          <a:solidFill>
            <a:srgbClr val="00875A"/>
          </a:solidFill>
          <a:ln/>
        </p:spPr>
      </p:sp>
      <p:sp>
        <p:nvSpPr>
          <p:cNvPr id="58" name="Text 54"/>
          <p:cNvSpPr/>
          <p:nvPr/>
        </p:nvSpPr>
        <p:spPr>
          <a:xfrm>
            <a:off x="4643438" y="3747120"/>
            <a:ext cx="4350544" cy="160734"/>
          </a:xfrm>
          <a:prstGeom prst="rect">
            <a:avLst/>
          </a:prstGeom>
          <a:noFill/>
          <a:ln/>
        </p:spPr>
        <p:txBody>
          <a:bodyPr wrap="square" lIns="68072" tIns="34036" rIns="68072" bIns="34036" rtlCol="0" anchor="t">
            <a:spAutoFit/>
          </a:bodyPr>
          <a:lstStyle/>
          <a:p>
            <a:pPr algn="l" indent="0" marL="0">
              <a:buNone/>
            </a:pPr>
            <a:r>
              <a:rPr lang="en-US" sz="600" b="1" dirty="0">
                <a:solidFill>
                  <a:srgbClr val="FFFFFF"/>
                </a:solidFill>
                <a:latin typeface="Inter Bold" pitchFamily="34" charset="0"/>
                <a:ea typeface="Inter Bold" pitchFamily="34" charset="-122"/>
                <a:cs typeface="Inter Bold" pitchFamily="34" charset="-120"/>
              </a:rPr>
              <a:t>Constrain Workload Identities</a:t>
            </a:r>
            <a:endParaRPr lang="en-US" sz="600" dirty="0"/>
          </a:p>
        </p:txBody>
      </p:sp>
      <p:sp>
        <p:nvSpPr>
          <p:cNvPr id="59" name="Text 55"/>
          <p:cNvSpPr/>
          <p:nvPr/>
        </p:nvSpPr>
        <p:spPr>
          <a:xfrm>
            <a:off x="4643438" y="3907854"/>
            <a:ext cx="4350544" cy="283741"/>
          </a:xfrm>
          <a:prstGeom prst="rect">
            <a:avLst/>
          </a:prstGeom>
          <a:noFill/>
          <a:ln/>
        </p:spPr>
        <p:txBody>
          <a:bodyPr wrap="square" lIns="68072" tIns="51054" rIns="68072" bIns="51054" rtlCol="0" anchor="t">
            <a:spAutoFit/>
          </a:bodyPr>
          <a:lstStyle/>
          <a:p>
            <a:pPr algn="l" indent="0" marL="0">
              <a:lnSpc>
                <a:spcPct val="100800"/>
              </a:lnSpc>
              <a:buNone/>
            </a:pPr>
            <a:r>
              <a:rPr lang="en-US" sz="550" dirty="0">
                <a:solidFill>
                  <a:srgbClr val="111111"/>
                </a:solidFill>
                <a:latin typeface="Inter" pitchFamily="34" charset="0"/>
                <a:ea typeface="Inter" pitchFamily="34" charset="-122"/>
                <a:cs typeface="Inter" pitchFamily="34" charset="-120"/>
              </a:rPr>
              <a:t>Revalidate workload-identity ownership, secret rotation, privileged role scope and resource locks; require anomalous service-principal discovery and destructive-action alerts to reach central monitoring.</a:t>
            </a:r>
            <a:endParaRPr lang="en-US" sz="550" dirty="0"/>
          </a:p>
        </p:txBody>
      </p:sp>
      <p:sp>
        <p:nvSpPr>
          <p:cNvPr id="60" name="Shape 56"/>
          <p:cNvSpPr/>
          <p:nvPr/>
        </p:nvSpPr>
        <p:spPr>
          <a:xfrm>
            <a:off x="4643438" y="4263033"/>
            <a:ext cx="4350544" cy="160734"/>
          </a:xfrm>
          <a:prstGeom prst="rect">
            <a:avLst/>
          </a:prstGeom>
          <a:solidFill>
            <a:srgbClr val="00875A"/>
          </a:solidFill>
          <a:ln/>
        </p:spPr>
      </p:sp>
      <p:sp>
        <p:nvSpPr>
          <p:cNvPr id="61" name="Text 57"/>
          <p:cNvSpPr/>
          <p:nvPr/>
        </p:nvSpPr>
        <p:spPr>
          <a:xfrm>
            <a:off x="4643438" y="4263033"/>
            <a:ext cx="4350544" cy="160734"/>
          </a:xfrm>
          <a:prstGeom prst="rect">
            <a:avLst/>
          </a:prstGeom>
          <a:noFill/>
          <a:ln/>
        </p:spPr>
        <p:txBody>
          <a:bodyPr wrap="square" lIns="68072" tIns="34036" rIns="68072" bIns="34036" rtlCol="0" anchor="t">
            <a:spAutoFit/>
          </a:bodyPr>
          <a:lstStyle/>
          <a:p>
            <a:pPr algn="l" indent="0" marL="0">
              <a:buNone/>
            </a:pPr>
            <a:r>
              <a:rPr lang="en-US" sz="600" b="1" dirty="0">
                <a:solidFill>
                  <a:srgbClr val="FFFFFF"/>
                </a:solidFill>
                <a:latin typeface="Inter Bold" pitchFamily="34" charset="0"/>
                <a:ea typeface="Inter Bold" pitchFamily="34" charset="-122"/>
                <a:cs typeface="Inter Bold" pitchFamily="34" charset="-120"/>
              </a:rPr>
              <a:t>Assure Shared-Cloud Isolation</a:t>
            </a:r>
            <a:endParaRPr lang="en-US" sz="600" dirty="0"/>
          </a:p>
        </p:txBody>
      </p:sp>
      <p:sp>
        <p:nvSpPr>
          <p:cNvPr id="62" name="Text 58"/>
          <p:cNvSpPr/>
          <p:nvPr/>
        </p:nvSpPr>
        <p:spPr>
          <a:xfrm>
            <a:off x="4643438" y="4423767"/>
            <a:ext cx="4350544" cy="283741"/>
          </a:xfrm>
          <a:prstGeom prst="rect">
            <a:avLst/>
          </a:prstGeom>
          <a:noFill/>
          <a:ln/>
        </p:spPr>
        <p:txBody>
          <a:bodyPr wrap="square" lIns="68072" tIns="51054" rIns="68072" bIns="51054" rtlCol="0" anchor="t">
            <a:spAutoFit/>
          </a:bodyPr>
          <a:lstStyle/>
          <a:p>
            <a:pPr algn="l" indent="0" marL="0">
              <a:lnSpc>
                <a:spcPct val="100800"/>
              </a:lnSpc>
              <a:buNone/>
            </a:pPr>
            <a:r>
              <a:rPr lang="en-US" sz="550" dirty="0">
                <a:solidFill>
                  <a:srgbClr val="111111"/>
                </a:solidFill>
                <a:latin typeface="Inter" pitchFamily="34" charset="0"/>
                <a:ea typeface="Inter" pitchFamily="34" charset="-122"/>
                <a:cs typeface="Inter" pitchFamily="34" charset="-120"/>
              </a:rPr>
              <a:t>Obtain provider and key supplier assurance on tenant isolation, remediation scope and residual-data disposal; test contractual notification and evidence retention obligations across shared-cloud services.</a:t>
            </a:r>
            <a:endParaRPr lang="en-US" sz="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2026-10-09T09:50:29Z</dcterms:created>
  <dcterms:modified xsi:type="dcterms:W3CDTF">2026-10-09T09:50:29Z</dcterms:modified>
</cp:coreProperties>
</file>