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256000" cy="9144000"/>
  <p:notesSz cx="9144000" cy="16256000"/>
  <p:embeddedFontLst>
    <p:embeddedFont>
      <p:font typeface="Inter" charset="-122" pitchFamily="34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efing-title"/>
          <p:cNvSpPr/>
          <p:nvPr/>
        </p:nvSpPr>
        <p:spPr>
          <a:xfrm>
            <a:off x="508000" y="342900"/>
            <a:ext cx="15240000" cy="5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7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THREAT INTELLIGENCE BRIEFING</a:t>
            </a:r>
            <a:endParaRPr lang="en-US" sz="3700" dirty="0"/>
          </a:p>
        </p:txBody>
      </p:sp>
      <p:sp>
        <p:nvSpPr>
          <p:cNvPr id="3" name="summary-banner"/>
          <p:cNvSpPr/>
          <p:nvPr/>
        </p:nvSpPr>
        <p:spPr>
          <a:xfrm>
            <a:off x="508000" y="1092200"/>
            <a:ext cx="15240000" cy="7874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4" name="summary-text"/>
          <p:cNvSpPr/>
          <p:nvPr/>
        </p:nvSpPr>
        <p:spPr>
          <a:xfrm>
            <a:off x="736600" y="1219200"/>
            <a:ext cx="14782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exploitation across collaboration, virtualisation and CI/CD control planes has converged on privileged access paths, requiring exposure-led remediation, isolation and evidence of containment for all internet-reachable administrative instances.</a:t>
            </a:r>
            <a:endParaRPr lang="en-US" sz="1900" dirty="0"/>
          </a:p>
        </p:txBody>
      </p:sp>
      <p:sp>
        <p:nvSpPr>
          <p:cNvPr id="5" name="column-divider"/>
          <p:cNvSpPr/>
          <p:nvPr/>
        </p:nvSpPr>
        <p:spPr>
          <a:xfrm>
            <a:off x="7747000" y="2209800"/>
            <a:ext cx="9144" cy="6362700"/>
          </a:xfrm>
          <a:prstGeom prst="line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6" name="left-heading"/>
          <p:cNvSpPr/>
          <p:nvPr/>
        </p:nvSpPr>
        <p:spPr>
          <a:xfrm>
            <a:off x="508000" y="2209800"/>
            <a:ext cx="698500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Landscape &amp; Primary Incidents</a:t>
            </a:r>
            <a:endParaRPr lang="en-US" sz="2200" dirty="0"/>
          </a:p>
        </p:txBody>
      </p:sp>
      <p:sp>
        <p:nvSpPr>
          <p:cNvPr id="7" name="metric-one"/>
          <p:cNvSpPr/>
          <p:nvPr/>
        </p:nvSpPr>
        <p:spPr>
          <a:xfrm>
            <a:off x="508000" y="2679700"/>
            <a:ext cx="8255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48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800" dirty="0"/>
          </a:p>
        </p:txBody>
      </p:sp>
      <p:sp>
        <p:nvSpPr>
          <p:cNvPr id="8" name="metric-one-label"/>
          <p:cNvSpPr/>
          <p:nvPr/>
        </p:nvSpPr>
        <p:spPr>
          <a:xfrm>
            <a:off x="1422400" y="2781300"/>
            <a:ext cx="190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control-plane categories with active exploitation</a:t>
            </a:r>
            <a:endParaRPr lang="en-US" sz="1500" dirty="0"/>
          </a:p>
        </p:txBody>
      </p:sp>
      <p:sp>
        <p:nvSpPr>
          <p:cNvPr id="9" name="metric-divider"/>
          <p:cNvSpPr/>
          <p:nvPr/>
        </p:nvSpPr>
        <p:spPr>
          <a:xfrm>
            <a:off x="3530600" y="2730500"/>
            <a:ext cx="9144" cy="520700"/>
          </a:xfrm>
          <a:prstGeom prst="line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10" name="metric-two"/>
          <p:cNvSpPr/>
          <p:nvPr/>
        </p:nvSpPr>
        <p:spPr>
          <a:xfrm>
            <a:off x="3797300" y="2679700"/>
            <a:ext cx="8255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48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metric-two-label"/>
          <p:cNvSpPr/>
          <p:nvPr/>
        </p:nvSpPr>
        <p:spPr>
          <a:xfrm>
            <a:off x="4711700" y="2781300"/>
            <a:ext cx="2349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CVEs tracked for exposure-led action</a:t>
            </a:r>
            <a:endParaRPr lang="en-US" sz="1500" dirty="0"/>
          </a:p>
        </p:txBody>
      </p:sp>
      <p:sp>
        <p:nvSpPr>
          <p:cNvPr id="12" name="cicd-header"/>
          <p:cNvSpPr/>
          <p:nvPr/>
        </p:nvSpPr>
        <p:spPr>
          <a:xfrm>
            <a:off x="508000" y="3556000"/>
            <a:ext cx="6985000" cy="2794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13" name="cicd-header-text"/>
          <p:cNvSpPr/>
          <p:nvPr/>
        </p:nvSpPr>
        <p:spPr>
          <a:xfrm>
            <a:off x="660400" y="3594100"/>
            <a:ext cx="6680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DELIVERY PLANE</a:t>
            </a:r>
            <a:endParaRPr lang="en-US" sz="1400" dirty="0"/>
          </a:p>
        </p:txBody>
      </p:sp>
      <p:sp>
        <p:nvSpPr>
          <p:cNvPr id="14" name="cicd-body-frame"/>
          <p:cNvSpPr/>
          <p:nvPr/>
        </p:nvSpPr>
        <p:spPr>
          <a:xfrm>
            <a:off x="508000" y="3835400"/>
            <a:ext cx="6985000" cy="1346200"/>
          </a:xfrm>
          <a:prstGeom prst="rect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15" name="cicd-body"/>
          <p:cNvSpPr/>
          <p:nvPr/>
        </p:nvSpPr>
        <p:spPr>
          <a:xfrm>
            <a:off x="660400" y="3975100"/>
            <a:ext cx="66802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altLang="en-US" sz="15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CVE-2026-63077 enables unauthenticated command execution on TeamCity On-Premises. JetBrains reported active exploitation during August. Where externally reachable and over-privileged, compromise can expose build configurations and stored credentials, alter artefacts, and contaminate downstream delivery pipelines.</a:t>
            </a:r>
            <a:endParaRPr lang="en-US" sz="1500" dirty="0"/>
          </a:p>
        </p:txBody>
      </p:sp>
      <p:sp>
        <p:nvSpPr>
          <p:cNvPr id="16" name="management-header"/>
          <p:cNvSpPr/>
          <p:nvPr/>
        </p:nvSpPr>
        <p:spPr>
          <a:xfrm>
            <a:off x="508000" y="5397500"/>
            <a:ext cx="6985000" cy="2794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17" name="management-header-text"/>
          <p:cNvSpPr/>
          <p:nvPr/>
        </p:nvSpPr>
        <p:spPr>
          <a:xfrm>
            <a:off x="660400" y="5435600"/>
            <a:ext cx="6680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&amp; COLLABORATION PLANES</a:t>
            </a:r>
            <a:endParaRPr lang="en-US" sz="1400" dirty="0"/>
          </a:p>
        </p:txBody>
      </p:sp>
      <p:sp>
        <p:nvSpPr>
          <p:cNvPr id="18" name="management-body-frame"/>
          <p:cNvSpPr/>
          <p:nvPr/>
        </p:nvSpPr>
        <p:spPr>
          <a:xfrm>
            <a:off x="508000" y="5676900"/>
            <a:ext cx="6985000" cy="1371600"/>
          </a:xfrm>
          <a:prstGeom prst="rect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19" name="management-body"/>
          <p:cNvSpPr/>
          <p:nvPr/>
        </p:nvSpPr>
        <p:spPr>
          <a:xfrm>
            <a:off x="660400" y="5816600"/>
            <a:ext cx="66802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altLang="en-US" sz="15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CISA added actively exploited SharePoint Server and VMware vCenter vulnerabilities to KEV. The authentication bypass can permit unauthorised platform operations; vCenter code execution can affect central administration of shared virtual workloads where management-plane access is insufficiently isolated.</a:t>
            </a:r>
            <a:endParaRPr lang="en-US" sz="1500" dirty="0"/>
          </a:p>
        </p:txBody>
      </p:sp>
      <p:sp>
        <p:nvSpPr>
          <p:cNvPr id="20" name="right-heading"/>
          <p:cNvSpPr/>
          <p:nvPr/>
        </p:nvSpPr>
        <p:spPr>
          <a:xfrm>
            <a:off x="8001000" y="2209800"/>
            <a:ext cx="774700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Systemic Risk Impact &amp; Strategic Recommendations</a:t>
            </a:r>
            <a:endParaRPr lang="en-US" sz="2200" dirty="0"/>
          </a:p>
        </p:txBody>
      </p:sp>
      <p:sp>
        <p:nvSpPr>
          <p:cNvPr id="21" name="systemic-frame"/>
          <p:cNvSpPr/>
          <p:nvPr/>
        </p:nvSpPr>
        <p:spPr>
          <a:xfrm>
            <a:off x="8001000" y="2730500"/>
            <a:ext cx="7747000" cy="1676400"/>
          </a:xfrm>
          <a:prstGeom prst="rect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22" name="systemic-body"/>
          <p:cNvSpPr/>
          <p:nvPr/>
        </p:nvSpPr>
        <p:spPr>
          <a:xfrm>
            <a:off x="8178800" y="2870200"/>
            <a:ext cx="73914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altLang="en-US" sz="15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Common-mode exposure arises when shared management, identity and delivery services support multiple applications. A build-platform compromise can distribute altered software or expose deployment credentials; vCenter compromise can widen reach across hosted workloads. 2LoD assessment: exposure is amplified by internet reachability, standing administrative privilege, incomplete asset ownership and untested containment. The concentration pathway is not one product - it is re-use of privileged control planes across business services. RAF alignment: ASSESSMENT REQUIRED.</a:t>
            </a:r>
            <a:endParaRPr lang="en-US" sz="1500" dirty="0"/>
          </a:p>
        </p:txBody>
      </p:sp>
      <p:sp>
        <p:nvSpPr>
          <p:cNvPr id="23" name="vulnerability-heading"/>
          <p:cNvSpPr/>
          <p:nvPr/>
        </p:nvSpPr>
        <p:spPr>
          <a:xfrm>
            <a:off x="8001000" y="4508500"/>
            <a:ext cx="77470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Vulnerability Tracking</a:t>
            </a:r>
            <a:endParaRPr lang="en-US" sz="1700" dirty="0"/>
          </a:p>
        </p:txBody>
      </p:sp>
      <p:graphicFrame>
        <p:nvGraphicFramePr>
          <p:cNvPr id="24" name="vulner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4826000"/>
          <a:ext cx="7747000" cy="1346200"/>
        </p:xfrm>
        <a:graphic>
          <a:graphicData uri="http://schemas.openxmlformats.org/drawingml/2006/table">
            <a:tbl>
              <a:tblPr/>
              <a:tblGrid>
                <a:gridCol w="1634133"/>
                <a:gridCol w="2602506"/>
                <a:gridCol w="1028900"/>
                <a:gridCol w="248146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CVE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Affected Software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CVSS Score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 Threat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CVE-2026-63077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JetBrains TeamCity On-Premises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published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 exploitation - unauthenticated code execution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CVE-2026-55040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 SharePoint Server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 exploitation - authentication bypass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CVE-2026-59310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VMware vCenter / Cloud Foundation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296"/>
                        </a:lnSpc>
                        <a:buNone/>
                      </a:pPr>
                      <a:r>
                        <a:rPr lang="en-US" altLang="en-US" sz="1200" dirty="0">
                          <a:solidFill>
                            <a:srgbClr val="1A1D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 exploitation - remote code execution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action-one-header"/>
          <p:cNvSpPr/>
          <p:nvPr/>
        </p:nvSpPr>
        <p:spPr>
          <a:xfrm>
            <a:off x="8001000" y="6350000"/>
            <a:ext cx="7747000" cy="2159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6" name="action-one-title"/>
          <p:cNvSpPr/>
          <p:nvPr/>
        </p:nvSpPr>
        <p:spPr>
          <a:xfrm>
            <a:off x="8140700" y="6375400"/>
            <a:ext cx="74676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&amp; NHI GOVERNANCE</a:t>
            </a:r>
            <a:endParaRPr lang="en-US" sz="1200" dirty="0"/>
          </a:p>
        </p:txBody>
      </p:sp>
      <p:sp>
        <p:nvSpPr>
          <p:cNvPr id="27" name="action-one-body-frame"/>
          <p:cNvSpPr/>
          <p:nvPr/>
        </p:nvSpPr>
        <p:spPr>
          <a:xfrm>
            <a:off x="8001000" y="6565900"/>
            <a:ext cx="7747000" cy="482600"/>
          </a:xfrm>
          <a:prstGeom prst="rect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28" name="action-one-body"/>
          <p:cNvSpPr/>
          <p:nvPr/>
        </p:nvSpPr>
        <p:spPr>
          <a:xfrm>
            <a:off x="8153400" y="6629400"/>
            <a:ext cx="744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altLang="en-US" sz="12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named ownership, rotation and continuous review of privileged service credentials; demonstrate that build, workload and administrative identities cannot cross production boundaries without approved controls.</a:t>
            </a:r>
            <a:endParaRPr lang="en-US" sz="1200" dirty="0"/>
          </a:p>
        </p:txBody>
      </p:sp>
      <p:sp>
        <p:nvSpPr>
          <p:cNvPr id="29" name="action-two-header"/>
          <p:cNvSpPr/>
          <p:nvPr/>
        </p:nvSpPr>
        <p:spPr>
          <a:xfrm>
            <a:off x="8001000" y="7099300"/>
            <a:ext cx="7747000" cy="2159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30" name="action-two-title"/>
          <p:cNvSpPr/>
          <p:nvPr/>
        </p:nvSpPr>
        <p:spPr>
          <a:xfrm>
            <a:off x="8140700" y="7124700"/>
            <a:ext cx="74676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CONTROL-PLANE ISOLATION</a:t>
            </a:r>
            <a:endParaRPr lang="en-US" sz="1200" dirty="0"/>
          </a:p>
        </p:txBody>
      </p:sp>
      <p:sp>
        <p:nvSpPr>
          <p:cNvPr id="31" name="action-two-body-frame"/>
          <p:cNvSpPr/>
          <p:nvPr/>
        </p:nvSpPr>
        <p:spPr>
          <a:xfrm>
            <a:off x="8001000" y="7315200"/>
            <a:ext cx="7747000" cy="482600"/>
          </a:xfrm>
          <a:prstGeom prst="rect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32" name="action-two-body"/>
          <p:cNvSpPr/>
          <p:nvPr/>
        </p:nvSpPr>
        <p:spPr>
          <a:xfrm>
            <a:off x="8153400" y="7378700"/>
            <a:ext cx="744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altLang="en-US" sz="12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 internet reachability to collaboration, virtualisation and CI/CD administration; enforce dedicated management segments, least privilege and time-bound access, then evidence tested containment.</a:t>
            </a:r>
            <a:endParaRPr lang="en-US" sz="1200" dirty="0"/>
          </a:p>
        </p:txBody>
      </p:sp>
      <p:sp>
        <p:nvSpPr>
          <p:cNvPr id="33" name="action-three-header"/>
          <p:cNvSpPr/>
          <p:nvPr/>
        </p:nvSpPr>
        <p:spPr>
          <a:xfrm>
            <a:off x="8001000" y="7848600"/>
            <a:ext cx="7747000" cy="2159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34" name="action-three-title"/>
          <p:cNvSpPr/>
          <p:nvPr/>
        </p:nvSpPr>
        <p:spPr>
          <a:xfrm>
            <a:off x="8140700" y="7874000"/>
            <a:ext cx="74676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RISK-PRIORITISED SLA ALIGNMENT</a:t>
            </a:r>
            <a:endParaRPr lang="en-US" sz="1200" dirty="0"/>
          </a:p>
        </p:txBody>
      </p:sp>
      <p:sp>
        <p:nvSpPr>
          <p:cNvPr id="35" name="action-three-body-frame"/>
          <p:cNvSpPr/>
          <p:nvPr/>
        </p:nvSpPr>
        <p:spPr>
          <a:xfrm>
            <a:off x="8001000" y="8064500"/>
            <a:ext cx="7747000" cy="495300"/>
          </a:xfrm>
          <a:prstGeom prst="rect">
            <a:avLst/>
          </a:prstGeom>
          <a:ln w="12700">
            <a:solidFill>
              <a:srgbClr val="00875A"/>
            </a:solidFill>
            <a:prstDash val="solid"/>
          </a:ln>
        </p:spPr>
      </p:sp>
      <p:sp>
        <p:nvSpPr>
          <p:cNvPr id="36" name="action-three-body"/>
          <p:cNvSpPr/>
          <p:nvPr/>
        </p:nvSpPr>
        <p:spPr>
          <a:xfrm>
            <a:off x="8153400" y="8128000"/>
            <a:ext cx="74422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altLang="en-US" sz="1200" dirty="0">
                <a:solidFill>
                  <a:srgbClr val="1A1D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accelerated remediation and compromise review to every tracked CVE; report asset coverage, patch status, exception expiry and residual exposure through established risk governance.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Threat Intelligence Briefing</dc:title>
  <dc:subject>Cloud Threat Intelligence Briefing</dc:subject>
  <dc:creator>Manus</dc:creator>
  <cp:lastModifiedBy>Manus</cp:lastModifiedBy>
  <cp:revision>1</cp:revision>
  <dcterms:created xsi:type="dcterms:W3CDTF">2026-09-01T11:10:12Z</dcterms:created>
  <dcterms:modified xsi:type="dcterms:W3CDTF">2026-09-01T11:10:12Z</dcterms:modified>
</cp:coreProperties>
</file>