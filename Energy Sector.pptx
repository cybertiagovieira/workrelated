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Crimson Pro Semi Bold"/>
      <p:regular r:id="rId13"/>
    </p:embeddedFont>
    <p:embeddedFont>
      <p:font typeface="Crimson Pro Semi Bold"/>
      <p:regular r:id="rId14"/>
    </p:embeddedFont>
    <p:embeddedFont>
      <p:font typeface="Crimson Pro Semi Bold"/>
      <p:regular r:id="rId15"/>
    </p:embeddedFont>
    <p:embeddedFont>
      <p:font typeface="Crimson Pro Semi Bold"/>
      <p:regular r:id="rId16"/>
    </p:embeddedFont>
    <p:embeddedFont>
      <p:font typeface="Heebo"/>
      <p:regular r:id="rId17"/>
    </p:embeddedFont>
    <p:embeddedFont>
      <p:font typeface="Heeb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174558"/>
            <a:ext cx="2773918" cy="373142"/>
          </a:xfrm>
          <a:prstGeom prst="roundRect">
            <a:avLst>
              <a:gd name="adj" fmla="val 6383"/>
            </a:avLst>
          </a:prstGeom>
          <a:solidFill>
            <a:srgbClr val="CCFFF3"/>
          </a:solidFill>
          <a:ln/>
        </p:spPr>
      </p:sp>
      <p:sp>
        <p:nvSpPr>
          <p:cNvPr id="4" name="Text 1"/>
          <p:cNvSpPr/>
          <p:nvPr/>
        </p:nvSpPr>
        <p:spPr>
          <a:xfrm>
            <a:off x="912852" y="2234089"/>
            <a:ext cx="253579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STRATEGIC THREAT INTELLIGENCE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3666887" y="2166938"/>
            <a:ext cx="1781532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0067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93569" y="2234089"/>
            <a:ext cx="152816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POST-2024 ANALYSIS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3790" y="2634615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Cyber Threat Intelligence &amp; Financial Risk Assessment of the Energy Sector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793790" y="4792504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comprehensive, data-driven examination of the threat landscape, financial exposure, catastrophic risk scenarios, and evidence-based mitigation strategies facing energy providers, utility operators, and critical infrastructure owners — grounded in 2024 empirical data with forward-looking projections through 2026.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666" y="672822"/>
            <a:ext cx="5726668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Threats &amp; the Top 5 Cyber Attack Vectors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58666" y="1211223"/>
            <a:ext cx="13113068" cy="319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contemporary threat environment is defined by a paradox: increasing digital connectivity paired with persistent legacy vulnerabilities. In 2025, CISA documented a record surge in ICS advisories, with energy systems accounting for </a:t>
            </a:r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21.3% of all affected technologies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The following five vectors represent the most consequential risks to the sector.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58666" y="1617107"/>
            <a:ext cx="277416" cy="27741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04922" y="1640265"/>
            <a:ext cx="18490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12639" y="1659374"/>
            <a:ext cx="2406729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Ransomware &amp; Multi-Stage Extortion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2639" y="1897856"/>
            <a:ext cx="12759095" cy="319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67%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energy and water organizations reported successful attacks in 2024. Backup compromise occurred in </a:t>
            </a:r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79%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cases, eliminating the primary recovery mechanism and forcing a choice between prolonged downtime and multi-million dollar payments.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666" y="2370773"/>
            <a:ext cx="277416" cy="27741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804922" y="2393930"/>
            <a:ext cx="18490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12639" y="2413040"/>
            <a:ext cx="2260640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Nation-State Espionage &amp; Sabotage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2639" y="2651522"/>
            <a:ext cx="12759095" cy="319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State-sponsored actors from Russia, China, and Iran prioritize long-term persistence over immediate gain. Malware families such as </a:t>
            </a:r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TRITON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CRASHOVERRIDE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are designed to manipulate physical processes and safety systems, posing a direct threat to human life.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8666" y="3124438"/>
            <a:ext cx="277416" cy="27741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804922" y="3147596"/>
            <a:ext cx="18490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12639" y="3166705"/>
            <a:ext cx="2302669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Software Supply Chain Compromise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2639" y="3405188"/>
            <a:ext cx="12759095" cy="319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90%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the world's top energy companies experienced breaches from third-party compromises. The 2020 SolarWinds attack demonstrated how a single trojanized update can provide deep access into the Department of Energy and multiple utility networks.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8666" y="3878104"/>
            <a:ext cx="277416" cy="27741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804922" y="3901261"/>
            <a:ext cx="18490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12639" y="3920371"/>
            <a:ext cx="2066568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Legacy OT/IT Convergence Risks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2639" y="4158853"/>
            <a:ext cx="12759095" cy="319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Decades-old operational technology paired with modern, internet-facing gateways introduces critical security gaps. These legacy systems frequently lack support for modern authentication protocols like MFA, creating exploitable entry points once the corporate perimeter is breached.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8666" y="4631769"/>
            <a:ext cx="277416" cy="27741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804922" y="4654927"/>
            <a:ext cx="18490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12639" y="4674037"/>
            <a:ext cx="2475190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Malicious &amp; Accidental Insider Threats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2639" y="4912519"/>
            <a:ext cx="12759095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 2024, nearly </a:t>
            </a:r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half of all businesses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reported more frequent insider attacks. In the energy sector's high-complexity environment, a single misconfigured firewall or over-privileged account can trigger cascading operational failures.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8666" y="5187315"/>
            <a:ext cx="258782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Critical ICS Vulnerability Patterns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58666" y="5533311"/>
            <a:ext cx="13113068" cy="319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Analysis of the most common weakness types in energy sector ICS products reveals a dangerous concentration in input-handling and memory-safety issues. </a:t>
            </a:r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82%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published advisories in 2025 reached high or critical severity, with the average CVSS score climbing toward </a:t>
            </a:r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8.07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Siemens alone accounted for </a:t>
            </a:r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55%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total exploited CVEs in the 2024–2025 period.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666" y="5939195"/>
            <a:ext cx="13113068" cy="1617583"/>
          </a:xfrm>
          <a:prstGeom prst="roundRect">
            <a:avLst>
              <a:gd name="adj" fmla="val 114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6286" y="5946815"/>
            <a:ext cx="13097827" cy="267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89635" y="6000393"/>
            <a:ext cx="3679031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CWE Identifier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22746" y="6000393"/>
            <a:ext cx="2103477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Advisory Count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80302" y="6000393"/>
            <a:ext cx="6560582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Operational Risk Implication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66286" y="6213872"/>
            <a:ext cx="13097827" cy="26705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89635" y="6267450"/>
            <a:ext cx="3679031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CWE-20: Improper Input Validation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22746" y="6267450"/>
            <a:ext cx="2103477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80302" y="6267450"/>
            <a:ext cx="6560582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enabler for RCE and protocol manipulation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6286" y="6480929"/>
            <a:ext cx="13097827" cy="267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89635" y="6534507"/>
            <a:ext cx="3679031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CWE-125: Out-of-bounds Read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22746" y="6534507"/>
            <a:ext cx="2103477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57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80302" y="6534507"/>
            <a:ext cx="6560582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exfiltration and credential theft from memory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66286" y="6747986"/>
            <a:ext cx="13097827" cy="26705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89635" y="6801564"/>
            <a:ext cx="3679031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CWE-787: Out-of-bounds Write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22746" y="6801564"/>
            <a:ext cx="2103477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180302" y="6801564"/>
            <a:ext cx="6560582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 crashes and unauthorized code execution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6286" y="7015043"/>
            <a:ext cx="13097827" cy="267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89635" y="7068622"/>
            <a:ext cx="3679031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CWE-121: Stack-based Buffer Overflow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22746" y="7068622"/>
            <a:ext cx="2103477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42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80302" y="7068622"/>
            <a:ext cx="6560582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High-severity exploits targeting controller firmware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66286" y="7282101"/>
            <a:ext cx="13097827" cy="26705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89635" y="7335679"/>
            <a:ext cx="3679031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CWE-22: Path Traversal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22746" y="7335679"/>
            <a:ext cx="2103477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37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180302" y="7335679"/>
            <a:ext cx="6560582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Unauthorized access to sensitive configuration files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0341"/>
            <a:ext cx="4748808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 of Cyber Incidents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93790" y="1391126"/>
            <a:ext cx="13042821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financial repercussions of cyberattacks in the energy sector are disproportionately high compared to broader industry averages. The "high-availability" requirement of energy services and the catastrophic cost of operational downtime place this sector in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third place globally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breach costs, surpassed only by healthcare and finance.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50645" y="1890355"/>
            <a:ext cx="2068235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$5.56M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1578531" y="2443282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Avg. Breach Cost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2694980"/>
            <a:ext cx="3182064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Industrial sector, 2024 — an 18% YoY increase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37484" y="1890355"/>
            <a:ext cx="2068354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$3.0M</a:t>
            </a:r>
            <a:endParaRPr lang="en-US" sz="3350" dirty="0"/>
          </a:p>
        </p:txBody>
      </p:sp>
      <p:sp>
        <p:nvSpPr>
          <p:cNvPr id="8" name="Text 6"/>
          <p:cNvSpPr/>
          <p:nvPr/>
        </p:nvSpPr>
        <p:spPr>
          <a:xfrm>
            <a:off x="4865370" y="2443282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Median Recovery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80629" y="2694980"/>
            <a:ext cx="3182183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Energy/water ransomware — 4x increase in one year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24443" y="1890355"/>
            <a:ext cx="2068235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199</a:t>
            </a:r>
            <a:endParaRPr lang="en-US" sz="3350" dirty="0"/>
          </a:p>
        </p:txBody>
      </p:sp>
      <p:sp>
        <p:nvSpPr>
          <p:cNvPr id="11" name="Text 9"/>
          <p:cNvSpPr/>
          <p:nvPr/>
        </p:nvSpPr>
        <p:spPr>
          <a:xfrm>
            <a:off x="8152328" y="2443282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Days to Identify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67587" y="2694980"/>
            <a:ext cx="3182064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breach identification dwell time for industrial sector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11282" y="1890355"/>
            <a:ext cx="2068354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$125K</a:t>
            </a:r>
            <a:endParaRPr lang="en-US" sz="3350" dirty="0"/>
          </a:p>
        </p:txBody>
      </p:sp>
      <p:sp>
        <p:nvSpPr>
          <p:cNvPr id="14" name="Text 12"/>
          <p:cNvSpPr/>
          <p:nvPr/>
        </p:nvSpPr>
        <p:spPr>
          <a:xfrm>
            <a:off x="11439168" y="2443282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 Hour Downtime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654427" y="2694980"/>
            <a:ext cx="3182183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Unplanned outage cost for power generation facilities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3790" y="3161228"/>
            <a:ext cx="2305764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Cost Breakdown by Category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3790" y="3528774"/>
            <a:ext cx="3197781" cy="1221105"/>
          </a:xfrm>
          <a:prstGeom prst="roundRect">
            <a:avLst>
              <a:gd name="adj" fmla="val 599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550" y="3528774"/>
            <a:ext cx="60960" cy="1221105"/>
          </a:xfrm>
          <a:prstGeom prst="roundRect">
            <a:avLst>
              <a:gd name="adj" fmla="val 31744"/>
            </a:avLst>
          </a:prstGeom>
          <a:solidFill>
            <a:srgbClr val="00674F"/>
          </a:solidFill>
          <a:ln/>
        </p:spPr>
      </p:sp>
      <p:sp>
        <p:nvSpPr>
          <p:cNvPr id="19" name="Text 17"/>
          <p:cNvSpPr/>
          <p:nvPr/>
        </p:nvSpPr>
        <p:spPr>
          <a:xfrm>
            <a:off x="983694" y="3672959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Detection &amp; Escalation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83694" y="3924657"/>
            <a:ext cx="2863691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Forensic investigations, crisis management, and third-party security engagement. Industrial sector identification time averages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199 days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5 days longer than the global mean.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75390" y="3528774"/>
            <a:ext cx="3197900" cy="1221105"/>
          </a:xfrm>
          <a:prstGeom prst="roundRect">
            <a:avLst>
              <a:gd name="adj" fmla="val 599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0150" y="3528774"/>
            <a:ext cx="60960" cy="1221105"/>
          </a:xfrm>
          <a:prstGeom prst="roundRect">
            <a:avLst>
              <a:gd name="adj" fmla="val 31744"/>
            </a:avLst>
          </a:prstGeom>
          <a:solidFill>
            <a:srgbClr val="00674F"/>
          </a:solidFill>
          <a:ln/>
        </p:spPr>
      </p:sp>
      <p:sp>
        <p:nvSpPr>
          <p:cNvPr id="23" name="Text 21"/>
          <p:cNvSpPr/>
          <p:nvPr/>
        </p:nvSpPr>
        <p:spPr>
          <a:xfrm>
            <a:off x="4265295" y="3672959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Post-Breach Response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265295" y="3924657"/>
            <a:ext cx="2863810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support, credit monitoring, and public relations costs combined with lost business revenue total an average of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2.8 million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incident in 2024.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57110" y="3528774"/>
            <a:ext cx="3197781" cy="1221105"/>
          </a:xfrm>
          <a:prstGeom prst="roundRect">
            <a:avLst>
              <a:gd name="adj" fmla="val 599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41870" y="3528774"/>
            <a:ext cx="60960" cy="1221105"/>
          </a:xfrm>
          <a:prstGeom prst="roundRect">
            <a:avLst>
              <a:gd name="adj" fmla="val 31744"/>
            </a:avLst>
          </a:prstGeom>
          <a:solidFill>
            <a:srgbClr val="00674F"/>
          </a:solidFill>
          <a:ln/>
        </p:spPr>
      </p:sp>
      <p:sp>
        <p:nvSpPr>
          <p:cNvPr id="27" name="Text 25"/>
          <p:cNvSpPr/>
          <p:nvPr/>
        </p:nvSpPr>
        <p:spPr>
          <a:xfrm>
            <a:off x="7547015" y="3672959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Downtime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47015" y="3924657"/>
            <a:ext cx="2863691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Recovery is complicated by the need to manually restore OT systems, which cannot be simply rebooted from cloud backups without risking physical equipment damage.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638711" y="3528774"/>
            <a:ext cx="3197900" cy="1221105"/>
          </a:xfrm>
          <a:prstGeom prst="roundRect">
            <a:avLst>
              <a:gd name="adj" fmla="val 599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23471" y="3528774"/>
            <a:ext cx="60960" cy="1221105"/>
          </a:xfrm>
          <a:prstGeom prst="roundRect">
            <a:avLst>
              <a:gd name="adj" fmla="val 31744"/>
            </a:avLst>
          </a:prstGeom>
          <a:solidFill>
            <a:srgbClr val="00674F"/>
          </a:solidFill>
          <a:ln/>
        </p:spPr>
      </p:sp>
      <p:sp>
        <p:nvSpPr>
          <p:cNvPr id="31" name="Text 29"/>
          <p:cNvSpPr/>
          <p:nvPr/>
        </p:nvSpPr>
        <p:spPr>
          <a:xfrm>
            <a:off x="10828615" y="3672959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Regulatory Penalties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828615" y="3924657"/>
            <a:ext cx="2863810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NERC CIP enforcement fines can reach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1 million per day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violation. Historical peaks have reached USD 10 million for systemic non-compliance.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3790" y="4875609"/>
            <a:ext cx="3930491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Comparative Financial Metrics: Energy vs. Global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93790" y="5243155"/>
            <a:ext cx="13042821" cy="1731169"/>
          </a:xfrm>
          <a:prstGeom prst="roundRect">
            <a:avLst>
              <a:gd name="adj" fmla="val 111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1410" y="5250775"/>
            <a:ext cx="13027581" cy="2859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30592" y="5308640"/>
            <a:ext cx="4167664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Metric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63766" y="5308640"/>
            <a:ext cx="403348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Energy/Industrial (2024)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62755" y="5308640"/>
            <a:ext cx="403729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Average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1410" y="5536763"/>
            <a:ext cx="13027581" cy="2859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30592" y="5594628"/>
            <a:ext cx="4167664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Total Breach Cost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63766" y="5594628"/>
            <a:ext cx="403348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5.56 Million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62755" y="5594628"/>
            <a:ext cx="403729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4.88 Million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1410" y="5822752"/>
            <a:ext cx="13027581" cy="2859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30592" y="5880616"/>
            <a:ext cx="4167664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Median Ransomware Recovery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63766" y="5880616"/>
            <a:ext cx="403348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3.0 Million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62755" y="5880616"/>
            <a:ext cx="403729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0.75 Million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1410" y="6108740"/>
            <a:ext cx="13027581" cy="2859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30592" y="6166604"/>
            <a:ext cx="4167664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Median Ransom Payment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63766" y="6166604"/>
            <a:ext cx="403348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2.5 Million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662755" y="6166604"/>
            <a:ext cx="403729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2.0 Million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01410" y="6394728"/>
            <a:ext cx="13027581" cy="2859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930592" y="6452592"/>
            <a:ext cx="4167664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Identification Dwell Time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63766" y="6452592"/>
            <a:ext cx="403348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199 Days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662755" y="6452592"/>
            <a:ext cx="403729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194 Days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1410" y="6680716"/>
            <a:ext cx="13027581" cy="2859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30592" y="6738580"/>
            <a:ext cx="4167664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Containment Time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363766" y="6738580"/>
            <a:ext cx="403348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73 Days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662755" y="6738580"/>
            <a:ext cx="403729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64 Days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93790" y="7068622"/>
            <a:ext cx="13042821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quadrupling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recovery costs for energy and water utilities — from less than USD 1 million to USD 3 million in a single year — is the most critical financial signal of 2024. This surge is driven by the deliberate targeting of the sector by high-capability ransomware groups who understand that utilities are acutely sensitive to service interruptions.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1524"/>
            <a:ext cx="7202210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Catastrophic Risk: The Erebos Scenario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641158"/>
            <a:ext cx="1304282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Beyond individual breaches, the energy sector must account for "black swan" events capable of crippling the bulk power system of a major nation. The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Erebos scenario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modeled in the Lloyd's "Business Blackout" research, provides a sobering assessment of systemic fragility in modern power grids.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525673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Scenario Parameters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93790" y="3021211"/>
            <a:ext cx="697742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sophisticated malware-based attack targets the Northeastern U.S. power grid, infecting control rooms and causing physical damage to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50 critical generators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The malware forces generators to overload and burn out, leading to fires and explosions that physically destroy high-value assets.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3790" y="4287917"/>
            <a:ext cx="3408283" cy="1339810"/>
          </a:xfrm>
          <a:prstGeom prst="roundRect">
            <a:avLst>
              <a:gd name="adj" fmla="val 2000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972383" y="446651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93 Million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72383" y="4906208"/>
            <a:ext cx="305109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People affected across 15 states and Washington, D.C.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2807" y="4287917"/>
            <a:ext cx="3408402" cy="1339810"/>
          </a:xfrm>
          <a:prstGeom prst="roundRect">
            <a:avLst>
              <a:gd name="adj" fmla="val 2000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4541401" y="446651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Weeks-Long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541401" y="4906208"/>
            <a:ext cx="305121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Blackout duration in high-demand regions like NYC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3790" y="5808583"/>
            <a:ext cx="6977420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cascade triggers societal breakdown: electric pump failures disrupt water supplies, transit networks collapse with stranded subways, and mortality rates climb as health and safety systems fail.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4598" y="2525673"/>
            <a:ext cx="395799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Long-Term Financial Consequences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214598" y="3041333"/>
            <a:ext cx="5629513" cy="1725454"/>
          </a:xfrm>
          <a:prstGeom prst="roundRect">
            <a:avLst>
              <a:gd name="adj" fmla="val 155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2218" y="3048953"/>
            <a:ext cx="5614273" cy="7510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400931" y="3153013"/>
            <a:ext cx="15478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Scenario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313551" y="3153013"/>
            <a:ext cx="165627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GDP Loss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34637" y="3153013"/>
            <a:ext cx="132326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Insurance Claims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2218" y="3799999"/>
            <a:ext cx="5614273" cy="4795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400931" y="3904059"/>
            <a:ext cx="15478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Standard (S1)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313551" y="3904059"/>
            <a:ext cx="165627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243 Billion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34637" y="3904059"/>
            <a:ext cx="132326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21.4 Billion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2218" y="4279583"/>
            <a:ext cx="5614273" cy="479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400931" y="4383643"/>
            <a:ext cx="15478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Extreme (X1)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13551" y="4383643"/>
            <a:ext cx="165627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1+ Trillion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34637" y="4383643"/>
            <a:ext cx="132326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71.1 Billion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14598" y="4947642"/>
            <a:ext cx="5629513" cy="2339578"/>
          </a:xfrm>
          <a:prstGeom prst="roundRect">
            <a:avLst>
              <a:gd name="adj" fmla="val 1145"/>
            </a:avLst>
          </a:prstGeom>
          <a:solidFill>
            <a:srgbClr val="B3FFED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3192" y="5205055"/>
            <a:ext cx="223242" cy="17859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795028" y="5153025"/>
            <a:ext cx="4870490" cy="1900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 the extreme version, wholesale and retail trade would suffer an estimated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52.51 billion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loss. Macroeconomic analysis indicates a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0.61% quarterly shock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U.S. GDP, requiring up to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three years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return to pre-shock equilibrium. This underscores the systemic risk the energy sector's cybersecurity posture poses to the broader financial system and global credit ratings.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4718"/>
            <a:ext cx="960203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Case Study: Colonial Pipeline Ransomware Incident (2021)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354812"/>
            <a:ext cx="130428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Colonial Pipeline attack is the definitive case study in how a breach in IT systems can force a complete shutdown of OT operations due to the interconnected nature of modern critical infrastructure.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79490" y="1954887"/>
            <a:ext cx="6556415" cy="3663791"/>
          </a:xfrm>
          <a:prstGeom prst="roundRect">
            <a:avLst>
              <a:gd name="adj" fmla="val 650"/>
            </a:avLst>
          </a:prstGeom>
          <a:solidFill>
            <a:srgbClr val="00674F"/>
          </a:solidFill>
          <a:ln/>
        </p:spPr>
      </p:sp>
      <p:sp>
        <p:nvSpPr>
          <p:cNvPr id="5" name="Text 3"/>
          <p:cNvSpPr/>
          <p:nvPr/>
        </p:nvSpPr>
        <p:spPr>
          <a:xfrm>
            <a:off x="838200" y="208180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Attack Profile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38200" y="2456736"/>
            <a:ext cx="62389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DarkSide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ransomware group gained access through a legacy VPN account using a single compromised password — without Multi-Factor Authentication enabled. Once inside, the attackers exfiltrated </a:t>
            </a:r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 GB of data in just two hours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before deploying ransomware that encrypted billing and accounting systems.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8200" y="349805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38200" y="3872984"/>
            <a:ext cx="6238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Colonial paid a ransom of </a:t>
            </a:r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75 Bitcoin (USD 4.4 million)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The DOJ later recovered USD 2.3 million. The company faced substantial additional costs: business interruption losses, remediation investments, and long-term reputational damage to stakeholder confidence.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16416" y="208180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Timeline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668833" y="2472690"/>
            <a:ext cx="22860" cy="3003113"/>
          </a:xfrm>
          <a:prstGeom prst="roundRect">
            <a:avLst>
              <a:gd name="adj" fmla="val 104186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10385584" y="2639854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20732" y="2591753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00674F"/>
          </a:solidFill>
          <a:ln/>
        </p:spPr>
      </p:sp>
      <p:sp>
        <p:nvSpPr>
          <p:cNvPr id="13" name="Text 11"/>
          <p:cNvSpPr/>
          <p:nvPr/>
        </p:nvSpPr>
        <p:spPr>
          <a:xfrm>
            <a:off x="8060531" y="252722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May 7, 2021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16416" y="2902148"/>
            <a:ext cx="252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Pipeline shut down. Panic buying triggers East Coast gas shortages across multiple states.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657403" y="3528893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20732" y="3480792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00674F"/>
          </a:solidFill>
          <a:ln/>
        </p:spPr>
      </p:sp>
      <p:sp>
        <p:nvSpPr>
          <p:cNvPr id="17" name="Text 15"/>
          <p:cNvSpPr/>
          <p:nvPr/>
        </p:nvSpPr>
        <p:spPr>
          <a:xfrm>
            <a:off x="11315343" y="341626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May 12, 2021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315343" y="3791188"/>
            <a:ext cx="2528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Systems begin limited restart after ransom payment and partial DOJ recovery.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385584" y="4318159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20732" y="4270058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00674F"/>
          </a:solidFill>
          <a:ln/>
        </p:spPr>
      </p:sp>
      <p:sp>
        <p:nvSpPr>
          <p:cNvPr id="21" name="Text 19"/>
          <p:cNvSpPr/>
          <p:nvPr/>
        </p:nvSpPr>
        <p:spPr>
          <a:xfrm>
            <a:off x="8060531" y="420552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May 15, 2021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516416" y="4580453"/>
            <a:ext cx="252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Normal operations resume after 8-day disruption to 45% of East Coast fuel supply.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3790" y="5809178"/>
            <a:ext cx="255270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Lessons for the Sector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793790" y="6297335"/>
            <a:ext cx="4262914" cy="1327428"/>
          </a:xfrm>
          <a:prstGeom prst="roundRect">
            <a:avLst>
              <a:gd name="adj" fmla="val 28707"/>
            </a:avLst>
          </a:prstGeom>
          <a:solidFill>
            <a:srgbClr val="F2EEEE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645604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MFA Is Mandatory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52500" y="6780252"/>
            <a:ext cx="394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single password without MFA enabled the entire breach. This control is not optional for critical infrastructure.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183624" y="6297335"/>
            <a:ext cx="4263033" cy="1327428"/>
          </a:xfrm>
          <a:prstGeom prst="roundRect">
            <a:avLst>
              <a:gd name="adj" fmla="val 28707"/>
            </a:avLst>
          </a:prstGeom>
          <a:solidFill>
            <a:srgbClr val="F2EEEE"/>
          </a:solidFill>
          <a:ln/>
        </p:spPr>
      </p:sp>
      <p:sp>
        <p:nvSpPr>
          <p:cNvPr id="28" name="Text 26"/>
          <p:cNvSpPr/>
          <p:nvPr/>
        </p:nvSpPr>
        <p:spPr>
          <a:xfrm>
            <a:off x="5342334" y="645604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IT/OT Interdependency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342334" y="6780252"/>
            <a:ext cx="39456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inability to process bills on the IT side effectively halted the physical flow of oil — proving that business systems and operational systems are inseparable.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573578" y="6297335"/>
            <a:ext cx="4263033" cy="1327428"/>
          </a:xfrm>
          <a:prstGeom prst="roundRect">
            <a:avLst>
              <a:gd name="adj" fmla="val 28707"/>
            </a:avLst>
          </a:prstGeom>
          <a:solidFill>
            <a:srgbClr val="F2EEEE"/>
          </a:solidFill>
          <a:ln/>
        </p:spPr>
      </p:sp>
      <p:sp>
        <p:nvSpPr>
          <p:cNvPr id="31" name="Text 29"/>
          <p:cNvSpPr/>
          <p:nvPr/>
        </p:nvSpPr>
        <p:spPr>
          <a:xfrm>
            <a:off x="9732288" y="645604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Backup Integrity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732288" y="6780252"/>
            <a:ext cx="39456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Rapid data exfiltration and encryption underscore the need for immutable, air-gapped backups that cannot be reached through compromised networks.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5430"/>
            <a:ext cx="5376148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Evidence-Based Mitigation Strategies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93790" y="1213961"/>
            <a:ext cx="13042821" cy="3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defense of energy infrastructure demands a shift from compliance-centric security to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risk-centric resilience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Organizations using security AI and automation extensively in 2024 saw breach lifecycles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80 days shorter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costs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1.88 million lower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than those without such tools.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3790" y="1737717"/>
            <a:ext cx="441983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Implementation Metrics &amp; ROI of Security Controls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3790" y="2143958"/>
            <a:ext cx="13042821" cy="1940481"/>
          </a:xfrm>
          <a:prstGeom prst="roundRect">
            <a:avLst>
              <a:gd name="adj" fmla="val 107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2151578"/>
            <a:ext cx="13027581" cy="3208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40594" y="2217539"/>
            <a:ext cx="2584490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357" y="2217539"/>
            <a:ext cx="2841308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Effectiveness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36938" y="2217539"/>
            <a:ext cx="2580680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Est. Cost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02892" y="2217539"/>
            <a:ext cx="388727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ROI / Value Metric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1410" y="2472452"/>
            <a:ext cx="13027581" cy="3208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40594" y="2538413"/>
            <a:ext cx="2584490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Microsegmentation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10357" y="2538413"/>
            <a:ext cx="2841308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80% reduction in lateral movement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36938" y="2538413"/>
            <a:ext cx="2580680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15–20% of security budget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02892" y="2538413"/>
            <a:ext cx="388727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3.50 value per USD 1 spent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1410" y="2793325"/>
            <a:ext cx="13027581" cy="3208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40594" y="2859286"/>
            <a:ext cx="2584490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Phishing-Resistant MFA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10357" y="2859286"/>
            <a:ext cx="2841308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Prevents 80–95% of credential breaches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36938" y="2859286"/>
            <a:ext cx="2580680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Moderate / SaaS-based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02892" y="2859286"/>
            <a:ext cx="388727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Avoids USD 4.4M+ ransom scenarios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1410" y="3114199"/>
            <a:ext cx="13027581" cy="3208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40594" y="3180159"/>
            <a:ext cx="2584490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AI/Automation in SOC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10357" y="3180159"/>
            <a:ext cx="2841308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breach costs by USD 2.2M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36938" y="3180159"/>
            <a:ext cx="2580680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USD 30K platform + staffing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02892" y="3180159"/>
            <a:ext cx="388727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4x to 10x ROI in incident prevention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1410" y="3435072"/>
            <a:ext cx="13027581" cy="3208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40594" y="3501033"/>
            <a:ext cx="2584490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Trust Architecture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10357" y="3501033"/>
            <a:ext cx="2841308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57% reduction in breach risk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36938" y="3501033"/>
            <a:ext cx="2580680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(multi-year program)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802892" y="3501033"/>
            <a:ext cx="388727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15x faster recovery (MTTR)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1410" y="3755946"/>
            <a:ext cx="13027581" cy="3208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40594" y="3821906"/>
            <a:ext cx="2584490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Immutable Backups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10357" y="3821906"/>
            <a:ext cx="2841308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100% data loss prevention from encryption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36938" y="3821906"/>
            <a:ext cx="2580680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Scales with data volume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802892" y="3821906"/>
            <a:ext cx="388727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Eliminates ransom payment necessity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3790" y="4230291"/>
            <a:ext cx="375939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Energy-Specific Dual-Framework Approach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3790" y="4733687"/>
            <a:ext cx="2143720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NERC CIP — Regulatory Floor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93790" y="5047893"/>
            <a:ext cx="6351984" cy="3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NERC Critical Infrastructure Protection standards provide the mandatory legal baseline for the North American bulk electric system. Key standards include: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3790" y="5513308"/>
            <a:ext cx="6351984" cy="857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CIP-002: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Categorization of critical BES Cyber Assets by impact level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CIP-005: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Electronic security perimeters with restricted access controls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CIP-007: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Systems security — port management, patching, malware prevention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CIP-014: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Physical security of substations and generation facilities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92246" y="4733687"/>
            <a:ext cx="249733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ISA/IEC 62443 — Technical Design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492246" y="5047893"/>
            <a:ext cx="6351984" cy="3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International standards for ICS lifecycle security, requiring "Zones and Conduits" architecture. Security Levels define the threat actor profile defended against: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92246" y="5513308"/>
            <a:ext cx="6351984" cy="857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SL1: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Casual or accidental violation (basic hygiene)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SL2: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Intentional violation using simple means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SL3: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Sophisticated targeted attacks (hackers)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SL4: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Advanced means with extended resources (nation-states)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492246" y="6458426"/>
            <a:ext cx="63519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 control systems should target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SL3 or SL4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93790" y="6913569"/>
            <a:ext cx="13042821" cy="2488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002149" y="7156966"/>
            <a:ext cx="12834461" cy="3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Strategic Imperative for 2026: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transition from "security through air-gapping" to "security through Zero Trust" is no longer optional — it is a prerequisite for operational survival. The sector must pursue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IT/OT integrated visibility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autonomous response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capabilities, and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engineered resilience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ensure uninterrupted power delivery in the face of escalating threats.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93790" y="7047667"/>
            <a:ext cx="15240" cy="596503"/>
          </a:xfrm>
          <a:prstGeom prst="rect">
            <a:avLst/>
          </a:prstGeom>
          <a:solidFill>
            <a:srgbClr val="00674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2026-02-26T16:41:08Z</dcterms:created>
  <dcterms:modified xsi:type="dcterms:W3CDTF">2026-02-26T16:41:08Z</dcterms:modified>
</cp:coreProperties>
</file>