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4630400" cy="8229600"/>
  <p:notesSz cx="8229600" cy="14630400"/>
  <p:embeddedFontLst>
    <p:embeddedFont>
      <p:font typeface="Crimson Pro Semi Bold"/>
      <p:regular r:id="rId13"/>
    </p:embeddedFont>
    <p:embeddedFont>
      <p:font typeface="Crimson Pro Semi Bold"/>
      <p:regular r:id="rId14"/>
    </p:embeddedFont>
    <p:embeddedFont>
      <p:font typeface="Crimson Pro Semi Bold"/>
      <p:regular r:id="rId15"/>
    </p:embeddedFont>
    <p:embeddedFont>
      <p:font typeface="Crimson Pro Semi Bold"/>
      <p:regular r:id="rId16"/>
    </p:embeddedFont>
    <p:embeddedFont>
      <p:font typeface="Heebo"/>
      <p:regular r:id="rId17"/>
    </p:embeddedFont>
    <p:embeddedFont>
      <p:font typeface="Heebo"/>
      <p:regular r:id="rId18"/>
    </p:embeddedFont>
  </p:embeddedFon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font" Target="fonts/font1.fntdata"/><Relationship Id="rId14" Type="http://schemas.openxmlformats.org/officeDocument/2006/relationships/font" Target="fonts/font2.fntdata"/><Relationship Id="rId15" Type="http://schemas.openxmlformats.org/officeDocument/2006/relationships/font" Target="fonts/font3.fntdata"/><Relationship Id="rId16" Type="http://schemas.openxmlformats.org/officeDocument/2006/relationships/font" Target="fonts/font4.fntdata"/><Relationship Id="rId17" Type="http://schemas.openxmlformats.org/officeDocument/2006/relationships/font" Target="fonts/font5.fntdata"/><Relationship Id="rId18" Type="http://schemas.openxmlformats.org/officeDocument/2006/relationships/font" Target="fonts/font6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image" Target="../media/image-1002-1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image" Target="../media/image-1003-1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image" Target="../media/image-1004-1.png"/><Relationship Id="rId3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image" Target="../media/image-1005-1.png"/><Relationship Id="rId3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image" Target="../media/image-1006-1.png"/><Relationship Id="rId3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image" Target="../media/image-1007-1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0F0F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 tooltip="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0F0F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 tooltip="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0F0F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 tooltip="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0F0F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 tooltip="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0F0F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 tooltip="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0F0F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 tooltip="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7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93790" y="2174558"/>
            <a:ext cx="2773918" cy="373142"/>
          </a:xfrm>
          <a:prstGeom prst="roundRect">
            <a:avLst>
              <a:gd name="adj" fmla="val 6383"/>
            </a:avLst>
          </a:prstGeom>
          <a:solidFill>
            <a:srgbClr val="CCFFF3"/>
          </a:solidFill>
          <a:ln/>
        </p:spPr>
      </p:sp>
      <p:sp>
        <p:nvSpPr>
          <p:cNvPr id="4" name="Text 1"/>
          <p:cNvSpPr/>
          <p:nvPr/>
        </p:nvSpPr>
        <p:spPr>
          <a:xfrm>
            <a:off x="912852" y="2234089"/>
            <a:ext cx="2535793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STRATEGIC THREAT INTELLIGENCE</a:t>
            </a:r>
            <a:endParaRPr lang="en-US" sz="1250" dirty="0"/>
          </a:p>
        </p:txBody>
      </p:sp>
      <p:sp>
        <p:nvSpPr>
          <p:cNvPr id="5" name="Shape 2"/>
          <p:cNvSpPr/>
          <p:nvPr/>
        </p:nvSpPr>
        <p:spPr>
          <a:xfrm>
            <a:off x="3666887" y="2166938"/>
            <a:ext cx="1781532" cy="388382"/>
          </a:xfrm>
          <a:prstGeom prst="roundRect">
            <a:avLst>
              <a:gd name="adj" fmla="val 6132"/>
            </a:avLst>
          </a:prstGeom>
          <a:noFill/>
          <a:ln w="7620">
            <a:solidFill>
              <a:srgbClr val="00674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3793569" y="2234089"/>
            <a:ext cx="1528167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00674F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POST-2024 ANALYSIS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793790" y="2634615"/>
            <a:ext cx="7556421" cy="18602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850"/>
              </a:lnSpc>
              <a:buNone/>
            </a:pPr>
            <a:r>
              <a:rPr lang="en-US" sz="3900" dirty="0">
                <a:solidFill>
                  <a:srgbClr val="00674F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Cyber Threat Intelligence &amp; Financial Risk Assessment of the Energy Sector</a:t>
            </a:r>
            <a:endParaRPr lang="en-US" sz="3900" dirty="0"/>
          </a:p>
        </p:txBody>
      </p:sp>
      <p:sp>
        <p:nvSpPr>
          <p:cNvPr id="8" name="Text 5"/>
          <p:cNvSpPr/>
          <p:nvPr/>
        </p:nvSpPr>
        <p:spPr>
          <a:xfrm>
            <a:off x="793790" y="4792504"/>
            <a:ext cx="7556421" cy="12701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A comprehensive, data-driven examination of the threat landscape, financial exposure, catastrophic risk scenarios, and evidence-based mitigation strategies facing energy providers, utility operators, and critical infrastructure owners — grounded in 2024 empirical data with forward-looking projections through 2026.</a:t>
            </a:r>
            <a:endParaRPr lang="en-US" sz="15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1045" y="743664"/>
            <a:ext cx="96322" cy="9632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85468" y="729972"/>
            <a:ext cx="504944" cy="1237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50" dirty="0">
                <a:solidFill>
                  <a:srgbClr val="00674F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CHAPTER 1</a:t>
            </a:r>
            <a:endParaRPr lang="en-US" sz="750" dirty="0"/>
          </a:p>
        </p:txBody>
      </p:sp>
      <p:sp>
        <p:nvSpPr>
          <p:cNvPr id="4" name="Text 1"/>
          <p:cNvSpPr/>
          <p:nvPr/>
        </p:nvSpPr>
        <p:spPr>
          <a:xfrm>
            <a:off x="741045" y="918924"/>
            <a:ext cx="5593913" cy="3763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950"/>
              </a:lnSpc>
              <a:buNone/>
            </a:pPr>
            <a:r>
              <a:rPr lang="en-US" sz="2350" dirty="0">
                <a:solidFill>
                  <a:srgbClr val="00674F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Key Threats &amp; the Top 5 Cyber Attack Vectors</a:t>
            </a:r>
            <a:endParaRPr lang="en-US" sz="2350" dirty="0"/>
          </a:p>
        </p:txBody>
      </p:sp>
      <p:sp>
        <p:nvSpPr>
          <p:cNvPr id="5" name="Text 2"/>
          <p:cNvSpPr/>
          <p:nvPr/>
        </p:nvSpPr>
        <p:spPr>
          <a:xfrm>
            <a:off x="741045" y="1404818"/>
            <a:ext cx="13148310" cy="309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The contemporary threat environment is defined by a paradox: increasing digital connectivity paired with persistent legacy vulnerabilities. In 2025, CISA documented a record surge in ICS advisories, with energy systems accounting for </a:t>
            </a:r>
            <a:pPr algn="l"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00674F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21.3% of all affected technologies</a:t>
            </a:r>
            <a:pPr algn="l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. The following five vectors represent the most consequential risks to the sector.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741045" y="1796296"/>
            <a:ext cx="270867" cy="270867"/>
          </a:xfrm>
          <a:prstGeom prst="roundRect">
            <a:avLst>
              <a:gd name="adj" fmla="val 6669"/>
            </a:avLst>
          </a:prstGeom>
          <a:solidFill>
            <a:srgbClr val="F2EEEE"/>
          </a:solidFill>
          <a:ln/>
        </p:spPr>
      </p:sp>
      <p:sp>
        <p:nvSpPr>
          <p:cNvPr id="7" name="Text 4"/>
          <p:cNvSpPr/>
          <p:nvPr/>
        </p:nvSpPr>
        <p:spPr>
          <a:xfrm>
            <a:off x="786110" y="1818799"/>
            <a:ext cx="180618" cy="2257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084898" y="1837611"/>
            <a:ext cx="2351008" cy="1881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Ransomware &amp; Multi-Stage Extortion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1084898" y="2069544"/>
            <a:ext cx="12804458" cy="309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00674F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67%</a:t>
            </a:r>
            <a:pPr algn="l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 of energy and water organizations reported successful attacks in 2024. Backup compromise occurred in </a:t>
            </a:r>
            <a:pPr algn="l"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00674F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79%</a:t>
            </a:r>
            <a:pPr algn="l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 of cases, eliminating the primary recovery mechanism and forcing a choice between prolonged downtime and multi-million dollar payments.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741045" y="2524958"/>
            <a:ext cx="270867" cy="270867"/>
          </a:xfrm>
          <a:prstGeom prst="roundRect">
            <a:avLst>
              <a:gd name="adj" fmla="val 6669"/>
            </a:avLst>
          </a:prstGeom>
          <a:solidFill>
            <a:srgbClr val="F2EEEE"/>
          </a:solidFill>
          <a:ln/>
        </p:spPr>
      </p:sp>
      <p:sp>
        <p:nvSpPr>
          <p:cNvPr id="11" name="Text 8"/>
          <p:cNvSpPr/>
          <p:nvPr/>
        </p:nvSpPr>
        <p:spPr>
          <a:xfrm>
            <a:off x="786110" y="2547461"/>
            <a:ext cx="180618" cy="2257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084898" y="2566273"/>
            <a:ext cx="2208252" cy="1881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Nation-State Espionage &amp; Sabotage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1084898" y="2798207"/>
            <a:ext cx="12804458" cy="309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State-sponsored actors from Russia, China, and Iran prioritize long-term persistence over immediate gain. Malware families such as </a:t>
            </a:r>
            <a:pPr algn="l"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TRITON</a:t>
            </a:r>
            <a:pPr algn="l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 and </a:t>
            </a:r>
            <a:pPr algn="l"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CRASHOVERRIDE</a:t>
            </a:r>
            <a:pPr algn="l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 are designed to manipulate physical processes and safety systems, posing a direct threat to human life.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741045" y="3253621"/>
            <a:ext cx="270867" cy="270867"/>
          </a:xfrm>
          <a:prstGeom prst="roundRect">
            <a:avLst>
              <a:gd name="adj" fmla="val 6669"/>
            </a:avLst>
          </a:prstGeom>
          <a:solidFill>
            <a:srgbClr val="F2EEEE"/>
          </a:solidFill>
          <a:ln/>
        </p:spPr>
      </p:sp>
      <p:sp>
        <p:nvSpPr>
          <p:cNvPr id="15" name="Text 12"/>
          <p:cNvSpPr/>
          <p:nvPr/>
        </p:nvSpPr>
        <p:spPr>
          <a:xfrm>
            <a:off x="786110" y="3276124"/>
            <a:ext cx="180618" cy="2257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1084898" y="3294936"/>
            <a:ext cx="2249210" cy="1881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Software Supply Chain Compromise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1084898" y="3526869"/>
            <a:ext cx="12804458" cy="309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00674F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90%</a:t>
            </a:r>
            <a:pPr algn="l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 of the world's top energy companies experienced breaches from third-party compromises. The 2020 SolarWinds attack demonstrated how a single trojanized update can provide deep access into the Department of Energy and multiple utility networks.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741045" y="3982283"/>
            <a:ext cx="270867" cy="270867"/>
          </a:xfrm>
          <a:prstGeom prst="roundRect">
            <a:avLst>
              <a:gd name="adj" fmla="val 6669"/>
            </a:avLst>
          </a:prstGeom>
          <a:solidFill>
            <a:srgbClr val="F2EEEE"/>
          </a:solidFill>
          <a:ln/>
        </p:spPr>
      </p:sp>
      <p:sp>
        <p:nvSpPr>
          <p:cNvPr id="19" name="Text 16"/>
          <p:cNvSpPr/>
          <p:nvPr/>
        </p:nvSpPr>
        <p:spPr>
          <a:xfrm>
            <a:off x="786110" y="4004786"/>
            <a:ext cx="180618" cy="2257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84898" y="4023598"/>
            <a:ext cx="2018705" cy="1881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Legacy OT/IT Convergence Risks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1084898" y="4255532"/>
            <a:ext cx="12804458" cy="309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Decades-old operational technology paired with modern, internet-facing gateways introduces critical security gaps. These legacy systems frequently lack support for modern authentication protocols like MFA, creating exploitable entry points once the corporate perimeter is breached.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741045" y="4710946"/>
            <a:ext cx="270867" cy="270867"/>
          </a:xfrm>
          <a:prstGeom prst="roundRect">
            <a:avLst>
              <a:gd name="adj" fmla="val 6669"/>
            </a:avLst>
          </a:prstGeom>
          <a:solidFill>
            <a:srgbClr val="F2EEEE"/>
          </a:solidFill>
          <a:ln/>
        </p:spPr>
      </p:sp>
      <p:sp>
        <p:nvSpPr>
          <p:cNvPr id="23" name="Text 20"/>
          <p:cNvSpPr/>
          <p:nvPr/>
        </p:nvSpPr>
        <p:spPr>
          <a:xfrm>
            <a:off x="786110" y="4733449"/>
            <a:ext cx="180618" cy="2257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5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084898" y="4752261"/>
            <a:ext cx="2417802" cy="1881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Malicious &amp; Accidental Insider Threats</a:t>
            </a:r>
            <a:endParaRPr lang="en-US" sz="1150" dirty="0"/>
          </a:p>
        </p:txBody>
      </p:sp>
      <p:sp>
        <p:nvSpPr>
          <p:cNvPr id="25" name="Text 22"/>
          <p:cNvSpPr/>
          <p:nvPr/>
        </p:nvSpPr>
        <p:spPr>
          <a:xfrm>
            <a:off x="1084898" y="4984194"/>
            <a:ext cx="12804458" cy="1546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In 2024, nearly </a:t>
            </a:r>
            <a:pPr algn="l"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00674F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half of all businesses</a:t>
            </a:r>
            <a:pPr algn="l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 reported more frequent insider attacks. In the energy sector's high-complexity environment, a single misconfigured firewall or over-privileged account can trigger cascading operational failures.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741045" y="5248394"/>
            <a:ext cx="2526149" cy="2257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00674F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Critical ICS Vulnerability Patterns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741045" y="5583674"/>
            <a:ext cx="13148310" cy="309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Analysis of the most common weakness types in energy sector ICS products reveals a dangerous concentration in input-handling and memory-safety issues. </a:t>
            </a:r>
            <a:pPr algn="l"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00674F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82%</a:t>
            </a:r>
            <a:pPr algn="l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 of all published advisories in 2025 reached high or critical severity, with the average CVSS score climbing toward </a:t>
            </a:r>
            <a:pPr algn="l"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8.07</a:t>
            </a:r>
            <a:pPr algn="l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. Siemens alone accounted for </a:t>
            </a:r>
            <a:pPr algn="l"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00674F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55%</a:t>
            </a:r>
            <a:pPr algn="l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 of total exploited CVEs in the 2024–2025 period.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741045" y="5975152"/>
            <a:ext cx="13148310" cy="1560433"/>
          </a:xfrm>
          <a:prstGeom prst="roundRect">
            <a:avLst>
              <a:gd name="adj" fmla="val 1158"/>
            </a:avLst>
          </a:prstGeom>
          <a:noFill/>
          <a:ln w="7620">
            <a:solidFill>
              <a:srgbClr val="000000">
                <a:alpha val="800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48665" y="5982772"/>
            <a:ext cx="13133070" cy="257532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30" name="Text 27"/>
          <p:cNvSpPr/>
          <p:nvPr/>
        </p:nvSpPr>
        <p:spPr>
          <a:xfrm>
            <a:off x="869156" y="6034207"/>
            <a:ext cx="3695343" cy="1546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CWE Identifier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4812863" y="6034207"/>
            <a:ext cx="2115503" cy="1546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Advisory Count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7176730" y="6034207"/>
            <a:ext cx="6584632" cy="1546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Operational Risk Implication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748665" y="6240304"/>
            <a:ext cx="13133070" cy="257532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34" name="Text 31"/>
          <p:cNvSpPr/>
          <p:nvPr/>
        </p:nvSpPr>
        <p:spPr>
          <a:xfrm>
            <a:off x="869156" y="6291739"/>
            <a:ext cx="3695343" cy="1546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CWE-20: Improper Input Validation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4812863" y="6291739"/>
            <a:ext cx="2115503" cy="1546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73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7176730" y="6291739"/>
            <a:ext cx="6584632" cy="1546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Key enabler for RCE and protocol manipulation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748665" y="6497836"/>
            <a:ext cx="13133070" cy="257532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38" name="Text 35"/>
          <p:cNvSpPr/>
          <p:nvPr/>
        </p:nvSpPr>
        <p:spPr>
          <a:xfrm>
            <a:off x="869156" y="6549271"/>
            <a:ext cx="3695343" cy="1546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CWE-125: Out-of-bounds Read</a:t>
            </a:r>
            <a:endParaRPr lang="en-US" sz="900" dirty="0"/>
          </a:p>
        </p:txBody>
      </p:sp>
      <p:sp>
        <p:nvSpPr>
          <p:cNvPr id="39" name="Text 36"/>
          <p:cNvSpPr/>
          <p:nvPr/>
        </p:nvSpPr>
        <p:spPr>
          <a:xfrm>
            <a:off x="4812863" y="6549271"/>
            <a:ext cx="2115503" cy="1546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57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7176730" y="6549271"/>
            <a:ext cx="6584632" cy="1546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Data exfiltration and credential theft from memory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748665" y="6755368"/>
            <a:ext cx="13133070" cy="257532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42" name="Text 39"/>
          <p:cNvSpPr/>
          <p:nvPr/>
        </p:nvSpPr>
        <p:spPr>
          <a:xfrm>
            <a:off x="869156" y="6806803"/>
            <a:ext cx="3695343" cy="1546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CWE-787: Out-of-bounds Write</a:t>
            </a:r>
            <a:endParaRPr lang="en-US" sz="900" dirty="0"/>
          </a:p>
        </p:txBody>
      </p:sp>
      <p:sp>
        <p:nvSpPr>
          <p:cNvPr id="43" name="Text 40"/>
          <p:cNvSpPr/>
          <p:nvPr/>
        </p:nvSpPr>
        <p:spPr>
          <a:xfrm>
            <a:off x="4812863" y="6806803"/>
            <a:ext cx="2115503" cy="1546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57</a:t>
            </a:r>
            <a:endParaRPr lang="en-US" sz="900" dirty="0"/>
          </a:p>
        </p:txBody>
      </p:sp>
      <p:sp>
        <p:nvSpPr>
          <p:cNvPr id="44" name="Text 41"/>
          <p:cNvSpPr/>
          <p:nvPr/>
        </p:nvSpPr>
        <p:spPr>
          <a:xfrm>
            <a:off x="7176730" y="6806803"/>
            <a:ext cx="6584632" cy="1546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System crashes and unauthorized code execution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748665" y="7012900"/>
            <a:ext cx="13133070" cy="257532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46" name="Text 43"/>
          <p:cNvSpPr/>
          <p:nvPr/>
        </p:nvSpPr>
        <p:spPr>
          <a:xfrm>
            <a:off x="869156" y="7064335"/>
            <a:ext cx="3695343" cy="1546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CWE-121: Stack-based Buffer Overflow</a:t>
            </a:r>
            <a:endParaRPr lang="en-US" sz="900" dirty="0"/>
          </a:p>
        </p:txBody>
      </p:sp>
      <p:sp>
        <p:nvSpPr>
          <p:cNvPr id="47" name="Text 44"/>
          <p:cNvSpPr/>
          <p:nvPr/>
        </p:nvSpPr>
        <p:spPr>
          <a:xfrm>
            <a:off x="4812863" y="7064335"/>
            <a:ext cx="2115503" cy="1546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42</a:t>
            </a:r>
            <a:endParaRPr lang="en-US" sz="900" dirty="0"/>
          </a:p>
        </p:txBody>
      </p:sp>
      <p:sp>
        <p:nvSpPr>
          <p:cNvPr id="48" name="Text 45"/>
          <p:cNvSpPr/>
          <p:nvPr/>
        </p:nvSpPr>
        <p:spPr>
          <a:xfrm>
            <a:off x="7176730" y="7064335"/>
            <a:ext cx="6584632" cy="1546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High-severity exploits targeting controller firmware</a:t>
            </a:r>
            <a:endParaRPr lang="en-US" sz="900" dirty="0"/>
          </a:p>
        </p:txBody>
      </p:sp>
      <p:sp>
        <p:nvSpPr>
          <p:cNvPr id="49" name="Shape 46"/>
          <p:cNvSpPr/>
          <p:nvPr/>
        </p:nvSpPr>
        <p:spPr>
          <a:xfrm>
            <a:off x="748665" y="7270433"/>
            <a:ext cx="13133070" cy="257532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50" name="Text 47"/>
          <p:cNvSpPr/>
          <p:nvPr/>
        </p:nvSpPr>
        <p:spPr>
          <a:xfrm>
            <a:off x="869156" y="7321867"/>
            <a:ext cx="3695343" cy="1546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CWE-22: Path Traversal</a:t>
            </a:r>
            <a:endParaRPr lang="en-US" sz="900" dirty="0"/>
          </a:p>
        </p:txBody>
      </p:sp>
      <p:sp>
        <p:nvSpPr>
          <p:cNvPr id="51" name="Text 48"/>
          <p:cNvSpPr/>
          <p:nvPr/>
        </p:nvSpPr>
        <p:spPr>
          <a:xfrm>
            <a:off x="4812863" y="7321867"/>
            <a:ext cx="2115503" cy="1546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37</a:t>
            </a:r>
            <a:endParaRPr lang="en-US" sz="900" dirty="0"/>
          </a:p>
        </p:txBody>
      </p:sp>
      <p:sp>
        <p:nvSpPr>
          <p:cNvPr id="52" name="Text 49"/>
          <p:cNvSpPr/>
          <p:nvPr/>
        </p:nvSpPr>
        <p:spPr>
          <a:xfrm>
            <a:off x="7176730" y="7321867"/>
            <a:ext cx="6584632" cy="1546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Unauthorized access to sensitive configuration files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93790" y="773073"/>
            <a:ext cx="103108" cy="1031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48452" y="756523"/>
            <a:ext cx="541258" cy="1362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800" dirty="0">
                <a:solidFill>
                  <a:srgbClr val="00674F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CHAPTER 2</a:t>
            </a:r>
            <a:endParaRPr lang="en-US" sz="800" dirty="0"/>
          </a:p>
        </p:txBody>
      </p:sp>
      <p:sp>
        <p:nvSpPr>
          <p:cNvPr id="4" name="Text 1"/>
          <p:cNvSpPr/>
          <p:nvPr/>
        </p:nvSpPr>
        <p:spPr>
          <a:xfrm>
            <a:off x="793790" y="964882"/>
            <a:ext cx="4748808" cy="4031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500" dirty="0">
                <a:solidFill>
                  <a:srgbClr val="00674F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Financial Impact of Cyber Incidents</a:t>
            </a:r>
            <a:endParaRPr lang="en-US" sz="2500" dirty="0"/>
          </a:p>
        </p:txBody>
      </p:sp>
      <p:sp>
        <p:nvSpPr>
          <p:cNvPr id="5" name="Text 2"/>
          <p:cNvSpPr/>
          <p:nvPr/>
        </p:nvSpPr>
        <p:spPr>
          <a:xfrm>
            <a:off x="793790" y="1493758"/>
            <a:ext cx="13042821" cy="3405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The financial repercussions of cyberattacks in the energy sector are disproportionately high compared to broader industry averages. The "high-availability" requirement of energy services and the catastrophic cost of operational downtime place this sector in </a:t>
            </a:r>
            <a:pPr algn="l"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00674F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third place globally</a:t>
            </a:r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 for breach costs, surpassed only by healthcare and finance.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350645" y="1992987"/>
            <a:ext cx="2068235" cy="4256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3350"/>
              </a:lnSpc>
              <a:buNone/>
            </a:pPr>
            <a:r>
              <a:rPr lang="en-US" sz="3350" dirty="0">
                <a:solidFill>
                  <a:srgbClr val="000000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$5.56M</a:t>
            </a:r>
            <a:endParaRPr lang="en-US" sz="3350" dirty="0"/>
          </a:p>
        </p:txBody>
      </p:sp>
      <p:sp>
        <p:nvSpPr>
          <p:cNvPr id="7" name="Text 4"/>
          <p:cNvSpPr/>
          <p:nvPr/>
        </p:nvSpPr>
        <p:spPr>
          <a:xfrm>
            <a:off x="1578531" y="2545913"/>
            <a:ext cx="1612583" cy="2014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Avg. Breach Cost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93790" y="2797612"/>
            <a:ext cx="3182064" cy="170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Industrial sector, 2024 — an 18% YoY increase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4637484" y="1992987"/>
            <a:ext cx="2068354" cy="4256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3350"/>
              </a:lnSpc>
              <a:buNone/>
            </a:pPr>
            <a:r>
              <a:rPr lang="en-US" sz="3350" dirty="0">
                <a:solidFill>
                  <a:srgbClr val="000000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$3.0M</a:t>
            </a:r>
            <a:endParaRPr lang="en-US" sz="3350" dirty="0"/>
          </a:p>
        </p:txBody>
      </p:sp>
      <p:sp>
        <p:nvSpPr>
          <p:cNvPr id="10" name="Text 7"/>
          <p:cNvSpPr/>
          <p:nvPr/>
        </p:nvSpPr>
        <p:spPr>
          <a:xfrm>
            <a:off x="4865370" y="2545913"/>
            <a:ext cx="1612583" cy="2014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Median Recovery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4080629" y="2797612"/>
            <a:ext cx="3182183" cy="170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Energy/water ransomware — 4x increase in one year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7924443" y="1992987"/>
            <a:ext cx="2068235" cy="4256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3350"/>
              </a:lnSpc>
              <a:buNone/>
            </a:pPr>
            <a:r>
              <a:rPr lang="en-US" sz="3350" dirty="0">
                <a:solidFill>
                  <a:srgbClr val="000000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199</a:t>
            </a:r>
            <a:endParaRPr lang="en-US" sz="3350" dirty="0"/>
          </a:p>
        </p:txBody>
      </p:sp>
      <p:sp>
        <p:nvSpPr>
          <p:cNvPr id="13" name="Text 10"/>
          <p:cNvSpPr/>
          <p:nvPr/>
        </p:nvSpPr>
        <p:spPr>
          <a:xfrm>
            <a:off x="8152328" y="2545913"/>
            <a:ext cx="1612583" cy="2014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Days to Identify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7367587" y="2797612"/>
            <a:ext cx="3182064" cy="3405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Average breach identification dwell time for industrial sector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11211282" y="1992987"/>
            <a:ext cx="2068354" cy="4256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3350"/>
              </a:lnSpc>
              <a:buNone/>
            </a:pPr>
            <a:r>
              <a:rPr lang="en-US" sz="3350" dirty="0">
                <a:solidFill>
                  <a:srgbClr val="000000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$125K</a:t>
            </a:r>
            <a:endParaRPr lang="en-US" sz="3350" dirty="0"/>
          </a:p>
        </p:txBody>
      </p:sp>
      <p:sp>
        <p:nvSpPr>
          <p:cNvPr id="16" name="Text 13"/>
          <p:cNvSpPr/>
          <p:nvPr/>
        </p:nvSpPr>
        <p:spPr>
          <a:xfrm>
            <a:off x="11439168" y="2545913"/>
            <a:ext cx="1612583" cy="2014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Per Hour Downtime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10654427" y="2797612"/>
            <a:ext cx="3182183" cy="170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Unplanned outage cost for power generation facilities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793790" y="3263860"/>
            <a:ext cx="2305764" cy="2418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500" dirty="0">
                <a:solidFill>
                  <a:srgbClr val="00674F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Cost Breakdown by Category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793790" y="3631406"/>
            <a:ext cx="3197781" cy="1221105"/>
          </a:xfrm>
          <a:prstGeom prst="roundRect">
            <a:avLst>
              <a:gd name="adj" fmla="val 5991"/>
            </a:avLst>
          </a:prstGeom>
          <a:solidFill>
            <a:srgbClr val="FFFFFF"/>
          </a:solidFill>
          <a:ln w="15240">
            <a:solidFill>
              <a:srgbClr val="D8D4D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78550" y="3631406"/>
            <a:ext cx="60960" cy="1221105"/>
          </a:xfrm>
          <a:prstGeom prst="roundRect">
            <a:avLst>
              <a:gd name="adj" fmla="val 31744"/>
            </a:avLst>
          </a:prstGeom>
          <a:solidFill>
            <a:srgbClr val="00674F"/>
          </a:solidFill>
          <a:ln/>
        </p:spPr>
      </p:sp>
      <p:sp>
        <p:nvSpPr>
          <p:cNvPr id="21" name="Text 18"/>
          <p:cNvSpPr/>
          <p:nvPr/>
        </p:nvSpPr>
        <p:spPr>
          <a:xfrm>
            <a:off x="983694" y="3775591"/>
            <a:ext cx="1612583" cy="2014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Detection &amp; Escalation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983694" y="4027289"/>
            <a:ext cx="2863691" cy="681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Forensic investigations, crisis management, and third-party security engagement. Industrial sector identification time averages </a:t>
            </a:r>
            <a:pPr algn="l"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00674F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199 days</a:t>
            </a:r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 — 5 days longer than the global mean.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4075390" y="3631406"/>
            <a:ext cx="3197900" cy="1221105"/>
          </a:xfrm>
          <a:prstGeom prst="roundRect">
            <a:avLst>
              <a:gd name="adj" fmla="val 5991"/>
            </a:avLst>
          </a:prstGeom>
          <a:solidFill>
            <a:srgbClr val="FFFFFF"/>
          </a:solidFill>
          <a:ln w="15240">
            <a:solidFill>
              <a:srgbClr val="D8D4D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060150" y="3631406"/>
            <a:ext cx="60960" cy="1221105"/>
          </a:xfrm>
          <a:prstGeom prst="roundRect">
            <a:avLst>
              <a:gd name="adj" fmla="val 31744"/>
            </a:avLst>
          </a:prstGeom>
          <a:solidFill>
            <a:srgbClr val="00674F"/>
          </a:solidFill>
          <a:ln/>
        </p:spPr>
      </p:sp>
      <p:sp>
        <p:nvSpPr>
          <p:cNvPr id="25" name="Text 22"/>
          <p:cNvSpPr/>
          <p:nvPr/>
        </p:nvSpPr>
        <p:spPr>
          <a:xfrm>
            <a:off x="4265295" y="3775591"/>
            <a:ext cx="1612583" cy="2014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Post-Breach Response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4265295" y="4027289"/>
            <a:ext cx="2863810" cy="681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Customer support, credit monitoring, and public relations costs combined with lost business revenue total an average of </a:t>
            </a:r>
            <a:pPr algn="l"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00674F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USD 2.8 million</a:t>
            </a:r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 per incident in 2024.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7357110" y="3631406"/>
            <a:ext cx="3197781" cy="1221105"/>
          </a:xfrm>
          <a:prstGeom prst="roundRect">
            <a:avLst>
              <a:gd name="adj" fmla="val 5991"/>
            </a:avLst>
          </a:prstGeom>
          <a:solidFill>
            <a:srgbClr val="FFFFFF"/>
          </a:solidFill>
          <a:ln w="15240">
            <a:solidFill>
              <a:srgbClr val="D8D4D4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341870" y="3631406"/>
            <a:ext cx="60960" cy="1221105"/>
          </a:xfrm>
          <a:prstGeom prst="roundRect">
            <a:avLst>
              <a:gd name="adj" fmla="val 31744"/>
            </a:avLst>
          </a:prstGeom>
          <a:solidFill>
            <a:srgbClr val="00674F"/>
          </a:solidFill>
          <a:ln/>
        </p:spPr>
      </p:sp>
      <p:sp>
        <p:nvSpPr>
          <p:cNvPr id="29" name="Text 26"/>
          <p:cNvSpPr/>
          <p:nvPr/>
        </p:nvSpPr>
        <p:spPr>
          <a:xfrm>
            <a:off x="7547015" y="3775591"/>
            <a:ext cx="1612583" cy="2014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Operational Downtime</a:t>
            </a:r>
            <a:endParaRPr lang="en-US" sz="1250" dirty="0"/>
          </a:p>
        </p:txBody>
      </p:sp>
      <p:sp>
        <p:nvSpPr>
          <p:cNvPr id="30" name="Text 27"/>
          <p:cNvSpPr/>
          <p:nvPr/>
        </p:nvSpPr>
        <p:spPr>
          <a:xfrm>
            <a:off x="7547015" y="4027289"/>
            <a:ext cx="2863691" cy="681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Recovery is complicated by the need to manually restore OT systems, which cannot be simply rebooted from cloud backups without risking physical equipment damage.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10638711" y="3631406"/>
            <a:ext cx="3197900" cy="1221105"/>
          </a:xfrm>
          <a:prstGeom prst="roundRect">
            <a:avLst>
              <a:gd name="adj" fmla="val 5991"/>
            </a:avLst>
          </a:prstGeom>
          <a:solidFill>
            <a:srgbClr val="FFFFFF"/>
          </a:solidFill>
          <a:ln w="15240">
            <a:solidFill>
              <a:srgbClr val="D8D4D4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0623471" y="3631406"/>
            <a:ext cx="60960" cy="1221105"/>
          </a:xfrm>
          <a:prstGeom prst="roundRect">
            <a:avLst>
              <a:gd name="adj" fmla="val 31744"/>
            </a:avLst>
          </a:prstGeom>
          <a:solidFill>
            <a:srgbClr val="00674F"/>
          </a:solidFill>
          <a:ln/>
        </p:spPr>
      </p:sp>
      <p:sp>
        <p:nvSpPr>
          <p:cNvPr id="33" name="Text 30"/>
          <p:cNvSpPr/>
          <p:nvPr/>
        </p:nvSpPr>
        <p:spPr>
          <a:xfrm>
            <a:off x="10828615" y="3775591"/>
            <a:ext cx="1612583" cy="2014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Regulatory Penalties</a:t>
            </a:r>
            <a:endParaRPr lang="en-US" sz="1250" dirty="0"/>
          </a:p>
        </p:txBody>
      </p:sp>
      <p:sp>
        <p:nvSpPr>
          <p:cNvPr id="34" name="Text 31"/>
          <p:cNvSpPr/>
          <p:nvPr/>
        </p:nvSpPr>
        <p:spPr>
          <a:xfrm>
            <a:off x="10828615" y="4027289"/>
            <a:ext cx="2863810" cy="681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NERC CIP enforcement fines can reach </a:t>
            </a:r>
            <a:pPr algn="l"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00674F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USD 1 million per day</a:t>
            </a:r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 per violation. Historical peaks have reached USD 10 million for systemic non-compliance.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793790" y="4978241"/>
            <a:ext cx="3930491" cy="2418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500" dirty="0">
                <a:solidFill>
                  <a:srgbClr val="00674F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Comparative Financial Metrics: Energy vs. Global</a:t>
            </a:r>
            <a:endParaRPr lang="en-US" sz="1500" dirty="0"/>
          </a:p>
        </p:txBody>
      </p:sp>
      <p:sp>
        <p:nvSpPr>
          <p:cNvPr id="36" name="Shape 33"/>
          <p:cNvSpPr/>
          <p:nvPr/>
        </p:nvSpPr>
        <p:spPr>
          <a:xfrm>
            <a:off x="793790" y="5345787"/>
            <a:ext cx="13042821" cy="1731169"/>
          </a:xfrm>
          <a:prstGeom prst="roundRect">
            <a:avLst>
              <a:gd name="adj" fmla="val 1118"/>
            </a:avLst>
          </a:prstGeom>
          <a:noFill/>
          <a:ln w="7620">
            <a:solidFill>
              <a:srgbClr val="000000">
                <a:alpha val="8000"/>
              </a:srgbClr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801410" y="5353407"/>
            <a:ext cx="13027581" cy="285988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38" name="Text 35"/>
          <p:cNvSpPr/>
          <p:nvPr/>
        </p:nvSpPr>
        <p:spPr>
          <a:xfrm>
            <a:off x="930592" y="5411272"/>
            <a:ext cx="4167664" cy="170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Metric</a:t>
            </a:r>
            <a:endParaRPr lang="en-US" sz="1000" dirty="0"/>
          </a:p>
        </p:txBody>
      </p:sp>
      <p:sp>
        <p:nvSpPr>
          <p:cNvPr id="39" name="Text 36"/>
          <p:cNvSpPr/>
          <p:nvPr/>
        </p:nvSpPr>
        <p:spPr>
          <a:xfrm>
            <a:off x="5363766" y="5411272"/>
            <a:ext cx="4033480" cy="170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Energy/Industrial (2024)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9662755" y="5411272"/>
            <a:ext cx="4037290" cy="170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Global Average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801410" y="5639395"/>
            <a:ext cx="13027581" cy="285988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42" name="Text 39"/>
          <p:cNvSpPr/>
          <p:nvPr/>
        </p:nvSpPr>
        <p:spPr>
          <a:xfrm>
            <a:off x="930592" y="5697260"/>
            <a:ext cx="4167664" cy="170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Average Total Breach Cost</a:t>
            </a:r>
            <a:endParaRPr lang="en-US" sz="1000" dirty="0"/>
          </a:p>
        </p:txBody>
      </p:sp>
      <p:sp>
        <p:nvSpPr>
          <p:cNvPr id="43" name="Text 40"/>
          <p:cNvSpPr/>
          <p:nvPr/>
        </p:nvSpPr>
        <p:spPr>
          <a:xfrm>
            <a:off x="5363766" y="5697260"/>
            <a:ext cx="4033480" cy="170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USD 5.56 Million</a:t>
            </a:r>
            <a:endParaRPr lang="en-US" sz="1000" dirty="0"/>
          </a:p>
        </p:txBody>
      </p:sp>
      <p:sp>
        <p:nvSpPr>
          <p:cNvPr id="44" name="Text 41"/>
          <p:cNvSpPr/>
          <p:nvPr/>
        </p:nvSpPr>
        <p:spPr>
          <a:xfrm>
            <a:off x="9662755" y="5697260"/>
            <a:ext cx="4037290" cy="170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USD 4.88 Million</a:t>
            </a:r>
            <a:endParaRPr lang="en-US" sz="1000" dirty="0"/>
          </a:p>
        </p:txBody>
      </p:sp>
      <p:sp>
        <p:nvSpPr>
          <p:cNvPr id="45" name="Shape 42"/>
          <p:cNvSpPr/>
          <p:nvPr/>
        </p:nvSpPr>
        <p:spPr>
          <a:xfrm>
            <a:off x="801410" y="5925383"/>
            <a:ext cx="13027581" cy="285988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46" name="Text 43"/>
          <p:cNvSpPr/>
          <p:nvPr/>
        </p:nvSpPr>
        <p:spPr>
          <a:xfrm>
            <a:off x="930592" y="5983248"/>
            <a:ext cx="4167664" cy="170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Median Ransomware Recovery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5363766" y="5983248"/>
            <a:ext cx="4033480" cy="170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USD 3.0 Million</a:t>
            </a:r>
            <a:endParaRPr lang="en-US" sz="1000" dirty="0"/>
          </a:p>
        </p:txBody>
      </p:sp>
      <p:sp>
        <p:nvSpPr>
          <p:cNvPr id="48" name="Text 45"/>
          <p:cNvSpPr/>
          <p:nvPr/>
        </p:nvSpPr>
        <p:spPr>
          <a:xfrm>
            <a:off x="9662755" y="5983248"/>
            <a:ext cx="4037290" cy="170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USD 0.75 Million</a:t>
            </a:r>
            <a:endParaRPr lang="en-US" sz="1000" dirty="0"/>
          </a:p>
        </p:txBody>
      </p:sp>
      <p:sp>
        <p:nvSpPr>
          <p:cNvPr id="49" name="Shape 46"/>
          <p:cNvSpPr/>
          <p:nvPr/>
        </p:nvSpPr>
        <p:spPr>
          <a:xfrm>
            <a:off x="801410" y="6211372"/>
            <a:ext cx="13027581" cy="285988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50" name="Text 47"/>
          <p:cNvSpPr/>
          <p:nvPr/>
        </p:nvSpPr>
        <p:spPr>
          <a:xfrm>
            <a:off x="930592" y="6269236"/>
            <a:ext cx="4167664" cy="170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Median Ransom Payment</a:t>
            </a:r>
            <a:endParaRPr lang="en-US" sz="1000" dirty="0"/>
          </a:p>
        </p:txBody>
      </p:sp>
      <p:sp>
        <p:nvSpPr>
          <p:cNvPr id="51" name="Text 48"/>
          <p:cNvSpPr/>
          <p:nvPr/>
        </p:nvSpPr>
        <p:spPr>
          <a:xfrm>
            <a:off x="5363766" y="6269236"/>
            <a:ext cx="4033480" cy="170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USD 2.5 Million</a:t>
            </a:r>
            <a:endParaRPr lang="en-US" sz="1000" dirty="0"/>
          </a:p>
        </p:txBody>
      </p:sp>
      <p:sp>
        <p:nvSpPr>
          <p:cNvPr id="52" name="Text 49"/>
          <p:cNvSpPr/>
          <p:nvPr/>
        </p:nvSpPr>
        <p:spPr>
          <a:xfrm>
            <a:off x="9662755" y="6269236"/>
            <a:ext cx="4037290" cy="170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USD 2.0 Million</a:t>
            </a:r>
            <a:endParaRPr lang="en-US" sz="1000" dirty="0"/>
          </a:p>
        </p:txBody>
      </p:sp>
      <p:sp>
        <p:nvSpPr>
          <p:cNvPr id="53" name="Shape 50"/>
          <p:cNvSpPr/>
          <p:nvPr/>
        </p:nvSpPr>
        <p:spPr>
          <a:xfrm>
            <a:off x="801410" y="6497360"/>
            <a:ext cx="13027581" cy="285988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54" name="Text 51"/>
          <p:cNvSpPr/>
          <p:nvPr/>
        </p:nvSpPr>
        <p:spPr>
          <a:xfrm>
            <a:off x="930592" y="6555224"/>
            <a:ext cx="4167664" cy="170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Identification Dwell Time</a:t>
            </a:r>
            <a:endParaRPr lang="en-US" sz="1000" dirty="0"/>
          </a:p>
        </p:txBody>
      </p:sp>
      <p:sp>
        <p:nvSpPr>
          <p:cNvPr id="55" name="Text 52"/>
          <p:cNvSpPr/>
          <p:nvPr/>
        </p:nvSpPr>
        <p:spPr>
          <a:xfrm>
            <a:off x="5363766" y="6555224"/>
            <a:ext cx="4033480" cy="170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199 Days</a:t>
            </a:r>
            <a:endParaRPr lang="en-US" sz="1000" dirty="0"/>
          </a:p>
        </p:txBody>
      </p:sp>
      <p:sp>
        <p:nvSpPr>
          <p:cNvPr id="56" name="Text 53"/>
          <p:cNvSpPr/>
          <p:nvPr/>
        </p:nvSpPr>
        <p:spPr>
          <a:xfrm>
            <a:off x="9662755" y="6555224"/>
            <a:ext cx="4037290" cy="170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194 Days</a:t>
            </a:r>
            <a:endParaRPr lang="en-US" sz="1000" dirty="0"/>
          </a:p>
        </p:txBody>
      </p:sp>
      <p:sp>
        <p:nvSpPr>
          <p:cNvPr id="57" name="Shape 54"/>
          <p:cNvSpPr/>
          <p:nvPr/>
        </p:nvSpPr>
        <p:spPr>
          <a:xfrm>
            <a:off x="801410" y="6783348"/>
            <a:ext cx="13027581" cy="285988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58" name="Text 55"/>
          <p:cNvSpPr/>
          <p:nvPr/>
        </p:nvSpPr>
        <p:spPr>
          <a:xfrm>
            <a:off x="930592" y="6841212"/>
            <a:ext cx="4167664" cy="170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Containment Time</a:t>
            </a:r>
            <a:endParaRPr lang="en-US" sz="1000" dirty="0"/>
          </a:p>
        </p:txBody>
      </p:sp>
      <p:sp>
        <p:nvSpPr>
          <p:cNvPr id="59" name="Text 56"/>
          <p:cNvSpPr/>
          <p:nvPr/>
        </p:nvSpPr>
        <p:spPr>
          <a:xfrm>
            <a:off x="5363766" y="6841212"/>
            <a:ext cx="4033480" cy="170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73 Days</a:t>
            </a:r>
            <a:endParaRPr lang="en-US" sz="1000" dirty="0"/>
          </a:p>
        </p:txBody>
      </p:sp>
      <p:sp>
        <p:nvSpPr>
          <p:cNvPr id="60" name="Text 57"/>
          <p:cNvSpPr/>
          <p:nvPr/>
        </p:nvSpPr>
        <p:spPr>
          <a:xfrm>
            <a:off x="9662755" y="6841212"/>
            <a:ext cx="4037290" cy="170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64 Days</a:t>
            </a:r>
            <a:endParaRPr lang="en-US" sz="1000" dirty="0"/>
          </a:p>
        </p:txBody>
      </p:sp>
      <p:sp>
        <p:nvSpPr>
          <p:cNvPr id="61" name="Text 58"/>
          <p:cNvSpPr/>
          <p:nvPr/>
        </p:nvSpPr>
        <p:spPr>
          <a:xfrm>
            <a:off x="793790" y="7171253"/>
            <a:ext cx="13042821" cy="3405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The </a:t>
            </a:r>
            <a:pPr algn="l"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00674F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quadrupling</a:t>
            </a:r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 of recovery costs for energy and water utilities — from less than USD 1 million to USD 3 million in a single year — is the most critical financial signal of 2024. This surge is driven by the deliberate targeting of the sector by high-capability ransomware groups who understand that utilities are acutely sensitive to service interruptions.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93790" y="698063"/>
            <a:ext cx="142875" cy="14287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08102" y="660916"/>
            <a:ext cx="749975" cy="2171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00674F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CHAPTER 3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93790" y="995958"/>
            <a:ext cx="7202210" cy="5581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350"/>
              </a:lnSpc>
              <a:buNone/>
            </a:pPr>
            <a:r>
              <a:rPr lang="en-US" sz="3500" dirty="0">
                <a:solidFill>
                  <a:srgbClr val="00674F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Catastrophic Risk: The Erebos Scenario</a:t>
            </a:r>
            <a:endParaRPr lang="en-US" sz="3500" dirty="0"/>
          </a:p>
        </p:txBody>
      </p:sp>
      <p:sp>
        <p:nvSpPr>
          <p:cNvPr id="5" name="Text 2"/>
          <p:cNvSpPr/>
          <p:nvPr/>
        </p:nvSpPr>
        <p:spPr>
          <a:xfrm>
            <a:off x="793790" y="1795224"/>
            <a:ext cx="13042821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Beyond individual breaches, the energy sector must account for "black swan" events capable of crippling the bulk power system of a major nation. The </a:t>
            </a:r>
            <a:pPr algn="l" indent="0" marL="0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Erebos scenario</a:t>
            </a:r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, modeled in the Lloyd's "Business Blackout" research, provides a sobering assessment of systemic fragility in modern power grids.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793790" y="2679740"/>
            <a:ext cx="2679383" cy="3348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100" dirty="0">
                <a:solidFill>
                  <a:srgbClr val="00674F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Scenario Parameters</a:t>
            </a:r>
            <a:endParaRPr lang="en-US" sz="2100" dirty="0"/>
          </a:p>
        </p:txBody>
      </p:sp>
      <p:sp>
        <p:nvSpPr>
          <p:cNvPr id="7" name="Text 4"/>
          <p:cNvSpPr/>
          <p:nvPr/>
        </p:nvSpPr>
        <p:spPr>
          <a:xfrm>
            <a:off x="793790" y="3175278"/>
            <a:ext cx="697742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A sophisticated malware-based attack targets the Northeastern U.S. power grid, infecting control rooms and causing physical damage to </a:t>
            </a:r>
            <a:pPr algn="l" indent="0" marL="0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00674F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50 critical generators</a:t>
            </a:r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. The malware forces generators to overload and burn out, leading to fires and explosions that physically destroy high-value assets.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93790" y="4441984"/>
            <a:ext cx="3408283" cy="1339810"/>
          </a:xfrm>
          <a:prstGeom prst="roundRect">
            <a:avLst>
              <a:gd name="adj" fmla="val 2000"/>
            </a:avLst>
          </a:prstGeom>
          <a:solidFill>
            <a:srgbClr val="F2EEEE"/>
          </a:solidFill>
          <a:ln/>
        </p:spPr>
      </p:sp>
      <p:sp>
        <p:nvSpPr>
          <p:cNvPr id="9" name="Text 6"/>
          <p:cNvSpPr/>
          <p:nvPr/>
        </p:nvSpPr>
        <p:spPr>
          <a:xfrm>
            <a:off x="972383" y="4620578"/>
            <a:ext cx="2232779" cy="2789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0"/>
              </a:lnSpc>
              <a:buNone/>
            </a:pPr>
            <a:r>
              <a:rPr lang="en-US" sz="1750" dirty="0">
                <a:solidFill>
                  <a:srgbClr val="000000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93 Million</a:t>
            </a:r>
            <a:endParaRPr lang="en-US" sz="1750" dirty="0"/>
          </a:p>
        </p:txBody>
      </p:sp>
      <p:sp>
        <p:nvSpPr>
          <p:cNvPr id="10" name="Text 7"/>
          <p:cNvSpPr/>
          <p:nvPr/>
        </p:nvSpPr>
        <p:spPr>
          <a:xfrm>
            <a:off x="972383" y="5060275"/>
            <a:ext cx="3051096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People affected across 15 states and Washington, D.C.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362807" y="4441984"/>
            <a:ext cx="3408402" cy="1339810"/>
          </a:xfrm>
          <a:prstGeom prst="roundRect">
            <a:avLst>
              <a:gd name="adj" fmla="val 2000"/>
            </a:avLst>
          </a:prstGeom>
          <a:solidFill>
            <a:srgbClr val="F2EEEE"/>
          </a:solidFill>
          <a:ln/>
        </p:spPr>
      </p:sp>
      <p:sp>
        <p:nvSpPr>
          <p:cNvPr id="12" name="Text 9"/>
          <p:cNvSpPr/>
          <p:nvPr/>
        </p:nvSpPr>
        <p:spPr>
          <a:xfrm>
            <a:off x="4541401" y="4620578"/>
            <a:ext cx="2232779" cy="2789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0"/>
              </a:lnSpc>
              <a:buNone/>
            </a:pPr>
            <a:r>
              <a:rPr lang="en-US" sz="1750" dirty="0">
                <a:solidFill>
                  <a:srgbClr val="000000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Weeks-Long</a:t>
            </a:r>
            <a:endParaRPr lang="en-US" sz="1750" dirty="0"/>
          </a:p>
        </p:txBody>
      </p:sp>
      <p:sp>
        <p:nvSpPr>
          <p:cNvPr id="13" name="Text 10"/>
          <p:cNvSpPr/>
          <p:nvPr/>
        </p:nvSpPr>
        <p:spPr>
          <a:xfrm>
            <a:off x="4541401" y="5060275"/>
            <a:ext cx="3051215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Blackout duration in high-demand regions like NYC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793790" y="5962650"/>
            <a:ext cx="6977420" cy="814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The cascade triggers societal breakdown: electric pump failures disrupt water supplies, transit networks collapse with stranded subways, and mortality rates climb as health and safety systems fail.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8214598" y="2679740"/>
            <a:ext cx="3957995" cy="3348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100" dirty="0">
                <a:solidFill>
                  <a:srgbClr val="00674F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Long-Term Financial Consequences</a:t>
            </a:r>
            <a:endParaRPr lang="en-US" sz="2100" dirty="0"/>
          </a:p>
        </p:txBody>
      </p:sp>
      <p:sp>
        <p:nvSpPr>
          <p:cNvPr id="16" name="Shape 13"/>
          <p:cNvSpPr/>
          <p:nvPr/>
        </p:nvSpPr>
        <p:spPr>
          <a:xfrm>
            <a:off x="8214598" y="3195399"/>
            <a:ext cx="5629513" cy="1725454"/>
          </a:xfrm>
          <a:prstGeom prst="roundRect">
            <a:avLst>
              <a:gd name="adj" fmla="val 1553"/>
            </a:avLst>
          </a:prstGeom>
          <a:noFill/>
          <a:ln w="7620">
            <a:solidFill>
              <a:srgbClr val="000000">
                <a:alpha val="800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222218" y="3203019"/>
            <a:ext cx="5614273" cy="751046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18" name="Text 15"/>
          <p:cNvSpPr/>
          <p:nvPr/>
        </p:nvSpPr>
        <p:spPr>
          <a:xfrm>
            <a:off x="8400931" y="3307080"/>
            <a:ext cx="1547813" cy="2714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Scenario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10313551" y="3307080"/>
            <a:ext cx="1656278" cy="2714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GDP Loss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2334637" y="3307080"/>
            <a:ext cx="1323261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Insurance Claims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8222218" y="3954066"/>
            <a:ext cx="5614273" cy="479584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22" name="Text 19"/>
          <p:cNvSpPr/>
          <p:nvPr/>
        </p:nvSpPr>
        <p:spPr>
          <a:xfrm>
            <a:off x="8400931" y="4058126"/>
            <a:ext cx="1547813" cy="2714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Standard (S1)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10313551" y="4058126"/>
            <a:ext cx="1656278" cy="2714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USD 243 Billion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2334637" y="4058126"/>
            <a:ext cx="1323261" cy="2714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USD 21.4 Billion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8222218" y="4433649"/>
            <a:ext cx="5614273" cy="479584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26" name="Text 23"/>
          <p:cNvSpPr/>
          <p:nvPr/>
        </p:nvSpPr>
        <p:spPr>
          <a:xfrm>
            <a:off x="8400931" y="4537710"/>
            <a:ext cx="1547813" cy="2714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Extreme (X1)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10313551" y="4537710"/>
            <a:ext cx="1656278" cy="2714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USD 1+ Trillion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12334637" y="4537710"/>
            <a:ext cx="1323261" cy="2714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USD 71.1 Billion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8214598" y="5101709"/>
            <a:ext cx="5629513" cy="2339578"/>
          </a:xfrm>
          <a:prstGeom prst="roundRect">
            <a:avLst>
              <a:gd name="adj" fmla="val 1145"/>
            </a:avLst>
          </a:prstGeom>
          <a:solidFill>
            <a:srgbClr val="B3FFED"/>
          </a:solidFill>
          <a:ln/>
        </p:spPr>
      </p:sp>
      <p:pic>
        <p:nvPicPr>
          <p:cNvPr id="3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3192" y="5359122"/>
            <a:ext cx="223242" cy="178594"/>
          </a:xfrm>
          <a:prstGeom prst="rect">
            <a:avLst/>
          </a:prstGeom>
        </p:spPr>
      </p:pic>
      <p:sp>
        <p:nvSpPr>
          <p:cNvPr id="31" name="Text 27"/>
          <p:cNvSpPr/>
          <p:nvPr/>
        </p:nvSpPr>
        <p:spPr>
          <a:xfrm>
            <a:off x="8795028" y="5307092"/>
            <a:ext cx="4870490" cy="19002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In the extreme version, wholesale and retail trade would suffer an estimated </a:t>
            </a:r>
            <a:pPr algn="l" indent="0" marL="0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00674F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USD 52.51 billion</a:t>
            </a:r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 loss. Macroeconomic analysis indicates a </a:t>
            </a:r>
            <a:pPr algn="l" indent="0" marL="0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0.61% quarterly shock</a:t>
            </a:r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 to U.S. GDP, requiring up to </a:t>
            </a:r>
            <a:pPr algn="l" indent="0" marL="0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three years</a:t>
            </a:r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 to return to pre-shock equilibrium. This underscores the systemic risk the energy sector's cybersecurity posture poses to the broader financial system and global credit ratings.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93790" y="833557"/>
            <a:ext cx="119063" cy="11906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72383" y="809744"/>
            <a:ext cx="624364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00674F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CHAPTER 4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93790" y="1065728"/>
            <a:ext cx="9002792" cy="4651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650"/>
              </a:lnSpc>
              <a:buNone/>
            </a:pPr>
            <a:r>
              <a:rPr lang="en-US" sz="2900" dirty="0">
                <a:solidFill>
                  <a:srgbClr val="00674F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Case Study: Colonial Pipeline Ransomware Incident (2021)</a:t>
            </a:r>
            <a:endParaRPr lang="en-US" sz="2900" dirty="0"/>
          </a:p>
        </p:txBody>
      </p:sp>
      <p:sp>
        <p:nvSpPr>
          <p:cNvPr id="5" name="Text 2"/>
          <p:cNvSpPr/>
          <p:nvPr/>
        </p:nvSpPr>
        <p:spPr>
          <a:xfrm>
            <a:off x="793790" y="1698308"/>
            <a:ext cx="13042821" cy="4167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The Colonial Pipeline attack is the definitive case study in how a breach in IT systems can force a complete shutdown of OT operations due to the interconnected nature of modern critical infrastructure.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686633" y="2240518"/>
            <a:ext cx="6554153" cy="3388043"/>
          </a:xfrm>
          <a:prstGeom prst="roundRect">
            <a:avLst>
              <a:gd name="adj" fmla="val 659"/>
            </a:avLst>
          </a:prstGeom>
          <a:solidFill>
            <a:srgbClr val="00674F"/>
          </a:solidFill>
          <a:ln/>
        </p:spPr>
      </p:sp>
      <p:sp>
        <p:nvSpPr>
          <p:cNvPr id="7" name="Text 4"/>
          <p:cNvSpPr/>
          <p:nvPr/>
        </p:nvSpPr>
        <p:spPr>
          <a:xfrm>
            <a:off x="835462" y="2352080"/>
            <a:ext cx="1860590" cy="2325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Attack Profile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835462" y="2696170"/>
            <a:ext cx="6256496" cy="8334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The </a:t>
            </a:r>
            <a:pPr algn="l"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DarkSide</a:t>
            </a:r>
            <a:pPr algn="l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 ransomware group gained access through a legacy VPN account using a single compromised password — without Multi-Factor Authentication enabled. Once inside, the attackers exfiltrated </a:t>
            </a:r>
            <a:pPr algn="l"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100 GB of data in just two hours</a:t>
            </a:r>
            <a:pPr algn="l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 before deploying ransomware that encrypted billing and accounting systems.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835462" y="3641169"/>
            <a:ext cx="1860590" cy="2325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Financial Impact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835462" y="3985260"/>
            <a:ext cx="6256496" cy="625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Colonial paid a ransom of </a:t>
            </a:r>
            <a:pPr algn="l"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75 Bitcoin (USD 4.4 million)</a:t>
            </a:r>
            <a:pPr algn="l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. The DOJ later recovered USD 2.3 million. The company faced substantial additional costs: business interruption losses, remediation investments, and long-term reputational damage to stakeholder confidence.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7504390" y="2352080"/>
            <a:ext cx="1860590" cy="2325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00674F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Operational Timeline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10666690" y="2710101"/>
            <a:ext cx="15240" cy="2792968"/>
          </a:xfrm>
          <a:prstGeom prst="roundRect">
            <a:avLst>
              <a:gd name="adj" fmla="val 146512"/>
            </a:avLst>
          </a:prstGeom>
          <a:solidFill>
            <a:srgbClr val="D8D4D4"/>
          </a:solidFill>
          <a:ln/>
        </p:spPr>
      </p:sp>
      <p:sp>
        <p:nvSpPr>
          <p:cNvPr id="13" name="Shape 10"/>
          <p:cNvSpPr/>
          <p:nvPr/>
        </p:nvSpPr>
        <p:spPr>
          <a:xfrm>
            <a:off x="10391894" y="2869882"/>
            <a:ext cx="297656" cy="15240"/>
          </a:xfrm>
          <a:prstGeom prst="roundRect">
            <a:avLst>
              <a:gd name="adj" fmla="val 146512"/>
            </a:avLst>
          </a:prstGeom>
          <a:solidFill>
            <a:srgbClr val="D8D4D4"/>
          </a:solidFill>
          <a:ln/>
        </p:spPr>
      </p:sp>
      <p:sp>
        <p:nvSpPr>
          <p:cNvPr id="14" name="Shape 11"/>
          <p:cNvSpPr/>
          <p:nvPr/>
        </p:nvSpPr>
        <p:spPr>
          <a:xfrm>
            <a:off x="10618530" y="2821722"/>
            <a:ext cx="111562" cy="111562"/>
          </a:xfrm>
          <a:prstGeom prst="roundRect">
            <a:avLst>
              <a:gd name="adj" fmla="val 409817"/>
            </a:avLst>
          </a:prstGeom>
          <a:solidFill>
            <a:srgbClr val="00674F"/>
          </a:solidFill>
          <a:ln/>
        </p:spPr>
      </p:sp>
      <p:sp>
        <p:nvSpPr>
          <p:cNvPr id="15" name="Text 12"/>
          <p:cNvSpPr/>
          <p:nvPr/>
        </p:nvSpPr>
        <p:spPr>
          <a:xfrm>
            <a:off x="8218408" y="2761178"/>
            <a:ext cx="1860590" cy="2325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May 7, 2021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504390" y="3105269"/>
            <a:ext cx="2574608" cy="625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Pipeline shut down. Panic buying triggers East Coast gas shortages across multiple states.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10659070" y="3688437"/>
            <a:ext cx="297656" cy="15240"/>
          </a:xfrm>
          <a:prstGeom prst="roundRect">
            <a:avLst>
              <a:gd name="adj" fmla="val 146512"/>
            </a:avLst>
          </a:prstGeom>
          <a:solidFill>
            <a:srgbClr val="D8D4D4"/>
          </a:solidFill>
          <a:ln/>
        </p:spPr>
      </p:sp>
      <p:sp>
        <p:nvSpPr>
          <p:cNvPr id="18" name="Shape 15"/>
          <p:cNvSpPr/>
          <p:nvPr/>
        </p:nvSpPr>
        <p:spPr>
          <a:xfrm>
            <a:off x="10618530" y="3640276"/>
            <a:ext cx="111562" cy="111562"/>
          </a:xfrm>
          <a:prstGeom prst="roundRect">
            <a:avLst>
              <a:gd name="adj" fmla="val 409817"/>
            </a:avLst>
          </a:prstGeom>
          <a:solidFill>
            <a:srgbClr val="00674F"/>
          </a:solidFill>
          <a:ln/>
        </p:spPr>
      </p:sp>
      <p:sp>
        <p:nvSpPr>
          <p:cNvPr id="19" name="Text 16"/>
          <p:cNvSpPr/>
          <p:nvPr/>
        </p:nvSpPr>
        <p:spPr>
          <a:xfrm>
            <a:off x="11269623" y="3579733"/>
            <a:ext cx="1860590" cy="2325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May 12, 2021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11269623" y="3923824"/>
            <a:ext cx="2574608" cy="625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Systems begin limited restart after ransom payment and partial DOJ recovery.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10391894" y="4420910"/>
            <a:ext cx="297656" cy="15240"/>
          </a:xfrm>
          <a:prstGeom prst="roundRect">
            <a:avLst>
              <a:gd name="adj" fmla="val 146512"/>
            </a:avLst>
          </a:prstGeom>
          <a:solidFill>
            <a:srgbClr val="D8D4D4"/>
          </a:solidFill>
          <a:ln/>
        </p:spPr>
      </p:sp>
      <p:sp>
        <p:nvSpPr>
          <p:cNvPr id="22" name="Shape 19"/>
          <p:cNvSpPr/>
          <p:nvPr/>
        </p:nvSpPr>
        <p:spPr>
          <a:xfrm>
            <a:off x="10618530" y="4372749"/>
            <a:ext cx="111562" cy="111562"/>
          </a:xfrm>
          <a:prstGeom prst="roundRect">
            <a:avLst>
              <a:gd name="adj" fmla="val 409817"/>
            </a:avLst>
          </a:prstGeom>
          <a:solidFill>
            <a:srgbClr val="00674F"/>
          </a:solidFill>
          <a:ln/>
        </p:spPr>
      </p:sp>
      <p:sp>
        <p:nvSpPr>
          <p:cNvPr id="23" name="Text 20"/>
          <p:cNvSpPr/>
          <p:nvPr/>
        </p:nvSpPr>
        <p:spPr>
          <a:xfrm>
            <a:off x="8218408" y="4312206"/>
            <a:ext cx="1860590" cy="2325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May 15, 2021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7504390" y="4656296"/>
            <a:ext cx="2574608" cy="625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Normal operations resume after 8-day disruption to 45% of East Coast fuel supply.</a:t>
            </a:r>
            <a:endParaRPr lang="en-US" sz="1150" dirty="0"/>
          </a:p>
        </p:txBody>
      </p:sp>
      <p:sp>
        <p:nvSpPr>
          <p:cNvPr id="25" name="Text 22"/>
          <p:cNvSpPr/>
          <p:nvPr/>
        </p:nvSpPr>
        <p:spPr>
          <a:xfrm>
            <a:off x="793790" y="5795963"/>
            <a:ext cx="2393156" cy="2789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0"/>
              </a:lnSpc>
              <a:buNone/>
            </a:pPr>
            <a:r>
              <a:rPr lang="en-US" sz="1750" dirty="0">
                <a:solidFill>
                  <a:srgbClr val="00674F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Key Lessons for the Sector</a:t>
            </a:r>
            <a:endParaRPr lang="en-US" sz="1750" dirty="0"/>
          </a:p>
        </p:txBody>
      </p:sp>
      <p:sp>
        <p:nvSpPr>
          <p:cNvPr id="26" name="Shape 23"/>
          <p:cNvSpPr/>
          <p:nvPr/>
        </p:nvSpPr>
        <p:spPr>
          <a:xfrm>
            <a:off x="793790" y="6242328"/>
            <a:ext cx="4273153" cy="1222177"/>
          </a:xfrm>
          <a:prstGeom prst="roundRect">
            <a:avLst>
              <a:gd name="adj" fmla="val 29231"/>
            </a:avLst>
          </a:prstGeom>
          <a:solidFill>
            <a:srgbClr val="F2EEEE"/>
          </a:solidFill>
          <a:ln/>
        </p:spPr>
      </p:sp>
      <p:sp>
        <p:nvSpPr>
          <p:cNvPr id="27" name="Text 24"/>
          <p:cNvSpPr/>
          <p:nvPr/>
        </p:nvSpPr>
        <p:spPr>
          <a:xfrm>
            <a:off x="942618" y="6391156"/>
            <a:ext cx="1860590" cy="2325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MFA Is Mandatory</a:t>
            </a:r>
            <a:endParaRPr lang="en-US" sz="1450" dirty="0"/>
          </a:p>
        </p:txBody>
      </p:sp>
      <p:sp>
        <p:nvSpPr>
          <p:cNvPr id="28" name="Text 25"/>
          <p:cNvSpPr/>
          <p:nvPr/>
        </p:nvSpPr>
        <p:spPr>
          <a:xfrm>
            <a:off x="942618" y="6690598"/>
            <a:ext cx="3975497" cy="4167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A single password without MFA enabled the entire breach. This control is not optional for critical infrastructure.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5178504" y="6242328"/>
            <a:ext cx="4273272" cy="1222177"/>
          </a:xfrm>
          <a:prstGeom prst="roundRect">
            <a:avLst>
              <a:gd name="adj" fmla="val 29231"/>
            </a:avLst>
          </a:prstGeom>
          <a:solidFill>
            <a:srgbClr val="F2EEEE"/>
          </a:solidFill>
          <a:ln/>
        </p:spPr>
      </p:sp>
      <p:sp>
        <p:nvSpPr>
          <p:cNvPr id="30" name="Text 27"/>
          <p:cNvSpPr/>
          <p:nvPr/>
        </p:nvSpPr>
        <p:spPr>
          <a:xfrm>
            <a:off x="5327332" y="6391156"/>
            <a:ext cx="1860590" cy="2325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IT/OT Interdependency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5327332" y="6690598"/>
            <a:ext cx="3975616" cy="625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The inability to process bills on the IT side effectively halted the physical flow of oil — proving that business systems and operational systems are inseparable.</a:t>
            </a:r>
            <a:endParaRPr lang="en-US" sz="1150" dirty="0"/>
          </a:p>
        </p:txBody>
      </p:sp>
      <p:sp>
        <p:nvSpPr>
          <p:cNvPr id="32" name="Shape 29"/>
          <p:cNvSpPr/>
          <p:nvPr/>
        </p:nvSpPr>
        <p:spPr>
          <a:xfrm>
            <a:off x="9563338" y="6242328"/>
            <a:ext cx="4273153" cy="1222177"/>
          </a:xfrm>
          <a:prstGeom prst="roundRect">
            <a:avLst>
              <a:gd name="adj" fmla="val 29231"/>
            </a:avLst>
          </a:prstGeom>
          <a:solidFill>
            <a:srgbClr val="F2EEEE"/>
          </a:solidFill>
          <a:ln/>
        </p:spPr>
      </p:sp>
      <p:sp>
        <p:nvSpPr>
          <p:cNvPr id="33" name="Text 30"/>
          <p:cNvSpPr/>
          <p:nvPr/>
        </p:nvSpPr>
        <p:spPr>
          <a:xfrm>
            <a:off x="9712166" y="6391156"/>
            <a:ext cx="1860590" cy="2325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Backup Integrity</a:t>
            </a:r>
            <a:endParaRPr lang="en-US" sz="1450" dirty="0"/>
          </a:p>
        </p:txBody>
      </p:sp>
      <p:sp>
        <p:nvSpPr>
          <p:cNvPr id="34" name="Text 31"/>
          <p:cNvSpPr/>
          <p:nvPr/>
        </p:nvSpPr>
        <p:spPr>
          <a:xfrm>
            <a:off x="9712166" y="6690598"/>
            <a:ext cx="3975497" cy="625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Rapid data exfiltration and encryption underscore the need for immutable, air-gapped backups that cannot be reached through compromised networks.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93790" y="912614"/>
            <a:ext cx="103108" cy="1031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48452" y="896064"/>
            <a:ext cx="541258" cy="1362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800" dirty="0">
                <a:solidFill>
                  <a:srgbClr val="00674F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CHAPTER 5</a:t>
            </a:r>
            <a:endParaRPr lang="en-US" sz="800" dirty="0"/>
          </a:p>
        </p:txBody>
      </p:sp>
      <p:sp>
        <p:nvSpPr>
          <p:cNvPr id="4" name="Text 1"/>
          <p:cNvSpPr/>
          <p:nvPr/>
        </p:nvSpPr>
        <p:spPr>
          <a:xfrm>
            <a:off x="793790" y="1104424"/>
            <a:ext cx="4990981" cy="4031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500" dirty="0">
                <a:solidFill>
                  <a:srgbClr val="00674F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Evidence-Based Mitigation Strategies</a:t>
            </a:r>
            <a:endParaRPr lang="en-US" sz="2500" dirty="0"/>
          </a:p>
        </p:txBody>
      </p:sp>
      <p:sp>
        <p:nvSpPr>
          <p:cNvPr id="5" name="Text 2"/>
          <p:cNvSpPr/>
          <p:nvPr/>
        </p:nvSpPr>
        <p:spPr>
          <a:xfrm>
            <a:off x="793790" y="1633299"/>
            <a:ext cx="13042821" cy="3405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The defense of energy infrastructure demands a shift from compliance-centric security to </a:t>
            </a:r>
            <a:pPr algn="l"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risk-centric resilience</a:t>
            </a:r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. Organizations using security AI and automation extensively in 2024 saw breach lifecycles </a:t>
            </a:r>
            <a:pPr algn="l"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00674F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80 days shorter</a:t>
            </a:r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 and costs </a:t>
            </a:r>
            <a:pPr algn="l"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00674F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USD 1.88 million lower</a:t>
            </a:r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 than those without such tools.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793790" y="2099548"/>
            <a:ext cx="4103965" cy="2418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500" dirty="0">
                <a:solidFill>
                  <a:srgbClr val="00674F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Implementation Metrics &amp; ROI of Security Controls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793790" y="2467094"/>
            <a:ext cx="13042821" cy="1731169"/>
          </a:xfrm>
          <a:prstGeom prst="roundRect">
            <a:avLst>
              <a:gd name="adj" fmla="val 1118"/>
            </a:avLst>
          </a:prstGeom>
          <a:noFill/>
          <a:ln w="7620">
            <a:solidFill>
              <a:srgbClr val="000000">
                <a:alpha val="800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01410" y="2474714"/>
            <a:ext cx="13027581" cy="285988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9" name="Text 6"/>
          <p:cNvSpPr/>
          <p:nvPr/>
        </p:nvSpPr>
        <p:spPr>
          <a:xfrm>
            <a:off x="930712" y="2532578"/>
            <a:ext cx="2604254" cy="170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3800475" y="2532578"/>
            <a:ext cx="2861072" cy="170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Effectiveness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6927056" y="2532578"/>
            <a:ext cx="2600444" cy="170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Est. Cost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9793010" y="2532578"/>
            <a:ext cx="3907036" cy="170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ROI / Value Metric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801410" y="2760702"/>
            <a:ext cx="13027581" cy="285988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14" name="Text 11"/>
          <p:cNvSpPr/>
          <p:nvPr/>
        </p:nvSpPr>
        <p:spPr>
          <a:xfrm>
            <a:off x="930712" y="2818567"/>
            <a:ext cx="2604254" cy="170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Microsegmentation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3800475" y="2818567"/>
            <a:ext cx="2861072" cy="170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80% reduction in lateral movement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6927056" y="2818567"/>
            <a:ext cx="2600444" cy="170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15–20% of security budget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9793010" y="2818567"/>
            <a:ext cx="3907036" cy="170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USD 3.50 value per USD 1 spent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01410" y="3046690"/>
            <a:ext cx="13027581" cy="285988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19" name="Text 16"/>
          <p:cNvSpPr/>
          <p:nvPr/>
        </p:nvSpPr>
        <p:spPr>
          <a:xfrm>
            <a:off x="930712" y="3104555"/>
            <a:ext cx="2604254" cy="170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Phishing-Resistant MFA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3800475" y="3104555"/>
            <a:ext cx="2861072" cy="170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Prevents 80–95% of credential breaches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6927056" y="3104555"/>
            <a:ext cx="2600444" cy="170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Moderate / SaaS-based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9793010" y="3104555"/>
            <a:ext cx="3907036" cy="170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Avoids USD 4.4M+ ransom scenarios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801410" y="3332678"/>
            <a:ext cx="13027581" cy="285988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24" name="Text 21"/>
          <p:cNvSpPr/>
          <p:nvPr/>
        </p:nvSpPr>
        <p:spPr>
          <a:xfrm>
            <a:off x="930712" y="3390543"/>
            <a:ext cx="2604254" cy="170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AI/Automation in SOC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3800475" y="3390543"/>
            <a:ext cx="2861072" cy="170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Reduces breach costs by USD 2.2M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6927056" y="3390543"/>
            <a:ext cx="2600444" cy="170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USD 30K platform + staffing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9793010" y="3390543"/>
            <a:ext cx="3907036" cy="170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4x to 10x ROI in incident prevention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801410" y="3618667"/>
            <a:ext cx="13027581" cy="285988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29" name="Text 26"/>
          <p:cNvSpPr/>
          <p:nvPr/>
        </p:nvSpPr>
        <p:spPr>
          <a:xfrm>
            <a:off x="930712" y="3676531"/>
            <a:ext cx="2604254" cy="170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Zero Trust Architecture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3800475" y="3676531"/>
            <a:ext cx="2861072" cy="170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57% reduction in breach risk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6927056" y="3676531"/>
            <a:ext cx="2600444" cy="170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High (multi-year program)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9793010" y="3676531"/>
            <a:ext cx="3907036" cy="170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15x faster recovery (MTTR)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801410" y="3904655"/>
            <a:ext cx="13027581" cy="285988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34" name="Text 31"/>
          <p:cNvSpPr/>
          <p:nvPr/>
        </p:nvSpPr>
        <p:spPr>
          <a:xfrm>
            <a:off x="930712" y="3962519"/>
            <a:ext cx="2604254" cy="170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Immutable Backups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3800475" y="3962519"/>
            <a:ext cx="2861072" cy="170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100% data loss prevention from encryption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6927056" y="3962519"/>
            <a:ext cx="2600444" cy="170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Scales with data volume</a:t>
            </a:r>
            <a:endParaRPr lang="en-US" sz="1000" dirty="0"/>
          </a:p>
        </p:txBody>
      </p:sp>
      <p:sp>
        <p:nvSpPr>
          <p:cNvPr id="37" name="Text 34"/>
          <p:cNvSpPr/>
          <p:nvPr/>
        </p:nvSpPr>
        <p:spPr>
          <a:xfrm>
            <a:off x="9793010" y="3962519"/>
            <a:ext cx="3907036" cy="170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Eliminates ransom payment necessity</a:t>
            </a:r>
            <a:endParaRPr lang="en-US" sz="1000" dirty="0"/>
          </a:p>
        </p:txBody>
      </p:sp>
      <p:sp>
        <p:nvSpPr>
          <p:cNvPr id="38" name="Text 35"/>
          <p:cNvSpPr/>
          <p:nvPr/>
        </p:nvSpPr>
        <p:spPr>
          <a:xfrm>
            <a:off x="793790" y="4323993"/>
            <a:ext cx="3490674" cy="2418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500" dirty="0">
                <a:solidFill>
                  <a:srgbClr val="00674F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Energy-Specific Dual-Framework Approach</a:t>
            </a:r>
            <a:endParaRPr lang="en-US" sz="1500" dirty="0"/>
          </a:p>
        </p:txBody>
      </p:sp>
      <p:sp>
        <p:nvSpPr>
          <p:cNvPr id="39" name="Text 36"/>
          <p:cNvSpPr/>
          <p:nvPr/>
        </p:nvSpPr>
        <p:spPr>
          <a:xfrm>
            <a:off x="793790" y="4775359"/>
            <a:ext cx="1990844" cy="2014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250" dirty="0">
                <a:solidFill>
                  <a:srgbClr val="00674F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NERC CIP — Regulatory Floor</a:t>
            </a:r>
            <a:endParaRPr lang="en-US" sz="1250" dirty="0"/>
          </a:p>
        </p:txBody>
      </p:sp>
      <p:sp>
        <p:nvSpPr>
          <p:cNvPr id="40" name="Text 37"/>
          <p:cNvSpPr/>
          <p:nvPr/>
        </p:nvSpPr>
        <p:spPr>
          <a:xfrm>
            <a:off x="793790" y="5060633"/>
            <a:ext cx="6364129" cy="3405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The NERC Critical Infrastructure Protection standards provide the mandatory legal baseline for the North American bulk electric system. Key standards include:</a:t>
            </a:r>
            <a:endParaRPr lang="en-US" sz="1000" dirty="0"/>
          </a:p>
        </p:txBody>
      </p:sp>
      <p:sp>
        <p:nvSpPr>
          <p:cNvPr id="41" name="Text 38"/>
          <p:cNvSpPr/>
          <p:nvPr/>
        </p:nvSpPr>
        <p:spPr>
          <a:xfrm>
            <a:off x="793790" y="5476518"/>
            <a:ext cx="6364129" cy="7689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300"/>
              </a:lnSpc>
              <a:buSzPct val="10000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CIP-002:</a:t>
            </a:r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 Categorization of critical BES Cyber Assets by impact level</a:t>
            </a:r>
            <a:endParaRPr lang="en-US" sz="1000" dirty="0"/>
          </a:p>
          <a:p>
            <a:pPr algn="l" marL="342900" indent="-342900">
              <a:lnSpc>
                <a:spcPts val="1300"/>
              </a:lnSpc>
              <a:buSzPct val="10000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CIP-005:</a:t>
            </a:r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 Electronic security perimeters with restricted access controls</a:t>
            </a:r>
            <a:endParaRPr lang="en-US" sz="1000" dirty="0"/>
          </a:p>
          <a:p>
            <a:pPr algn="l" marL="342900" indent="-342900">
              <a:lnSpc>
                <a:spcPts val="1300"/>
              </a:lnSpc>
              <a:buSzPct val="10000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CIP-007:</a:t>
            </a:r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 Systems security — port management, patching, malware prevention</a:t>
            </a:r>
            <a:endParaRPr lang="en-US" sz="1000" dirty="0"/>
          </a:p>
          <a:p>
            <a:pPr algn="l" marL="342900" indent="-342900">
              <a:lnSpc>
                <a:spcPts val="1300"/>
              </a:lnSpc>
              <a:buSzPct val="10000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CIP-014:</a:t>
            </a:r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 Physical security of substations and generation facilities</a:t>
            </a:r>
            <a:endParaRPr lang="en-US" sz="1000" dirty="0"/>
          </a:p>
        </p:txBody>
      </p:sp>
      <p:sp>
        <p:nvSpPr>
          <p:cNvPr id="42" name="Text 39"/>
          <p:cNvSpPr/>
          <p:nvPr/>
        </p:nvSpPr>
        <p:spPr>
          <a:xfrm>
            <a:off x="7480102" y="4775359"/>
            <a:ext cx="2319218" cy="2014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250" dirty="0">
                <a:solidFill>
                  <a:srgbClr val="00674F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ISA/IEC 62443 — Technical Design</a:t>
            </a:r>
            <a:endParaRPr lang="en-US" sz="1250" dirty="0"/>
          </a:p>
        </p:txBody>
      </p:sp>
      <p:sp>
        <p:nvSpPr>
          <p:cNvPr id="43" name="Text 40"/>
          <p:cNvSpPr/>
          <p:nvPr/>
        </p:nvSpPr>
        <p:spPr>
          <a:xfrm>
            <a:off x="7480102" y="5060633"/>
            <a:ext cx="6364129" cy="3405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International standards for ICS lifecycle security, requiring "Zones and Conduits" architecture. Security Levels define the threat actor profile defended against:</a:t>
            </a:r>
            <a:endParaRPr lang="en-US" sz="1000" dirty="0"/>
          </a:p>
        </p:txBody>
      </p:sp>
      <p:sp>
        <p:nvSpPr>
          <p:cNvPr id="44" name="Text 41"/>
          <p:cNvSpPr/>
          <p:nvPr/>
        </p:nvSpPr>
        <p:spPr>
          <a:xfrm>
            <a:off x="7480102" y="5476518"/>
            <a:ext cx="6364129" cy="7689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300"/>
              </a:lnSpc>
              <a:buSzPct val="10000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SL1:</a:t>
            </a:r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 Casual or accidental violation (basic hygiene)</a:t>
            </a:r>
            <a:endParaRPr lang="en-US" sz="1000" dirty="0"/>
          </a:p>
          <a:p>
            <a:pPr algn="l" marL="342900" indent="-342900">
              <a:lnSpc>
                <a:spcPts val="1300"/>
              </a:lnSpc>
              <a:buSzPct val="10000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SL2:</a:t>
            </a:r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 Intentional violation using simple means</a:t>
            </a:r>
            <a:endParaRPr lang="en-US" sz="1000" dirty="0"/>
          </a:p>
          <a:p>
            <a:pPr algn="l" marL="342900" indent="-342900">
              <a:lnSpc>
                <a:spcPts val="1300"/>
              </a:lnSpc>
              <a:buSzPct val="10000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SL3:</a:t>
            </a:r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 Sophisticated targeted attacks (hackers)</a:t>
            </a:r>
            <a:endParaRPr lang="en-US" sz="1000" dirty="0"/>
          </a:p>
          <a:p>
            <a:pPr algn="l" marL="342900" indent="-342900">
              <a:lnSpc>
                <a:spcPts val="1300"/>
              </a:lnSpc>
              <a:buSzPct val="10000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SL4:</a:t>
            </a:r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 Advanced means with extended resources (nation-states)</a:t>
            </a:r>
            <a:endParaRPr lang="en-US" sz="1000" dirty="0"/>
          </a:p>
        </p:txBody>
      </p:sp>
      <p:sp>
        <p:nvSpPr>
          <p:cNvPr id="45" name="Text 42"/>
          <p:cNvSpPr/>
          <p:nvPr/>
        </p:nvSpPr>
        <p:spPr>
          <a:xfrm>
            <a:off x="7480102" y="6320790"/>
            <a:ext cx="6364129" cy="170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Critical control systems should target </a:t>
            </a:r>
            <a:pPr algn="l"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00674F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SL3 or SL4</a:t>
            </a:r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.</a:t>
            </a:r>
            <a:endParaRPr lang="en-US" sz="1000" dirty="0"/>
          </a:p>
        </p:txBody>
      </p:sp>
      <p:sp>
        <p:nvSpPr>
          <p:cNvPr id="46" name="Shape 43"/>
          <p:cNvSpPr/>
          <p:nvPr/>
        </p:nvSpPr>
        <p:spPr>
          <a:xfrm>
            <a:off x="793790" y="6725112"/>
            <a:ext cx="13042821" cy="23693"/>
          </a:xfrm>
          <a:prstGeom prst="rect">
            <a:avLst/>
          </a:prstGeom>
          <a:solidFill>
            <a:srgbClr val="000000">
              <a:alpha val="50000"/>
            </a:srgbClr>
          </a:solidFill>
          <a:ln/>
        </p:spPr>
      </p:sp>
      <p:sp>
        <p:nvSpPr>
          <p:cNvPr id="47" name="Text 44"/>
          <p:cNvSpPr/>
          <p:nvPr/>
        </p:nvSpPr>
        <p:spPr>
          <a:xfrm>
            <a:off x="987266" y="6937296"/>
            <a:ext cx="12849344" cy="3405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Strategic Imperative for 2026:</a:t>
            </a:r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 The transition from "security through air-gapping" to "security through Zero Trust" is no longer optional — it is a prerequisite for operational survival. The sector must pursue </a:t>
            </a:r>
            <a:pPr algn="l"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00674F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IT/OT integrated visibility</a:t>
            </a:r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, </a:t>
            </a:r>
            <a:pPr algn="l"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00674F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autonomous response</a:t>
            </a:r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 capabilities, and </a:t>
            </a:r>
            <a:pPr algn="l"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00674F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engineered resilience</a:t>
            </a:r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 to ensure uninterrupted power delivery in the face of escalating threats.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793790" y="6842998"/>
            <a:ext cx="15240" cy="529114"/>
          </a:xfrm>
          <a:prstGeom prst="rect">
            <a:avLst/>
          </a:prstGeom>
          <a:solidFill>
            <a:srgbClr val="00674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/>
  <cp:revision>1</cp:revision>
  <dcterms:created xsi:type="dcterms:W3CDTF">2026-02-24T14:09:13Z</dcterms:created>
  <dcterms:modified xsi:type="dcterms:W3CDTF">2026-02-24T14:09:13Z</dcterms:modified>
</cp:coreProperties>
</file>