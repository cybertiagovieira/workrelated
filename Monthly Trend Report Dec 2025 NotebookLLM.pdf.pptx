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7462500" cy="9753600"/>
  <p:notesSz cx="6858000" cy="9144000"/>
  <p:embeddedFontLst>
    <p:embeddedFont>
      <p:font typeface="Arial MT Pro" charset="1" panose="020B0502020202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68850" cy="9746163"/>
          </a:xfrm>
          <a:custGeom>
            <a:avLst/>
            <a:gdLst/>
            <a:ahLst/>
            <a:cxnLst/>
            <a:rect r="r" b="b" t="t" l="l"/>
            <a:pathLst>
              <a:path h="9746163" w="17468850">
                <a:moveTo>
                  <a:pt x="0" y="0"/>
                </a:moveTo>
                <a:lnTo>
                  <a:pt x="17468850" y="0"/>
                </a:lnTo>
                <a:lnTo>
                  <a:pt x="17468850" y="9746163"/>
                </a:lnTo>
                <a:lnTo>
                  <a:pt x="0" y="9746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521624"/>
            <a:ext cx="17439723" cy="129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7"/>
              </a:lnSpc>
            </a:pPr>
            <a:r>
              <a:rPr lang="en-US" sz="3519" spc="45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ANATOMY OF A SOVEREIGN BREACH: THE MINISTRY OF INTERIOR INCIDENT (DEC 2025)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4464" y="1771916"/>
            <a:ext cx="5094208" cy="4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4" spc="45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PATIENT ZERO: PLACE BEAUVAU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6767" y="2557998"/>
            <a:ext cx="4882634" cy="406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1"/>
              </a:lnSpc>
            </a:pPr>
            <a:r>
              <a:rPr lang="en-US" sz="4763" spc="109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DEC 11-12, 2025</a:t>
            </a:r>
          </a:p>
          <a:p>
            <a:pPr algn="ctr">
              <a:lnSpc>
                <a:spcPts val="3338"/>
              </a:lnSpc>
            </a:pPr>
            <a:r>
              <a:rPr lang="en-US" sz="2598" spc="59">
                <a:solidFill>
                  <a:srgbClr val="173F31"/>
                </a:solidFill>
                <a:latin typeface="Arial MT Pro"/>
                <a:ea typeface="Arial MT Pro"/>
                <a:cs typeface="Arial MT Pro"/>
                <a:sym typeface="Arial MT Pro"/>
              </a:rPr>
              <a:t>VECTOR: Plaintext</a:t>
            </a:r>
          </a:p>
          <a:p>
            <a:pPr algn="ctr">
              <a:lnSpc>
                <a:spcPts val="3338"/>
              </a:lnSpc>
            </a:pPr>
            <a:r>
              <a:rPr lang="en-US" sz="2598" spc="59">
                <a:solidFill>
                  <a:srgbClr val="173F31"/>
                </a:solidFill>
                <a:latin typeface="Arial MT Pro"/>
                <a:ea typeface="Arial MT Pro"/>
                <a:cs typeface="Arial MT Pro"/>
                <a:sym typeface="Arial MT Pro"/>
              </a:rPr>
              <a:t>Passwords in</a:t>
            </a:r>
          </a:p>
          <a:p>
            <a:pPr algn="ctr">
              <a:lnSpc>
                <a:spcPts val="3338"/>
              </a:lnSpc>
            </a:pPr>
            <a:r>
              <a:rPr lang="en-US" sz="2598" spc="59">
                <a:solidFill>
                  <a:srgbClr val="173F31"/>
                </a:solidFill>
                <a:latin typeface="Arial MT Pro"/>
                <a:ea typeface="Arial MT Pro"/>
                <a:cs typeface="Arial MT Pro"/>
                <a:sym typeface="Arial MT Pro"/>
              </a:rPr>
              <a:t>Internal Email</a:t>
            </a:r>
          </a:p>
          <a:p>
            <a:pPr algn="ctr">
              <a:lnSpc>
                <a:spcPts val="2202"/>
              </a:lnSpc>
            </a:pPr>
            <a:r>
              <a:rPr lang="en-US" sz="1713" spc="5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The intrusion was achie-</a:t>
            </a:r>
          </a:p>
          <a:p>
            <a:pPr algn="ctr">
              <a:lnSpc>
                <a:spcPts val="2202"/>
              </a:lnSpc>
            </a:pPr>
            <a:r>
              <a:rPr lang="en-US" sz="1713" spc="5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ved by compromising</a:t>
            </a:r>
          </a:p>
          <a:p>
            <a:pPr algn="ctr">
              <a:lnSpc>
                <a:spcPts val="2202"/>
              </a:lnSpc>
            </a:pPr>
            <a:r>
              <a:rPr lang="en-US" sz="1713" spc="5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legitimate credentials</a:t>
            </a:r>
          </a:p>
          <a:p>
            <a:pPr algn="ctr">
              <a:lnSpc>
                <a:spcPts val="2202"/>
              </a:lnSpc>
            </a:pPr>
            <a:r>
              <a:rPr lang="en-US" sz="1713" spc="5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found transmitted</a:t>
            </a:r>
          </a:p>
          <a:p>
            <a:pPr algn="ctr">
              <a:lnSpc>
                <a:spcPts val="2202"/>
              </a:lnSpc>
            </a:pPr>
            <a:r>
              <a:rPr lang="en-US" sz="1713" spc="5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without encryption inside</a:t>
            </a:r>
          </a:p>
          <a:p>
            <a:pPr algn="ctr">
              <a:lnSpc>
                <a:spcPts val="2202"/>
              </a:lnSpc>
            </a:pPr>
            <a:r>
              <a:rPr lang="en-US" sz="1713" spc="5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internal ministry</a:t>
            </a:r>
          </a:p>
          <a:p>
            <a:pPr algn="ctr">
              <a:lnSpc>
                <a:spcPts val="2202"/>
              </a:lnSpc>
            </a:pPr>
            <a:r>
              <a:rPr lang="en-US" sz="1713" spc="5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communications.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085" y="7207104"/>
            <a:ext cx="4818936" cy="186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2691" spc="24">
                <a:solidFill>
                  <a:srgbClr val="142B22"/>
                </a:solidFill>
                <a:latin typeface="Arial MT Pro"/>
                <a:ea typeface="Arial MT Pro"/>
                <a:cs typeface="Arial MT Pro"/>
                <a:sym typeface="Arial MT Pro"/>
              </a:rPr>
              <a:t>TARGET: Ministry Professional</a:t>
            </a:r>
          </a:p>
          <a:p>
            <a:pPr algn="l">
              <a:lnSpc>
                <a:spcPts val="3238"/>
              </a:lnSpc>
            </a:pPr>
            <a:r>
              <a:rPr lang="en-US" sz="2691" spc="24">
                <a:solidFill>
                  <a:srgbClr val="142B22"/>
                </a:solidFill>
                <a:latin typeface="Arial MT Pro"/>
                <a:ea typeface="Arial MT Pro"/>
                <a:cs typeface="Arial MT Pro"/>
                <a:sym typeface="Arial MT Pro"/>
              </a:rPr>
              <a:t>Messaging Infrastructure</a:t>
            </a:r>
          </a:p>
          <a:p>
            <a:pPr algn="l">
              <a:lnSpc>
                <a:spcPts val="2003"/>
              </a:lnSpc>
            </a:pPr>
            <a:r>
              <a:rPr lang="en-US" sz="1665" spc="6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Attackers successfully infiltrated the internal</a:t>
            </a:r>
          </a:p>
          <a:p>
            <a:pPr algn="l">
              <a:lnSpc>
                <a:spcPts val="2003"/>
              </a:lnSpc>
            </a:pPr>
            <a:r>
              <a:rPr lang="en-US" sz="1665" spc="6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messaging systems used by police and</a:t>
            </a:r>
          </a:p>
          <a:p>
            <a:pPr algn="l">
              <a:lnSpc>
                <a:spcPts val="2003"/>
              </a:lnSpc>
            </a:pPr>
            <a:r>
              <a:rPr lang="en-US" sz="1665" spc="6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administrative officials to pivot to other critical</a:t>
            </a:r>
          </a:p>
          <a:p>
            <a:pPr algn="l">
              <a:lnSpc>
                <a:spcPts val="2003"/>
              </a:lnSpc>
            </a:pPr>
            <a:r>
              <a:rPr lang="en-US" sz="1665" spc="61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applications.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5151" y="1769867"/>
            <a:ext cx="4406027" cy="45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0"/>
              </a:lnSpc>
            </a:pPr>
            <a:r>
              <a:rPr lang="en-US" sz="2379" spc="71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CRITICAL ASSETS EXPOSED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8358" y="2554339"/>
            <a:ext cx="769858" cy="64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3"/>
              </a:lnSpc>
            </a:pPr>
            <a:r>
              <a:rPr lang="en-US" sz="3409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TAJ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63765" y="3281568"/>
            <a:ext cx="1267778" cy="86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4" spc="31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CRIMINAL</a:t>
            </a:r>
          </a:p>
          <a:p>
            <a:pPr algn="l">
              <a:lnSpc>
                <a:spcPts val="2193"/>
              </a:lnSpc>
            </a:pPr>
            <a:r>
              <a:rPr lang="en-US" sz="1824" spc="31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RECORDS</a:t>
            </a:r>
          </a:p>
          <a:p>
            <a:pPr algn="l">
              <a:lnSpc>
                <a:spcPts val="2193"/>
              </a:lnSpc>
            </a:pPr>
            <a:r>
              <a:rPr lang="en-US" sz="1824" spc="31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DATABASE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7420" y="4392976"/>
            <a:ext cx="3161467" cy="124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723" spc="4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The judicial history of</a:t>
            </a:r>
          </a:p>
          <a:p>
            <a:pPr algn="l">
              <a:lnSpc>
                <a:spcPts val="1902"/>
              </a:lnSpc>
            </a:pPr>
            <a:r>
              <a:rPr lang="en-US" sz="1723" spc="4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individuals involved in</a:t>
            </a:r>
          </a:p>
          <a:p>
            <a:pPr algn="l">
              <a:lnSpc>
                <a:spcPts val="1902"/>
              </a:lnSpc>
            </a:pPr>
            <a:r>
              <a:rPr lang="en-US" sz="1723" spc="4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criminal proceedings, including</a:t>
            </a:r>
          </a:p>
          <a:p>
            <a:pPr algn="l">
              <a:lnSpc>
                <a:spcPts val="1902"/>
              </a:lnSpc>
            </a:pPr>
            <a:r>
              <a:rPr lang="en-US" sz="1723" spc="4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both victims and perpetrators,</a:t>
            </a:r>
          </a:p>
          <a:p>
            <a:pPr algn="l">
              <a:lnSpc>
                <a:spcPts val="1902"/>
              </a:lnSpc>
            </a:pPr>
            <a:r>
              <a:rPr lang="en-US" sz="1723" spc="4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was accessed.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3877" y="2504659"/>
            <a:ext cx="1032272" cy="7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9"/>
              </a:lnSpc>
            </a:pPr>
            <a:r>
              <a:rPr lang="en-US" sz="406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FPR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51912" y="3237638"/>
            <a:ext cx="1039892" cy="35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2"/>
              </a:lnSpc>
            </a:pPr>
            <a:r>
              <a:rPr lang="en-US" sz="1859" spc="22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WANTED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49491" y="3560645"/>
            <a:ext cx="1171813" cy="58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1807" spc="56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PERSONS</a:t>
            </a:r>
          </a:p>
          <a:p>
            <a:pPr algn="l">
              <a:lnSpc>
                <a:spcPts val="2117"/>
              </a:lnSpc>
            </a:pPr>
            <a:r>
              <a:rPr lang="en-US" sz="1720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FILE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11360" y="4405275"/>
            <a:ext cx="3018354" cy="123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736" spc="38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This compromised database</a:t>
            </a:r>
          </a:p>
          <a:p>
            <a:pPr algn="l">
              <a:lnSpc>
                <a:spcPts val="1882"/>
              </a:lnSpc>
            </a:pPr>
            <a:r>
              <a:rPr lang="en-US" sz="1736" spc="38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catalogs wanted persons,</a:t>
            </a:r>
          </a:p>
          <a:p>
            <a:pPr algn="l">
              <a:lnSpc>
                <a:spcPts val="1882"/>
              </a:lnSpc>
            </a:pPr>
            <a:r>
              <a:rPr lang="en-US" sz="1736" spc="38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including those under state</a:t>
            </a:r>
          </a:p>
          <a:p>
            <a:pPr algn="l">
              <a:lnSpc>
                <a:spcPts val="1882"/>
              </a:lnSpc>
            </a:pPr>
            <a:r>
              <a:rPr lang="en-US" sz="1736" spc="38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surveillance, directly threa-</a:t>
            </a:r>
          </a:p>
          <a:p>
            <a:pPr algn="l">
              <a:lnSpc>
                <a:spcPts val="1882"/>
              </a:lnSpc>
            </a:pPr>
            <a:r>
              <a:rPr lang="en-US" sz="1736" spc="38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tening AML/KYC frameworks.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08144" y="6288589"/>
            <a:ext cx="7158395" cy="47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479" spc="4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THE "FOG OF WAR": CLAIMED VS. CONFIRMED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94438" y="7360643"/>
            <a:ext cx="1092994" cy="31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</a:pPr>
            <a:r>
              <a:rPr lang="en-US" sz="161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ATTACKER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01774" y="7633942"/>
            <a:ext cx="620554" cy="28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0"/>
              </a:lnSpc>
            </a:pPr>
            <a:r>
              <a:rPr lang="en-US" sz="1529" spc="42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CLAIM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9346" y="8485799"/>
            <a:ext cx="1553051" cy="49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3"/>
              </a:lnSpc>
            </a:pPr>
            <a:r>
              <a:rPr lang="en-US" sz="1574" spc="6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OFFICIAL</a:t>
            </a:r>
          </a:p>
          <a:p>
            <a:pPr algn="r">
              <a:lnSpc>
                <a:spcPts val="1803"/>
              </a:lnSpc>
            </a:pPr>
            <a:r>
              <a:rPr lang="en-US" sz="1574" spc="6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CONFIRMATION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36113" y="6696542"/>
            <a:ext cx="1709738" cy="45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394" spc="2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DATA LOSS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77177" y="7421869"/>
            <a:ext cx="4473773" cy="40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 spc="68">
                <a:solidFill>
                  <a:srgbClr val="DCF3EA"/>
                </a:solidFill>
                <a:latin typeface="Arial MT Pro"/>
                <a:ea typeface="Arial MT Pro"/>
                <a:cs typeface="Arial MT Pro"/>
                <a:sym typeface="Arial MT Pro"/>
              </a:rPr>
              <a:t>16.4 MILLION CITIZEN RECORDS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35577" y="7958510"/>
            <a:ext cx="1214438" cy="26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5"/>
              </a:lnSpc>
            </a:pPr>
            <a:r>
              <a:rPr lang="en-US" sz="1346" spc="36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To sow discord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55329" y="8454771"/>
            <a:ext cx="4065508" cy="39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sz="2079" spc="8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DOZENS OF SENSITIVE FILES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20820" y="8831979"/>
            <a:ext cx="2180153" cy="26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4"/>
              </a:lnSpc>
            </a:pPr>
            <a:r>
              <a:rPr lang="en-US" sz="1346" spc="32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Highly Sensitive Exfiltration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73673" y="1774417"/>
            <a:ext cx="4256246" cy="45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0"/>
              </a:lnSpc>
            </a:pPr>
            <a:r>
              <a:rPr lang="en-US" sz="2364" spc="78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ATTRIBUTION &amp; RESPONSE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53413" y="2630273"/>
            <a:ext cx="2485787" cy="241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675" spc="64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ARREST:</a:t>
            </a:r>
          </a:p>
          <a:p>
            <a:pPr algn="l">
              <a:lnSpc>
                <a:spcPts val="3456"/>
              </a:lnSpc>
            </a:pPr>
            <a:r>
              <a:rPr lang="en-US" sz="2964" spc="-2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Dec 17, 2025</a:t>
            </a:r>
          </a:p>
          <a:p>
            <a:pPr algn="l">
              <a:lnSpc>
                <a:spcPts val="2024"/>
              </a:lnSpc>
            </a:pPr>
            <a:r>
              <a:rPr lang="en-US" sz="1736" spc="43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French law enforcement</a:t>
            </a:r>
          </a:p>
          <a:p>
            <a:pPr algn="l">
              <a:lnSpc>
                <a:spcPts val="2040"/>
              </a:lnSpc>
            </a:pPr>
            <a:r>
              <a:rPr lang="en-US" sz="1749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apprehended the</a:t>
            </a:r>
          </a:p>
          <a:p>
            <a:pPr algn="l">
              <a:lnSpc>
                <a:spcPts val="2040"/>
              </a:lnSpc>
            </a:pPr>
            <a:r>
              <a:rPr lang="en-US" sz="1749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primary suspect less</a:t>
            </a:r>
          </a:p>
          <a:p>
            <a:pPr algn="l">
              <a:lnSpc>
                <a:spcPts val="2040"/>
              </a:lnSpc>
            </a:pPr>
            <a:r>
              <a:rPr lang="en-US" sz="1749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than a week after the</a:t>
            </a:r>
          </a:p>
          <a:p>
            <a:pPr algn="l">
              <a:lnSpc>
                <a:spcPts val="2040"/>
              </a:lnSpc>
            </a:pPr>
            <a:r>
              <a:rPr lang="en-US" sz="1749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initial breach was</a:t>
            </a:r>
          </a:p>
          <a:p>
            <a:pPr algn="l">
              <a:lnSpc>
                <a:spcPts val="2040"/>
              </a:lnSpc>
            </a:pPr>
            <a:r>
              <a:rPr lang="en-US" sz="1749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detected.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43013" y="5439269"/>
            <a:ext cx="4725837" cy="1879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90" spc="45">
                <a:solidFill>
                  <a:srgbClr val="143C2E"/>
                </a:solidFill>
                <a:latin typeface="Arial MT Pro"/>
                <a:ea typeface="Arial MT Pro"/>
                <a:cs typeface="Arial MT Pro"/>
                <a:sym typeface="Arial MT Pro"/>
              </a:rPr>
              <a:t>PROFILE: 22-Year-Old</a:t>
            </a:r>
          </a:p>
          <a:p>
            <a:pPr algn="l">
              <a:lnSpc>
                <a:spcPts val="2527"/>
              </a:lnSpc>
            </a:pPr>
            <a:r>
              <a:rPr lang="en-US" sz="1990" spc="45">
                <a:solidFill>
                  <a:srgbClr val="143C2E"/>
                </a:solidFill>
                <a:latin typeface="Arial MT Pro"/>
                <a:ea typeface="Arial MT Pro"/>
                <a:cs typeface="Arial MT Pro"/>
                <a:sym typeface="Arial MT Pro"/>
              </a:rPr>
              <a:t>Multi-Offender</a:t>
            </a:r>
          </a:p>
          <a:p>
            <a:pPr algn="l">
              <a:lnSpc>
                <a:spcPts val="2527"/>
              </a:lnSpc>
            </a:pPr>
            <a:r>
              <a:rPr lang="en-US" sz="1990" spc="45">
                <a:solidFill>
                  <a:srgbClr val="143C2E"/>
                </a:solidFill>
                <a:latin typeface="Arial MT Pro"/>
                <a:ea typeface="Arial MT Pro"/>
                <a:cs typeface="Arial MT Pro"/>
                <a:sym typeface="Arial MT Pro"/>
              </a:rPr>
              <a:t>The suspect, born in 2003, had a prior</a:t>
            </a:r>
          </a:p>
          <a:p>
            <a:pPr algn="l">
              <a:lnSpc>
                <a:spcPts val="2527"/>
              </a:lnSpc>
            </a:pPr>
            <a:r>
              <a:rPr lang="en-US" sz="1990" spc="45">
                <a:solidFill>
                  <a:srgbClr val="143C2E"/>
                </a:solidFill>
                <a:latin typeface="Arial MT Pro"/>
                <a:ea typeface="Arial MT Pro"/>
                <a:cs typeface="Arial MT Pro"/>
                <a:sym typeface="Arial MT Pro"/>
              </a:rPr>
              <a:t>history of convictions for similar cybercrime</a:t>
            </a:r>
          </a:p>
          <a:p>
            <a:pPr algn="l">
              <a:lnSpc>
                <a:spcPts val="2167"/>
              </a:lnSpc>
            </a:pPr>
            <a:r>
              <a:rPr lang="en-US" sz="1706" spc="42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offenses earlier in 2025.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36961" y="7348789"/>
            <a:ext cx="4651177" cy="18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6" spc="21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CONNECTION TO “ORGANIZED</a:t>
            </a:r>
          </a:p>
          <a:p>
            <a:pPr algn="l">
              <a:lnSpc>
                <a:spcPts val="2892"/>
              </a:lnSpc>
            </a:pPr>
            <a:r>
              <a:rPr lang="en-US" sz="2416" spc="21">
                <a:solidFill>
                  <a:srgbClr val="228360"/>
                </a:solidFill>
                <a:latin typeface="Arial MT Pro"/>
                <a:ea typeface="Arial MT Pro"/>
                <a:cs typeface="Arial MT Pro"/>
                <a:sym typeface="Arial MT Pro"/>
              </a:rPr>
              <a:t>GROUP" &amp; BREACHFORUMS</a:t>
            </a:r>
          </a:p>
          <a:p>
            <a:pPr algn="l">
              <a:lnSpc>
                <a:spcPts val="2074"/>
              </a:lnSpc>
            </a:pPr>
            <a:r>
              <a:rPr lang="en-US" sz="1732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The suspect was charged as part of a larger</a:t>
            </a:r>
          </a:p>
          <a:p>
            <a:pPr algn="l">
              <a:lnSpc>
                <a:spcPts val="2074"/>
              </a:lnSpc>
            </a:pPr>
            <a:r>
              <a:rPr lang="en-US" sz="1732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entity, and the data leak claims were initially</a:t>
            </a:r>
          </a:p>
          <a:p>
            <a:pPr algn="l">
              <a:lnSpc>
                <a:spcPts val="2074"/>
              </a:lnSpc>
            </a:pPr>
            <a:r>
              <a:rPr lang="en-US" sz="1732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posted on the notorious Breach Forums</a:t>
            </a:r>
          </a:p>
          <a:p>
            <a:pPr algn="l">
              <a:lnSpc>
                <a:spcPts val="2074"/>
              </a:lnSpc>
            </a:pPr>
            <a:r>
              <a:rPr lang="en-US" sz="1732" spc="34">
                <a:solidFill>
                  <a:srgbClr val="1F1E1C"/>
                </a:solidFill>
                <a:latin typeface="Arial MT Pro"/>
                <a:ea typeface="Arial MT Pro"/>
                <a:cs typeface="Arial MT Pro"/>
                <a:sym typeface="Arial MT Pro"/>
              </a:rPr>
              <a:t>cybercrime forum.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DAG-k0Ekiig</dc:identifier>
  <dcterms:modified xsi:type="dcterms:W3CDTF">2011-08-01T06:04:30Z</dcterms:modified>
  <cp:revision>1</cp:revision>
  <dc:title>Monthly Trend Report Dec 2025 NotebookLLM.pdf</dc:title>
</cp:coreProperties>
</file>