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26212800" cy="14630400"/>
  <p:notesSz cx="6858000" cy="9144000"/>
  <p:embeddedFontLst>
    <p:embeddedFont>
      <p:font typeface="Arial MT Pro Bold" charset="1" panose="020B0802020202020204"/>
      <p:regular r:id="rId11"/>
    </p:embeddedFont>
    <p:embeddedFont>
      <p:font typeface="Arial MT Pro" charset="1" panose="020B05020202020202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12800" cy="14624558"/>
          </a:xfrm>
          <a:custGeom>
            <a:avLst/>
            <a:gdLst/>
            <a:ahLst/>
            <a:cxnLst/>
            <a:rect r="r" b="b" t="t" l="l"/>
            <a:pathLst>
              <a:path h="14624558" w="26212800">
                <a:moveTo>
                  <a:pt x="0" y="0"/>
                </a:moveTo>
                <a:lnTo>
                  <a:pt x="26212800" y="0"/>
                </a:lnTo>
                <a:lnTo>
                  <a:pt x="26212800" y="14624558"/>
                </a:lnTo>
                <a:lnTo>
                  <a:pt x="0" y="14624558"/>
                </a:lnTo>
                <a:lnTo>
                  <a:pt x="0" y="0"/>
                </a:lnTo>
                <a:close/>
              </a:path>
            </a:pathLst>
          </a:custGeom>
          <a:blipFill>
            <a:blip r:embed="rId2"/>
            <a:stretch>
              <a:fillRect l="0" t="0" r="0" b="0"/>
            </a:stretch>
          </a:blipFill>
        </p:spPr>
      </p:sp>
      <p:sp>
        <p:nvSpPr>
          <p:cNvPr name="TextBox 3" id="3"/>
          <p:cNvSpPr txBox="true"/>
          <p:nvPr/>
        </p:nvSpPr>
        <p:spPr>
          <a:xfrm rot="0">
            <a:off x="1594361" y="400032"/>
            <a:ext cx="23008084" cy="1109157"/>
          </a:xfrm>
          <a:prstGeom prst="rect">
            <a:avLst/>
          </a:prstGeom>
        </p:spPr>
        <p:txBody>
          <a:bodyPr anchor="t" rtlCol="false" tIns="0" lIns="0" bIns="0" rIns="0">
            <a:spAutoFit/>
          </a:bodyPr>
          <a:lstStyle/>
          <a:p>
            <a:pPr algn="ctr">
              <a:lnSpc>
                <a:spcPts val="8165"/>
              </a:lnSpc>
            </a:pPr>
            <a:r>
              <a:rPr lang="en-US" b="true" sz="5832">
                <a:solidFill>
                  <a:srgbClr val="282724"/>
                </a:solidFill>
                <a:latin typeface="Arial MT Pro Bold"/>
                <a:ea typeface="Arial MT Pro Bold"/>
                <a:cs typeface="Arial MT Pro Bold"/>
                <a:sym typeface="Arial MT Pro Bold"/>
              </a:rPr>
              <a:t>The New Insider Threat: How State Actors Infiltrate as Employees</a:t>
            </a:r>
          </a:p>
        </p:txBody>
      </p:sp>
      <p:sp>
        <p:nvSpPr>
          <p:cNvPr name="TextBox 4" id="4"/>
          <p:cNvSpPr txBox="true"/>
          <p:nvPr/>
        </p:nvSpPr>
        <p:spPr>
          <a:xfrm rot="0">
            <a:off x="9021529" y="1986715"/>
            <a:ext cx="8153698" cy="731186"/>
          </a:xfrm>
          <a:prstGeom prst="rect">
            <a:avLst/>
          </a:prstGeom>
        </p:spPr>
        <p:txBody>
          <a:bodyPr anchor="t" rtlCol="false" tIns="0" lIns="0" bIns="0" rIns="0">
            <a:spAutoFit/>
          </a:bodyPr>
          <a:lstStyle/>
          <a:p>
            <a:pPr algn="ctr">
              <a:lnSpc>
                <a:spcPts val="5373"/>
              </a:lnSpc>
            </a:pPr>
            <a:r>
              <a:rPr lang="en-US" b="true" sz="3838" spc="-11">
                <a:solidFill>
                  <a:srgbClr val="282724"/>
                </a:solidFill>
                <a:latin typeface="Arial MT Pro Bold"/>
                <a:ea typeface="Arial MT Pro Bold"/>
                <a:cs typeface="Arial MT Pro Bold"/>
                <a:sym typeface="Arial MT Pro Bold"/>
              </a:rPr>
              <a:t>The Al-Powered Infiltration Pipeline</a:t>
            </a:r>
          </a:p>
        </p:txBody>
      </p:sp>
      <p:sp>
        <p:nvSpPr>
          <p:cNvPr name="TextBox 5" id="5"/>
          <p:cNvSpPr txBox="true"/>
          <p:nvPr/>
        </p:nvSpPr>
        <p:spPr>
          <a:xfrm rot="0">
            <a:off x="2343031" y="3685516"/>
            <a:ext cx="310753" cy="470250"/>
          </a:xfrm>
          <a:prstGeom prst="rect">
            <a:avLst/>
          </a:prstGeom>
        </p:spPr>
        <p:txBody>
          <a:bodyPr anchor="t" rtlCol="false" tIns="0" lIns="0" bIns="0" rIns="0">
            <a:spAutoFit/>
          </a:bodyPr>
          <a:lstStyle/>
          <a:p>
            <a:pPr algn="ctr">
              <a:lnSpc>
                <a:spcPts val="3480"/>
              </a:lnSpc>
            </a:pPr>
            <a:r>
              <a:rPr lang="en-US" sz="2486" spc="256">
                <a:solidFill>
                  <a:srgbClr val="536069"/>
                </a:solidFill>
                <a:latin typeface="Arial MT Pro"/>
                <a:ea typeface="Arial MT Pro"/>
                <a:cs typeface="Arial MT Pro"/>
                <a:sym typeface="Arial MT Pro"/>
              </a:rPr>
              <a:t>in</a:t>
            </a:r>
          </a:p>
        </p:txBody>
      </p:sp>
      <p:sp>
        <p:nvSpPr>
          <p:cNvPr name="TextBox 6" id="6"/>
          <p:cNvSpPr txBox="true"/>
          <p:nvPr/>
        </p:nvSpPr>
        <p:spPr>
          <a:xfrm rot="0">
            <a:off x="14335134" y="3517223"/>
            <a:ext cx="229344" cy="622376"/>
          </a:xfrm>
          <a:prstGeom prst="rect">
            <a:avLst/>
          </a:prstGeom>
        </p:spPr>
        <p:txBody>
          <a:bodyPr anchor="t" rtlCol="false" tIns="0" lIns="0" bIns="0" rIns="0">
            <a:spAutoFit/>
          </a:bodyPr>
          <a:lstStyle/>
          <a:p>
            <a:pPr algn="ctr">
              <a:lnSpc>
                <a:spcPts val="4545"/>
              </a:lnSpc>
            </a:pPr>
            <a:r>
              <a:rPr lang="en-US" sz="3246">
                <a:solidFill>
                  <a:srgbClr val="8E979F"/>
                </a:solidFill>
                <a:latin typeface="Arial MT Pro"/>
                <a:ea typeface="Arial MT Pro"/>
                <a:cs typeface="Arial MT Pro"/>
                <a:sym typeface="Arial MT Pro"/>
              </a:rPr>
              <a:t>7</a:t>
            </a:r>
          </a:p>
        </p:txBody>
      </p:sp>
      <p:sp>
        <p:nvSpPr>
          <p:cNvPr name="TextBox 7" id="7"/>
          <p:cNvSpPr txBox="true"/>
          <p:nvPr/>
        </p:nvSpPr>
        <p:spPr>
          <a:xfrm rot="0">
            <a:off x="3243867" y="4985984"/>
            <a:ext cx="294829" cy="562395"/>
          </a:xfrm>
          <a:prstGeom prst="rect">
            <a:avLst/>
          </a:prstGeom>
        </p:spPr>
        <p:txBody>
          <a:bodyPr anchor="t" rtlCol="false" tIns="0" lIns="0" bIns="0" rIns="0">
            <a:spAutoFit/>
          </a:bodyPr>
          <a:lstStyle/>
          <a:p>
            <a:pPr algn="ctr">
              <a:lnSpc>
                <a:spcPts val="4176"/>
              </a:lnSpc>
            </a:pPr>
            <a:r>
              <a:rPr lang="en-US" sz="2983">
                <a:solidFill>
                  <a:srgbClr val="CDD2D4"/>
                </a:solidFill>
                <a:latin typeface="Arial MT Pro"/>
                <a:ea typeface="Arial MT Pro"/>
                <a:cs typeface="Arial MT Pro"/>
                <a:sym typeface="Arial MT Pro"/>
              </a:rPr>
              <a:t>in</a:t>
            </a:r>
          </a:p>
        </p:txBody>
      </p:sp>
      <p:sp>
        <p:nvSpPr>
          <p:cNvPr name="TextBox 8" id="8"/>
          <p:cNvSpPr txBox="true"/>
          <p:nvPr/>
        </p:nvSpPr>
        <p:spPr>
          <a:xfrm rot="0">
            <a:off x="1408938" y="5770150"/>
            <a:ext cx="6725107" cy="3040698"/>
          </a:xfrm>
          <a:prstGeom prst="rect">
            <a:avLst/>
          </a:prstGeom>
        </p:spPr>
        <p:txBody>
          <a:bodyPr anchor="t" rtlCol="false" tIns="0" lIns="0" bIns="0" rIns="0">
            <a:spAutoFit/>
          </a:bodyPr>
          <a:lstStyle/>
          <a:p>
            <a:pPr algn="l">
              <a:lnSpc>
                <a:spcPts val="3432"/>
              </a:lnSpc>
            </a:pPr>
            <a:r>
              <a:rPr lang="en-US" b="true" sz="2499">
                <a:solidFill>
                  <a:srgbClr val="282724"/>
                </a:solidFill>
                <a:latin typeface="Arial MT Pro Bold"/>
                <a:ea typeface="Arial MT Pro Bold"/>
                <a:cs typeface="Arial MT Pro Bold"/>
                <a:sym typeface="Arial MT Pro Bold"/>
              </a:rPr>
              <a:t>STAGE 1: AI Persona Creation</a:t>
            </a:r>
          </a:p>
          <a:p>
            <a:pPr algn="l">
              <a:lnSpc>
                <a:spcPts val="3432"/>
              </a:lnSpc>
            </a:pPr>
            <a:r>
              <a:rPr lang="en-US" sz="2499">
                <a:solidFill>
                  <a:srgbClr val="282724"/>
                </a:solidFill>
                <a:latin typeface="Arial MT Pro"/>
                <a:ea typeface="Arial MT Pro"/>
                <a:cs typeface="Arial MT Pro"/>
                <a:sym typeface="Arial MT Pro"/>
              </a:rPr>
              <a:t>State actors use Al to conduct Open-Source intelligence (OSINT), scraping public data from </a:t>
            </a:r>
            <a:r>
              <a:rPr lang="en-US" sz="2499">
                <a:solidFill>
                  <a:srgbClr val="282724"/>
                </a:solidFill>
                <a:latin typeface="Arial MT Pro"/>
                <a:ea typeface="Arial MT Pro"/>
                <a:cs typeface="Arial MT Pro"/>
                <a:sym typeface="Arial MT Pro"/>
              </a:rPr>
              <a:t>professional networks and social media to create </a:t>
            </a:r>
            <a:r>
              <a:rPr lang="en-US" sz="2499">
                <a:solidFill>
                  <a:srgbClr val="282724"/>
                </a:solidFill>
                <a:latin typeface="Arial MT Pro"/>
                <a:ea typeface="Arial MT Pro"/>
                <a:cs typeface="Arial MT Pro"/>
                <a:sym typeface="Arial MT Pro"/>
              </a:rPr>
              <a:t>synthetic, yet highly plausible, identities with convincing work histories and online footprints.</a:t>
            </a:r>
          </a:p>
        </p:txBody>
      </p:sp>
      <p:sp>
        <p:nvSpPr>
          <p:cNvPr name="TextBox 9" id="9"/>
          <p:cNvSpPr txBox="true"/>
          <p:nvPr/>
        </p:nvSpPr>
        <p:spPr>
          <a:xfrm rot="0">
            <a:off x="9645484" y="5910238"/>
            <a:ext cx="6938214" cy="2499043"/>
          </a:xfrm>
          <a:prstGeom prst="rect">
            <a:avLst/>
          </a:prstGeom>
        </p:spPr>
        <p:txBody>
          <a:bodyPr anchor="t" rtlCol="false" tIns="0" lIns="0" bIns="0" rIns="0">
            <a:spAutoFit/>
          </a:bodyPr>
          <a:lstStyle/>
          <a:p>
            <a:pPr algn="l">
              <a:lnSpc>
                <a:spcPts val="3272"/>
              </a:lnSpc>
            </a:pPr>
            <a:r>
              <a:rPr lang="en-US" b="true" sz="2499" spc="9">
                <a:solidFill>
                  <a:srgbClr val="282724"/>
                </a:solidFill>
                <a:latin typeface="Arial MT Pro Bold"/>
                <a:ea typeface="Arial MT Pro Bold"/>
                <a:cs typeface="Arial MT Pro Bold"/>
                <a:sym typeface="Arial MT Pro Bold"/>
              </a:rPr>
              <a:t>STAGE 2: Deepfake-Assisted Interview</a:t>
            </a:r>
          </a:p>
          <a:p>
            <a:pPr algn="l">
              <a:lnSpc>
                <a:spcPts val="3272"/>
              </a:lnSpc>
            </a:pPr>
            <a:r>
              <a:rPr lang="en-US" sz="2499" spc="9">
                <a:solidFill>
                  <a:srgbClr val="282724"/>
                </a:solidFill>
                <a:latin typeface="Arial MT Pro"/>
                <a:ea typeface="Arial MT Pro"/>
                <a:cs typeface="Arial MT Pro"/>
                <a:sym typeface="Arial MT Pro"/>
              </a:rPr>
              <a:t>The operative uses sophisticated deepfake audio </a:t>
            </a:r>
            <a:r>
              <a:rPr lang="en-US" sz="2499" spc="9">
                <a:solidFill>
                  <a:srgbClr val="282724"/>
                </a:solidFill>
                <a:latin typeface="Arial MT Pro"/>
                <a:ea typeface="Arial MT Pro"/>
                <a:cs typeface="Arial MT Pro"/>
                <a:sym typeface="Arial MT Pro"/>
              </a:rPr>
              <a:t>and video technology to successfully pass remote HR screening and technical interviews, impersonating the Al-generated persona to appear as a qualified and legitimate candidate.</a:t>
            </a:r>
          </a:p>
        </p:txBody>
      </p:sp>
      <p:sp>
        <p:nvSpPr>
          <p:cNvPr name="TextBox 10" id="10"/>
          <p:cNvSpPr txBox="true"/>
          <p:nvPr/>
        </p:nvSpPr>
        <p:spPr>
          <a:xfrm rot="0">
            <a:off x="18098174" y="5910238"/>
            <a:ext cx="6961065" cy="2049145"/>
          </a:xfrm>
          <a:prstGeom prst="rect">
            <a:avLst/>
          </a:prstGeom>
        </p:spPr>
        <p:txBody>
          <a:bodyPr anchor="t" rtlCol="false" tIns="0" lIns="0" bIns="0" rIns="0">
            <a:spAutoFit/>
          </a:bodyPr>
          <a:lstStyle/>
          <a:p>
            <a:pPr algn="l">
              <a:lnSpc>
                <a:spcPts val="3214"/>
              </a:lnSpc>
            </a:pPr>
            <a:r>
              <a:rPr lang="en-US" b="true" sz="2499">
                <a:solidFill>
                  <a:srgbClr val="282724"/>
                </a:solidFill>
                <a:latin typeface="Arial MT Pro Bold"/>
                <a:ea typeface="Arial MT Pro Bold"/>
                <a:cs typeface="Arial MT Pro Bold"/>
                <a:sym typeface="Arial MT Pro Bold"/>
              </a:rPr>
              <a:t>STAGE 3: Legitimate Access &amp; Operation</a:t>
            </a:r>
          </a:p>
          <a:p>
            <a:pPr algn="l">
              <a:lnSpc>
                <a:spcPts val="3214"/>
              </a:lnSpc>
            </a:pPr>
            <a:r>
              <a:rPr lang="en-US" sz="2499">
                <a:solidFill>
                  <a:srgbClr val="282724"/>
                </a:solidFill>
                <a:latin typeface="Arial MT Pro"/>
                <a:ea typeface="Arial MT Pro"/>
                <a:cs typeface="Arial MT Pro"/>
                <a:sym typeface="Arial MT Pro"/>
              </a:rPr>
              <a:t>Once hired, the state-sponsored operative gains legitimate, privileged access to internal networks, </a:t>
            </a:r>
            <a:r>
              <a:rPr lang="en-US" sz="2499">
                <a:solidFill>
                  <a:srgbClr val="282724"/>
                </a:solidFill>
                <a:latin typeface="Arial MT Pro"/>
                <a:ea typeface="Arial MT Pro"/>
                <a:cs typeface="Arial MT Pro"/>
                <a:sym typeface="Arial MT Pro"/>
              </a:rPr>
              <a:t>sensitive data, and IP, acting as a trusted insider </a:t>
            </a:r>
            <a:r>
              <a:rPr lang="en-US" sz="2499">
                <a:solidFill>
                  <a:srgbClr val="282724"/>
                </a:solidFill>
                <a:latin typeface="Arial MT Pro"/>
                <a:ea typeface="Arial MT Pro"/>
                <a:cs typeface="Arial MT Pro"/>
                <a:sym typeface="Arial MT Pro"/>
              </a:rPr>
              <a:t>to conduct espionage or financial schemes.</a:t>
            </a:r>
          </a:p>
        </p:txBody>
      </p:sp>
      <p:sp>
        <p:nvSpPr>
          <p:cNvPr name="TextBox 11" id="11"/>
          <p:cNvSpPr txBox="true"/>
          <p:nvPr/>
        </p:nvSpPr>
        <p:spPr>
          <a:xfrm rot="0">
            <a:off x="1408938" y="10391997"/>
            <a:ext cx="7949654" cy="581025"/>
          </a:xfrm>
          <a:prstGeom prst="rect">
            <a:avLst/>
          </a:prstGeom>
        </p:spPr>
        <p:txBody>
          <a:bodyPr anchor="t" rtlCol="false" tIns="0" lIns="0" bIns="0" rIns="0">
            <a:spAutoFit/>
          </a:bodyPr>
          <a:lstStyle/>
          <a:p>
            <a:pPr algn="ctr">
              <a:lnSpc>
                <a:spcPts val="4200"/>
              </a:lnSpc>
            </a:pPr>
            <a:r>
              <a:rPr lang="en-US" b="true" sz="3000" spc="6">
                <a:solidFill>
                  <a:srgbClr val="282724"/>
                </a:solidFill>
                <a:latin typeface="Arial MT Pro Bold"/>
                <a:ea typeface="Arial MT Pro Bold"/>
                <a:cs typeface="Arial MT Pro Bold"/>
                <a:sym typeface="Arial MT Pro Bold"/>
              </a:rPr>
              <a:t>Insider and Supply Chain Threats Converge</a:t>
            </a:r>
          </a:p>
        </p:txBody>
      </p:sp>
      <p:sp>
        <p:nvSpPr>
          <p:cNvPr name="TextBox 12" id="12"/>
          <p:cNvSpPr txBox="true"/>
          <p:nvPr/>
        </p:nvSpPr>
        <p:spPr>
          <a:xfrm rot="0">
            <a:off x="10715491" y="9535835"/>
            <a:ext cx="4765774" cy="673100"/>
          </a:xfrm>
          <a:prstGeom prst="rect">
            <a:avLst/>
          </a:prstGeom>
        </p:spPr>
        <p:txBody>
          <a:bodyPr anchor="t" rtlCol="false" tIns="0" lIns="0" bIns="0" rIns="0">
            <a:spAutoFit/>
          </a:bodyPr>
          <a:lstStyle/>
          <a:p>
            <a:pPr algn="ctr">
              <a:lnSpc>
                <a:spcPts val="4900"/>
              </a:lnSpc>
            </a:pPr>
            <a:r>
              <a:rPr lang="en-US" b="true" sz="3500">
                <a:solidFill>
                  <a:srgbClr val="282724"/>
                </a:solidFill>
                <a:latin typeface="Arial MT Pro Bold"/>
                <a:ea typeface="Arial MT Pro Bold"/>
                <a:cs typeface="Arial MT Pro Bold"/>
                <a:sym typeface="Arial MT Pro Bold"/>
              </a:rPr>
              <a:t>THE STRATEGIC RISK</a:t>
            </a:r>
          </a:p>
        </p:txBody>
      </p:sp>
      <p:sp>
        <p:nvSpPr>
          <p:cNvPr name="TextBox 13" id="13"/>
          <p:cNvSpPr txBox="true"/>
          <p:nvPr/>
        </p:nvSpPr>
        <p:spPr>
          <a:xfrm rot="0">
            <a:off x="1408938" y="11039526"/>
            <a:ext cx="11705654" cy="1258405"/>
          </a:xfrm>
          <a:prstGeom prst="rect">
            <a:avLst/>
          </a:prstGeom>
        </p:spPr>
        <p:txBody>
          <a:bodyPr anchor="t" rtlCol="false" tIns="0" lIns="0" bIns="0" rIns="0">
            <a:spAutoFit/>
          </a:bodyPr>
          <a:lstStyle/>
          <a:p>
            <a:pPr algn="l">
              <a:lnSpc>
                <a:spcPts val="3156"/>
              </a:lnSpc>
            </a:pPr>
            <a:r>
              <a:rPr lang="en-US" b="true" sz="2699">
                <a:solidFill>
                  <a:srgbClr val="282724"/>
                </a:solidFill>
                <a:latin typeface="Arial MT Pro Bold"/>
                <a:ea typeface="Arial MT Pro Bold"/>
                <a:cs typeface="Arial MT Pro Bold"/>
                <a:sym typeface="Arial MT Pro Bold"/>
              </a:rPr>
              <a:t>State-sponsored operatives are infiltrating not just target companies</a:t>
            </a:r>
            <a:r>
              <a:rPr lang="en-US" sz="2699">
                <a:solidFill>
                  <a:srgbClr val="282724"/>
                </a:solidFill>
                <a:latin typeface="Arial MT Pro"/>
                <a:ea typeface="Arial MT Pro"/>
                <a:cs typeface="Arial MT Pro"/>
                <a:sym typeface="Arial MT Pro"/>
              </a:rPr>
              <a:t>, but also their vendors and third-party service providers, exploiting privileged access from within the supply chain.</a:t>
            </a:r>
          </a:p>
        </p:txBody>
      </p:sp>
      <p:sp>
        <p:nvSpPr>
          <p:cNvPr name="TextBox 14" id="14"/>
          <p:cNvSpPr txBox="true"/>
          <p:nvPr/>
        </p:nvSpPr>
        <p:spPr>
          <a:xfrm rot="0">
            <a:off x="13565124" y="10391997"/>
            <a:ext cx="6436668" cy="581025"/>
          </a:xfrm>
          <a:prstGeom prst="rect">
            <a:avLst/>
          </a:prstGeom>
        </p:spPr>
        <p:txBody>
          <a:bodyPr anchor="t" rtlCol="false" tIns="0" lIns="0" bIns="0" rIns="0">
            <a:spAutoFit/>
          </a:bodyPr>
          <a:lstStyle/>
          <a:p>
            <a:pPr algn="ctr">
              <a:lnSpc>
                <a:spcPts val="4200"/>
              </a:lnSpc>
            </a:pPr>
            <a:r>
              <a:rPr lang="en-US" b="true" sz="3000">
                <a:solidFill>
                  <a:srgbClr val="282724"/>
                </a:solidFill>
                <a:latin typeface="Arial MT Pro Bold"/>
                <a:ea typeface="Arial MT Pro Bold"/>
                <a:cs typeface="Arial MT Pro Bold"/>
                <a:sym typeface="Arial MT Pro Bold"/>
              </a:rPr>
              <a:t>Al Industrializes Infiltration at Scale</a:t>
            </a:r>
          </a:p>
        </p:txBody>
      </p:sp>
      <p:sp>
        <p:nvSpPr>
          <p:cNvPr name="TextBox 15" id="15"/>
          <p:cNvSpPr txBox="true"/>
          <p:nvPr/>
        </p:nvSpPr>
        <p:spPr>
          <a:xfrm rot="0">
            <a:off x="13565124" y="11037656"/>
            <a:ext cx="11494115" cy="1227506"/>
          </a:xfrm>
          <a:prstGeom prst="rect">
            <a:avLst/>
          </a:prstGeom>
        </p:spPr>
        <p:txBody>
          <a:bodyPr anchor="t" rtlCol="false" tIns="0" lIns="0" bIns="0" rIns="0">
            <a:spAutoFit/>
          </a:bodyPr>
          <a:lstStyle/>
          <a:p>
            <a:pPr algn="l">
              <a:lnSpc>
                <a:spcPts val="3099"/>
              </a:lnSpc>
            </a:pPr>
            <a:r>
              <a:rPr lang="en-US" b="true" sz="2699" spc="-13">
                <a:solidFill>
                  <a:srgbClr val="282724"/>
                </a:solidFill>
                <a:latin typeface="Arial MT Pro Bold"/>
                <a:ea typeface="Arial MT Pro Bold"/>
                <a:cs typeface="Arial MT Pro Bold"/>
                <a:sym typeface="Arial MT Pro Bold"/>
              </a:rPr>
              <a:t>Al enables threat actors to automate and scale social engineering, fraud, and ransomware operations</a:t>
            </a:r>
            <a:r>
              <a:rPr lang="en-US" sz="2699" spc="-13">
                <a:solidFill>
                  <a:srgbClr val="282724"/>
                </a:solidFill>
                <a:latin typeface="Arial MT Pro"/>
                <a:ea typeface="Arial MT Pro"/>
                <a:cs typeface="Arial MT Pro"/>
                <a:sym typeface="Arial MT Pro"/>
              </a:rPr>
              <a:t>, allowing even low-skill actors to launch complex campaigns that bypass traditional defenses.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12800" cy="14624558"/>
          </a:xfrm>
          <a:custGeom>
            <a:avLst/>
            <a:gdLst/>
            <a:ahLst/>
            <a:cxnLst/>
            <a:rect r="r" b="b" t="t" l="l"/>
            <a:pathLst>
              <a:path h="14624558" w="26212800">
                <a:moveTo>
                  <a:pt x="0" y="0"/>
                </a:moveTo>
                <a:lnTo>
                  <a:pt x="26212800" y="0"/>
                </a:lnTo>
                <a:lnTo>
                  <a:pt x="26212800" y="14624558"/>
                </a:lnTo>
                <a:lnTo>
                  <a:pt x="0" y="14624558"/>
                </a:lnTo>
                <a:lnTo>
                  <a:pt x="0" y="0"/>
                </a:lnTo>
                <a:close/>
              </a:path>
            </a:pathLst>
          </a:custGeom>
          <a:blipFill>
            <a:blip r:embed="rId2"/>
            <a:stretch>
              <a:fillRect l="0" t="0" r="0" b="0"/>
            </a:stretch>
          </a:blipFill>
        </p:spPr>
      </p:sp>
      <p:sp>
        <p:nvSpPr>
          <p:cNvPr name="TextBox 3" id="3"/>
          <p:cNvSpPr txBox="true"/>
          <p:nvPr/>
        </p:nvSpPr>
        <p:spPr>
          <a:xfrm rot="0">
            <a:off x="322213" y="315959"/>
            <a:ext cx="25568374" cy="1025064"/>
          </a:xfrm>
          <a:prstGeom prst="rect">
            <a:avLst/>
          </a:prstGeom>
        </p:spPr>
        <p:txBody>
          <a:bodyPr anchor="t" rtlCol="false" tIns="0" lIns="0" bIns="0" rIns="0">
            <a:spAutoFit/>
          </a:bodyPr>
          <a:lstStyle/>
          <a:p>
            <a:pPr algn="ctr">
              <a:lnSpc>
                <a:spcPts val="7550"/>
              </a:lnSpc>
            </a:pPr>
            <a:r>
              <a:rPr lang="en-US" b="true" sz="5393" spc="91">
                <a:solidFill>
                  <a:srgbClr val="2F2E2B"/>
                </a:solidFill>
                <a:latin typeface="Arial MT Pro Bold"/>
                <a:ea typeface="Arial MT Pro Bold"/>
                <a:cs typeface="Arial MT Pro Bold"/>
                <a:sym typeface="Arial MT Pro Bold"/>
              </a:rPr>
              <a:t>The Compliance Paradox:</a:t>
            </a:r>
            <a:r>
              <a:rPr lang="en-US" sz="5393" spc="91">
                <a:solidFill>
                  <a:srgbClr val="2F2E2B"/>
                </a:solidFill>
                <a:latin typeface="Arial MT Pro"/>
                <a:ea typeface="Arial MT Pro"/>
                <a:cs typeface="Arial MT Pro"/>
                <a:sym typeface="Arial MT Pro"/>
              </a:rPr>
              <a:t> Why </a:t>
            </a:r>
            <a:r>
              <a:rPr lang="en-US" b="true" sz="5393" spc="91">
                <a:solidFill>
                  <a:srgbClr val="2F2E2B"/>
                </a:solidFill>
                <a:latin typeface="Arial MT Pro Bold"/>
                <a:ea typeface="Arial MT Pro Bold"/>
                <a:cs typeface="Arial MT Pro Bold"/>
                <a:sym typeface="Arial MT Pro Bold"/>
              </a:rPr>
              <a:t>Checking the Box </a:t>
            </a:r>
            <a:r>
              <a:rPr lang="en-US" sz="5393" spc="91">
                <a:solidFill>
                  <a:srgbClr val="2F2E2B"/>
                </a:solidFill>
                <a:latin typeface="Arial MT Pro"/>
                <a:ea typeface="Arial MT Pro"/>
                <a:cs typeface="Arial MT Pro"/>
                <a:sym typeface="Arial MT Pro"/>
              </a:rPr>
              <a:t>Isn't Enough to Stop Attacks</a:t>
            </a:r>
          </a:p>
        </p:txBody>
      </p:sp>
      <p:sp>
        <p:nvSpPr>
          <p:cNvPr name="TextBox 4" id="4"/>
          <p:cNvSpPr txBox="true"/>
          <p:nvPr/>
        </p:nvSpPr>
        <p:spPr>
          <a:xfrm rot="0">
            <a:off x="781925" y="1985047"/>
            <a:ext cx="5370612" cy="895290"/>
          </a:xfrm>
          <a:prstGeom prst="rect">
            <a:avLst/>
          </a:prstGeom>
        </p:spPr>
        <p:txBody>
          <a:bodyPr anchor="t" rtlCol="false" tIns="0" lIns="0" bIns="0" rIns="0">
            <a:spAutoFit/>
          </a:bodyPr>
          <a:lstStyle/>
          <a:p>
            <a:pPr algn="l">
              <a:lnSpc>
                <a:spcPts val="3285"/>
              </a:lnSpc>
            </a:pPr>
            <a:r>
              <a:rPr lang="en-US" b="true" sz="2798" spc="81">
                <a:solidFill>
                  <a:srgbClr val="2F2E2B"/>
                </a:solidFill>
                <a:latin typeface="Arial MT Pro Bold"/>
                <a:ea typeface="Arial MT Pro Bold"/>
                <a:cs typeface="Arial MT Pro Bold"/>
                <a:sym typeface="Arial MT Pro Bold"/>
              </a:rPr>
              <a:t>THE FORCE OF COMPLIANCE</a:t>
            </a:r>
          </a:p>
          <a:p>
            <a:pPr algn="l">
              <a:lnSpc>
                <a:spcPts val="3445"/>
              </a:lnSpc>
            </a:pPr>
            <a:r>
              <a:rPr lang="en-US" sz="2934" spc="-64">
                <a:solidFill>
                  <a:srgbClr val="2F2E2B"/>
                </a:solidFill>
                <a:latin typeface="Arial MT Pro"/>
                <a:ea typeface="Arial MT Pro"/>
                <a:cs typeface="Arial MT Pro"/>
                <a:sym typeface="Arial MT Pro"/>
              </a:rPr>
              <a:t>("Checking the Box")</a:t>
            </a:r>
          </a:p>
        </p:txBody>
      </p:sp>
      <p:sp>
        <p:nvSpPr>
          <p:cNvPr name="TextBox 5" id="5"/>
          <p:cNvSpPr txBox="true"/>
          <p:nvPr/>
        </p:nvSpPr>
        <p:spPr>
          <a:xfrm rot="0">
            <a:off x="2226980" y="3145651"/>
            <a:ext cx="3925557" cy="2555508"/>
          </a:xfrm>
          <a:prstGeom prst="rect">
            <a:avLst/>
          </a:prstGeom>
        </p:spPr>
        <p:txBody>
          <a:bodyPr anchor="t" rtlCol="false" tIns="0" lIns="0" bIns="0" rIns="0">
            <a:spAutoFit/>
          </a:bodyPr>
          <a:lstStyle/>
          <a:p>
            <a:pPr algn="l">
              <a:lnSpc>
                <a:spcPts val="2525"/>
              </a:lnSpc>
            </a:pPr>
            <a:r>
              <a:rPr lang="en-US" b="true" sz="1998" spc="-15">
                <a:solidFill>
                  <a:srgbClr val="2F2E2B"/>
                </a:solidFill>
                <a:latin typeface="Arial MT Pro Bold"/>
                <a:ea typeface="Arial MT Pro Bold"/>
                <a:cs typeface="Arial MT Pro Bold"/>
                <a:sym typeface="Arial MT Pro Bold"/>
              </a:rPr>
              <a:t>Regulatory Scrutiny is</a:t>
            </a:r>
          </a:p>
          <a:p>
            <a:pPr algn="l">
              <a:lnSpc>
                <a:spcPts val="2525"/>
              </a:lnSpc>
            </a:pPr>
            <a:r>
              <a:rPr lang="en-US" b="true" sz="1998" spc="-15">
                <a:solidFill>
                  <a:srgbClr val="2F2E2B"/>
                </a:solidFill>
                <a:latin typeface="Arial MT Pro Bold"/>
                <a:ea typeface="Arial MT Pro Bold"/>
                <a:cs typeface="Arial MT Pro Bold"/>
                <a:sym typeface="Arial MT Pro Bold"/>
              </a:rPr>
              <a:t>Intensifying and Fragmenting</a:t>
            </a:r>
          </a:p>
          <a:p>
            <a:pPr algn="l">
              <a:lnSpc>
                <a:spcPts val="2525"/>
              </a:lnSpc>
            </a:pPr>
            <a:r>
              <a:rPr lang="en-US" sz="1998" spc="-15">
                <a:solidFill>
                  <a:srgbClr val="2F2E2B"/>
                </a:solidFill>
                <a:latin typeface="Arial MT Pro"/>
                <a:ea typeface="Arial MT Pro"/>
                <a:cs typeface="Arial MT Pro"/>
                <a:sym typeface="Arial MT Pro"/>
              </a:rPr>
              <a:t>By 2026, governments will impose</a:t>
            </a:r>
          </a:p>
          <a:p>
            <a:pPr algn="l">
              <a:lnSpc>
                <a:spcPts val="2525"/>
              </a:lnSpc>
            </a:pPr>
            <a:r>
              <a:rPr lang="en-US" sz="1998" spc="-15">
                <a:solidFill>
                  <a:srgbClr val="2F2E2B"/>
                </a:solidFill>
                <a:latin typeface="Arial MT Pro"/>
                <a:ea typeface="Arial MT Pro"/>
                <a:cs typeface="Arial MT Pro"/>
                <a:sym typeface="Arial MT Pro"/>
              </a:rPr>
              <a:t>strict requirements for transparency</a:t>
            </a:r>
          </a:p>
          <a:p>
            <a:pPr algn="l">
              <a:lnSpc>
                <a:spcPts val="2525"/>
              </a:lnSpc>
            </a:pPr>
            <a:r>
              <a:rPr lang="en-US" sz="1998" spc="-15">
                <a:solidFill>
                  <a:srgbClr val="2F2E2B"/>
                </a:solidFill>
                <a:latin typeface="Arial MT Pro"/>
                <a:ea typeface="Arial MT Pro"/>
                <a:cs typeface="Arial MT Pro"/>
                <a:sym typeface="Arial MT Pro"/>
              </a:rPr>
              <a:t>and auditability in enterprise Al, shifting from innovation enablement to accountability enforcement.</a:t>
            </a:r>
          </a:p>
        </p:txBody>
      </p:sp>
      <p:sp>
        <p:nvSpPr>
          <p:cNvPr name="TextBox 6" id="6"/>
          <p:cNvSpPr txBox="true"/>
          <p:nvPr/>
        </p:nvSpPr>
        <p:spPr>
          <a:xfrm rot="0">
            <a:off x="2176040" y="5950420"/>
            <a:ext cx="4193381" cy="2485517"/>
          </a:xfrm>
          <a:prstGeom prst="rect">
            <a:avLst/>
          </a:prstGeom>
        </p:spPr>
        <p:txBody>
          <a:bodyPr anchor="t" rtlCol="false" tIns="0" lIns="0" bIns="0" rIns="0">
            <a:spAutoFit/>
          </a:bodyPr>
          <a:lstStyle/>
          <a:p>
            <a:pPr algn="l">
              <a:lnSpc>
                <a:spcPts val="2404"/>
              </a:lnSpc>
            </a:pPr>
            <a:r>
              <a:rPr lang="en-US" b="true" sz="2000" spc="-22">
                <a:solidFill>
                  <a:srgbClr val="2F2E2B"/>
                </a:solidFill>
                <a:latin typeface="Arial MT Pro Bold"/>
                <a:ea typeface="Arial MT Pro Bold"/>
                <a:cs typeface="Arial MT Pro Bold"/>
                <a:sym typeface="Arial MT Pro Bold"/>
              </a:rPr>
              <a:t>Compliance Activities Can Create</a:t>
            </a:r>
          </a:p>
          <a:p>
            <a:pPr algn="l">
              <a:lnSpc>
                <a:spcPts val="2404"/>
              </a:lnSpc>
            </a:pPr>
            <a:r>
              <a:rPr lang="en-US" b="true" sz="2000" spc="-22">
                <a:solidFill>
                  <a:srgbClr val="2F2E2B"/>
                </a:solidFill>
                <a:latin typeface="Arial MT Pro Bold"/>
                <a:ea typeface="Arial MT Pro Bold"/>
                <a:cs typeface="Arial MT Pro Bold"/>
                <a:sym typeface="Arial MT Pro Bold"/>
              </a:rPr>
              <a:t>a "False Security" Trap</a:t>
            </a:r>
          </a:p>
          <a:p>
            <a:pPr algn="l">
              <a:lnSpc>
                <a:spcPts val="2404"/>
              </a:lnSpc>
            </a:pPr>
            <a:r>
              <a:rPr lang="en-US" sz="2000" spc="-22">
                <a:solidFill>
                  <a:srgbClr val="2F2E2B"/>
                </a:solidFill>
                <a:latin typeface="Arial MT Pro"/>
                <a:ea typeface="Arial MT Pro"/>
                <a:cs typeface="Arial MT Pro"/>
                <a:sym typeface="Arial MT Pro"/>
              </a:rPr>
              <a:t>While 74% of organizations offer</a:t>
            </a:r>
          </a:p>
          <a:p>
            <a:pPr algn="l">
              <a:lnSpc>
                <a:spcPts val="2404"/>
              </a:lnSpc>
            </a:pPr>
            <a:r>
              <a:rPr lang="en-US" sz="2000">
                <a:solidFill>
                  <a:srgbClr val="2F2E2B"/>
                </a:solidFill>
                <a:latin typeface="Arial MT Pro"/>
                <a:ea typeface="Arial MT Pro"/>
                <a:cs typeface="Arial MT Pro"/>
                <a:sym typeface="Arial MT Pro"/>
              </a:rPr>
              <a:t>Xsecurity awareness training to meet</a:t>
            </a:r>
          </a:p>
          <a:p>
            <a:pPr algn="l">
              <a:lnSpc>
                <a:spcPts val="2404"/>
              </a:lnSpc>
            </a:pPr>
            <a:r>
              <a:rPr lang="en-US" sz="2000" spc="-2">
                <a:solidFill>
                  <a:srgbClr val="2F2E2B"/>
                </a:solidFill>
                <a:latin typeface="Arial MT Pro"/>
                <a:ea typeface="Arial MT Pro"/>
                <a:cs typeface="Arial MT Pro"/>
                <a:sym typeface="Arial MT Pro"/>
              </a:rPr>
              <a:t>compliance, 42% of those feel it is</a:t>
            </a:r>
          </a:p>
          <a:p>
            <a:pPr algn="l">
              <a:lnSpc>
                <a:spcPts val="2404"/>
              </a:lnSpc>
            </a:pPr>
            <a:r>
              <a:rPr lang="en-US" sz="2000" spc="-2">
                <a:solidFill>
                  <a:srgbClr val="2F2E2B"/>
                </a:solidFill>
                <a:latin typeface="Arial MT Pro"/>
                <a:ea typeface="Arial MT Pro"/>
                <a:cs typeface="Arial MT Pro"/>
                <a:sym typeface="Arial MT Pro"/>
              </a:rPr>
              <a:t>inadequate, indicating a widespread</a:t>
            </a:r>
          </a:p>
          <a:p>
            <a:pPr algn="l">
              <a:lnSpc>
                <a:spcPts val="2404"/>
              </a:lnSpc>
            </a:pPr>
            <a:r>
              <a:rPr lang="en-US" sz="2000" spc="-2">
                <a:solidFill>
                  <a:srgbClr val="2F2E2B"/>
                </a:solidFill>
                <a:latin typeface="Arial MT Pro"/>
                <a:ea typeface="Arial MT Pro"/>
                <a:cs typeface="Arial MT Pro"/>
                <a:sym typeface="Arial MT Pro"/>
              </a:rPr>
              <a:t>"training fatigue" and disconnect from</a:t>
            </a:r>
          </a:p>
          <a:p>
            <a:pPr algn="l">
              <a:lnSpc>
                <a:spcPts val="2404"/>
              </a:lnSpc>
            </a:pPr>
            <a:r>
              <a:rPr lang="en-US" sz="2000" spc="-2">
                <a:solidFill>
                  <a:srgbClr val="2F2E2B"/>
                </a:solidFill>
                <a:latin typeface="Arial MT Pro"/>
                <a:ea typeface="Arial MT Pro"/>
                <a:cs typeface="Arial MT Pro"/>
                <a:sym typeface="Arial MT Pro"/>
              </a:rPr>
              <a:t>real-world effectiveness.</a:t>
            </a:r>
          </a:p>
        </p:txBody>
      </p:sp>
      <p:sp>
        <p:nvSpPr>
          <p:cNvPr name="TextBox 7" id="7"/>
          <p:cNvSpPr txBox="true"/>
          <p:nvPr/>
        </p:nvSpPr>
        <p:spPr>
          <a:xfrm rot="0">
            <a:off x="2176040" y="8668202"/>
            <a:ext cx="4117913" cy="2485771"/>
          </a:xfrm>
          <a:prstGeom prst="rect">
            <a:avLst/>
          </a:prstGeom>
        </p:spPr>
        <p:txBody>
          <a:bodyPr anchor="t" rtlCol="false" tIns="0" lIns="0" bIns="0" rIns="0">
            <a:spAutoFit/>
          </a:bodyPr>
          <a:lstStyle/>
          <a:p>
            <a:pPr algn="l">
              <a:lnSpc>
                <a:spcPts val="2402"/>
              </a:lnSpc>
            </a:pPr>
            <a:r>
              <a:rPr lang="en-US" b="true" sz="2000" spc="-22">
                <a:solidFill>
                  <a:srgbClr val="2F2E2B"/>
                </a:solidFill>
                <a:latin typeface="Arial MT Pro Bold"/>
                <a:ea typeface="Arial MT Pro Bold"/>
                <a:cs typeface="Arial MT Pro Bold"/>
                <a:sym typeface="Arial MT Pro Bold"/>
              </a:rPr>
              <a:t>The Challenge of Data Sovereignty</a:t>
            </a:r>
          </a:p>
          <a:p>
            <a:pPr algn="l">
              <a:lnSpc>
                <a:spcPts val="2402"/>
              </a:lnSpc>
            </a:pPr>
            <a:r>
              <a:rPr lang="en-US" sz="2000" spc="-22">
                <a:solidFill>
                  <a:srgbClr val="2F2E2B"/>
                </a:solidFill>
                <a:latin typeface="Arial MT Pro"/>
                <a:ea typeface="Arial MT Pro"/>
                <a:cs typeface="Arial MT Pro"/>
                <a:sym typeface="Arial MT Pro"/>
              </a:rPr>
              <a:t>Governments are creating "digital tariffs" by taxing or restricting cross-border digital services. This drives regional data localization and fregments global security standards, making it harder to fight borderless threats with a unified strategy.</a:t>
            </a:r>
          </a:p>
        </p:txBody>
      </p:sp>
      <p:sp>
        <p:nvSpPr>
          <p:cNvPr name="TextBox 8" id="8"/>
          <p:cNvSpPr txBox="true"/>
          <p:nvPr/>
        </p:nvSpPr>
        <p:spPr>
          <a:xfrm rot="0">
            <a:off x="2176040" y="11430198"/>
            <a:ext cx="4193381" cy="2866644"/>
          </a:xfrm>
          <a:prstGeom prst="rect">
            <a:avLst/>
          </a:prstGeom>
        </p:spPr>
        <p:txBody>
          <a:bodyPr anchor="t" rtlCol="false" tIns="0" lIns="0" bIns="0" rIns="0">
            <a:spAutoFit/>
          </a:bodyPr>
          <a:lstStyle/>
          <a:p>
            <a:pPr algn="l">
              <a:lnSpc>
                <a:spcPts val="2478"/>
              </a:lnSpc>
            </a:pPr>
            <a:r>
              <a:rPr lang="en-US" b="true" sz="2000">
                <a:solidFill>
                  <a:srgbClr val="2F2E2B"/>
                </a:solidFill>
                <a:latin typeface="Arial MT Pro Bold"/>
                <a:ea typeface="Arial MT Pro Bold"/>
                <a:cs typeface="Arial MT Pro Bold"/>
                <a:sym typeface="Arial MT Pro Bold"/>
              </a:rPr>
              <a:t>Jurisdiction-Specific Rules</a:t>
            </a:r>
          </a:p>
          <a:p>
            <a:pPr algn="l">
              <a:lnSpc>
                <a:spcPts val="2478"/>
              </a:lnSpc>
            </a:pPr>
            <a:r>
              <a:rPr lang="en-US" b="true" sz="2000">
                <a:solidFill>
                  <a:srgbClr val="2F2E2B"/>
                </a:solidFill>
                <a:latin typeface="Arial MT Pro Bold"/>
                <a:ea typeface="Arial MT Pro Bold"/>
                <a:cs typeface="Arial MT Pro Bold"/>
                <a:sym typeface="Arial MT Pro Bold"/>
              </a:rPr>
              <a:t>Complicate Global Defense</a:t>
            </a:r>
          </a:p>
          <a:p>
            <a:pPr algn="l">
              <a:lnSpc>
                <a:spcPts val="2478"/>
              </a:lnSpc>
            </a:pPr>
            <a:r>
              <a:rPr lang="en-US" sz="2000">
                <a:solidFill>
                  <a:srgbClr val="2F2E2B"/>
                </a:solidFill>
                <a:latin typeface="Arial MT Pro"/>
                <a:ea typeface="Arial MT Pro"/>
                <a:cs typeface="Arial MT Pro"/>
                <a:sym typeface="Arial MT Pro"/>
              </a:rPr>
              <a:t>As Al becomes a strategic national asset, security teams will spend more time implementing tightly scoped, jurisdiction-specific constraints designed by lawyers and national security officials, rather than</a:t>
            </a:r>
          </a:p>
          <a:p>
            <a:pPr algn="l">
              <a:lnSpc>
                <a:spcPts val="2478"/>
              </a:lnSpc>
            </a:pPr>
            <a:r>
              <a:rPr lang="en-US" sz="2000">
                <a:solidFill>
                  <a:srgbClr val="2F2E2B"/>
                </a:solidFill>
                <a:latin typeface="Arial MT Pro"/>
                <a:ea typeface="Arial MT Pro"/>
                <a:cs typeface="Arial MT Pro"/>
                <a:sym typeface="Arial MT Pro"/>
              </a:rPr>
              <a:t>globally coherent security principles.</a:t>
            </a:r>
          </a:p>
        </p:txBody>
      </p:sp>
      <p:sp>
        <p:nvSpPr>
          <p:cNvPr name="TextBox 9" id="9"/>
          <p:cNvSpPr txBox="true"/>
          <p:nvPr/>
        </p:nvSpPr>
        <p:spPr>
          <a:xfrm rot="0">
            <a:off x="11060751" y="11487727"/>
            <a:ext cx="4074914" cy="581025"/>
          </a:xfrm>
          <a:prstGeom prst="rect">
            <a:avLst/>
          </a:prstGeom>
        </p:spPr>
        <p:txBody>
          <a:bodyPr anchor="t" rtlCol="false" tIns="0" lIns="0" bIns="0" rIns="0">
            <a:spAutoFit/>
          </a:bodyPr>
          <a:lstStyle/>
          <a:p>
            <a:pPr algn="ctr">
              <a:lnSpc>
                <a:spcPts val="4200"/>
              </a:lnSpc>
            </a:pPr>
            <a:r>
              <a:rPr lang="en-US" b="true" sz="3000" spc="141">
                <a:solidFill>
                  <a:srgbClr val="2F2E2B"/>
                </a:solidFill>
                <a:latin typeface="Arial MT Pro Bold"/>
                <a:ea typeface="Arial MT Pro Bold"/>
                <a:cs typeface="Arial MT Pro Bold"/>
                <a:sym typeface="Arial MT Pro Bold"/>
              </a:rPr>
              <a:t>THE DUAL BURDEN:</a:t>
            </a:r>
          </a:p>
        </p:txBody>
      </p:sp>
      <p:sp>
        <p:nvSpPr>
          <p:cNvPr name="TextBox 10" id="10"/>
          <p:cNvSpPr txBox="true"/>
          <p:nvPr/>
        </p:nvSpPr>
        <p:spPr>
          <a:xfrm rot="0">
            <a:off x="11067306" y="11916352"/>
            <a:ext cx="4078188" cy="512445"/>
          </a:xfrm>
          <a:prstGeom prst="rect">
            <a:avLst/>
          </a:prstGeom>
        </p:spPr>
        <p:txBody>
          <a:bodyPr anchor="t" rtlCol="false" tIns="0" lIns="0" bIns="0" rIns="0">
            <a:spAutoFit/>
          </a:bodyPr>
          <a:lstStyle/>
          <a:p>
            <a:pPr algn="ctr">
              <a:lnSpc>
                <a:spcPts val="3779"/>
              </a:lnSpc>
            </a:pPr>
            <a:r>
              <a:rPr lang="en-US" sz="2700" spc="54">
                <a:solidFill>
                  <a:srgbClr val="2F2E2B"/>
                </a:solidFill>
                <a:latin typeface="Arial MT Pro"/>
                <a:ea typeface="Arial MT Pro"/>
                <a:cs typeface="Arial MT Pro"/>
                <a:sym typeface="Arial MT Pro"/>
              </a:rPr>
              <a:t>A Concluding Risk Insight</a:t>
            </a:r>
          </a:p>
        </p:txBody>
      </p:sp>
      <p:sp>
        <p:nvSpPr>
          <p:cNvPr name="TextBox 11" id="11"/>
          <p:cNvSpPr txBox="true"/>
          <p:nvPr/>
        </p:nvSpPr>
        <p:spPr>
          <a:xfrm rot="0">
            <a:off x="8022511" y="12318411"/>
            <a:ext cx="10167777" cy="1905952"/>
          </a:xfrm>
          <a:prstGeom prst="rect">
            <a:avLst/>
          </a:prstGeom>
        </p:spPr>
        <p:txBody>
          <a:bodyPr anchor="t" rtlCol="false" tIns="0" lIns="0" bIns="0" rIns="0">
            <a:spAutoFit/>
          </a:bodyPr>
          <a:lstStyle/>
          <a:p>
            <a:pPr algn="ctr">
              <a:lnSpc>
                <a:spcPts val="2992"/>
              </a:lnSpc>
            </a:pPr>
            <a:r>
              <a:rPr lang="en-US" sz="2499" spc="29">
                <a:solidFill>
                  <a:srgbClr val="2F2E2B"/>
                </a:solidFill>
                <a:latin typeface="Arial MT Pro"/>
                <a:ea typeface="Arial MT Pro"/>
                <a:cs typeface="Arial MT Pro"/>
                <a:sym typeface="Arial MT Pro"/>
              </a:rPr>
              <a:t>"</a:t>
            </a:r>
            <a:r>
              <a:rPr lang="en-US" b="true" sz="2499" spc="29">
                <a:solidFill>
                  <a:srgbClr val="2F2E2B"/>
                </a:solidFill>
                <a:latin typeface="Arial MT Pro Bold"/>
                <a:ea typeface="Arial MT Pro Bold"/>
                <a:cs typeface="Arial MT Pro Bold"/>
                <a:sym typeface="Arial MT Pro Bold"/>
              </a:rPr>
              <a:t>The CISO's Dual Burden:</a:t>
            </a:r>
            <a:r>
              <a:rPr lang="en-US" sz="2499" spc="29">
                <a:solidFill>
                  <a:srgbClr val="2F2E2B"/>
                </a:solidFill>
                <a:latin typeface="Arial MT Pro"/>
                <a:ea typeface="Arial MT Pro"/>
                <a:cs typeface="Arial MT Pro"/>
                <a:sym typeface="Arial MT Pro"/>
              </a:rPr>
              <a:t> Leaders face the dual challenge of satisfying fragmented, country-specific mandates while simultaneously defending against borderless, technically-focused threats that exploit the very seams these regulations create. True resilience requires moving </a:t>
            </a:r>
            <a:r>
              <a:rPr lang="en-US" sz="2499" spc="29">
                <a:solidFill>
                  <a:srgbClr val="2F2E2B"/>
                </a:solidFill>
                <a:latin typeface="Arial MT Pro"/>
                <a:ea typeface="Arial MT Pro"/>
                <a:cs typeface="Arial MT Pro"/>
                <a:sym typeface="Arial MT Pro"/>
              </a:rPr>
              <a:t>beyond compliance to a threat-informed defense posture."</a:t>
            </a:r>
          </a:p>
        </p:txBody>
      </p:sp>
      <p:sp>
        <p:nvSpPr>
          <p:cNvPr name="TextBox 12" id="12"/>
          <p:cNvSpPr txBox="true"/>
          <p:nvPr/>
        </p:nvSpPr>
        <p:spPr>
          <a:xfrm rot="0">
            <a:off x="20478750" y="11745959"/>
            <a:ext cx="3995810" cy="2478405"/>
          </a:xfrm>
          <a:prstGeom prst="rect">
            <a:avLst/>
          </a:prstGeom>
        </p:spPr>
        <p:txBody>
          <a:bodyPr anchor="t" rtlCol="false" tIns="0" lIns="0" bIns="0" rIns="0">
            <a:spAutoFit/>
          </a:bodyPr>
          <a:lstStyle/>
          <a:p>
            <a:pPr algn="l">
              <a:lnSpc>
                <a:spcPts val="2460"/>
              </a:lnSpc>
            </a:pPr>
            <a:r>
              <a:rPr lang="en-US" b="true" sz="2000" spc="-22">
                <a:solidFill>
                  <a:srgbClr val="2F2E2B"/>
                </a:solidFill>
                <a:latin typeface="Arial MT Pro Bold"/>
                <a:ea typeface="Arial MT Pro Bold"/>
                <a:cs typeface="Arial MT Pro Bold"/>
                <a:sym typeface="Arial MT Pro Bold"/>
              </a:rPr>
              <a:t>The Volume of Exploited Flaws is</a:t>
            </a:r>
          </a:p>
          <a:p>
            <a:pPr algn="l">
              <a:lnSpc>
                <a:spcPts val="2460"/>
              </a:lnSpc>
            </a:pPr>
            <a:r>
              <a:rPr lang="en-US" b="true" sz="2000" spc="-22">
                <a:solidFill>
                  <a:srgbClr val="2F2E2B"/>
                </a:solidFill>
                <a:latin typeface="Arial MT Pro Bold"/>
                <a:ea typeface="Arial MT Pro Bold"/>
                <a:cs typeface="Arial MT Pro Bold"/>
                <a:sym typeface="Arial MT Pro Bold"/>
              </a:rPr>
              <a:t>Growing Rapidly</a:t>
            </a:r>
          </a:p>
          <a:p>
            <a:pPr algn="l">
              <a:lnSpc>
                <a:spcPts val="2460"/>
              </a:lnSpc>
            </a:pPr>
            <a:r>
              <a:rPr lang="en-US" sz="2000" spc="-22">
                <a:solidFill>
                  <a:srgbClr val="2F2E2B"/>
                </a:solidFill>
                <a:latin typeface="Arial MT Pro"/>
                <a:ea typeface="Arial MT Pro"/>
                <a:cs typeface="Arial MT Pro"/>
                <a:sym typeface="Arial MT Pro"/>
              </a:rPr>
              <a:t>CISA's Known Exploited Vulnerabilities (KEY) cataing grew by 20% in 2023 alone, adding E45 new flows actively used in atracks and demonstrating the pace at which reat world risk is expanding.</a:t>
            </a:r>
          </a:p>
        </p:txBody>
      </p:sp>
      <p:sp>
        <p:nvSpPr>
          <p:cNvPr name="TextBox 13" id="13"/>
          <p:cNvSpPr txBox="true"/>
          <p:nvPr/>
        </p:nvSpPr>
        <p:spPr>
          <a:xfrm rot="0">
            <a:off x="20327742" y="8966660"/>
            <a:ext cx="4422018" cy="2482469"/>
          </a:xfrm>
          <a:prstGeom prst="rect">
            <a:avLst/>
          </a:prstGeom>
        </p:spPr>
        <p:txBody>
          <a:bodyPr anchor="t" rtlCol="false" tIns="0" lIns="0" bIns="0" rIns="0">
            <a:spAutoFit/>
          </a:bodyPr>
          <a:lstStyle/>
          <a:p>
            <a:pPr algn="l">
              <a:lnSpc>
                <a:spcPts val="2428"/>
              </a:lnSpc>
            </a:pPr>
            <a:r>
              <a:rPr lang="en-US" b="true" sz="2000" spc="-8">
                <a:solidFill>
                  <a:srgbClr val="2F2E2B"/>
                </a:solidFill>
                <a:latin typeface="Arial MT Pro Bold"/>
                <a:ea typeface="Arial MT Pro Bold"/>
                <a:cs typeface="Arial MT Pro Bold"/>
                <a:sym typeface="Arial MT Pro Bold"/>
              </a:rPr>
              <a:t>Borderless Threats Exploit Supply</a:t>
            </a:r>
          </a:p>
          <a:p>
            <a:pPr algn="l">
              <a:lnSpc>
                <a:spcPts val="2428"/>
              </a:lnSpc>
            </a:pPr>
            <a:r>
              <a:rPr lang="en-US" b="true" sz="2000" spc="-8">
                <a:solidFill>
                  <a:srgbClr val="2F2E2B"/>
                </a:solidFill>
                <a:latin typeface="Arial MT Pro Bold"/>
                <a:ea typeface="Arial MT Pro Bold"/>
                <a:cs typeface="Arial MT Pro Bold"/>
                <a:sym typeface="Arial MT Pro Bold"/>
              </a:rPr>
              <a:t>Chain Complexity</a:t>
            </a:r>
          </a:p>
          <a:p>
            <a:pPr algn="l">
              <a:lnSpc>
                <a:spcPts val="2428"/>
              </a:lnSpc>
            </a:pPr>
            <a:r>
              <a:rPr lang="en-US" sz="2000" spc="-8">
                <a:solidFill>
                  <a:srgbClr val="2F2E2B"/>
                </a:solidFill>
                <a:latin typeface="Arial MT Pro"/>
                <a:ea typeface="Arial MT Pro"/>
                <a:cs typeface="Arial MT Pro"/>
                <a:sym typeface="Arial MT Pro"/>
              </a:rPr>
              <a:t>Geopolitical cybersecurity risks often manifest as supply chain impacts, as attackers compremise trusted third parties to hypase the defenses of their ultimate targets, a reality that regional compliance frameworks fail to address.</a:t>
            </a:r>
          </a:p>
        </p:txBody>
      </p:sp>
      <p:sp>
        <p:nvSpPr>
          <p:cNvPr name="TextBox 14" id="14"/>
          <p:cNvSpPr txBox="true"/>
          <p:nvPr/>
        </p:nvSpPr>
        <p:spPr>
          <a:xfrm rot="0">
            <a:off x="20327742" y="6349350"/>
            <a:ext cx="4431543" cy="2406904"/>
          </a:xfrm>
          <a:prstGeom prst="rect">
            <a:avLst/>
          </a:prstGeom>
        </p:spPr>
        <p:txBody>
          <a:bodyPr anchor="t" rtlCol="false" tIns="0" lIns="0" bIns="0" rIns="0">
            <a:spAutoFit/>
          </a:bodyPr>
          <a:lstStyle/>
          <a:p>
            <a:pPr algn="l">
              <a:lnSpc>
                <a:spcPts val="2348"/>
              </a:lnSpc>
            </a:pPr>
            <a:r>
              <a:rPr lang="en-US" sz="2000" spc="-6">
                <a:solidFill>
                  <a:srgbClr val="2F2E2B"/>
                </a:solidFill>
                <a:latin typeface="Arial MT Pro"/>
                <a:ea typeface="Arial MT Pro"/>
                <a:cs typeface="Arial MT Pro"/>
                <a:sym typeface="Arial MT Pro"/>
              </a:rPr>
              <a:t>A critical SAP vulnerability</a:t>
            </a:r>
          </a:p>
          <a:p>
            <a:pPr algn="l">
              <a:lnSpc>
                <a:spcPts val="2348"/>
              </a:lnSpc>
            </a:pPr>
            <a:r>
              <a:rPr lang="en-US" sz="2000">
                <a:solidFill>
                  <a:srgbClr val="2F2E2B"/>
                </a:solidFill>
                <a:latin typeface="Arial MT Pro"/>
                <a:ea typeface="Arial MT Pro"/>
                <a:cs typeface="Arial MT Pro"/>
                <a:sym typeface="Arial MT Pro"/>
              </a:rPr>
              <a:t>(CVE-2023-31354) with a 10.0 CV3S</a:t>
            </a:r>
          </a:p>
          <a:p>
            <a:pPr algn="l">
              <a:lnSpc>
                <a:spcPts val="2348"/>
              </a:lnSpc>
            </a:pPr>
            <a:r>
              <a:rPr lang="en-US" sz="2000" spc="-2">
                <a:solidFill>
                  <a:srgbClr val="2F2E2B"/>
                </a:solidFill>
                <a:latin typeface="Arial MT Pro"/>
                <a:ea typeface="Arial MT Pro"/>
                <a:cs typeface="Arial MT Pro"/>
                <a:sym typeface="Arial MT Pro"/>
              </a:rPr>
              <a:t>scere was widely exploited by both APTS and ransomware groups because organizations hesitated to apply patches due to the high operational risk of disrupting mission-critical systems.</a:t>
            </a:r>
          </a:p>
        </p:txBody>
      </p:sp>
      <p:sp>
        <p:nvSpPr>
          <p:cNvPr name="TextBox 15" id="15"/>
          <p:cNvSpPr txBox="true"/>
          <p:nvPr/>
        </p:nvSpPr>
        <p:spPr>
          <a:xfrm rot="0">
            <a:off x="20327742" y="5483607"/>
            <a:ext cx="4431543" cy="903843"/>
          </a:xfrm>
          <a:prstGeom prst="rect">
            <a:avLst/>
          </a:prstGeom>
        </p:spPr>
        <p:txBody>
          <a:bodyPr anchor="t" rtlCol="false" tIns="0" lIns="0" bIns="0" rIns="0">
            <a:spAutoFit/>
          </a:bodyPr>
          <a:lstStyle/>
          <a:p>
            <a:pPr algn="l">
              <a:lnSpc>
                <a:spcPts val="2255"/>
              </a:lnSpc>
            </a:pPr>
            <a:r>
              <a:rPr lang="en-US" b="true" sz="1998" spc="-17">
                <a:solidFill>
                  <a:srgbClr val="2F2E2B"/>
                </a:solidFill>
                <a:latin typeface="Arial MT Pro Bold"/>
                <a:ea typeface="Arial MT Pro Bold"/>
                <a:cs typeface="Arial MT Pro Bold"/>
                <a:sym typeface="Arial MT Pro Bold"/>
              </a:rPr>
              <a:t>High CVSS Scores Don't Always</a:t>
            </a:r>
          </a:p>
          <a:p>
            <a:pPr algn="l">
              <a:lnSpc>
                <a:spcPts val="2255"/>
              </a:lnSpc>
            </a:pPr>
            <a:r>
              <a:rPr lang="en-US" b="true" sz="1998" spc="-17">
                <a:solidFill>
                  <a:srgbClr val="2F2E2B"/>
                </a:solidFill>
                <a:latin typeface="Arial MT Pro Bold"/>
                <a:ea typeface="Arial MT Pro Bold"/>
                <a:cs typeface="Arial MT Pro Bold"/>
                <a:sym typeface="Arial MT Pro Bold"/>
              </a:rPr>
              <a:t>Reflect Real-World Patching Priorities</a:t>
            </a:r>
          </a:p>
        </p:txBody>
      </p:sp>
      <p:sp>
        <p:nvSpPr>
          <p:cNvPr name="TextBox 16" id="16"/>
          <p:cNvSpPr txBox="true"/>
          <p:nvPr/>
        </p:nvSpPr>
        <p:spPr>
          <a:xfrm rot="0">
            <a:off x="20327742" y="2399355"/>
            <a:ext cx="4431543" cy="2558288"/>
          </a:xfrm>
          <a:prstGeom prst="rect">
            <a:avLst/>
          </a:prstGeom>
        </p:spPr>
        <p:txBody>
          <a:bodyPr anchor="t" rtlCol="false" tIns="0" lIns="0" bIns="0" rIns="0">
            <a:spAutoFit/>
          </a:bodyPr>
          <a:lstStyle/>
          <a:p>
            <a:pPr algn="l">
              <a:lnSpc>
                <a:spcPts val="2506"/>
              </a:lnSpc>
            </a:pPr>
            <a:r>
              <a:rPr lang="en-US" b="true" sz="2000" spc="-14">
                <a:solidFill>
                  <a:srgbClr val="2F2E2B"/>
                </a:solidFill>
                <a:latin typeface="Arial MT Pro Bold"/>
                <a:ea typeface="Arial MT Pro Bold"/>
                <a:cs typeface="Arial MT Pro Bold"/>
                <a:sym typeface="Arial MT Pro Bold"/>
              </a:rPr>
              <a:t>Focus is Misaligned with Actual</a:t>
            </a:r>
          </a:p>
          <a:p>
            <a:pPr algn="l">
              <a:lnSpc>
                <a:spcPts val="2506"/>
              </a:lnSpc>
            </a:pPr>
            <a:r>
              <a:rPr lang="en-US" b="true" sz="2000" spc="-14">
                <a:solidFill>
                  <a:srgbClr val="2F2E2B"/>
                </a:solidFill>
                <a:latin typeface="Arial MT Pro Bold"/>
                <a:ea typeface="Arial MT Pro Bold"/>
                <a:cs typeface="Arial MT Pro Bold"/>
                <a:sym typeface="Arial MT Pro Bold"/>
              </a:rPr>
              <a:t>Risk Vectors</a:t>
            </a:r>
          </a:p>
          <a:p>
            <a:pPr algn="l">
              <a:lnSpc>
                <a:spcPts val="2506"/>
              </a:lnSpc>
            </a:pPr>
            <a:r>
              <a:rPr lang="en-US" sz="2000" spc="-14">
                <a:solidFill>
                  <a:srgbClr val="2F2E2B"/>
                </a:solidFill>
                <a:latin typeface="Arial MT Pro"/>
                <a:ea typeface="Arial MT Pro"/>
                <a:cs typeface="Arial MT Pro"/>
                <a:sym typeface="Arial MT Pro"/>
              </a:rPr>
              <a:t>Many organizations focus too much on </a:t>
            </a:r>
            <a:r>
              <a:rPr lang="en-US" sz="2000" spc="-14">
                <a:solidFill>
                  <a:srgbClr val="2F2E2B"/>
                </a:solidFill>
                <a:latin typeface="Arial MT Pro"/>
                <a:ea typeface="Arial MT Pro"/>
                <a:cs typeface="Arial MT Pro"/>
                <a:sym typeface="Arial MT Pro"/>
              </a:rPr>
              <a:t>sophisticated attacks and not enough on </a:t>
            </a:r>
            <a:r>
              <a:rPr lang="en-US" sz="2000" spc="-14">
                <a:solidFill>
                  <a:srgbClr val="2F2E2B"/>
                </a:solidFill>
                <a:latin typeface="Arial MT Pro"/>
                <a:ea typeface="Arial MT Pro"/>
                <a:cs typeface="Arial MT Pro"/>
                <a:sym typeface="Arial MT Pro"/>
              </a:rPr>
              <a:t>basic cybersecurity hygiene and incident response, leaving them exposed to common threats like ransomware and account takeovers.</a:t>
            </a:r>
          </a:p>
        </p:txBody>
      </p:sp>
      <p:sp>
        <p:nvSpPr>
          <p:cNvPr name="TextBox 17" id="17"/>
          <p:cNvSpPr txBox="true"/>
          <p:nvPr/>
        </p:nvSpPr>
        <p:spPr>
          <a:xfrm rot="0">
            <a:off x="19937611" y="1393837"/>
            <a:ext cx="5952976" cy="933653"/>
          </a:xfrm>
          <a:prstGeom prst="rect">
            <a:avLst/>
          </a:prstGeom>
        </p:spPr>
        <p:txBody>
          <a:bodyPr anchor="t" rtlCol="false" tIns="0" lIns="0" bIns="0" rIns="0">
            <a:spAutoFit/>
          </a:bodyPr>
          <a:lstStyle/>
          <a:p>
            <a:pPr algn="ctr">
              <a:lnSpc>
                <a:spcPts val="3508"/>
              </a:lnSpc>
            </a:pPr>
            <a:r>
              <a:rPr lang="en-US" b="true" sz="2799" spc="-19">
                <a:solidFill>
                  <a:srgbClr val="2F2E2B"/>
                </a:solidFill>
                <a:latin typeface="Arial MT Pro Bold"/>
                <a:ea typeface="Arial MT Pro Bold"/>
                <a:cs typeface="Arial MT Pro Bold"/>
                <a:sym typeface="Arial MT Pro Bold"/>
              </a:rPr>
              <a:t>THE REALITY OF TECHNICAL RISK</a:t>
            </a:r>
          </a:p>
          <a:p>
            <a:pPr algn="r">
              <a:lnSpc>
                <a:spcPts val="3508"/>
              </a:lnSpc>
            </a:pPr>
            <a:r>
              <a:rPr lang="en-US" b="true" sz="2799" spc="-19">
                <a:solidFill>
                  <a:srgbClr val="2F2E2B"/>
                </a:solidFill>
                <a:latin typeface="Arial MT Pro Bold"/>
                <a:ea typeface="Arial MT Pro Bold"/>
                <a:cs typeface="Arial MT Pro Bold"/>
                <a:sym typeface="Arial MT Pro Bold"/>
              </a:rPr>
              <a:t>("Stopping the Attack")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12800" cy="14624558"/>
          </a:xfrm>
          <a:custGeom>
            <a:avLst/>
            <a:gdLst/>
            <a:ahLst/>
            <a:cxnLst/>
            <a:rect r="r" b="b" t="t" l="l"/>
            <a:pathLst>
              <a:path h="14624558" w="26212800">
                <a:moveTo>
                  <a:pt x="0" y="0"/>
                </a:moveTo>
                <a:lnTo>
                  <a:pt x="26212800" y="0"/>
                </a:lnTo>
                <a:lnTo>
                  <a:pt x="26212800" y="14624558"/>
                </a:lnTo>
                <a:lnTo>
                  <a:pt x="0" y="14624558"/>
                </a:lnTo>
                <a:lnTo>
                  <a:pt x="0" y="0"/>
                </a:lnTo>
                <a:close/>
              </a:path>
            </a:pathLst>
          </a:custGeom>
          <a:blipFill>
            <a:blip r:embed="rId2"/>
            <a:stretch>
              <a:fillRect l="0" t="0" r="0" b="0"/>
            </a:stretch>
          </a:blipFill>
        </p:spPr>
      </p:sp>
      <p:sp>
        <p:nvSpPr>
          <p:cNvPr name="TextBox 3" id="3"/>
          <p:cNvSpPr txBox="true"/>
          <p:nvPr/>
        </p:nvSpPr>
        <p:spPr>
          <a:xfrm rot="0">
            <a:off x="2547181" y="575187"/>
            <a:ext cx="21085671" cy="1100911"/>
          </a:xfrm>
          <a:prstGeom prst="rect">
            <a:avLst/>
          </a:prstGeom>
        </p:spPr>
        <p:txBody>
          <a:bodyPr anchor="t" rtlCol="false" tIns="0" lIns="0" bIns="0" rIns="0">
            <a:spAutoFit/>
          </a:bodyPr>
          <a:lstStyle/>
          <a:p>
            <a:pPr algn="ctr">
              <a:lnSpc>
                <a:spcPts val="8094"/>
              </a:lnSpc>
            </a:pPr>
            <a:r>
              <a:rPr lang="en-US" b="true" sz="5782" spc="-86">
                <a:solidFill>
                  <a:srgbClr val="322F2C"/>
                </a:solidFill>
                <a:latin typeface="Arial MT Pro Bold"/>
                <a:ea typeface="Arial MT Pro Bold"/>
                <a:cs typeface="Arial MT Pro Bold"/>
                <a:sym typeface="Arial MT Pro Bold"/>
              </a:rPr>
              <a:t>The New Speed of Combat: Preparing for the Era of Agentic Al</a:t>
            </a:r>
          </a:p>
        </p:txBody>
      </p:sp>
      <p:sp>
        <p:nvSpPr>
          <p:cNvPr name="TextBox 4" id="4"/>
          <p:cNvSpPr txBox="true"/>
          <p:nvPr/>
        </p:nvSpPr>
        <p:spPr>
          <a:xfrm rot="0">
            <a:off x="2466511" y="2441262"/>
            <a:ext cx="4438055" cy="604520"/>
          </a:xfrm>
          <a:prstGeom prst="rect">
            <a:avLst/>
          </a:prstGeom>
        </p:spPr>
        <p:txBody>
          <a:bodyPr anchor="t" rtlCol="false" tIns="0" lIns="0" bIns="0" rIns="0">
            <a:spAutoFit/>
          </a:bodyPr>
          <a:lstStyle/>
          <a:p>
            <a:pPr algn="ctr">
              <a:lnSpc>
                <a:spcPts val="4480"/>
              </a:lnSpc>
            </a:pPr>
            <a:r>
              <a:rPr lang="en-US" b="true" sz="3200" spc="64">
                <a:solidFill>
                  <a:srgbClr val="322F2C"/>
                </a:solidFill>
                <a:latin typeface="Arial MT Pro Bold"/>
                <a:ea typeface="Arial MT Pro Bold"/>
                <a:cs typeface="Arial MT Pro Bold"/>
                <a:sym typeface="Arial MT Pro Bold"/>
              </a:rPr>
              <a:t>Tool-Assisted Attacks</a:t>
            </a:r>
          </a:p>
        </p:txBody>
      </p:sp>
      <p:sp>
        <p:nvSpPr>
          <p:cNvPr name="TextBox 5" id="5"/>
          <p:cNvSpPr txBox="true"/>
          <p:nvPr/>
        </p:nvSpPr>
        <p:spPr>
          <a:xfrm rot="0">
            <a:off x="3504066" y="2965891"/>
            <a:ext cx="2362944" cy="512445"/>
          </a:xfrm>
          <a:prstGeom prst="rect">
            <a:avLst/>
          </a:prstGeom>
        </p:spPr>
        <p:txBody>
          <a:bodyPr anchor="t" rtlCol="false" tIns="0" lIns="0" bIns="0" rIns="0">
            <a:spAutoFit/>
          </a:bodyPr>
          <a:lstStyle/>
          <a:p>
            <a:pPr algn="ctr">
              <a:lnSpc>
                <a:spcPts val="3779"/>
              </a:lnSpc>
            </a:pPr>
            <a:r>
              <a:rPr lang="en-US" sz="2700">
                <a:solidFill>
                  <a:srgbClr val="322F2C"/>
                </a:solidFill>
                <a:latin typeface="Arial MT Pro"/>
                <a:ea typeface="Arial MT Pro"/>
                <a:cs typeface="Arial MT Pro"/>
                <a:sym typeface="Arial MT Pro"/>
              </a:rPr>
              <a:t>(Legacy Model)</a:t>
            </a:r>
          </a:p>
        </p:txBody>
      </p:sp>
      <p:sp>
        <p:nvSpPr>
          <p:cNvPr name="TextBox 6" id="6"/>
          <p:cNvSpPr txBox="true"/>
          <p:nvPr/>
        </p:nvSpPr>
        <p:spPr>
          <a:xfrm rot="0">
            <a:off x="11126187" y="2465210"/>
            <a:ext cx="3976985" cy="604510"/>
          </a:xfrm>
          <a:prstGeom prst="rect">
            <a:avLst/>
          </a:prstGeom>
        </p:spPr>
        <p:txBody>
          <a:bodyPr anchor="t" rtlCol="false" tIns="0" lIns="0" bIns="0" rIns="0">
            <a:spAutoFit/>
          </a:bodyPr>
          <a:lstStyle/>
          <a:p>
            <a:pPr algn="ctr">
              <a:lnSpc>
                <a:spcPts val="4480"/>
              </a:lnSpc>
            </a:pPr>
            <a:r>
              <a:rPr lang="en-US" b="true" sz="3200" spc="28">
                <a:solidFill>
                  <a:srgbClr val="322F2C"/>
                </a:solidFill>
                <a:latin typeface="Arial MT Pro Bold"/>
                <a:ea typeface="Arial MT Pro Bold"/>
                <a:cs typeface="Arial MT Pro Bold"/>
                <a:sym typeface="Arial MT Pro Bold"/>
              </a:rPr>
              <a:t>The Speed Disparity</a:t>
            </a:r>
          </a:p>
        </p:txBody>
      </p:sp>
      <p:sp>
        <p:nvSpPr>
          <p:cNvPr name="TextBox 7" id="7"/>
          <p:cNvSpPr txBox="true"/>
          <p:nvPr/>
        </p:nvSpPr>
        <p:spPr>
          <a:xfrm rot="0">
            <a:off x="18857010" y="2571730"/>
            <a:ext cx="5422404" cy="894352"/>
          </a:xfrm>
          <a:prstGeom prst="rect">
            <a:avLst/>
          </a:prstGeom>
        </p:spPr>
        <p:txBody>
          <a:bodyPr anchor="t" rtlCol="false" tIns="0" lIns="0" bIns="0" rIns="0">
            <a:spAutoFit/>
          </a:bodyPr>
          <a:lstStyle/>
          <a:p>
            <a:pPr algn="ctr">
              <a:lnSpc>
                <a:spcPts val="3525"/>
              </a:lnSpc>
            </a:pPr>
            <a:r>
              <a:rPr lang="en-US" b="true" sz="3201" spc="22">
                <a:solidFill>
                  <a:srgbClr val="322F2C"/>
                </a:solidFill>
                <a:latin typeface="Arial MT Pro Bold"/>
                <a:ea typeface="Arial MT Pro Bold"/>
                <a:cs typeface="Arial MT Pro Bold"/>
                <a:sym typeface="Arial MT Pro Bold"/>
              </a:rPr>
              <a:t>Autonomous Agent Attacks</a:t>
            </a:r>
          </a:p>
          <a:p>
            <a:pPr algn="ctr">
              <a:lnSpc>
                <a:spcPts val="2972"/>
              </a:lnSpc>
            </a:pPr>
            <a:r>
              <a:rPr lang="en-US" sz="2699" spc="18">
                <a:solidFill>
                  <a:srgbClr val="322F2C"/>
                </a:solidFill>
                <a:latin typeface="Arial MT Pro"/>
                <a:ea typeface="Arial MT Pro"/>
                <a:cs typeface="Arial MT Pro"/>
                <a:sym typeface="Arial MT Pro"/>
              </a:rPr>
              <a:t>(Emerging 2026 Threat)</a:t>
            </a:r>
          </a:p>
        </p:txBody>
      </p:sp>
      <p:sp>
        <p:nvSpPr>
          <p:cNvPr name="TextBox 8" id="8"/>
          <p:cNvSpPr txBox="true"/>
          <p:nvPr/>
        </p:nvSpPr>
        <p:spPr>
          <a:xfrm rot="0">
            <a:off x="18004808" y="7308995"/>
            <a:ext cx="7866688" cy="1816151"/>
          </a:xfrm>
          <a:prstGeom prst="rect">
            <a:avLst/>
          </a:prstGeom>
        </p:spPr>
        <p:txBody>
          <a:bodyPr anchor="t" rtlCol="false" tIns="0" lIns="0" bIns="0" rIns="0">
            <a:spAutoFit/>
          </a:bodyPr>
          <a:lstStyle/>
          <a:p>
            <a:pPr algn="l" marL="0" indent="0" lvl="0">
              <a:lnSpc>
                <a:spcPts val="2829"/>
              </a:lnSpc>
              <a:spcBef>
                <a:spcPct val="0"/>
              </a:spcBef>
            </a:pPr>
            <a:r>
              <a:rPr lang="en-US" b="true" sz="2400" strike="noStrike" u="none">
                <a:solidFill>
                  <a:srgbClr val="322F2C"/>
                </a:solidFill>
                <a:latin typeface="Arial MT Pro Bold"/>
                <a:ea typeface="Arial MT Pro Bold"/>
                <a:cs typeface="Arial MT Pro Bold"/>
                <a:sym typeface="Arial MT Pro Bold"/>
              </a:rPr>
              <a:t>The Rise of Agentic Al</a:t>
            </a:r>
          </a:p>
          <a:p>
            <a:pPr algn="l" marL="0" indent="0" lvl="0">
              <a:lnSpc>
                <a:spcPts val="2829"/>
              </a:lnSpc>
              <a:spcBef>
                <a:spcPct val="0"/>
              </a:spcBef>
            </a:pPr>
            <a:r>
              <a:rPr lang="en-US" sz="2400" strike="noStrike" u="none">
                <a:solidFill>
                  <a:srgbClr val="322F2C"/>
                </a:solidFill>
                <a:latin typeface="Arial MT Pro"/>
                <a:ea typeface="Arial MT Pro"/>
                <a:cs typeface="Arial MT Pro"/>
                <a:sym typeface="Arial MT Pro"/>
              </a:rPr>
              <a:t>Agentic Al is an advanced Al that focuses on autonomy, adeptability, and goal-driven reasoning to execute complex, multi-step operations without direct human intervention.</a:t>
            </a:r>
          </a:p>
        </p:txBody>
      </p:sp>
      <p:sp>
        <p:nvSpPr>
          <p:cNvPr name="TextBox 9" id="9"/>
          <p:cNvSpPr txBox="true"/>
          <p:nvPr/>
        </p:nvSpPr>
        <p:spPr>
          <a:xfrm rot="0">
            <a:off x="18004808" y="9077521"/>
            <a:ext cx="7866688" cy="1463726"/>
          </a:xfrm>
          <a:prstGeom prst="rect">
            <a:avLst/>
          </a:prstGeom>
        </p:spPr>
        <p:txBody>
          <a:bodyPr anchor="t" rtlCol="false" tIns="0" lIns="0" bIns="0" rIns="0">
            <a:spAutoFit/>
          </a:bodyPr>
          <a:lstStyle/>
          <a:p>
            <a:pPr algn="l" marL="0" indent="0" lvl="0">
              <a:lnSpc>
                <a:spcPts val="2829"/>
              </a:lnSpc>
              <a:spcBef>
                <a:spcPct val="0"/>
              </a:spcBef>
            </a:pPr>
            <a:r>
              <a:rPr lang="en-US" b="true" sz="2400" strike="noStrike" u="none">
                <a:solidFill>
                  <a:srgbClr val="322F2C"/>
                </a:solidFill>
                <a:latin typeface="Arial MT Pro Bold"/>
                <a:ea typeface="Arial MT Pro Bold"/>
                <a:cs typeface="Arial MT Pro Bold"/>
                <a:sym typeface="Arial MT Pro Bold"/>
              </a:rPr>
              <a:t>Operates at Machine Speed</a:t>
            </a:r>
          </a:p>
          <a:p>
            <a:pPr algn="l" marL="0" indent="0" lvl="0">
              <a:lnSpc>
                <a:spcPts val="2829"/>
              </a:lnSpc>
              <a:spcBef>
                <a:spcPct val="0"/>
              </a:spcBef>
            </a:pPr>
            <a:r>
              <a:rPr lang="en-US" sz="2400" strike="noStrike" u="none">
                <a:solidFill>
                  <a:srgbClr val="322F2C"/>
                </a:solidFill>
                <a:latin typeface="Arial MT Pro"/>
                <a:ea typeface="Arial MT Pro"/>
                <a:cs typeface="Arial MT Pro"/>
                <a:sym typeface="Arial MT Pro"/>
              </a:rPr>
              <a:t>A compromised Al agent can unleash ten times the damage in one-tenth of the time, with actions asecuting in milliseconds and overwhelming traditional defenses.</a:t>
            </a:r>
          </a:p>
        </p:txBody>
      </p:sp>
      <p:sp>
        <p:nvSpPr>
          <p:cNvPr name="TextBox 10" id="10"/>
          <p:cNvSpPr txBox="true"/>
          <p:nvPr/>
        </p:nvSpPr>
        <p:spPr>
          <a:xfrm rot="0">
            <a:off x="18004808" y="10493622"/>
            <a:ext cx="7866688" cy="1816151"/>
          </a:xfrm>
          <a:prstGeom prst="rect">
            <a:avLst/>
          </a:prstGeom>
        </p:spPr>
        <p:txBody>
          <a:bodyPr anchor="t" rtlCol="false" tIns="0" lIns="0" bIns="0" rIns="0">
            <a:spAutoFit/>
          </a:bodyPr>
          <a:lstStyle/>
          <a:p>
            <a:pPr algn="l" marL="0" indent="0" lvl="0">
              <a:lnSpc>
                <a:spcPts val="2829"/>
              </a:lnSpc>
              <a:spcBef>
                <a:spcPct val="0"/>
              </a:spcBef>
            </a:pPr>
            <a:r>
              <a:rPr lang="en-US" b="true" sz="2400" strike="noStrike" u="none">
                <a:solidFill>
                  <a:srgbClr val="322F2C"/>
                </a:solidFill>
                <a:latin typeface="Arial MT Pro Bold"/>
                <a:ea typeface="Arial MT Pro Bold"/>
                <a:cs typeface="Arial MT Pro Bold"/>
                <a:sym typeface="Arial MT Pro Bold"/>
              </a:rPr>
              <a:t>The Al is the Adversary</a:t>
            </a:r>
          </a:p>
          <a:p>
            <a:pPr algn="l" marL="0" indent="0" lvl="0">
              <a:lnSpc>
                <a:spcPts val="2829"/>
              </a:lnSpc>
              <a:spcBef>
                <a:spcPct val="0"/>
              </a:spcBef>
            </a:pPr>
            <a:r>
              <a:rPr lang="en-US" sz="2400" strike="noStrike" u="none">
                <a:solidFill>
                  <a:srgbClr val="322F2C"/>
                </a:solidFill>
                <a:latin typeface="Arial MT Pro"/>
                <a:ea typeface="Arial MT Pro"/>
                <a:cs typeface="Arial MT Pro"/>
                <a:sym typeface="Arial MT Pro"/>
              </a:rPr>
              <a:t>Agentic Al shifts cybercrime from a service model to one where the Al acts as the adversary, capable of automating fraud, orchestrating supply chain attacks, and running personalized social engineering campaigns at scale.</a:t>
            </a:r>
          </a:p>
        </p:txBody>
      </p:sp>
      <p:sp>
        <p:nvSpPr>
          <p:cNvPr name="TextBox 11" id="11"/>
          <p:cNvSpPr txBox="true"/>
          <p:nvPr/>
        </p:nvSpPr>
        <p:spPr>
          <a:xfrm rot="0">
            <a:off x="8311458" y="12332233"/>
            <a:ext cx="9534076" cy="2263750"/>
          </a:xfrm>
          <a:prstGeom prst="rect">
            <a:avLst/>
          </a:prstGeom>
        </p:spPr>
        <p:txBody>
          <a:bodyPr anchor="t" rtlCol="false" tIns="0" lIns="0" bIns="0" rIns="0">
            <a:spAutoFit/>
          </a:bodyPr>
          <a:lstStyle/>
          <a:p>
            <a:pPr algn="ctr">
              <a:lnSpc>
                <a:spcPts val="3110"/>
              </a:lnSpc>
            </a:pPr>
            <a:r>
              <a:rPr lang="en-US" b="true" sz="2699" spc="-2">
                <a:solidFill>
                  <a:srgbClr val="322F2C"/>
                </a:solidFill>
                <a:latin typeface="Arial MT Pro Bold"/>
                <a:ea typeface="Arial MT Pro Bold"/>
                <a:cs typeface="Arial MT Pro Bold"/>
                <a:sym typeface="Arial MT Pro Bold"/>
              </a:rPr>
              <a:t>Risk Insight: Traditional Defense Models are Obsolete</a:t>
            </a:r>
          </a:p>
          <a:p>
            <a:pPr algn="ctr">
              <a:lnSpc>
                <a:spcPts val="2879"/>
              </a:lnSpc>
            </a:pPr>
            <a:r>
              <a:rPr lang="en-US" sz="2499" spc="-2">
                <a:solidFill>
                  <a:srgbClr val="322F2C"/>
                </a:solidFill>
                <a:latin typeface="Arial MT Pro"/>
                <a:ea typeface="Arial MT Pro"/>
                <a:cs typeface="Arial MT Pro"/>
                <a:sym typeface="Arial MT Pro"/>
              </a:rPr>
              <a:t>Security models reliant on human-in-the-loop response and signature-based </a:t>
            </a:r>
            <a:r>
              <a:rPr lang="en-US" sz="2499" spc="-2">
                <a:solidFill>
                  <a:srgbClr val="322F2C"/>
                </a:solidFill>
                <a:latin typeface="Arial MT Pro"/>
                <a:ea typeface="Arial MT Pro"/>
                <a:cs typeface="Arial MT Pro"/>
                <a:sym typeface="Arial MT Pro"/>
              </a:rPr>
              <a:t>detection are fundamentally incompatible with machine-speed attacks. This disparity necessitates a shift to autonomous security operations that can predict, isolate, and neutralize threats in milliseconds.</a:t>
            </a:r>
          </a:p>
        </p:txBody>
      </p:sp>
      <p:sp>
        <p:nvSpPr>
          <p:cNvPr name="TextBox 12" id="12"/>
          <p:cNvSpPr txBox="true"/>
          <p:nvPr/>
        </p:nvSpPr>
        <p:spPr>
          <a:xfrm rot="0">
            <a:off x="1162383" y="7676749"/>
            <a:ext cx="7148913" cy="1569034"/>
          </a:xfrm>
          <a:prstGeom prst="rect">
            <a:avLst/>
          </a:prstGeom>
        </p:spPr>
        <p:txBody>
          <a:bodyPr anchor="t" rtlCol="false" tIns="0" lIns="0" bIns="0" rIns="0">
            <a:spAutoFit/>
          </a:bodyPr>
          <a:lstStyle/>
          <a:p>
            <a:pPr algn="l">
              <a:lnSpc>
                <a:spcPts val="3183"/>
              </a:lnSpc>
            </a:pPr>
            <a:r>
              <a:rPr lang="en-US" b="true" sz="2700" spc="56">
                <a:solidFill>
                  <a:srgbClr val="322F2C"/>
                </a:solidFill>
                <a:latin typeface="Arial MT Pro Bold"/>
                <a:ea typeface="Arial MT Pro Bold"/>
                <a:cs typeface="Arial MT Pro Bold"/>
                <a:sym typeface="Arial MT Pro Bold"/>
              </a:rPr>
              <a:t>Human-Operated, Tool-Supported</a:t>
            </a:r>
          </a:p>
          <a:p>
            <a:pPr algn="l">
              <a:lnSpc>
                <a:spcPts val="2947"/>
              </a:lnSpc>
            </a:pPr>
            <a:r>
              <a:rPr lang="en-US" sz="2499">
                <a:solidFill>
                  <a:srgbClr val="322F2C"/>
                </a:solidFill>
                <a:latin typeface="Arial MT Pro"/>
                <a:ea typeface="Arial MT Pro"/>
                <a:cs typeface="Arial MT Pro"/>
                <a:sym typeface="Arial MT Pro"/>
              </a:rPr>
              <a:t>A human adversary actively directs the attack, using software and scripts to achieve their objectives. The human is the operator.</a:t>
            </a:r>
          </a:p>
        </p:txBody>
      </p:sp>
      <p:sp>
        <p:nvSpPr>
          <p:cNvPr name="TextBox 13" id="13"/>
          <p:cNvSpPr txBox="true"/>
          <p:nvPr/>
        </p:nvSpPr>
        <p:spPr>
          <a:xfrm rot="0">
            <a:off x="1162383" y="9217209"/>
            <a:ext cx="7149075" cy="1574597"/>
          </a:xfrm>
          <a:prstGeom prst="rect">
            <a:avLst/>
          </a:prstGeom>
        </p:spPr>
        <p:txBody>
          <a:bodyPr anchor="t" rtlCol="false" tIns="0" lIns="0" bIns="0" rIns="0">
            <a:spAutoFit/>
          </a:bodyPr>
          <a:lstStyle/>
          <a:p>
            <a:pPr algn="l">
              <a:lnSpc>
                <a:spcPts val="3215"/>
              </a:lnSpc>
            </a:pPr>
            <a:r>
              <a:rPr lang="en-US" b="true" sz="2699" spc="5">
                <a:solidFill>
                  <a:srgbClr val="322F2C"/>
                </a:solidFill>
                <a:latin typeface="Arial MT Pro Bold"/>
                <a:ea typeface="Arial MT Pro Bold"/>
                <a:cs typeface="Arial MT Pro Bold"/>
                <a:sym typeface="Arial MT Pro Bold"/>
              </a:rPr>
              <a:t>Operates at Human Speed</a:t>
            </a:r>
          </a:p>
          <a:p>
            <a:pPr algn="l">
              <a:lnSpc>
                <a:spcPts val="2977"/>
              </a:lnSpc>
            </a:pPr>
            <a:r>
              <a:rPr lang="en-US" sz="2499" spc="-17">
                <a:solidFill>
                  <a:srgbClr val="322F2C"/>
                </a:solidFill>
                <a:latin typeface="Arial MT Pro"/>
                <a:ea typeface="Arial MT Pro"/>
                <a:cs typeface="Arial MT Pro"/>
                <a:sym typeface="Arial MT Pro"/>
              </a:rPr>
              <a:t>Attack timelines are limited by the operator's ability to analyze, </a:t>
            </a:r>
            <a:r>
              <a:rPr lang="en-US" sz="2499" spc="-17">
                <a:solidFill>
                  <a:srgbClr val="322F2C"/>
                </a:solidFill>
                <a:latin typeface="Arial MT Pro"/>
                <a:ea typeface="Arial MT Pro"/>
                <a:cs typeface="Arial MT Pro"/>
                <a:sym typeface="Arial MT Pro"/>
              </a:rPr>
              <a:t>decide, and act. Actions are measured in minutes, hours, or days.</a:t>
            </a:r>
          </a:p>
        </p:txBody>
      </p:sp>
      <p:sp>
        <p:nvSpPr>
          <p:cNvPr name="TextBox 14" id="14"/>
          <p:cNvSpPr txBox="true"/>
          <p:nvPr/>
        </p:nvSpPr>
        <p:spPr>
          <a:xfrm rot="0">
            <a:off x="1183538" y="10772755"/>
            <a:ext cx="7127920" cy="1537017"/>
          </a:xfrm>
          <a:prstGeom prst="rect">
            <a:avLst/>
          </a:prstGeom>
        </p:spPr>
        <p:txBody>
          <a:bodyPr anchor="t" rtlCol="false" tIns="0" lIns="0" bIns="0" rIns="0">
            <a:spAutoFit/>
          </a:bodyPr>
          <a:lstStyle/>
          <a:p>
            <a:pPr algn="l">
              <a:lnSpc>
                <a:spcPts val="2972"/>
              </a:lnSpc>
            </a:pPr>
            <a:r>
              <a:rPr lang="en-US" b="true" sz="2499" spc="7">
                <a:solidFill>
                  <a:srgbClr val="322F2C"/>
                </a:solidFill>
                <a:latin typeface="Arial MT Pro Bold"/>
                <a:ea typeface="Arial MT Pro Bold"/>
                <a:cs typeface="Arial MT Pro Bold"/>
                <a:sym typeface="Arial MT Pro Bold"/>
              </a:rPr>
              <a:t>Linear and Sequential Execution</a:t>
            </a:r>
          </a:p>
          <a:p>
            <a:pPr algn="l">
              <a:lnSpc>
                <a:spcPts val="2972"/>
              </a:lnSpc>
            </a:pPr>
            <a:r>
              <a:rPr lang="en-US" sz="2499">
                <a:solidFill>
                  <a:srgbClr val="322F2C"/>
                </a:solidFill>
                <a:latin typeface="Arial MT Pro"/>
                <a:ea typeface="Arial MT Pro"/>
                <a:cs typeface="Arial MT Pro"/>
                <a:sym typeface="Arial MT Pro"/>
              </a:rPr>
              <a:t>Attacks typically follow a predictable, step-by-step process </a:t>
            </a:r>
            <a:r>
              <a:rPr lang="en-US" sz="2499">
                <a:solidFill>
                  <a:srgbClr val="322F2C"/>
                </a:solidFill>
                <a:latin typeface="Arial MT Pro"/>
                <a:ea typeface="Arial MT Pro"/>
                <a:cs typeface="Arial MT Pro"/>
                <a:sym typeface="Arial MT Pro"/>
              </a:rPr>
              <a:t>manually guided by the threat actor from initial access to final </a:t>
            </a:r>
            <a:r>
              <a:rPr lang="en-US" sz="2499">
                <a:solidFill>
                  <a:srgbClr val="322F2C"/>
                </a:solidFill>
                <a:latin typeface="Arial MT Pro"/>
                <a:ea typeface="Arial MT Pro"/>
                <a:cs typeface="Arial MT Pro"/>
                <a:sym typeface="Arial MT Pro"/>
              </a:rPr>
              <a:t>impact.</a:t>
            </a:r>
          </a:p>
        </p:txBody>
      </p:sp>
      <p:sp>
        <p:nvSpPr>
          <p:cNvPr name="TextBox 15" id="15"/>
          <p:cNvSpPr txBox="true"/>
          <p:nvPr/>
        </p:nvSpPr>
        <p:spPr>
          <a:xfrm rot="0">
            <a:off x="1146810" y="12510036"/>
            <a:ext cx="7164648" cy="1580198"/>
          </a:xfrm>
          <a:prstGeom prst="rect">
            <a:avLst/>
          </a:prstGeom>
        </p:spPr>
        <p:txBody>
          <a:bodyPr anchor="t" rtlCol="false" tIns="0" lIns="0" bIns="0" rIns="0">
            <a:spAutoFit/>
          </a:bodyPr>
          <a:lstStyle/>
          <a:p>
            <a:pPr algn="l">
              <a:lnSpc>
                <a:spcPts val="3007"/>
              </a:lnSpc>
            </a:pPr>
            <a:r>
              <a:rPr lang="en-US" b="true" sz="2499" spc="19">
                <a:solidFill>
                  <a:srgbClr val="322F2C"/>
                </a:solidFill>
                <a:latin typeface="Arial MT Pro Bold"/>
                <a:ea typeface="Arial MT Pro Bold"/>
                <a:cs typeface="Arial MT Pro Bold"/>
                <a:sym typeface="Arial MT Pro Bold"/>
              </a:rPr>
              <a:t>Reactive Defense Posture</a:t>
            </a:r>
          </a:p>
          <a:p>
            <a:pPr algn="l">
              <a:lnSpc>
                <a:spcPts val="3007"/>
              </a:lnSpc>
            </a:pPr>
            <a:r>
              <a:rPr lang="en-US" sz="2499">
                <a:solidFill>
                  <a:srgbClr val="322F2C"/>
                </a:solidFill>
                <a:latin typeface="Arial MT Pro"/>
                <a:ea typeface="Arial MT Pro"/>
                <a:cs typeface="Arial MT Pro"/>
                <a:sym typeface="Arial MT Pro"/>
              </a:rPr>
              <a:t>Security models are built to detect and respond to attacks in </a:t>
            </a:r>
            <a:r>
              <a:rPr lang="en-US" sz="2499">
                <a:solidFill>
                  <a:srgbClr val="322F2C"/>
                </a:solidFill>
                <a:latin typeface="Arial MT Pro"/>
                <a:ea typeface="Arial MT Pro"/>
                <a:cs typeface="Arial MT Pro"/>
                <a:sym typeface="Arial MT Pro"/>
              </a:rPr>
              <a:t>progress, relying on human analysts to investigate alerts and orchestrate remediation.</a:t>
            </a:r>
          </a:p>
        </p:txBody>
      </p:sp>
      <p:sp>
        <p:nvSpPr>
          <p:cNvPr name="TextBox 16" id="16"/>
          <p:cNvSpPr txBox="true"/>
          <p:nvPr/>
        </p:nvSpPr>
        <p:spPr>
          <a:xfrm rot="0">
            <a:off x="18004808" y="12262148"/>
            <a:ext cx="7866688" cy="2168576"/>
          </a:xfrm>
          <a:prstGeom prst="rect">
            <a:avLst/>
          </a:prstGeom>
        </p:spPr>
        <p:txBody>
          <a:bodyPr anchor="t" rtlCol="false" tIns="0" lIns="0" bIns="0" rIns="0">
            <a:spAutoFit/>
          </a:bodyPr>
          <a:lstStyle/>
          <a:p>
            <a:pPr algn="l" marL="0" indent="0" lvl="0">
              <a:lnSpc>
                <a:spcPts val="2829"/>
              </a:lnSpc>
              <a:spcBef>
                <a:spcPct val="0"/>
              </a:spcBef>
            </a:pPr>
            <a:r>
              <a:rPr lang="en-US" b="true" sz="2400" strike="noStrike" u="none">
                <a:solidFill>
                  <a:srgbClr val="322F2C"/>
                </a:solidFill>
                <a:latin typeface="Arial MT Pro Bold"/>
                <a:ea typeface="Arial MT Pro Bold"/>
                <a:cs typeface="Arial MT Pro Bold"/>
                <a:sym typeface="Arial MT Pro Bold"/>
              </a:rPr>
              <a:t>Agentic Identities: The New Insider Threat</a:t>
            </a:r>
          </a:p>
          <a:p>
            <a:pPr algn="l" marL="0" indent="0" lvl="0">
              <a:lnSpc>
                <a:spcPts val="2829"/>
              </a:lnSpc>
              <a:spcBef>
                <a:spcPct val="0"/>
              </a:spcBef>
            </a:pPr>
            <a:r>
              <a:rPr lang="en-US" sz="2400" strike="noStrike" u="none">
                <a:solidFill>
                  <a:srgbClr val="322F2C"/>
                </a:solidFill>
                <a:latin typeface="Arial MT Pro"/>
                <a:ea typeface="Arial MT Pro"/>
                <a:cs typeface="Arial MT Pro"/>
                <a:sym typeface="Arial MT Pro"/>
              </a:rPr>
              <a:t>By 2026, autonomous Al agents will become a primary source of data leaks. They must be treated as first slass identities with privileges to manage and behaviors to monitor, as they can be tricked via "prompt paths" to expose sensitive 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23271" cy="14630400"/>
          </a:xfrm>
          <a:custGeom>
            <a:avLst/>
            <a:gdLst/>
            <a:ahLst/>
            <a:cxnLst/>
            <a:rect r="r" b="b" t="t" l="l"/>
            <a:pathLst>
              <a:path h="14630400" w="26223271">
                <a:moveTo>
                  <a:pt x="0" y="0"/>
                </a:moveTo>
                <a:lnTo>
                  <a:pt x="26223271" y="0"/>
                </a:lnTo>
                <a:lnTo>
                  <a:pt x="26223271" y="14630400"/>
                </a:lnTo>
                <a:lnTo>
                  <a:pt x="0" y="14630400"/>
                </a:lnTo>
                <a:lnTo>
                  <a:pt x="0" y="0"/>
                </a:lnTo>
                <a:close/>
              </a:path>
            </a:pathLst>
          </a:custGeom>
          <a:blipFill>
            <a:blip r:embed="rId2"/>
            <a:stretch>
              <a:fillRect l="0" t="0" r="0" b="0"/>
            </a:stretch>
          </a:blipFill>
        </p:spPr>
      </p:sp>
      <p:sp>
        <p:nvSpPr>
          <p:cNvPr name="TextBox 3" id="3"/>
          <p:cNvSpPr txBox="true"/>
          <p:nvPr/>
        </p:nvSpPr>
        <p:spPr>
          <a:xfrm rot="0">
            <a:off x="2366293" y="271599"/>
            <a:ext cx="21480214" cy="1752663"/>
          </a:xfrm>
          <a:prstGeom prst="rect">
            <a:avLst/>
          </a:prstGeom>
        </p:spPr>
        <p:txBody>
          <a:bodyPr anchor="t" rtlCol="false" tIns="0" lIns="0" bIns="0" rIns="0">
            <a:spAutoFit/>
          </a:bodyPr>
          <a:lstStyle/>
          <a:p>
            <a:pPr algn="ctr">
              <a:lnSpc>
                <a:spcPts val="8112"/>
              </a:lnSpc>
            </a:pPr>
            <a:r>
              <a:rPr lang="en-US" b="true" sz="6999" spc="230">
                <a:solidFill>
                  <a:srgbClr val="2A2926"/>
                </a:solidFill>
                <a:latin typeface="Arial MT Pro Bold"/>
                <a:ea typeface="Arial MT Pro Bold"/>
                <a:cs typeface="Arial MT Pro Bold"/>
                <a:sym typeface="Arial MT Pro Bold"/>
              </a:rPr>
              <a:t>FUTURE RISK: QUANTUM &amp; INFRASTRUCTURE</a:t>
            </a:r>
          </a:p>
          <a:p>
            <a:pPr algn="ctr">
              <a:lnSpc>
                <a:spcPts val="4635"/>
              </a:lnSpc>
            </a:pPr>
            <a:r>
              <a:rPr lang="en-US" sz="3999" spc="131">
                <a:solidFill>
                  <a:srgbClr val="2A2926"/>
                </a:solidFill>
                <a:latin typeface="Arial MT Pro"/>
                <a:ea typeface="Arial MT Pro"/>
                <a:cs typeface="Arial MT Pro"/>
                <a:sym typeface="Arial MT Pro"/>
              </a:rPr>
              <a:t>Long-Term, Existential Cyber Risks Requiring Immediate Strategic Planning</a:t>
            </a:r>
          </a:p>
        </p:txBody>
      </p:sp>
      <p:sp>
        <p:nvSpPr>
          <p:cNvPr name="TextBox 4" id="4"/>
          <p:cNvSpPr txBox="true"/>
          <p:nvPr/>
        </p:nvSpPr>
        <p:spPr>
          <a:xfrm rot="0">
            <a:off x="1238894" y="2867809"/>
            <a:ext cx="13075890" cy="673100"/>
          </a:xfrm>
          <a:prstGeom prst="rect">
            <a:avLst/>
          </a:prstGeom>
        </p:spPr>
        <p:txBody>
          <a:bodyPr anchor="t" rtlCol="false" tIns="0" lIns="0" bIns="0" rIns="0">
            <a:spAutoFit/>
          </a:bodyPr>
          <a:lstStyle/>
          <a:p>
            <a:pPr algn="ctr">
              <a:lnSpc>
                <a:spcPts val="4900"/>
              </a:lnSpc>
            </a:pPr>
            <a:r>
              <a:rPr lang="en-US" b="true" sz="3500" spc="49">
                <a:solidFill>
                  <a:srgbClr val="2A2926"/>
                </a:solidFill>
                <a:latin typeface="Arial MT Pro Bold"/>
                <a:ea typeface="Arial MT Pro Bold"/>
                <a:cs typeface="Arial MT Pro Bold"/>
                <a:sym typeface="Arial MT Pro Bold"/>
              </a:rPr>
              <a:t>THE QUANTUM THREAT: HARVEST NOW, DECRYPT LATER</a:t>
            </a:r>
          </a:p>
        </p:txBody>
      </p:sp>
      <p:sp>
        <p:nvSpPr>
          <p:cNvPr name="TextBox 5" id="5"/>
          <p:cNvSpPr txBox="true"/>
          <p:nvPr/>
        </p:nvSpPr>
        <p:spPr>
          <a:xfrm rot="0">
            <a:off x="753919" y="8927792"/>
            <a:ext cx="3397597" cy="1113472"/>
          </a:xfrm>
          <a:prstGeom prst="rect">
            <a:avLst/>
          </a:prstGeom>
        </p:spPr>
        <p:txBody>
          <a:bodyPr anchor="t" rtlCol="false" tIns="0" lIns="0" bIns="0" rIns="0">
            <a:spAutoFit/>
          </a:bodyPr>
          <a:lstStyle/>
          <a:p>
            <a:pPr algn="l">
              <a:lnSpc>
                <a:spcPts val="2782"/>
              </a:lnSpc>
            </a:pPr>
            <a:r>
              <a:rPr lang="en-US" b="true" sz="2499" spc="14">
                <a:solidFill>
                  <a:srgbClr val="2A2926"/>
                </a:solidFill>
                <a:latin typeface="Arial MT Pro Bold"/>
                <a:ea typeface="Arial MT Pro Bold"/>
                <a:cs typeface="Arial MT Pro Bold"/>
                <a:sym typeface="Arial MT Pro Bold"/>
              </a:rPr>
              <a:t>DATA HARVESTING</a:t>
            </a:r>
          </a:p>
          <a:p>
            <a:pPr algn="l">
              <a:lnSpc>
                <a:spcPts val="2782"/>
              </a:lnSpc>
            </a:pPr>
            <a:r>
              <a:rPr lang="en-US" sz="2499" spc="14">
                <a:solidFill>
                  <a:srgbClr val="2A2926"/>
                </a:solidFill>
                <a:latin typeface="Arial MT Pro"/>
                <a:ea typeface="Arial MT Pro"/>
                <a:cs typeface="Arial MT Pro"/>
                <a:sym typeface="Arial MT Pro"/>
              </a:rPr>
              <a:t>(Adversaries stockpiling</a:t>
            </a:r>
          </a:p>
          <a:p>
            <a:pPr algn="l">
              <a:lnSpc>
                <a:spcPts val="2782"/>
              </a:lnSpc>
            </a:pPr>
            <a:r>
              <a:rPr lang="en-US" sz="2499" spc="14">
                <a:solidFill>
                  <a:srgbClr val="2A2926"/>
                </a:solidFill>
                <a:latin typeface="Arial MT Pro"/>
                <a:ea typeface="Arial MT Pro"/>
                <a:cs typeface="Arial MT Pro"/>
                <a:sym typeface="Arial MT Pro"/>
              </a:rPr>
              <a:t>encrypted data)</a:t>
            </a:r>
          </a:p>
        </p:txBody>
      </p:sp>
      <p:sp>
        <p:nvSpPr>
          <p:cNvPr name="TextBox 6" id="6"/>
          <p:cNvSpPr txBox="true"/>
          <p:nvPr/>
        </p:nvSpPr>
        <p:spPr>
          <a:xfrm rot="0">
            <a:off x="5425326" y="9945043"/>
            <a:ext cx="3883075" cy="2339975"/>
          </a:xfrm>
          <a:prstGeom prst="rect">
            <a:avLst/>
          </a:prstGeom>
        </p:spPr>
        <p:txBody>
          <a:bodyPr anchor="t" rtlCol="false" tIns="0" lIns="0" bIns="0" rIns="0">
            <a:spAutoFit/>
          </a:bodyPr>
          <a:lstStyle/>
          <a:p>
            <a:pPr algn="l">
              <a:lnSpc>
                <a:spcPts val="3024"/>
              </a:lnSpc>
            </a:pPr>
            <a:r>
              <a:rPr lang="en-US" b="true" sz="2499" spc="44">
                <a:solidFill>
                  <a:srgbClr val="2A2926"/>
                </a:solidFill>
                <a:latin typeface="Arial MT Pro Bold"/>
                <a:ea typeface="Arial MT Pro Bold"/>
                <a:cs typeface="Arial MT Pro Bold"/>
                <a:sym typeface="Arial MT Pro Bold"/>
              </a:rPr>
              <a:t>POST-QUANTUM</a:t>
            </a:r>
          </a:p>
          <a:p>
            <a:pPr algn="l">
              <a:lnSpc>
                <a:spcPts val="3024"/>
              </a:lnSpc>
            </a:pPr>
            <a:r>
              <a:rPr lang="en-US" b="true" sz="2499" spc="44">
                <a:solidFill>
                  <a:srgbClr val="2A2926"/>
                </a:solidFill>
                <a:latin typeface="Arial MT Pro Bold"/>
                <a:ea typeface="Arial MT Pro Bold"/>
                <a:cs typeface="Arial MT Pro Bold"/>
                <a:sym typeface="Arial MT Pro Bold"/>
              </a:rPr>
              <a:t>CRYPTOGRAPHY (PQC):</a:t>
            </a:r>
          </a:p>
          <a:p>
            <a:pPr algn="l">
              <a:lnSpc>
                <a:spcPts val="3024"/>
              </a:lnSpc>
            </a:pPr>
            <a:r>
              <a:rPr lang="en-US" b="true" sz="2499" spc="44">
                <a:solidFill>
                  <a:srgbClr val="2A2926"/>
                </a:solidFill>
                <a:latin typeface="Arial MT Pro Bold"/>
                <a:ea typeface="Arial MT Pro Bold"/>
                <a:cs typeface="Arial MT Pro Bold"/>
                <a:sym typeface="Arial MT Pro Bold"/>
              </a:rPr>
              <a:t>Immediate Business</a:t>
            </a:r>
          </a:p>
          <a:p>
            <a:pPr algn="l">
              <a:lnSpc>
                <a:spcPts val="3024"/>
              </a:lnSpc>
            </a:pPr>
            <a:r>
              <a:rPr lang="en-US" b="true" sz="2499" spc="44">
                <a:solidFill>
                  <a:srgbClr val="2A2926"/>
                </a:solidFill>
                <a:latin typeface="Arial MT Pro Bold"/>
                <a:ea typeface="Arial MT Pro Bold"/>
                <a:cs typeface="Arial MT Pro Bold"/>
                <a:sym typeface="Arial MT Pro Bold"/>
              </a:rPr>
              <a:t>Continuity Priority.</a:t>
            </a:r>
          </a:p>
          <a:p>
            <a:pPr algn="l">
              <a:lnSpc>
                <a:spcPts val="3024"/>
              </a:lnSpc>
            </a:pPr>
            <a:r>
              <a:rPr lang="en-US" sz="2499" spc="44">
                <a:solidFill>
                  <a:srgbClr val="2A2926"/>
                </a:solidFill>
                <a:latin typeface="Arial MT Pro"/>
                <a:ea typeface="Arial MT Pro"/>
                <a:cs typeface="Arial MT Pro"/>
                <a:sym typeface="Arial MT Pro"/>
              </a:rPr>
              <a:t>Need to prepare for</a:t>
            </a:r>
          </a:p>
          <a:p>
            <a:pPr algn="l">
              <a:lnSpc>
                <a:spcPts val="3024"/>
              </a:lnSpc>
            </a:pPr>
            <a:r>
              <a:rPr lang="en-US" sz="2499" spc="44">
                <a:solidFill>
                  <a:srgbClr val="2A2926"/>
                </a:solidFill>
                <a:latin typeface="Arial MT Pro"/>
                <a:ea typeface="Arial MT Pro"/>
                <a:cs typeface="Arial MT Pro"/>
                <a:sym typeface="Arial MT Pro"/>
              </a:rPr>
              <a:t>quantum threat is now.</a:t>
            </a:r>
          </a:p>
        </p:txBody>
      </p:sp>
      <p:sp>
        <p:nvSpPr>
          <p:cNvPr name="TextBox 7" id="7"/>
          <p:cNvSpPr txBox="true"/>
          <p:nvPr/>
        </p:nvSpPr>
        <p:spPr>
          <a:xfrm rot="0">
            <a:off x="10789816" y="8598922"/>
            <a:ext cx="4633168" cy="1089025"/>
          </a:xfrm>
          <a:prstGeom prst="rect">
            <a:avLst/>
          </a:prstGeom>
        </p:spPr>
        <p:txBody>
          <a:bodyPr anchor="t" rtlCol="false" tIns="0" lIns="0" bIns="0" rIns="0">
            <a:spAutoFit/>
          </a:bodyPr>
          <a:lstStyle/>
          <a:p>
            <a:pPr algn="ctr">
              <a:lnSpc>
                <a:spcPts val="2749"/>
              </a:lnSpc>
            </a:pPr>
            <a:r>
              <a:rPr lang="en-US" b="true" sz="2499" spc="19">
                <a:solidFill>
                  <a:srgbClr val="2A2926"/>
                </a:solidFill>
                <a:latin typeface="Arial MT Pro Bold"/>
                <a:ea typeface="Arial MT Pro Bold"/>
                <a:cs typeface="Arial MT Pro Bold"/>
                <a:sym typeface="Arial MT Pro Bold"/>
              </a:rPr>
              <a:t>QUANTUM DECRYPTION</a:t>
            </a:r>
          </a:p>
          <a:p>
            <a:pPr algn="ctr">
              <a:lnSpc>
                <a:spcPts val="2749"/>
              </a:lnSpc>
            </a:pPr>
            <a:r>
              <a:rPr lang="en-US" sz="2499" spc="19">
                <a:solidFill>
                  <a:srgbClr val="2A2926"/>
                </a:solidFill>
                <a:latin typeface="Arial MT Pro"/>
                <a:ea typeface="Arial MT Pro"/>
                <a:cs typeface="Arial MT Pro"/>
                <a:sym typeface="Arial MT Pro"/>
              </a:rPr>
              <a:t>(Fault-tolerant computers render</a:t>
            </a:r>
          </a:p>
          <a:p>
            <a:pPr algn="ctr">
              <a:lnSpc>
                <a:spcPts val="2749"/>
              </a:lnSpc>
            </a:pPr>
            <a:r>
              <a:rPr lang="en-US" sz="2499" spc="19">
                <a:solidFill>
                  <a:srgbClr val="2A2926"/>
                </a:solidFill>
                <a:latin typeface="Arial MT Pro"/>
                <a:ea typeface="Arial MT Pro"/>
                <a:cs typeface="Arial MT Pro"/>
                <a:sym typeface="Arial MT Pro"/>
              </a:rPr>
              <a:t>current encryption obsolete)</a:t>
            </a:r>
          </a:p>
        </p:txBody>
      </p:sp>
      <p:sp>
        <p:nvSpPr>
          <p:cNvPr name="TextBox 8" id="8"/>
          <p:cNvSpPr txBox="true"/>
          <p:nvPr/>
        </p:nvSpPr>
        <p:spPr>
          <a:xfrm rot="0">
            <a:off x="9639033" y="9820426"/>
            <a:ext cx="4477643" cy="908050"/>
          </a:xfrm>
          <a:prstGeom prst="rect">
            <a:avLst/>
          </a:prstGeom>
        </p:spPr>
        <p:txBody>
          <a:bodyPr anchor="t" rtlCol="false" tIns="0" lIns="0" bIns="0" rIns="0">
            <a:spAutoFit/>
          </a:bodyPr>
          <a:lstStyle/>
          <a:p>
            <a:pPr algn="ctr">
              <a:lnSpc>
                <a:spcPts val="3499"/>
              </a:lnSpc>
            </a:pPr>
            <a:r>
              <a:rPr lang="en-US" b="true" sz="2499" spc="87">
                <a:solidFill>
                  <a:srgbClr val="2A2926"/>
                </a:solidFill>
                <a:latin typeface="Arial MT Pro Bold"/>
                <a:ea typeface="Arial MT Pro Bold"/>
                <a:cs typeface="Arial MT Pro Bold"/>
                <a:sym typeface="Arial MT Pro Bold"/>
              </a:rPr>
              <a:t>CRYPTOGRAPHIC AGILITY:</a:t>
            </a:r>
          </a:p>
          <a:p>
            <a:pPr algn="l">
              <a:lnSpc>
                <a:spcPts val="3499"/>
              </a:lnSpc>
            </a:pPr>
            <a:r>
              <a:rPr lang="en-US" b="true" sz="2499" spc="87">
                <a:solidFill>
                  <a:srgbClr val="2A2926"/>
                </a:solidFill>
                <a:latin typeface="Arial MT Pro Bold"/>
                <a:ea typeface="Arial MT Pro Bold"/>
                <a:cs typeface="Arial MT Pro Bold"/>
                <a:sym typeface="Arial MT Pro Bold"/>
              </a:rPr>
              <a:t>Focus Shift</a:t>
            </a:r>
          </a:p>
        </p:txBody>
      </p:sp>
      <p:sp>
        <p:nvSpPr>
          <p:cNvPr name="TextBox 9" id="9"/>
          <p:cNvSpPr txBox="true"/>
          <p:nvPr/>
        </p:nvSpPr>
        <p:spPr>
          <a:xfrm rot="0">
            <a:off x="9639033" y="10670582"/>
            <a:ext cx="4359176" cy="1063942"/>
          </a:xfrm>
          <a:prstGeom prst="rect">
            <a:avLst/>
          </a:prstGeom>
        </p:spPr>
        <p:txBody>
          <a:bodyPr anchor="t" rtlCol="false" tIns="0" lIns="0" bIns="0" rIns="0">
            <a:spAutoFit/>
          </a:bodyPr>
          <a:lstStyle/>
          <a:p>
            <a:pPr algn="l">
              <a:lnSpc>
                <a:spcPts val="2647"/>
              </a:lnSpc>
            </a:pPr>
            <a:r>
              <a:rPr lang="en-US" sz="2499" spc="-17">
                <a:solidFill>
                  <a:srgbClr val="2A2926"/>
                </a:solidFill>
                <a:latin typeface="Arial MT Pro"/>
                <a:ea typeface="Arial MT Pro"/>
                <a:cs typeface="Arial MT Pro"/>
                <a:sym typeface="Arial MT Pro"/>
              </a:rPr>
              <a:t>Inventory assets and build</a:t>
            </a:r>
          </a:p>
          <a:p>
            <a:pPr algn="l">
              <a:lnSpc>
                <a:spcPts val="2647"/>
              </a:lnSpc>
            </a:pPr>
            <a:r>
              <a:rPr lang="en-US" sz="2499" spc="-17">
                <a:solidFill>
                  <a:srgbClr val="2A2926"/>
                </a:solidFill>
                <a:latin typeface="Arial MT Pro"/>
                <a:ea typeface="Arial MT Pro"/>
                <a:cs typeface="Arial MT Pro"/>
                <a:sym typeface="Arial MT Pro"/>
              </a:rPr>
              <a:t>systems for seamless transition</a:t>
            </a:r>
          </a:p>
          <a:p>
            <a:pPr algn="l">
              <a:lnSpc>
                <a:spcPts val="2647"/>
              </a:lnSpc>
            </a:pPr>
            <a:r>
              <a:rPr lang="en-US" sz="2499" spc="-17">
                <a:solidFill>
                  <a:srgbClr val="2A2926"/>
                </a:solidFill>
                <a:latin typeface="Arial MT Pro"/>
                <a:ea typeface="Arial MT Pro"/>
                <a:cs typeface="Arial MT Pro"/>
                <a:sym typeface="Arial MT Pro"/>
              </a:rPr>
              <a:t>to new standards.</a:t>
            </a:r>
          </a:p>
        </p:txBody>
      </p:sp>
      <p:sp>
        <p:nvSpPr>
          <p:cNvPr name="TextBox 10" id="10"/>
          <p:cNvSpPr txBox="true"/>
          <p:nvPr/>
        </p:nvSpPr>
        <p:spPr>
          <a:xfrm rot="0">
            <a:off x="1089253" y="12950696"/>
            <a:ext cx="24093934" cy="1083544"/>
          </a:xfrm>
          <a:prstGeom prst="rect">
            <a:avLst/>
          </a:prstGeom>
        </p:spPr>
        <p:txBody>
          <a:bodyPr anchor="t" rtlCol="false" tIns="0" lIns="0" bIns="0" rIns="0">
            <a:spAutoFit/>
          </a:bodyPr>
          <a:lstStyle/>
          <a:p>
            <a:pPr algn="ctr">
              <a:lnSpc>
                <a:spcPts val="3925"/>
              </a:lnSpc>
            </a:pPr>
            <a:r>
              <a:rPr lang="en-US" sz="3568" spc="14">
                <a:solidFill>
                  <a:srgbClr val="2A2926"/>
                </a:solidFill>
                <a:latin typeface="Arial MT Pro"/>
                <a:ea typeface="Arial MT Pro"/>
                <a:cs typeface="Arial MT Pro"/>
                <a:sym typeface="Arial MT Pro"/>
              </a:rPr>
              <a:t>We are securing data for today's standards, but our adversaries are stealing it for tomorrow's computers.</a:t>
            </a:r>
          </a:p>
          <a:p>
            <a:pPr algn="ctr">
              <a:lnSpc>
                <a:spcPts val="3925"/>
              </a:lnSpc>
            </a:pPr>
            <a:r>
              <a:rPr lang="en-US" sz="3568" spc="14">
                <a:solidFill>
                  <a:srgbClr val="2A2926"/>
                </a:solidFill>
                <a:latin typeface="Arial MT Pro"/>
                <a:ea typeface="Arial MT Pro"/>
                <a:cs typeface="Arial MT Pro"/>
                <a:sym typeface="Arial MT Pro"/>
              </a:rPr>
              <a:t>Our strategic planning must account for the long-term value of our data and the evolving capabilities of our adversaries.</a:t>
            </a:r>
          </a:p>
        </p:txBody>
      </p:sp>
      <p:sp>
        <p:nvSpPr>
          <p:cNvPr name="TextBox 11" id="11"/>
          <p:cNvSpPr txBox="true"/>
          <p:nvPr/>
        </p:nvSpPr>
        <p:spPr>
          <a:xfrm rot="0">
            <a:off x="15544877" y="10226826"/>
            <a:ext cx="3938914" cy="1346200"/>
          </a:xfrm>
          <a:prstGeom prst="rect">
            <a:avLst/>
          </a:prstGeom>
        </p:spPr>
        <p:txBody>
          <a:bodyPr anchor="t" rtlCol="false" tIns="0" lIns="0" bIns="0" rIns="0">
            <a:spAutoFit/>
          </a:bodyPr>
          <a:lstStyle/>
          <a:p>
            <a:pPr algn="l">
              <a:lnSpc>
                <a:spcPts val="3499"/>
              </a:lnSpc>
            </a:pPr>
            <a:r>
              <a:rPr lang="en-US" b="true" sz="2499" spc="92">
                <a:solidFill>
                  <a:srgbClr val="2A2926"/>
                </a:solidFill>
                <a:latin typeface="Arial MT Pro Bold"/>
                <a:ea typeface="Arial MT Pro Bold"/>
                <a:cs typeface="Arial MT Pro Bold"/>
                <a:sym typeface="Arial MT Pro Bold"/>
              </a:rPr>
              <a:t>COMPROMISED IT VENDOR: Direct Threat to Physical Operations.</a:t>
            </a:r>
          </a:p>
        </p:txBody>
      </p:sp>
      <p:sp>
        <p:nvSpPr>
          <p:cNvPr name="TextBox 12" id="12"/>
          <p:cNvSpPr txBox="true"/>
          <p:nvPr/>
        </p:nvSpPr>
        <p:spPr>
          <a:xfrm rot="0">
            <a:off x="15544877" y="11467031"/>
            <a:ext cx="4397580" cy="908050"/>
          </a:xfrm>
          <a:prstGeom prst="rect">
            <a:avLst/>
          </a:prstGeom>
        </p:spPr>
        <p:txBody>
          <a:bodyPr anchor="t" rtlCol="false" tIns="0" lIns="0" bIns="0" rIns="0">
            <a:spAutoFit/>
          </a:bodyPr>
          <a:lstStyle/>
          <a:p>
            <a:pPr algn="l">
              <a:lnSpc>
                <a:spcPts val="3499"/>
              </a:lnSpc>
            </a:pPr>
            <a:r>
              <a:rPr lang="en-US" sz="2499">
                <a:solidFill>
                  <a:srgbClr val="2A2926"/>
                </a:solidFill>
                <a:latin typeface="Arial MT Pro"/>
                <a:ea typeface="Arial MT Pro"/>
                <a:cs typeface="Arial MT Pro"/>
                <a:sym typeface="Arial MT Pro"/>
              </a:rPr>
              <a:t>Exploiting trusted relationships to access critical infrastructure.</a:t>
            </a:r>
          </a:p>
        </p:txBody>
      </p:sp>
      <p:sp>
        <p:nvSpPr>
          <p:cNvPr name="TextBox 13" id="13"/>
          <p:cNvSpPr txBox="true"/>
          <p:nvPr/>
        </p:nvSpPr>
        <p:spPr>
          <a:xfrm rot="0">
            <a:off x="19407591" y="10346891"/>
            <a:ext cx="2355354" cy="1058227"/>
          </a:xfrm>
          <a:prstGeom prst="rect">
            <a:avLst/>
          </a:prstGeom>
        </p:spPr>
        <p:txBody>
          <a:bodyPr anchor="t" rtlCol="false" tIns="0" lIns="0" bIns="0" rIns="0">
            <a:spAutoFit/>
          </a:bodyPr>
          <a:lstStyle/>
          <a:p>
            <a:pPr algn="ctr">
              <a:lnSpc>
                <a:spcPts val="2692"/>
              </a:lnSpc>
            </a:pPr>
            <a:r>
              <a:rPr lang="en-US" b="true" sz="2499" spc="-4">
                <a:solidFill>
                  <a:srgbClr val="2A2926"/>
                </a:solidFill>
                <a:latin typeface="Arial MT Pro Bold"/>
                <a:ea typeface="Arial MT Pro Bold"/>
                <a:cs typeface="Arial MT Pro Bold"/>
                <a:sym typeface="Arial MT Pro Bold"/>
              </a:rPr>
              <a:t>ATTACK PATH:</a:t>
            </a:r>
          </a:p>
          <a:p>
            <a:pPr algn="ctr">
              <a:lnSpc>
                <a:spcPts val="2692"/>
              </a:lnSpc>
            </a:pPr>
            <a:r>
              <a:rPr lang="en-US" sz="2499" spc="-4">
                <a:solidFill>
                  <a:srgbClr val="2A2926"/>
                </a:solidFill>
                <a:latin typeface="Arial MT Pro"/>
                <a:ea typeface="Arial MT Pro"/>
                <a:cs typeface="Arial MT Pro"/>
                <a:sym typeface="Arial MT Pro"/>
              </a:rPr>
              <a:t>Pivoting from IT</a:t>
            </a:r>
          </a:p>
          <a:p>
            <a:pPr algn="ctr">
              <a:lnSpc>
                <a:spcPts val="2692"/>
              </a:lnSpc>
            </a:pPr>
            <a:r>
              <a:rPr lang="en-US" sz="2499" spc="-4">
                <a:solidFill>
                  <a:srgbClr val="2A2926"/>
                </a:solidFill>
                <a:latin typeface="Arial MT Pro"/>
                <a:ea typeface="Arial MT Pro"/>
                <a:cs typeface="Arial MT Pro"/>
                <a:sym typeface="Arial MT Pro"/>
              </a:rPr>
              <a:t>to OT</a:t>
            </a:r>
          </a:p>
        </p:txBody>
      </p:sp>
      <p:sp>
        <p:nvSpPr>
          <p:cNvPr name="TextBox 14" id="14"/>
          <p:cNvSpPr txBox="true"/>
          <p:nvPr/>
        </p:nvSpPr>
        <p:spPr>
          <a:xfrm rot="0">
            <a:off x="21940540" y="10274451"/>
            <a:ext cx="3811935" cy="2276475"/>
          </a:xfrm>
          <a:prstGeom prst="rect">
            <a:avLst/>
          </a:prstGeom>
        </p:spPr>
        <p:txBody>
          <a:bodyPr anchor="t" rtlCol="false" tIns="0" lIns="0" bIns="0" rIns="0">
            <a:spAutoFit/>
          </a:bodyPr>
          <a:lstStyle/>
          <a:p>
            <a:pPr algn="l">
              <a:lnSpc>
                <a:spcPts val="2999"/>
              </a:lnSpc>
            </a:pPr>
            <a:r>
              <a:rPr lang="en-US" b="true" sz="2499" spc="12">
                <a:solidFill>
                  <a:srgbClr val="2A2926"/>
                </a:solidFill>
                <a:latin typeface="Arial MT Pro Bold"/>
                <a:ea typeface="Arial MT Pro Bold"/>
                <a:cs typeface="Arial MT Pro Bold"/>
                <a:sym typeface="Arial MT Pro Bold"/>
              </a:rPr>
              <a:t>CRITICAL SECTORS</a:t>
            </a:r>
          </a:p>
          <a:p>
            <a:pPr algn="l">
              <a:lnSpc>
                <a:spcPts val="2999"/>
              </a:lnSpc>
            </a:pPr>
            <a:r>
              <a:rPr lang="en-US" b="true" sz="2499" spc="12">
                <a:solidFill>
                  <a:srgbClr val="2A2926"/>
                </a:solidFill>
                <a:latin typeface="Arial MT Pro Bold"/>
                <a:ea typeface="Arial MT Pro Bold"/>
                <a:cs typeface="Arial MT Pro Bold"/>
                <a:sym typeface="Arial MT Pro Bold"/>
              </a:rPr>
              <a:t>UNDER ATTACK: Major</a:t>
            </a:r>
          </a:p>
          <a:p>
            <a:pPr algn="l">
              <a:lnSpc>
                <a:spcPts val="2999"/>
              </a:lnSpc>
            </a:pPr>
            <a:r>
              <a:rPr lang="en-US" b="true" sz="2499" spc="12">
                <a:solidFill>
                  <a:srgbClr val="2A2926"/>
                </a:solidFill>
                <a:latin typeface="Arial MT Pro Bold"/>
                <a:ea typeface="Arial MT Pro Bold"/>
                <a:cs typeface="Arial MT Pro Bold"/>
                <a:sym typeface="Arial MT Pro Bold"/>
              </a:rPr>
              <a:t>U.S. telecommunications</a:t>
            </a:r>
          </a:p>
          <a:p>
            <a:pPr algn="l">
              <a:lnSpc>
                <a:spcPts val="2999"/>
              </a:lnSpc>
            </a:pPr>
            <a:r>
              <a:rPr lang="en-US" b="true" sz="2499" spc="12">
                <a:solidFill>
                  <a:srgbClr val="2A2926"/>
                </a:solidFill>
                <a:latin typeface="Arial MT Pro Bold"/>
                <a:ea typeface="Arial MT Pro Bold"/>
                <a:cs typeface="Arial MT Pro Bold"/>
                <a:sym typeface="Arial MT Pro Bold"/>
              </a:rPr>
              <a:t>providers compromised.</a:t>
            </a:r>
          </a:p>
          <a:p>
            <a:pPr algn="l">
              <a:lnSpc>
                <a:spcPts val="2999"/>
              </a:lnSpc>
            </a:pPr>
            <a:r>
              <a:rPr lang="en-US" sz="2499" spc="12">
                <a:solidFill>
                  <a:srgbClr val="2A2926"/>
                </a:solidFill>
                <a:latin typeface="Arial MT Pro"/>
                <a:ea typeface="Arial MT Pro"/>
                <a:cs typeface="Arial MT Pro"/>
                <a:sym typeface="Arial MT Pro"/>
              </a:rPr>
              <a:t>Clear focus on national</a:t>
            </a:r>
          </a:p>
          <a:p>
            <a:pPr algn="l">
              <a:lnSpc>
                <a:spcPts val="2999"/>
              </a:lnSpc>
            </a:pPr>
            <a:r>
              <a:rPr lang="en-US" sz="2499" spc="12">
                <a:solidFill>
                  <a:srgbClr val="2A2926"/>
                </a:solidFill>
                <a:latin typeface="Arial MT Pro"/>
                <a:ea typeface="Arial MT Pro"/>
                <a:cs typeface="Arial MT Pro"/>
                <a:sym typeface="Arial MT Pro"/>
              </a:rPr>
              <a:t>critical infrastructure.</a:t>
            </a:r>
          </a:p>
        </p:txBody>
      </p:sp>
      <p:sp>
        <p:nvSpPr>
          <p:cNvPr name="TextBox 15" id="15"/>
          <p:cNvSpPr txBox="true"/>
          <p:nvPr/>
        </p:nvSpPr>
        <p:spPr>
          <a:xfrm rot="0">
            <a:off x="23194119" y="9516909"/>
            <a:ext cx="2789348" cy="925641"/>
          </a:xfrm>
          <a:prstGeom prst="rect">
            <a:avLst/>
          </a:prstGeom>
        </p:spPr>
        <p:txBody>
          <a:bodyPr anchor="t" rtlCol="false" tIns="0" lIns="0" bIns="0" rIns="0">
            <a:spAutoFit/>
          </a:bodyPr>
          <a:lstStyle/>
          <a:p>
            <a:pPr algn="r">
              <a:lnSpc>
                <a:spcPts val="3580"/>
              </a:lnSpc>
            </a:pPr>
            <a:r>
              <a:rPr lang="en-US" b="true" sz="2557" spc="-71">
                <a:solidFill>
                  <a:srgbClr val="2A2926"/>
                </a:solidFill>
                <a:latin typeface="Arial MT Pro Bold"/>
                <a:ea typeface="Arial MT Pro Bold"/>
                <a:cs typeface="Arial MT Pro Bold"/>
                <a:sym typeface="Arial MT Pro Bold"/>
              </a:rPr>
              <a:t>In the first half of 2025</a:t>
            </a:r>
          </a:p>
        </p:txBody>
      </p:sp>
      <p:sp>
        <p:nvSpPr>
          <p:cNvPr name="TextBox 16" id="16"/>
          <p:cNvSpPr txBox="true"/>
          <p:nvPr/>
        </p:nvSpPr>
        <p:spPr>
          <a:xfrm rot="0">
            <a:off x="21362058" y="3821387"/>
            <a:ext cx="4850742" cy="1579563"/>
          </a:xfrm>
          <a:prstGeom prst="rect">
            <a:avLst/>
          </a:prstGeom>
        </p:spPr>
        <p:txBody>
          <a:bodyPr anchor="t" rtlCol="false" tIns="0" lIns="0" bIns="0" rIns="0">
            <a:spAutoFit/>
          </a:bodyPr>
          <a:lstStyle/>
          <a:p>
            <a:pPr algn="l">
              <a:lnSpc>
                <a:spcPts val="3012"/>
              </a:lnSpc>
            </a:pPr>
            <a:r>
              <a:rPr lang="en-US" b="true" sz="2499" spc="-7">
                <a:solidFill>
                  <a:srgbClr val="2A2926"/>
                </a:solidFill>
                <a:latin typeface="Arial MT Pro Bold"/>
                <a:ea typeface="Arial MT Pro Bold"/>
                <a:cs typeface="Arial MT Pro Bold"/>
                <a:sym typeface="Arial MT Pro Bold"/>
              </a:rPr>
              <a:t>ATTACKERS TARGETING OT:</a:t>
            </a:r>
          </a:p>
          <a:p>
            <a:pPr algn="l">
              <a:lnSpc>
                <a:spcPts val="3012"/>
              </a:lnSpc>
            </a:pPr>
            <a:r>
              <a:rPr lang="en-US" b="true" sz="2499" spc="-7">
                <a:solidFill>
                  <a:srgbClr val="2A2926"/>
                </a:solidFill>
                <a:latin typeface="Arial MT Pro Bold"/>
                <a:ea typeface="Arial MT Pro Bold"/>
                <a:cs typeface="Arial MT Pro Bold"/>
                <a:sym typeface="Arial MT Pro Bold"/>
              </a:rPr>
              <a:t>Seeking Physical Shutdowns.</a:t>
            </a:r>
          </a:p>
          <a:p>
            <a:pPr algn="l">
              <a:lnSpc>
                <a:spcPts val="3012"/>
              </a:lnSpc>
            </a:pPr>
            <a:r>
              <a:rPr lang="en-US" sz="2499" spc="-7">
                <a:solidFill>
                  <a:srgbClr val="2A2926"/>
                </a:solidFill>
                <a:latin typeface="Arial MT Pro"/>
                <a:ea typeface="Arial MT Pro"/>
                <a:cs typeface="Arial MT Pro"/>
                <a:sym typeface="Arial MT Pro"/>
              </a:rPr>
              <a:t>OT environments often unpatched &amp; lack modern security.</a:t>
            </a:r>
          </a:p>
        </p:txBody>
      </p:sp>
      <p:sp>
        <p:nvSpPr>
          <p:cNvPr name="TextBox 17" id="17"/>
          <p:cNvSpPr txBox="true"/>
          <p:nvPr/>
        </p:nvSpPr>
        <p:spPr>
          <a:xfrm rot="0">
            <a:off x="16094533" y="3919764"/>
            <a:ext cx="4196953" cy="1093152"/>
          </a:xfrm>
          <a:prstGeom prst="rect">
            <a:avLst/>
          </a:prstGeom>
        </p:spPr>
        <p:txBody>
          <a:bodyPr anchor="t" rtlCol="false" tIns="0" lIns="0" bIns="0" rIns="0">
            <a:spAutoFit/>
          </a:bodyPr>
          <a:lstStyle/>
          <a:p>
            <a:pPr algn="l">
              <a:lnSpc>
                <a:spcPts val="2717"/>
              </a:lnSpc>
            </a:pPr>
            <a:r>
              <a:rPr lang="en-US" b="true" sz="2499" spc="12">
                <a:solidFill>
                  <a:srgbClr val="2A2926"/>
                </a:solidFill>
                <a:latin typeface="Arial MT Pro Bold"/>
                <a:ea typeface="Arial MT Pro Bold"/>
                <a:cs typeface="Arial MT Pro Bold"/>
                <a:sym typeface="Arial MT Pro Bold"/>
              </a:rPr>
              <a:t>THE WALL IS CRUMBLING:</a:t>
            </a:r>
          </a:p>
          <a:p>
            <a:pPr algn="l">
              <a:lnSpc>
                <a:spcPts val="2717"/>
              </a:lnSpc>
            </a:pPr>
            <a:r>
              <a:rPr lang="en-US" b="true" sz="2499" spc="12">
                <a:solidFill>
                  <a:srgbClr val="2A2926"/>
                </a:solidFill>
                <a:latin typeface="Arial MT Pro Bold"/>
                <a:ea typeface="Arial MT Pro Bold"/>
                <a:cs typeface="Arial MT Pro Bold"/>
                <a:sym typeface="Arial MT Pro Bold"/>
              </a:rPr>
              <a:t>Digital networks &amp; physical</a:t>
            </a:r>
          </a:p>
          <a:p>
            <a:pPr algn="l">
              <a:lnSpc>
                <a:spcPts val="2717"/>
              </a:lnSpc>
            </a:pPr>
            <a:r>
              <a:rPr lang="en-US" b="true" sz="2499" spc="12">
                <a:solidFill>
                  <a:srgbClr val="2A2926"/>
                </a:solidFill>
                <a:latin typeface="Arial MT Pro Bold"/>
                <a:ea typeface="Arial MT Pro Bold"/>
                <a:cs typeface="Arial MT Pro Bold"/>
                <a:sym typeface="Arial MT Pro Bold"/>
              </a:rPr>
              <a:t>systems integrating.</a:t>
            </a:r>
          </a:p>
        </p:txBody>
      </p:sp>
      <p:sp>
        <p:nvSpPr>
          <p:cNvPr name="TextBox 18" id="18"/>
          <p:cNvSpPr txBox="true"/>
          <p:nvPr/>
        </p:nvSpPr>
        <p:spPr>
          <a:xfrm rot="0">
            <a:off x="15433455" y="2329137"/>
            <a:ext cx="10789816" cy="1292225"/>
          </a:xfrm>
          <a:prstGeom prst="rect">
            <a:avLst/>
          </a:prstGeom>
        </p:spPr>
        <p:txBody>
          <a:bodyPr anchor="t" rtlCol="false" tIns="0" lIns="0" bIns="0" rIns="0">
            <a:spAutoFit/>
          </a:bodyPr>
          <a:lstStyle/>
          <a:p>
            <a:pPr algn="ctr">
              <a:lnSpc>
                <a:spcPts val="4900"/>
              </a:lnSpc>
            </a:pPr>
            <a:r>
              <a:rPr lang="en-US" b="true" sz="3500" spc="84">
                <a:solidFill>
                  <a:srgbClr val="2A2926"/>
                </a:solidFill>
                <a:latin typeface="Arial MT Pro Bold"/>
                <a:ea typeface="Arial MT Pro Bold"/>
                <a:cs typeface="Arial MT Pro Bold"/>
                <a:sym typeface="Arial MT Pro Bold"/>
              </a:rPr>
              <a:t>THE INFRASTRUCTURE RISK: IT/OT CONVERGENCE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6212800" cy="14624558"/>
          </a:xfrm>
          <a:custGeom>
            <a:avLst/>
            <a:gdLst/>
            <a:ahLst/>
            <a:cxnLst/>
            <a:rect r="r" b="b" t="t" l="l"/>
            <a:pathLst>
              <a:path h="14624558" w="26212800">
                <a:moveTo>
                  <a:pt x="0" y="0"/>
                </a:moveTo>
                <a:lnTo>
                  <a:pt x="26212800" y="0"/>
                </a:lnTo>
                <a:lnTo>
                  <a:pt x="26212800" y="14624558"/>
                </a:lnTo>
                <a:lnTo>
                  <a:pt x="0" y="14624558"/>
                </a:lnTo>
                <a:lnTo>
                  <a:pt x="0" y="0"/>
                </a:lnTo>
                <a:close/>
              </a:path>
            </a:pathLst>
          </a:custGeom>
          <a:blipFill>
            <a:blip r:embed="rId2"/>
            <a:stretch>
              <a:fillRect l="0" t="0" r="0" b="0"/>
            </a:stretch>
          </a:blipFill>
        </p:spPr>
      </p:sp>
      <p:sp>
        <p:nvSpPr>
          <p:cNvPr name="TextBox 3" id="3"/>
          <p:cNvSpPr txBox="true"/>
          <p:nvPr/>
        </p:nvSpPr>
        <p:spPr>
          <a:xfrm rot="0">
            <a:off x="576921" y="504190"/>
            <a:ext cx="24790598" cy="958850"/>
          </a:xfrm>
          <a:prstGeom prst="rect">
            <a:avLst/>
          </a:prstGeom>
        </p:spPr>
        <p:txBody>
          <a:bodyPr anchor="t" rtlCol="false" tIns="0" lIns="0" bIns="0" rIns="0">
            <a:spAutoFit/>
          </a:bodyPr>
          <a:lstStyle/>
          <a:p>
            <a:pPr algn="ctr">
              <a:lnSpc>
                <a:spcPts val="7000"/>
              </a:lnSpc>
            </a:pPr>
            <a:r>
              <a:rPr lang="en-US" b="true" sz="5000" spc="120">
                <a:solidFill>
                  <a:srgbClr val="1B1C1A"/>
                </a:solidFill>
                <a:latin typeface="Arial MT Pro Bold"/>
                <a:ea typeface="Arial MT Pro Bold"/>
                <a:cs typeface="Arial MT Pro Bold"/>
                <a:sym typeface="Arial MT Pro Bold"/>
              </a:rPr>
              <a:t>2026 Risk Landscape: The Convergence of Speed, Scale, and Systemic Impact</a:t>
            </a:r>
          </a:p>
        </p:txBody>
      </p:sp>
      <p:sp>
        <p:nvSpPr>
          <p:cNvPr name="TextBox 4" id="4"/>
          <p:cNvSpPr txBox="true"/>
          <p:nvPr/>
        </p:nvSpPr>
        <p:spPr>
          <a:xfrm rot="0">
            <a:off x="739173" y="1846474"/>
            <a:ext cx="4714429" cy="469900"/>
          </a:xfrm>
          <a:prstGeom prst="rect">
            <a:avLst/>
          </a:prstGeom>
        </p:spPr>
        <p:txBody>
          <a:bodyPr anchor="t" rtlCol="false" tIns="0" lIns="0" bIns="0" rIns="0">
            <a:spAutoFit/>
          </a:bodyPr>
          <a:lstStyle/>
          <a:p>
            <a:pPr algn="ctr">
              <a:lnSpc>
                <a:spcPts val="3499"/>
              </a:lnSpc>
            </a:pPr>
            <a:r>
              <a:rPr lang="en-US" b="true" sz="2499" spc="19">
                <a:solidFill>
                  <a:srgbClr val="FFFFFF"/>
                </a:solidFill>
                <a:latin typeface="Arial MT Pro Bold"/>
                <a:ea typeface="Arial MT Pro Bold"/>
                <a:cs typeface="Arial MT Pro Bold"/>
                <a:sym typeface="Arial MT Pro Bold"/>
              </a:rPr>
              <a:t>THE NEW THREAT PARADIGM</a:t>
            </a:r>
          </a:p>
        </p:txBody>
      </p:sp>
      <p:sp>
        <p:nvSpPr>
          <p:cNvPr name="TextBox 5" id="5"/>
          <p:cNvSpPr txBox="true"/>
          <p:nvPr/>
        </p:nvSpPr>
        <p:spPr>
          <a:xfrm rot="0">
            <a:off x="737454" y="2363608"/>
            <a:ext cx="24820302" cy="2710510"/>
          </a:xfrm>
          <a:prstGeom prst="rect">
            <a:avLst/>
          </a:prstGeom>
        </p:spPr>
        <p:txBody>
          <a:bodyPr anchor="t" rtlCol="false" tIns="0" lIns="0" bIns="0" rIns="0">
            <a:spAutoFit/>
          </a:bodyPr>
          <a:lstStyle/>
          <a:p>
            <a:pPr algn="l">
              <a:lnSpc>
                <a:spcPts val="3062"/>
              </a:lnSpc>
            </a:pPr>
            <a:r>
              <a:rPr lang="en-US" sz="2400">
                <a:solidFill>
                  <a:srgbClr val="33342E"/>
                </a:solidFill>
                <a:latin typeface="Arial MT Pro"/>
                <a:ea typeface="Arial MT Pro"/>
                <a:cs typeface="Arial MT Pro"/>
                <a:sym typeface="Arial MT Pro"/>
              </a:rPr>
              <a:t>The 2026 cyber threat landscape is defined by a significant convergence of previously distinct risks. Geopolitical tensions, the rapid weaponization of Artificial Intelligence, and the inherent </a:t>
            </a:r>
            <a:r>
              <a:rPr lang="en-US" sz="2400">
                <a:solidFill>
                  <a:srgbClr val="33342E"/>
                </a:solidFill>
                <a:latin typeface="Arial MT Pro"/>
                <a:ea typeface="Arial MT Pro"/>
                <a:cs typeface="Arial MT Pro"/>
                <a:sym typeface="Arial MT Pro"/>
              </a:rPr>
              <a:t>fragility of global software supply chains are no longer separate challenges but interconnected drivers of a new threat paradigm. This integration is fueling the industrialization of cybercrime, where </a:t>
            </a:r>
            <a:r>
              <a:rPr lang="en-US" b="true" sz="2400">
                <a:solidFill>
                  <a:srgbClr val="33342E"/>
                </a:solidFill>
                <a:latin typeface="Arial MT Pro Bold"/>
                <a:ea typeface="Arial MT Pro Bold"/>
                <a:cs typeface="Arial MT Pro Bold"/>
                <a:sym typeface="Arial MT Pro Bold"/>
              </a:rPr>
              <a:t>state-level capabilities are accessible as-a-service and attacks propagate at machine speed, far outpacing human-led defensive measures.</a:t>
            </a:r>
          </a:p>
          <a:p>
            <a:pPr algn="l">
              <a:lnSpc>
                <a:spcPts val="3062"/>
              </a:lnSpc>
            </a:pPr>
            <a:r>
              <a:rPr lang="en-US" sz="2400">
                <a:solidFill>
                  <a:srgbClr val="33342E"/>
                </a:solidFill>
                <a:latin typeface="Arial MT Pro"/>
                <a:ea typeface="Arial MT Pro"/>
                <a:cs typeface="Arial MT Pro"/>
                <a:sym typeface="Arial MT Pro"/>
              </a:rPr>
              <a:t>This shift fundamentally alters the nature of the risk, moving beyond traditional data theft and extortion. The new landscape is characterized by attacks designed to create systemic disruption, targeting </a:t>
            </a:r>
            <a:r>
              <a:rPr lang="en-US" sz="2400">
                <a:solidFill>
                  <a:srgbClr val="33342E"/>
                </a:solidFill>
                <a:latin typeface="Arial MT Pro"/>
                <a:ea typeface="Arial MT Pro"/>
                <a:cs typeface="Arial MT Pro"/>
                <a:sym typeface="Arial MT Pro"/>
              </a:rPr>
              <a:t>critical infrastructure and complex supply chains to cause cascading operational failures and kinetic-like financial shocks. The focus for defenders must therefore evolve from preventing individual breaches to building systemic resilience against highly automated, scalable, and sophisticated adversaries operating within a deeply interconnected digital ecosystem.</a:t>
            </a:r>
          </a:p>
        </p:txBody>
      </p:sp>
      <p:sp>
        <p:nvSpPr>
          <p:cNvPr name="TextBox 6" id="6"/>
          <p:cNvSpPr txBox="true"/>
          <p:nvPr/>
        </p:nvSpPr>
        <p:spPr>
          <a:xfrm rot="0">
            <a:off x="576921" y="5525864"/>
            <a:ext cx="8135343" cy="436880"/>
          </a:xfrm>
          <a:prstGeom prst="rect">
            <a:avLst/>
          </a:prstGeom>
        </p:spPr>
        <p:txBody>
          <a:bodyPr anchor="t" rtlCol="false" tIns="0" lIns="0" bIns="0" rIns="0">
            <a:spAutoFit/>
          </a:bodyPr>
          <a:lstStyle/>
          <a:p>
            <a:pPr algn="ctr" marL="0" indent="0" lvl="0">
              <a:lnSpc>
                <a:spcPts val="3220"/>
              </a:lnSpc>
              <a:spcBef>
                <a:spcPct val="0"/>
              </a:spcBef>
            </a:pPr>
            <a:r>
              <a:rPr lang="en-US" b="true" sz="2300" spc="18" strike="noStrike" u="none">
                <a:solidFill>
                  <a:srgbClr val="FFFFFF"/>
                </a:solidFill>
                <a:latin typeface="Arial MT Pro Bold"/>
                <a:ea typeface="Arial MT Pro Bold"/>
                <a:cs typeface="Arial MT Pro Bold"/>
                <a:sym typeface="Arial MT Pro Bold"/>
              </a:rPr>
              <a:t>THE ADVERSARY: INDUSTRIALIZATION OF MALICE</a:t>
            </a:r>
          </a:p>
        </p:txBody>
      </p:sp>
      <p:sp>
        <p:nvSpPr>
          <p:cNvPr name="TextBox 7" id="7"/>
          <p:cNvSpPr txBox="true"/>
          <p:nvPr/>
        </p:nvSpPr>
        <p:spPr>
          <a:xfrm rot="0">
            <a:off x="2257145" y="6508538"/>
            <a:ext cx="6281376" cy="2242439"/>
          </a:xfrm>
          <a:prstGeom prst="rect">
            <a:avLst/>
          </a:prstGeom>
        </p:spPr>
        <p:txBody>
          <a:bodyPr anchor="t" rtlCol="false" tIns="0" lIns="0" bIns="0" rIns="0">
            <a:spAutoFit/>
          </a:bodyPr>
          <a:lstStyle/>
          <a:p>
            <a:pPr algn="l">
              <a:lnSpc>
                <a:spcPts val="2518"/>
              </a:lnSpc>
            </a:pPr>
            <a:r>
              <a:rPr lang="en-US" b="true" sz="2000">
                <a:solidFill>
                  <a:srgbClr val="359577"/>
                </a:solidFill>
                <a:latin typeface="Arial MT Pro Bold"/>
                <a:ea typeface="Arial MT Pro Bold"/>
                <a:cs typeface="Arial MT Pro Bold"/>
                <a:sym typeface="Arial MT Pro Bold"/>
              </a:rPr>
              <a:t>Adversary motivations are converging, blurring the</a:t>
            </a:r>
          </a:p>
          <a:p>
            <a:pPr algn="l">
              <a:lnSpc>
                <a:spcPts val="2518"/>
              </a:lnSpc>
            </a:pPr>
            <a:r>
              <a:rPr lang="en-US" b="true" sz="2000">
                <a:solidFill>
                  <a:srgbClr val="359577"/>
                </a:solidFill>
                <a:latin typeface="Arial MT Pro Bold"/>
                <a:ea typeface="Arial MT Pro Bold"/>
                <a:cs typeface="Arial MT Pro Bold"/>
                <a:sym typeface="Arial MT Pro Bold"/>
              </a:rPr>
              <a:t>lines between nation-states and cybercriminals.</a:t>
            </a:r>
          </a:p>
          <a:p>
            <a:pPr algn="l">
              <a:lnSpc>
                <a:spcPts val="2518"/>
              </a:lnSpc>
            </a:pPr>
            <a:r>
              <a:rPr lang="en-US" sz="2000" spc="-10">
                <a:solidFill>
                  <a:srgbClr val="33342E"/>
                </a:solidFill>
                <a:latin typeface="Arial MT Pro"/>
                <a:ea typeface="Arial MT Pro"/>
                <a:cs typeface="Arial MT Pro"/>
                <a:sym typeface="Arial MT Pro"/>
              </a:rPr>
              <a:t>State-sponsored groups (e.g. Lazarus, China-aligned</a:t>
            </a:r>
          </a:p>
          <a:p>
            <a:pPr algn="l">
              <a:lnSpc>
                <a:spcPts val="2518"/>
              </a:lnSpc>
            </a:pPr>
            <a:r>
              <a:rPr lang="en-US" sz="2000">
                <a:solidFill>
                  <a:srgbClr val="33342E"/>
                </a:solidFill>
                <a:latin typeface="Arial MT Pro"/>
                <a:ea typeface="Arial MT Pro"/>
                <a:cs typeface="Arial MT Pro"/>
                <a:sym typeface="Arial MT Pro"/>
              </a:rPr>
              <a:t>APTS) are adopting financially motivated tactics, while</a:t>
            </a:r>
          </a:p>
          <a:p>
            <a:pPr algn="l">
              <a:lnSpc>
                <a:spcPts val="2518"/>
              </a:lnSpc>
            </a:pPr>
            <a:r>
              <a:rPr lang="en-US" sz="2000" spc="4">
                <a:solidFill>
                  <a:srgbClr val="33342E"/>
                </a:solidFill>
                <a:latin typeface="Arial MT Pro"/>
                <a:ea typeface="Arial MT Pro"/>
                <a:cs typeface="Arial MT Pro"/>
                <a:sym typeface="Arial MT Pro"/>
              </a:rPr>
              <a:t>criminal syndicates leverage state level tools and shared </a:t>
            </a:r>
            <a:r>
              <a:rPr lang="en-US" sz="2000" spc="4">
                <a:solidFill>
                  <a:srgbClr val="33342E"/>
                </a:solidFill>
                <a:latin typeface="Arial MT Pro"/>
                <a:ea typeface="Arial MT Pro"/>
                <a:cs typeface="Arial MT Pro"/>
                <a:sym typeface="Arial MT Pro"/>
              </a:rPr>
              <a:t>Infrastructure-as-a-Service platforms to scale operations.</a:t>
            </a:r>
          </a:p>
        </p:txBody>
      </p:sp>
      <p:sp>
        <p:nvSpPr>
          <p:cNvPr name="TextBox 8" id="8"/>
          <p:cNvSpPr txBox="true"/>
          <p:nvPr/>
        </p:nvSpPr>
        <p:spPr>
          <a:xfrm rot="0">
            <a:off x="2257145" y="9001510"/>
            <a:ext cx="6281376" cy="1923415"/>
          </a:xfrm>
          <a:prstGeom prst="rect">
            <a:avLst/>
          </a:prstGeom>
        </p:spPr>
        <p:txBody>
          <a:bodyPr anchor="t" rtlCol="false" tIns="0" lIns="0" bIns="0" rIns="0">
            <a:spAutoFit/>
          </a:bodyPr>
          <a:lstStyle/>
          <a:p>
            <a:pPr algn="l">
              <a:lnSpc>
                <a:spcPts val="2480"/>
              </a:lnSpc>
            </a:pPr>
            <a:r>
              <a:rPr lang="en-US" b="true" sz="2000" spc="-12">
                <a:solidFill>
                  <a:srgbClr val="158461"/>
                </a:solidFill>
                <a:latin typeface="Arial MT Pro Bold"/>
                <a:ea typeface="Arial MT Pro Bold"/>
                <a:cs typeface="Arial MT Pro Bold"/>
                <a:sym typeface="Arial MT Pro Bold"/>
              </a:rPr>
              <a:t>The threat actor ecosystem is shifting from siloed</a:t>
            </a:r>
          </a:p>
          <a:p>
            <a:pPr algn="l">
              <a:lnSpc>
                <a:spcPts val="2480"/>
              </a:lnSpc>
            </a:pPr>
            <a:r>
              <a:rPr lang="en-US" b="true" sz="2000" spc="-12">
                <a:solidFill>
                  <a:srgbClr val="158461"/>
                </a:solidFill>
                <a:latin typeface="Arial MT Pro Bold"/>
                <a:ea typeface="Arial MT Pro Bold"/>
                <a:cs typeface="Arial MT Pro Bold"/>
                <a:sym typeface="Arial MT Pro Bold"/>
              </a:rPr>
              <a:t>gangs to professionalized cartels.</a:t>
            </a:r>
          </a:p>
          <a:p>
            <a:pPr algn="l">
              <a:lnSpc>
                <a:spcPts val="2480"/>
              </a:lnSpc>
            </a:pPr>
            <a:r>
              <a:rPr lang="en-US" sz="2000" spc="-12">
                <a:solidFill>
                  <a:srgbClr val="33342E"/>
                </a:solidFill>
                <a:latin typeface="Arial MT Pro"/>
                <a:ea typeface="Arial MT Pro"/>
                <a:cs typeface="Arial MT Pro"/>
                <a:sym typeface="Arial MT Pro"/>
              </a:rPr>
              <a:t>Advanced tools, initial access, and even ransomware</a:t>
            </a:r>
          </a:p>
          <a:p>
            <a:pPr algn="l">
              <a:lnSpc>
                <a:spcPts val="2480"/>
              </a:lnSpc>
            </a:pPr>
            <a:r>
              <a:rPr lang="en-US" sz="2000" spc="-12">
                <a:solidFill>
                  <a:srgbClr val="33342E"/>
                </a:solidFill>
                <a:latin typeface="Arial MT Pro"/>
                <a:ea typeface="Arial MT Pro"/>
                <a:cs typeface="Arial MT Pro"/>
                <a:sym typeface="Arial MT Pro"/>
              </a:rPr>
              <a:t>payloads are now commoditized through</a:t>
            </a:r>
          </a:p>
          <a:p>
            <a:pPr algn="l">
              <a:lnSpc>
                <a:spcPts val="2480"/>
              </a:lnSpc>
            </a:pPr>
            <a:r>
              <a:rPr lang="en-US" sz="2000">
                <a:solidFill>
                  <a:srgbClr val="33342E"/>
                </a:solidFill>
                <a:latin typeface="Arial MT Pro"/>
                <a:ea typeface="Arial MT Pro"/>
                <a:cs typeface="Arial MT Pro"/>
                <a:sym typeface="Arial MT Pro"/>
              </a:rPr>
              <a:t>Ransomware-as-a-Service (RaaS) and shared trafic</a:t>
            </a:r>
          </a:p>
          <a:p>
            <a:pPr algn="l">
              <a:lnSpc>
                <a:spcPts val="2480"/>
              </a:lnSpc>
            </a:pPr>
            <a:r>
              <a:rPr lang="en-US" sz="2000">
                <a:solidFill>
                  <a:srgbClr val="33342E"/>
                </a:solidFill>
                <a:latin typeface="Arial MT Pro"/>
                <a:ea typeface="Arial MT Pro"/>
                <a:cs typeface="Arial MT Pro"/>
                <a:sym typeface="Arial MT Pro"/>
              </a:rPr>
              <a:t>distribution systems, lowering the barrier for entry.</a:t>
            </a:r>
          </a:p>
        </p:txBody>
      </p:sp>
      <p:sp>
        <p:nvSpPr>
          <p:cNvPr name="TextBox 9" id="9"/>
          <p:cNvSpPr txBox="true"/>
          <p:nvPr/>
        </p:nvSpPr>
        <p:spPr>
          <a:xfrm rot="0">
            <a:off x="2257145" y="11435034"/>
            <a:ext cx="6281376" cy="2242693"/>
          </a:xfrm>
          <a:prstGeom prst="rect">
            <a:avLst/>
          </a:prstGeom>
        </p:spPr>
        <p:txBody>
          <a:bodyPr anchor="t" rtlCol="false" tIns="0" lIns="0" bIns="0" rIns="0">
            <a:spAutoFit/>
          </a:bodyPr>
          <a:lstStyle/>
          <a:p>
            <a:pPr algn="l">
              <a:lnSpc>
                <a:spcPts val="2516"/>
              </a:lnSpc>
            </a:pPr>
            <a:r>
              <a:rPr lang="en-US" b="true" sz="2000" spc="-30">
                <a:solidFill>
                  <a:srgbClr val="158461"/>
                </a:solidFill>
                <a:latin typeface="Arial MT Pro Bold"/>
                <a:ea typeface="Arial MT Pro Bold"/>
                <a:cs typeface="Arial MT Pro Bold"/>
                <a:sym typeface="Arial MT Pro Bold"/>
              </a:rPr>
              <a:t>Attacks now feature worm-like automation for</a:t>
            </a:r>
          </a:p>
          <a:p>
            <a:pPr algn="l">
              <a:lnSpc>
                <a:spcPts val="2516"/>
              </a:lnSpc>
            </a:pPr>
            <a:r>
              <a:rPr lang="en-US" b="true" sz="2000" spc="2">
                <a:solidFill>
                  <a:srgbClr val="158461"/>
                </a:solidFill>
                <a:latin typeface="Arial MT Pro Bold"/>
                <a:ea typeface="Arial MT Pro Bold"/>
                <a:cs typeface="Arial MT Pro Bold"/>
                <a:sym typeface="Arial MT Pro Bold"/>
              </a:rPr>
              <a:t>exponential spread across supply chains.</a:t>
            </a:r>
          </a:p>
          <a:p>
            <a:pPr algn="l">
              <a:lnSpc>
                <a:spcPts val="2516"/>
              </a:lnSpc>
            </a:pPr>
            <a:r>
              <a:rPr lang="en-US" sz="2000">
                <a:solidFill>
                  <a:srgbClr val="33342E"/>
                </a:solidFill>
                <a:latin typeface="Arial MT Pro"/>
                <a:ea typeface="Arial MT Pro"/>
                <a:cs typeface="Arial MT Pro"/>
                <a:sym typeface="Arial MT Pro"/>
              </a:rPr>
              <a:t>The "Shai-Hulud" worm demonstrates this by</a:t>
            </a:r>
          </a:p>
          <a:p>
            <a:pPr algn="l">
              <a:lnSpc>
                <a:spcPts val="2516"/>
              </a:lnSpc>
            </a:pPr>
            <a:r>
              <a:rPr lang="en-US" sz="2000" spc="-20">
                <a:solidFill>
                  <a:srgbClr val="33342E"/>
                </a:solidFill>
                <a:latin typeface="Arial MT Pro"/>
                <a:ea typeface="Arial MT Pro"/>
                <a:cs typeface="Arial MT Pro"/>
                <a:sym typeface="Arial MT Pro"/>
              </a:rPr>
              <a:t>autonomously compromising a developer's account.</a:t>
            </a:r>
          </a:p>
          <a:p>
            <a:pPr algn="l">
              <a:lnSpc>
                <a:spcPts val="2516"/>
              </a:lnSpc>
            </a:pPr>
            <a:r>
              <a:rPr lang="en-US" sz="2000" spc="-20">
                <a:solidFill>
                  <a:srgbClr val="33342E"/>
                </a:solidFill>
                <a:latin typeface="Arial MT Pro"/>
                <a:ea typeface="Arial MT Pro"/>
                <a:cs typeface="Arial MT Pro"/>
                <a:sym typeface="Arial MT Pro"/>
              </a:rPr>
              <a:t>and then using stolen tokens to inject malicious code</a:t>
            </a:r>
          </a:p>
          <a:p>
            <a:pPr algn="l">
              <a:lnSpc>
                <a:spcPts val="2516"/>
              </a:lnSpc>
            </a:pPr>
            <a:r>
              <a:rPr lang="en-US" sz="2000">
                <a:solidFill>
                  <a:srgbClr val="33342E"/>
                </a:solidFill>
                <a:latin typeface="Arial MT Pro"/>
                <a:ea typeface="Arial MT Pro"/>
                <a:cs typeface="Arial MT Pro"/>
                <a:sym typeface="Arial MT Pro"/>
              </a:rPr>
              <a:t>into other software packages they maintain, creating a</a:t>
            </a:r>
          </a:p>
          <a:p>
            <a:pPr algn="l">
              <a:lnSpc>
                <a:spcPts val="2516"/>
              </a:lnSpc>
            </a:pPr>
            <a:r>
              <a:rPr lang="en-US" sz="2000" spc="4">
                <a:solidFill>
                  <a:srgbClr val="33342E"/>
                </a:solidFill>
                <a:latin typeface="Arial MT Pro"/>
                <a:ea typeface="Arial MT Pro"/>
                <a:cs typeface="Arial MT Pro"/>
                <a:sym typeface="Arial MT Pro"/>
              </a:rPr>
              <a:t>cascading compromise.</a:t>
            </a:r>
          </a:p>
        </p:txBody>
      </p:sp>
      <p:sp>
        <p:nvSpPr>
          <p:cNvPr name="TextBox 10" id="10"/>
          <p:cNvSpPr txBox="true"/>
          <p:nvPr/>
        </p:nvSpPr>
        <p:spPr>
          <a:xfrm rot="0">
            <a:off x="9328113" y="5525864"/>
            <a:ext cx="7542758" cy="436880"/>
          </a:xfrm>
          <a:prstGeom prst="rect">
            <a:avLst/>
          </a:prstGeom>
        </p:spPr>
        <p:txBody>
          <a:bodyPr anchor="t" rtlCol="false" tIns="0" lIns="0" bIns="0" rIns="0">
            <a:spAutoFit/>
          </a:bodyPr>
          <a:lstStyle/>
          <a:p>
            <a:pPr algn="ctr" marL="0" indent="0" lvl="0">
              <a:lnSpc>
                <a:spcPts val="3220"/>
              </a:lnSpc>
              <a:spcBef>
                <a:spcPct val="0"/>
              </a:spcBef>
            </a:pPr>
            <a:r>
              <a:rPr lang="en-US" b="true" sz="2300" spc="18" strike="noStrike" u="none">
                <a:solidFill>
                  <a:srgbClr val="FFFFFF"/>
                </a:solidFill>
                <a:latin typeface="Arial MT Pro Bold"/>
                <a:ea typeface="Arial MT Pro Bold"/>
                <a:cs typeface="Arial MT Pro Bold"/>
                <a:sym typeface="Arial MT Pro Bold"/>
              </a:rPr>
              <a:t>THE METHOD: ACCELERATION TO MACHINE-SPEED</a:t>
            </a:r>
          </a:p>
        </p:txBody>
      </p:sp>
      <p:sp>
        <p:nvSpPr>
          <p:cNvPr name="TextBox 11" id="11"/>
          <p:cNvSpPr txBox="true"/>
          <p:nvPr/>
        </p:nvSpPr>
        <p:spPr>
          <a:xfrm rot="0">
            <a:off x="9914495" y="7342529"/>
            <a:ext cx="272951" cy="369969"/>
          </a:xfrm>
          <a:prstGeom prst="rect">
            <a:avLst/>
          </a:prstGeom>
        </p:spPr>
        <p:txBody>
          <a:bodyPr anchor="t" rtlCol="false" tIns="0" lIns="0" bIns="0" rIns="0">
            <a:spAutoFit/>
          </a:bodyPr>
          <a:lstStyle/>
          <a:p>
            <a:pPr algn="ctr">
              <a:lnSpc>
                <a:spcPts val="2707"/>
              </a:lnSpc>
            </a:pPr>
            <a:r>
              <a:rPr lang="en-US" sz="1934">
                <a:solidFill>
                  <a:srgbClr val="60826F"/>
                </a:solidFill>
                <a:latin typeface="Arial MT Pro"/>
                <a:ea typeface="Arial MT Pro"/>
                <a:cs typeface="Arial MT Pro"/>
                <a:sym typeface="Arial MT Pro"/>
              </a:rPr>
              <a:t>All</a:t>
            </a:r>
          </a:p>
        </p:txBody>
      </p:sp>
      <p:sp>
        <p:nvSpPr>
          <p:cNvPr name="TextBox 12" id="12"/>
          <p:cNvSpPr txBox="true"/>
          <p:nvPr/>
        </p:nvSpPr>
        <p:spPr>
          <a:xfrm rot="0">
            <a:off x="10910759" y="6508538"/>
            <a:ext cx="5960112" cy="2299970"/>
          </a:xfrm>
          <a:prstGeom prst="rect">
            <a:avLst/>
          </a:prstGeom>
        </p:spPr>
        <p:txBody>
          <a:bodyPr anchor="t" rtlCol="false" tIns="0" lIns="0" bIns="0" rIns="0">
            <a:spAutoFit/>
          </a:bodyPr>
          <a:lstStyle/>
          <a:p>
            <a:pPr algn="l">
              <a:lnSpc>
                <a:spcPts val="2590"/>
              </a:lnSpc>
            </a:pPr>
            <a:r>
              <a:rPr lang="en-US" b="true" sz="2000" spc="-26">
                <a:solidFill>
                  <a:srgbClr val="158461"/>
                </a:solidFill>
                <a:latin typeface="Arial MT Pro Bold"/>
                <a:ea typeface="Arial MT Pro Bold"/>
                <a:cs typeface="Arial MT Pro Bold"/>
                <a:sym typeface="Arial MT Pro Bold"/>
              </a:rPr>
              <a:t>'Agentic Al' is now woven into every stage of the</a:t>
            </a:r>
          </a:p>
          <a:p>
            <a:pPr algn="l">
              <a:lnSpc>
                <a:spcPts val="2590"/>
              </a:lnSpc>
            </a:pPr>
            <a:r>
              <a:rPr lang="en-US" b="true" sz="2000" spc="-26">
                <a:solidFill>
                  <a:srgbClr val="158461"/>
                </a:solidFill>
                <a:latin typeface="Arial MT Pro Bold"/>
                <a:ea typeface="Arial MT Pro Bold"/>
                <a:cs typeface="Arial MT Pro Bold"/>
                <a:sym typeface="Arial MT Pro Bold"/>
              </a:rPr>
              <a:t>atteck chain, from reconnaissance to execution.</a:t>
            </a:r>
          </a:p>
          <a:p>
            <a:pPr algn="l">
              <a:lnSpc>
                <a:spcPts val="2590"/>
              </a:lnSpc>
            </a:pPr>
            <a:r>
              <a:rPr lang="en-US" sz="2000" spc="-26">
                <a:solidFill>
                  <a:srgbClr val="33342E"/>
                </a:solidFill>
                <a:latin typeface="Arial MT Pro"/>
                <a:ea typeface="Arial MT Pro"/>
                <a:cs typeface="Arial MT Pro"/>
                <a:sym typeface="Arial MT Pro"/>
              </a:rPr>
              <a:t>Al is used to automate the creation of hyper personalized phishing lures, craft adaptive malware, and generate deepfake content that hypasses traditional, signature based defenses and erodes human trust.</a:t>
            </a:r>
          </a:p>
        </p:txBody>
      </p:sp>
      <p:sp>
        <p:nvSpPr>
          <p:cNvPr name="TextBox 13" id="13"/>
          <p:cNvSpPr txBox="true"/>
          <p:nvPr/>
        </p:nvSpPr>
        <p:spPr>
          <a:xfrm rot="0">
            <a:off x="10911078" y="9001510"/>
            <a:ext cx="5959793" cy="2174367"/>
          </a:xfrm>
          <a:prstGeom prst="rect">
            <a:avLst/>
          </a:prstGeom>
        </p:spPr>
        <p:txBody>
          <a:bodyPr anchor="t" rtlCol="false" tIns="0" lIns="0" bIns="0" rIns="0">
            <a:spAutoFit/>
          </a:bodyPr>
          <a:lstStyle/>
          <a:p>
            <a:pPr algn="l">
              <a:lnSpc>
                <a:spcPts val="2454"/>
              </a:lnSpc>
            </a:pPr>
            <a:r>
              <a:rPr lang="en-US" b="true" sz="2000" spc="-18">
                <a:solidFill>
                  <a:srgbClr val="158461"/>
                </a:solidFill>
                <a:latin typeface="Arial MT Pro Bold"/>
                <a:ea typeface="Arial MT Pro Bold"/>
                <a:cs typeface="Arial MT Pro Bold"/>
                <a:sym typeface="Arial MT Pro Bold"/>
              </a:rPr>
              <a:t>Compromised Al agents are emerging as a new</a:t>
            </a:r>
          </a:p>
          <a:p>
            <a:pPr algn="l">
              <a:lnSpc>
                <a:spcPts val="2454"/>
              </a:lnSpc>
            </a:pPr>
            <a:r>
              <a:rPr lang="en-US" b="true" sz="2000" spc="-18">
                <a:solidFill>
                  <a:srgbClr val="158461"/>
                </a:solidFill>
                <a:latin typeface="Arial MT Pro Bold"/>
                <a:ea typeface="Arial MT Pro Bold"/>
                <a:cs typeface="Arial MT Pro Bold"/>
                <a:sym typeface="Arial MT Pro Bold"/>
              </a:rPr>
              <a:t>class of insider threat.</a:t>
            </a:r>
          </a:p>
          <a:p>
            <a:pPr algn="l">
              <a:lnSpc>
                <a:spcPts val="2454"/>
              </a:lnSpc>
            </a:pPr>
            <a:r>
              <a:rPr lang="en-US" sz="2000">
                <a:solidFill>
                  <a:srgbClr val="33342E"/>
                </a:solidFill>
                <a:latin typeface="Arial MT Pro"/>
                <a:ea typeface="Arial MT Pro"/>
                <a:cs typeface="Arial MT Pro"/>
                <a:sym typeface="Arial MT Pro"/>
              </a:rPr>
              <a:t>Autonomous Al assistants, often granted broad access to sensitive data, can be manipulated via techniques </a:t>
            </a:r>
            <a:r>
              <a:rPr lang="en-US" sz="2000">
                <a:solidFill>
                  <a:srgbClr val="33342E"/>
                </a:solidFill>
                <a:latin typeface="Arial MT Pro"/>
                <a:ea typeface="Arial MT Pro"/>
                <a:cs typeface="Arial MT Pro"/>
                <a:sym typeface="Arial MT Pro"/>
              </a:rPr>
              <a:t>like prompt injection to leak information or execute unauthorized actions from within trusted environments.</a:t>
            </a:r>
          </a:p>
        </p:txBody>
      </p:sp>
      <p:sp>
        <p:nvSpPr>
          <p:cNvPr name="TextBox 14" id="14"/>
          <p:cNvSpPr txBox="true"/>
          <p:nvPr/>
        </p:nvSpPr>
        <p:spPr>
          <a:xfrm rot="0">
            <a:off x="10911078" y="11477683"/>
            <a:ext cx="5959793" cy="2237232"/>
          </a:xfrm>
          <a:prstGeom prst="rect">
            <a:avLst/>
          </a:prstGeom>
        </p:spPr>
        <p:txBody>
          <a:bodyPr anchor="t" rtlCol="false" tIns="0" lIns="0" bIns="0" rIns="0">
            <a:spAutoFit/>
          </a:bodyPr>
          <a:lstStyle/>
          <a:p>
            <a:pPr algn="l">
              <a:lnSpc>
                <a:spcPts val="2484"/>
              </a:lnSpc>
            </a:pPr>
            <a:r>
              <a:rPr lang="en-US" b="true" sz="2000" spc="-16">
                <a:solidFill>
                  <a:srgbClr val="158461"/>
                </a:solidFill>
                <a:latin typeface="Arial MT Pro Bold"/>
                <a:ea typeface="Arial MT Pro Bold"/>
                <a:cs typeface="Arial MT Pro Bold"/>
                <a:sym typeface="Arial MT Pro Bold"/>
              </a:rPr>
              <a:t>Attackers are exploiting Al tools integrated into</a:t>
            </a:r>
          </a:p>
          <a:p>
            <a:pPr algn="l">
              <a:lnSpc>
                <a:spcPts val="2484"/>
              </a:lnSpc>
            </a:pPr>
            <a:r>
              <a:rPr lang="en-US" b="true" sz="2000" spc="-16">
                <a:solidFill>
                  <a:srgbClr val="158461"/>
                </a:solidFill>
                <a:latin typeface="Arial MT Pro Bold"/>
                <a:ea typeface="Arial MT Pro Bold"/>
                <a:cs typeface="Arial MT Pro Bold"/>
                <a:sym typeface="Arial MT Pro Bold"/>
              </a:rPr>
              <a:t>development environments and SaaS platforms.</a:t>
            </a:r>
          </a:p>
          <a:p>
            <a:pPr algn="l">
              <a:lnSpc>
                <a:spcPts val="2484"/>
              </a:lnSpc>
            </a:pPr>
            <a:r>
              <a:rPr lang="en-US" sz="2000" spc="-16">
                <a:solidFill>
                  <a:srgbClr val="33342E"/>
                </a:solidFill>
                <a:latin typeface="Arial MT Pro"/>
                <a:ea typeface="Arial MT Pro"/>
                <a:cs typeface="Arial MT Pro"/>
                <a:sym typeface="Arial MT Pro"/>
              </a:rPr>
              <a:t>Misconfigured or compromised Al assistants and</a:t>
            </a:r>
          </a:p>
          <a:p>
            <a:pPr algn="l">
              <a:lnSpc>
                <a:spcPts val="2484"/>
              </a:lnSpc>
            </a:pPr>
            <a:r>
              <a:rPr lang="en-US" sz="2000">
                <a:solidFill>
                  <a:srgbClr val="33342E"/>
                </a:solidFill>
                <a:latin typeface="Arial MT Pro"/>
                <a:ea typeface="Arial MT Pro"/>
                <a:cs typeface="Arial MT Pro"/>
                <a:sym typeface="Arial MT Pro"/>
              </a:rPr>
              <a:t>unsecure "vibe coding" practices introduce</a:t>
            </a:r>
          </a:p>
          <a:p>
            <a:pPr algn="l">
              <a:lnSpc>
                <a:spcPts val="2484"/>
              </a:lnSpc>
            </a:pPr>
            <a:r>
              <a:rPr lang="en-US" sz="2000">
                <a:solidFill>
                  <a:srgbClr val="33342E"/>
                </a:solidFill>
                <a:latin typeface="Arial MT Pro"/>
                <a:ea typeface="Arial MT Pro"/>
                <a:cs typeface="Arial MT Pro"/>
                <a:sym typeface="Arial MT Pro"/>
              </a:rPr>
              <a:t>vulnerabilities directly into application development</a:t>
            </a:r>
          </a:p>
          <a:p>
            <a:pPr algn="l">
              <a:lnSpc>
                <a:spcPts val="2484"/>
              </a:lnSpc>
            </a:pPr>
            <a:r>
              <a:rPr lang="en-US" sz="2000">
                <a:solidFill>
                  <a:srgbClr val="33342E"/>
                </a:solidFill>
                <a:latin typeface="Arial MT Pro"/>
                <a:ea typeface="Arial MT Pro"/>
                <a:cs typeface="Arial MT Pro"/>
                <a:sym typeface="Arial MT Pro"/>
              </a:rPr>
              <a:t>and business workflows, creating built-in attack</a:t>
            </a:r>
          </a:p>
          <a:p>
            <a:pPr algn="l">
              <a:lnSpc>
                <a:spcPts val="2484"/>
              </a:lnSpc>
            </a:pPr>
            <a:r>
              <a:rPr lang="en-US" sz="2000">
                <a:solidFill>
                  <a:srgbClr val="33342E"/>
                </a:solidFill>
                <a:latin typeface="Arial MT Pro"/>
                <a:ea typeface="Arial MT Pro"/>
                <a:cs typeface="Arial MT Pro"/>
                <a:sym typeface="Arial MT Pro"/>
              </a:rPr>
              <a:t>vectors.</a:t>
            </a:r>
          </a:p>
        </p:txBody>
      </p:sp>
      <p:sp>
        <p:nvSpPr>
          <p:cNvPr name="TextBox 15" id="15"/>
          <p:cNvSpPr txBox="true"/>
          <p:nvPr/>
        </p:nvSpPr>
        <p:spPr>
          <a:xfrm rot="0">
            <a:off x="17564261" y="5525864"/>
            <a:ext cx="7909620" cy="436880"/>
          </a:xfrm>
          <a:prstGeom prst="rect">
            <a:avLst/>
          </a:prstGeom>
        </p:spPr>
        <p:txBody>
          <a:bodyPr anchor="t" rtlCol="false" tIns="0" lIns="0" bIns="0" rIns="0">
            <a:spAutoFit/>
          </a:bodyPr>
          <a:lstStyle/>
          <a:p>
            <a:pPr algn="ctr" marL="0" indent="0" lvl="0">
              <a:lnSpc>
                <a:spcPts val="3220"/>
              </a:lnSpc>
              <a:spcBef>
                <a:spcPct val="0"/>
              </a:spcBef>
            </a:pPr>
            <a:r>
              <a:rPr lang="en-US" b="true" sz="2300" spc="18" strike="noStrike" u="none">
                <a:solidFill>
                  <a:srgbClr val="FFFFFF"/>
                </a:solidFill>
                <a:latin typeface="Arial MT Pro Bold"/>
                <a:ea typeface="Arial MT Pro Bold"/>
                <a:cs typeface="Arial MT Pro Bold"/>
                <a:sym typeface="Arial MT Pro Bold"/>
              </a:rPr>
              <a:t>THE IMPACT: ESCALATION TO SYSTEMIC DISRUPTION</a:t>
            </a:r>
          </a:p>
        </p:txBody>
      </p:sp>
      <p:sp>
        <p:nvSpPr>
          <p:cNvPr name="TextBox 16" id="16"/>
          <p:cNvSpPr txBox="true"/>
          <p:nvPr/>
        </p:nvSpPr>
        <p:spPr>
          <a:xfrm rot="0">
            <a:off x="19299174" y="6449483"/>
            <a:ext cx="5907631" cy="2301494"/>
          </a:xfrm>
          <a:prstGeom prst="rect">
            <a:avLst/>
          </a:prstGeom>
        </p:spPr>
        <p:txBody>
          <a:bodyPr anchor="t" rtlCol="false" tIns="0" lIns="0" bIns="0" rIns="0">
            <a:spAutoFit/>
          </a:bodyPr>
          <a:lstStyle/>
          <a:p>
            <a:pPr algn="l">
              <a:lnSpc>
                <a:spcPts val="2578"/>
              </a:lnSpc>
            </a:pPr>
            <a:r>
              <a:rPr lang="en-US" b="true" sz="2000" spc="-24">
                <a:solidFill>
                  <a:srgbClr val="158461"/>
                </a:solidFill>
                <a:latin typeface="Arial MT Pro Bold"/>
                <a:ea typeface="Arial MT Pro Bold"/>
                <a:cs typeface="Arial MT Pro Bold"/>
                <a:sym typeface="Arial MT Pro Bold"/>
              </a:rPr>
              <a:t>The objective of major attacks is expanding from data </a:t>
            </a:r>
            <a:r>
              <a:rPr lang="en-US" b="true" sz="2000" spc="-24">
                <a:solidFill>
                  <a:srgbClr val="158461"/>
                </a:solidFill>
                <a:latin typeface="Arial MT Pro Bold"/>
                <a:ea typeface="Arial MT Pro Bold"/>
                <a:cs typeface="Arial MT Pro Bold"/>
                <a:sym typeface="Arial MT Pro Bold"/>
              </a:rPr>
              <a:t>extortion to systemic disruption and financial shocks.</a:t>
            </a:r>
          </a:p>
          <a:p>
            <a:pPr algn="l">
              <a:lnSpc>
                <a:spcPts val="2578"/>
              </a:lnSpc>
            </a:pPr>
            <a:r>
              <a:rPr lang="en-US" sz="2000" spc="-22">
                <a:solidFill>
                  <a:srgbClr val="33342E"/>
                </a:solidFill>
                <a:latin typeface="Arial MT Pro"/>
                <a:ea typeface="Arial MT Pro"/>
                <a:cs typeface="Arial MT Pro"/>
                <a:sym typeface="Arial MT Pro"/>
              </a:rPr>
              <a:t>High-profile incidents now target critical infrastructure</a:t>
            </a:r>
          </a:p>
          <a:p>
            <a:pPr algn="l">
              <a:lnSpc>
                <a:spcPts val="2578"/>
              </a:lnSpc>
            </a:pPr>
            <a:r>
              <a:rPr lang="en-US" sz="2000" spc="-22">
                <a:solidFill>
                  <a:srgbClr val="33342E"/>
                </a:solidFill>
                <a:latin typeface="Arial MT Pro"/>
                <a:ea typeface="Arial MT Pro"/>
                <a:cs typeface="Arial MT Pro"/>
                <a:sym typeface="Arial MT Pro"/>
              </a:rPr>
              <a:t>(telecoms, aviation) and financial systems, aiming to</a:t>
            </a:r>
          </a:p>
          <a:p>
            <a:pPr algn="l">
              <a:lnSpc>
                <a:spcPts val="2578"/>
              </a:lnSpc>
            </a:pPr>
            <a:r>
              <a:rPr lang="en-US" sz="2000" spc="-22">
                <a:solidFill>
                  <a:srgbClr val="33342E"/>
                </a:solidFill>
                <a:latin typeface="Arial MT Pro"/>
                <a:ea typeface="Arial MT Pro"/>
                <a:cs typeface="Arial MT Pro"/>
                <a:sym typeface="Arial MT Pro"/>
              </a:rPr>
              <a:t>cause operational paralysis and erode market trust, as seen in the $1.5B Bybit crypto heist.</a:t>
            </a:r>
          </a:p>
        </p:txBody>
      </p:sp>
      <p:sp>
        <p:nvSpPr>
          <p:cNvPr name="TextBox 17" id="17"/>
          <p:cNvSpPr txBox="true"/>
          <p:nvPr/>
        </p:nvSpPr>
        <p:spPr>
          <a:xfrm rot="0">
            <a:off x="19299174" y="9001510"/>
            <a:ext cx="5907631" cy="1922907"/>
          </a:xfrm>
          <a:prstGeom prst="rect">
            <a:avLst/>
          </a:prstGeom>
        </p:spPr>
        <p:txBody>
          <a:bodyPr anchor="t" rtlCol="false" tIns="0" lIns="0" bIns="0" rIns="0">
            <a:spAutoFit/>
          </a:bodyPr>
          <a:lstStyle/>
          <a:p>
            <a:pPr algn="l">
              <a:lnSpc>
                <a:spcPts val="2484"/>
              </a:lnSpc>
            </a:pPr>
            <a:r>
              <a:rPr lang="en-US" b="true" sz="2000" spc="-12">
                <a:solidFill>
                  <a:srgbClr val="158461"/>
                </a:solidFill>
                <a:latin typeface="Arial MT Pro Bold"/>
                <a:ea typeface="Arial MT Pro Bold"/>
                <a:cs typeface="Arial MT Pro Bold"/>
                <a:sym typeface="Arial MT Pro Bold"/>
              </a:rPr>
              <a:t>Supply chain compromises are engineered to</a:t>
            </a:r>
          </a:p>
          <a:p>
            <a:pPr algn="l">
              <a:lnSpc>
                <a:spcPts val="2484"/>
              </a:lnSpc>
            </a:pPr>
            <a:r>
              <a:rPr lang="en-US" b="true" sz="2000" spc="-12">
                <a:solidFill>
                  <a:srgbClr val="158461"/>
                </a:solidFill>
                <a:latin typeface="Arial MT Pro Bold"/>
                <a:ea typeface="Arial MT Pro Bold"/>
                <a:cs typeface="Arial MT Pro Bold"/>
                <a:sym typeface="Arial MT Pro Bold"/>
              </a:rPr>
              <a:t>create cascading failures with kinetic-like effects</a:t>
            </a:r>
            <a:r>
              <a:rPr lang="en-US" b="true" sz="2000" spc="-12">
                <a:solidFill>
                  <a:srgbClr val="33342E"/>
                </a:solidFill>
                <a:latin typeface="Arial MT Pro Bold"/>
                <a:ea typeface="Arial MT Pro Bold"/>
                <a:cs typeface="Arial MT Pro Bold"/>
                <a:sym typeface="Arial MT Pro Bold"/>
              </a:rPr>
              <a:t>.</a:t>
            </a:r>
          </a:p>
          <a:p>
            <a:pPr algn="l">
              <a:lnSpc>
                <a:spcPts val="2484"/>
              </a:lnSpc>
            </a:pPr>
            <a:r>
              <a:rPr lang="en-US" sz="2000" spc="-12">
                <a:solidFill>
                  <a:srgbClr val="33342E"/>
                </a:solidFill>
                <a:latin typeface="Arial MT Pro"/>
                <a:ea typeface="Arial MT Pro"/>
                <a:cs typeface="Arial MT Pro"/>
                <a:sym typeface="Arial MT Pro"/>
              </a:rPr>
              <a:t>The attack on Jaguar Land Rover exemplifies this,</a:t>
            </a:r>
          </a:p>
          <a:p>
            <a:pPr algn="l">
              <a:lnSpc>
                <a:spcPts val="2484"/>
              </a:lnSpc>
            </a:pPr>
            <a:r>
              <a:rPr lang="en-US" sz="2000" spc="-12">
                <a:solidFill>
                  <a:srgbClr val="33342E"/>
                </a:solidFill>
                <a:latin typeface="Arial MT Pro"/>
                <a:ea typeface="Arial MT Pro"/>
                <a:cs typeface="Arial MT Pro"/>
                <a:sym typeface="Arial MT Pro"/>
              </a:rPr>
              <a:t>with an estimated financial impact of £1.9 billion that</a:t>
            </a:r>
          </a:p>
          <a:p>
            <a:pPr algn="l">
              <a:lnSpc>
                <a:spcPts val="2484"/>
              </a:lnSpc>
            </a:pPr>
            <a:r>
              <a:rPr lang="en-US" sz="2000">
                <a:solidFill>
                  <a:srgbClr val="33342E"/>
                </a:solidFill>
                <a:latin typeface="Arial MT Pro"/>
                <a:ea typeface="Arial MT Pro"/>
                <a:cs typeface="Arial MT Pro"/>
                <a:sym typeface="Arial MT Pro"/>
              </a:rPr>
              <a:t>propagated through its ecosystem, threatening the</a:t>
            </a:r>
          </a:p>
          <a:p>
            <a:pPr algn="l">
              <a:lnSpc>
                <a:spcPts val="2484"/>
              </a:lnSpc>
            </a:pPr>
            <a:r>
              <a:rPr lang="en-US" sz="2000" spc="-22">
                <a:solidFill>
                  <a:srgbClr val="33342E"/>
                </a:solidFill>
                <a:latin typeface="Arial MT Pro"/>
                <a:ea typeface="Arial MT Pro"/>
                <a:cs typeface="Arial MT Pro"/>
                <a:sym typeface="Arial MT Pro"/>
              </a:rPr>
              <a:t>solvency of downstream suppliers.</a:t>
            </a:r>
          </a:p>
        </p:txBody>
      </p:sp>
      <p:sp>
        <p:nvSpPr>
          <p:cNvPr name="TextBox 18" id="18"/>
          <p:cNvSpPr txBox="true"/>
          <p:nvPr/>
        </p:nvSpPr>
        <p:spPr>
          <a:xfrm rot="0">
            <a:off x="19299174" y="11463022"/>
            <a:ext cx="5907631" cy="2240407"/>
          </a:xfrm>
          <a:prstGeom prst="rect">
            <a:avLst/>
          </a:prstGeom>
        </p:spPr>
        <p:txBody>
          <a:bodyPr anchor="t" rtlCol="false" tIns="0" lIns="0" bIns="0" rIns="0">
            <a:spAutoFit/>
          </a:bodyPr>
          <a:lstStyle/>
          <a:p>
            <a:pPr algn="l">
              <a:lnSpc>
                <a:spcPts val="2534"/>
              </a:lnSpc>
            </a:pPr>
            <a:r>
              <a:rPr lang="en-US" b="true" sz="2000" spc="-22">
                <a:solidFill>
                  <a:srgbClr val="158461"/>
                </a:solidFill>
                <a:latin typeface="Arial MT Pro Bold"/>
                <a:ea typeface="Arial MT Pro Bold"/>
                <a:cs typeface="Arial MT Pro Bold"/>
                <a:sym typeface="Arial MT Pro Bold"/>
              </a:rPr>
              <a:t>Identity has become the new battleground,</a:t>
            </a:r>
          </a:p>
          <a:p>
            <a:pPr algn="l">
              <a:lnSpc>
                <a:spcPts val="2534"/>
              </a:lnSpc>
            </a:pPr>
            <a:r>
              <a:rPr lang="en-US" b="true" sz="2000" spc="-22">
                <a:solidFill>
                  <a:srgbClr val="158461"/>
                </a:solidFill>
                <a:latin typeface="Arial MT Pro Bold"/>
                <a:ea typeface="Arial MT Pro Bold"/>
                <a:cs typeface="Arial MT Pro Bold"/>
                <a:sym typeface="Arial MT Pro Bold"/>
              </a:rPr>
              <a:t>superseding the traditional network perimeter.</a:t>
            </a:r>
          </a:p>
          <a:p>
            <a:pPr algn="l">
              <a:lnSpc>
                <a:spcPts val="2534"/>
              </a:lnSpc>
            </a:pPr>
            <a:r>
              <a:rPr lang="en-US" sz="2000">
                <a:solidFill>
                  <a:srgbClr val="33342E"/>
                </a:solidFill>
                <a:latin typeface="Arial MT Pro"/>
                <a:ea typeface="Arial MT Pro"/>
                <a:cs typeface="Arial MT Pro"/>
                <a:sym typeface="Arial MT Pro"/>
              </a:rPr>
              <a:t>The focus on compromised credentials, session</a:t>
            </a:r>
          </a:p>
          <a:p>
            <a:pPr algn="l">
              <a:lnSpc>
                <a:spcPts val="2534"/>
              </a:lnSpc>
            </a:pPr>
            <a:r>
              <a:rPr lang="en-US" sz="2000" spc="-2">
                <a:solidFill>
                  <a:srgbClr val="33342E"/>
                </a:solidFill>
                <a:latin typeface="Arial MT Pro"/>
                <a:ea typeface="Arial MT Pro"/>
                <a:cs typeface="Arial MT Pro"/>
                <a:sym typeface="Arial MT Pro"/>
              </a:rPr>
              <a:t>hijacking, and privilege sprawl across human and</a:t>
            </a:r>
          </a:p>
          <a:p>
            <a:pPr algn="l">
              <a:lnSpc>
                <a:spcPts val="2534"/>
              </a:lnSpc>
            </a:pPr>
            <a:r>
              <a:rPr lang="en-US" sz="2000" spc="-2">
                <a:solidFill>
                  <a:srgbClr val="33342E"/>
                </a:solidFill>
                <a:latin typeface="Arial MT Pro"/>
                <a:ea typeface="Arial MT Pro"/>
                <a:cs typeface="Arial MT Pro"/>
                <a:sym typeface="Arial MT Pro"/>
              </a:rPr>
              <a:t>non-human (Al agent) identities reflects that</a:t>
            </a:r>
          </a:p>
          <a:p>
            <a:pPr algn="l">
              <a:lnSpc>
                <a:spcPts val="2534"/>
              </a:lnSpc>
            </a:pPr>
            <a:r>
              <a:rPr lang="en-US" sz="2000" spc="-2">
                <a:solidFill>
                  <a:srgbClr val="33342E"/>
                </a:solidFill>
                <a:latin typeface="Arial MT Pro"/>
                <a:ea typeface="Arial MT Pro"/>
                <a:cs typeface="Arial MT Pro"/>
                <a:sym typeface="Arial MT Pro"/>
              </a:rPr>
              <a:t>controlling access is the central challenge in the</a:t>
            </a:r>
          </a:p>
          <a:p>
            <a:pPr algn="l">
              <a:lnSpc>
                <a:spcPts val="2534"/>
              </a:lnSpc>
            </a:pPr>
            <a:r>
              <a:rPr lang="en-US" sz="2000" spc="-2">
                <a:solidFill>
                  <a:srgbClr val="33342E"/>
                </a:solidFill>
                <a:latin typeface="Arial MT Pro"/>
                <a:ea typeface="Arial MT Pro"/>
                <a:cs typeface="Arial MT Pro"/>
                <a:sym typeface="Arial MT Pro"/>
              </a:rPr>
              <a:t>modern threat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DAG90k9mLsE</dc:identifier>
  <dcterms:modified xsi:type="dcterms:W3CDTF">2011-08-01T06:04:30Z</dcterms:modified>
  <cp:revision>1</cp:revision>
  <dc:title>FY2025 Executive Intelligence Summary: From Elevated Risk to Direct Confrontation The New Battlefield: Blurring Lines Between Crime &amp; Conflict</dc:title>
</cp:coreProperties>
</file>