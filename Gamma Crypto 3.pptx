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92857"/>
            <a:ext cx="1976686" cy="163413"/>
          </a:xfrm>
          <a:prstGeom prst="roundRect">
            <a:avLst>
              <a:gd name="adj" fmla="val 7894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725965" y="825103"/>
            <a:ext cx="2457289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EXECUTIVE STRATEGIC OUTLOOK — JUNE 2026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984151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Crypto &amp; Digital Assets Industry Monthly Risk Debrief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61475" y="1451670"/>
            <a:ext cx="10868745" cy="12700"/>
          </a:xfrm>
          <a:prstGeom prst="roundRect">
            <a:avLst>
              <a:gd name="adj" fmla="val 5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639590"/>
            <a:ext cx="341105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MARKET VITAL SIGNS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1475" y="1877318"/>
            <a:ext cx="3411055" cy="2793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BTC: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Collapsed to a 21-month low of ~$58,076 (−53% from $126,198 ATH); dominance rose to ~63%, a 4-year high, as institutional capital consolidated into Bitcoin amid regulatory clarity under the CLARITY Act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ETH: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Fell to ~$1,510 during late-June capitulation, marking a 44% YTD loss and 69% drawdown from its $4,631 ATH; briefly surpassed by USDT in market cap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Global Market Cap: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Contracted sharply from ~$3.5T (late 2025 peak) to $2.11T by early July 2026, driven by persistent US inflation (PCE at 4.1%) and a higher-for-longer rate environment (FOMC holding 3.50–3.75%)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ETF Flows: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 Spot BTC ETFs posted their worst month on record with ~$4.4B in net outflows over 13 consecutive days; BlackRock's IBIT accounted for ~75% of peak redemptions, transforming the ETF complex into a mechanical source of selling pressure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Stablecoins: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Aggregate market cap expanded to ~$316B; USDC contracted to ~$73B but retains ~79% of adjusted on-chain transfer volume; Tether (USDT) commands ~59% of circulating supply at ~$184–187B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41009" y="1639590"/>
            <a:ext cx="352227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THREAT &amp; POLICY VECTORS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41009" y="1877318"/>
            <a:ext cx="3522277" cy="3478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Policy — EU 21st Russia Sanctions Package: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Proposed absolute transaction bans on 11 crypto platforms and unprecedented legal authority to enact full-jurisdiction blockades on third-country crypto-asset services that systematically facilitate sanctions evasion; US Treasury simultaneously designated four Iranian exchanges (including Nobitex and Wallex) for facilitating regime-linked terrorism financing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Security — $75.8M in June Exploits: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Humanity Protocol lost ~$36M after malware on a developer's workstation extracted 7 private keys, granting attackers unilateral control over hot wallets and multi-sig Safe accounts; Syscoin Bridge lost ~$10M via a cryptographic proof-parsing flaw enabling unauthorized minting; AI agents are now systematically scanning dormant protocols (e.g., deprecated Aztec bridges) to identify exploitable code that evaded original auditors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Sanctions — AudiA6 Network Takedown: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Europol and the US DOJ dismantled the AudiA6 laundering network, which processed ~$389M in illicit proceeds since 2021 using 6,000+ KYC-verified mule accounts at tier-1 centralized exchanges; funds cycled from unhosted wallets through mule accounts and exited as "clean" fiat/crypto within ~1-hour windows, exposing the severe inadequacy of static KYC onboarding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Regulatory Harmonization: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UK FCA finalized its cryptoasset regime (effective October 2027); EU MiCA's transitional period ended July 1, 2026, with ESMA ordering unlicensed CASPs to immediately cease marketing and wind down European operations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131765" y="1639590"/>
            <a:ext cx="341105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CTI RISK ADVISORY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31765" y="1877318"/>
            <a:ext cx="3411055" cy="4163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Custody Risk — Web2 Endpoint Compromises: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Humanity Protocol hack proves that sophisticated threat actors (including DPRK's Lazarus Group) are reverting to classic Web2 intrusion—spear-phishing, social engineering, and endpoint malware—to acquire administrative keys, bypassing on-chain multi-sig security entirely. Institutions must demand hardware-isolated Multi-Party Computation (MPC) architectures, strict geographical key distribution, and real-time cryptographic verification of multi-sig participant health. Static code audits offer zero protection against off-chain governance key compromise.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Disintermediation Risk — Open USD Consortium: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consortium of 140 fintech and payment firms (Visa, Mastercard, Stripe, Adyen) passes 100% of reserve yield to distribution partners and end-users, incentivizing global payment networks to route B2B volume natively through Open USD rather than legacy correspondent banking. As corporate treasurers sweep working capital into yield-bearing consortium stablecoins, commercial banks face structural erosion of low-cost deposit bases, suppression of wire fees and FX spreads, and permanent compression of net interest margins.</a:t>
            </a:r>
            <a:endParaRPr lang="en-US" sz="800" dirty="0"/>
          </a:p>
          <a:p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Compliance Risk — Strict Liability Exposure:</a:t>
            </a:r>
            <a:pPr algn="l" marL="162560" indent="-162560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AudiA6 methodology demonstrates that threat actors can bypass perimeter identity checks at industrial scale. Under the GENIUS Act and MiCA, banks providing fiat clearing to crypto-native entities bear absolute strict liability for funds flowing through their accounts. Static KYC is insufficient; institutions must mandate real-time behavioral heuristics to detect rapid burst-deposit layering and continuous blockchain tracing to prevent illicit funds from polluting fiat off-ramps, mitigating catastrophic penalty risks under expanding global sanctions mandates.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2026-07-16T12:56:34Z</dcterms:created>
  <dcterms:modified xsi:type="dcterms:W3CDTF">2026-07-16T12:56:34Z</dcterms:modified>
</cp:coreProperties>
</file>