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654299"/>
            <a:ext cx="2711128" cy="215354"/>
          </a:xfrm>
          <a:prstGeom prst="roundRect">
            <a:avLst>
              <a:gd name="adj" fmla="val 7900"/>
            </a:avLst>
          </a:prstGeom>
          <a:solidFill>
            <a:srgbClr val="CCFFF3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696789"/>
            <a:ext cx="29982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EU AGRICULTURE, FOOD &amp; TOBACCO · 2025–2026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92635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Cybersecurity Operational Outlook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581945"/>
            <a:ext cx="8151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Top 5 threats: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Ransomware &amp; Double Extortion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Living-off-the-Land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(100% of actors use native tools; 94.4% achieve prolonged stealth),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Supply Chain Exploitation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(~80% of initial entries),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AI-Enabled Phishing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(&gt;80% of social engineering),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Layered DDoS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Sector vulnerabilities: just-in-time perishability, unpatchable legacy OT/ICS, SMB fragmentation, and unsecured IoT. Key actors: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Qilin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(37 intrusions),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Akira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(36 intrusions),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CLOP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Scattered Spider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RansomHub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8299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Financial Impact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18146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sector saw a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101% YoY surge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cyber incidents—nearly triple the 38% cross-industry average. The April 2025 coordinated ransomware campaign was classified a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Category 2 systemic cyber event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costing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€312–509 million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685255"/>
            <a:ext cx="8151763" cy="2663949"/>
          </a:xfrm>
          <a:prstGeom prst="roundRect">
            <a:avLst>
              <a:gd name="adj" fmla="val 76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067520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447404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827288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207172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587055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96119" y="3966939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15283" y="1685255"/>
            <a:ext cx="8445" cy="26639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928792" y="1685255"/>
            <a:ext cx="8445" cy="266394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6836" y="1772022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Metric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2726" y="1772022"/>
            <a:ext cx="289582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Ag/Food/Tobacco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66234" y="1772022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Cross-Sector Avg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6836" y="2151906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Avg Data Breach Cost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2726" y="2151906"/>
            <a:ext cx="289582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$5.00M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66234" y="2151906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6836" y="2531790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Daily Downtime Cost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2726" y="2531790"/>
            <a:ext cx="289582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$1.90M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66234" y="2531790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$1.10M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6836" y="2911673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Recovery Duration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52726" y="2911673"/>
            <a:ext cx="289582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11–22 Days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066234" y="2911673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7–14 Days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6836" y="3291557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YoY Incident Growth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52726" y="3291557"/>
            <a:ext cx="289582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101%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66234" y="3291557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38%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6836" y="3671441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Avg Recovery Cost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52726" y="3671441"/>
            <a:ext cx="289582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$1.50M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66234" y="3671441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$1.00M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6836" y="4051325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Profit Margin Buffer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52726" y="4051325"/>
            <a:ext cx="289582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1.6%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066234" y="4051325"/>
            <a:ext cx="289820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10–15%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6119" y="4494088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Cost drivers: downtime ($10K–$250K/hr), ransomware recovery ($1.5M avg), ransoms (up to $20M+), and regulatory fines.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88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Worst-Case Scenarios &amp; Long-Term Consequences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2622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A: HACCP Bypass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789435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 alters PLC pasteurization temps, distributing E. coli/Listeria-contaminated product undetected for weeks.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38482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B: Historian Erasure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74803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Ransomware deletes batch records and cold-chain logs; entire inventory becomes legally "suspect," forcing destruction.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5702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Scenario C: ERP Cascade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393345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SaaS exploit locks distribution platforms, halting shipments and triggering food shortages and market inflation.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42622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Long-Term Financial Consequences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1789435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NIS2 fines: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up to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€7M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 1.4% of global turnover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GDPR fines: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up to 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€20M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 4% of annual revenue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Brand erosion: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customer recommendation drops &gt;14%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Market cap: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share price can fall &gt;11% post-breach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Insurance gaps: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physical interruption and recall costs often excluded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414040" cy="107603"/>
          </a:xfrm>
          <a:prstGeom prst="roundRect">
            <a:avLst>
              <a:gd name="adj" fmla="val 7905"/>
            </a:avLst>
          </a:prstGeom>
          <a:noFill/>
          <a:ln w="4763">
            <a:solidFill>
              <a:srgbClr val="006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8609" y="411063"/>
            <a:ext cx="786259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UNFI Cyberattack — June 2025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786185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North America's largest grocery wholesaler (supplying 30,000+ retail locations including Whole Foods) was hit by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Scattered Spider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via help desk social engineering, bypassing MFA to compromise WMS, TMS, and ERP systems.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11051"/>
            <a:ext cx="8151763" cy="36855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9582" y="3801414"/>
            <a:ext cx="1818379" cy="22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9582" y="4093365"/>
            <a:ext cx="2772019" cy="13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 20+: full normalization from backups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9582" y="2920510"/>
            <a:ext cx="1818379" cy="22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9582" y="3212461"/>
            <a:ext cx="2772019" cy="272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 10+: restore ordering; manual workarounds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89582" y="2039606"/>
            <a:ext cx="1818379" cy="22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9582" y="2331557"/>
            <a:ext cx="2772019" cy="272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Days 2–10: logistics blockade; empty shelves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189582" y="1158703"/>
            <a:ext cx="1818379" cy="227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9582" y="1450653"/>
            <a:ext cx="2772019" cy="136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Day 1, June 5: breach detected; cores shut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6119" y="4636443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Recovery spanned 20+ days from initial breach to full normalization.</a:t>
            </a:r>
            <a:endParaRPr lang="en-US" sz="550" dirty="0"/>
          </a:p>
        </p:txBody>
      </p:sp>
      <p:sp>
        <p:nvSpPr>
          <p:cNvPr id="16" name="Text 13"/>
          <p:cNvSpPr/>
          <p:nvPr/>
        </p:nvSpPr>
        <p:spPr>
          <a:xfrm>
            <a:off x="496119" y="4796730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$350-400M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96119" y="5092601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Net Sales Lost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594101" y="4796730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$50-60M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94101" y="5092601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Net Income Hit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96119" y="5309592"/>
            <a:ext cx="4053706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$40-50M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96119" y="5605463"/>
            <a:ext cx="405370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EBITDA Reduction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4594101" y="5309592"/>
            <a:ext cx="4053780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$65-75M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594101" y="5605463"/>
            <a:ext cx="405378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Remediation Costs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942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Mitigation Strategies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96119" y="978247"/>
            <a:ext cx="8151763" cy="2506414"/>
          </a:xfrm>
          <a:prstGeom prst="roundRect">
            <a:avLst>
              <a:gd name="adj" fmla="val 70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283122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1757288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31454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705621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008114"/>
            <a:ext cx="8151763" cy="733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536552" y="978247"/>
            <a:ext cx="7338" cy="25064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74" y="978247"/>
            <a:ext cx="7338" cy="25064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07597" y="978247"/>
            <a:ext cx="7338" cy="25064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8381" y="1046038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Strategy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6284" y="1046038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Effectiveness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91807" y="1046038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27329" y="1046038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ROI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8381" y="1348532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&amp; Hardware MFA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6284" y="1348532"/>
            <a:ext cx="179605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Critical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mitigates 99.9% credential theft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91807" y="1348532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7329" y="1348532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8381" y="1822698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IT/OT Network Segmentation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6284" y="1822698"/>
            <a:ext cx="179605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Very High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prevents lateral movement to ICS/PLCs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91807" y="1822698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7329" y="1822698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Extreme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8381" y="2296864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Immutable Offline Backups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6284" y="2296864"/>
            <a:ext cx="179605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Very High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ensures clean recovery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91807" y="2296864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Low–Medium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7329" y="2296864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8381" y="2771031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Behavior-Based EDR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56284" y="2771031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detects LotL &amp; zero-days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91807" y="2771031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27329" y="2771031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Rapid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8381" y="3073524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Risk Audits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56284" y="3073524"/>
            <a:ext cx="1796058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secures supply chain &amp; SaaS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91807" y="3073524"/>
            <a:ext cx="2253258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7329" y="3073524"/>
            <a:ext cx="225563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6119" y="3691161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NIS2: "Important Entity" Obligations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96119" y="3971776"/>
            <a:ext cx="393270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Entities with ≥50 FTE or &gt;€10M turnover must report incidents: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24h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warning,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72h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notification,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1-month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final report. Non-compliance: fines up to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915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€7M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 1.4% of global turnover.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19935" y="3691161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674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Additional EU Frameworks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19935" y="3971776"/>
            <a:ext cx="3932709" cy="7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Cyber Resilience Act:</a:t>
            </a:r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IoT and software must carry CE markings with active vulnerability maintenance</a:t>
            </a:r>
            <a:endParaRPr lang="en-US" sz="900" dirty="0"/>
          </a:p>
          <a:p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Machinery Directive:</a:t>
            </a:r>
            <a:pPr algn="l" marL="182880" indent="-182880">
              <a:lnSpc>
                <a:spcPct val="122000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automated machinery must prevent unauthorized digital manipulation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2026-07-10T12:56:44Z</dcterms:created>
  <dcterms:modified xsi:type="dcterms:W3CDTF">2026-07-10T12:56:44Z</dcterms:modified>
</cp:coreProperties>
</file>