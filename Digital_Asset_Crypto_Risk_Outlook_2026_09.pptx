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Evidence Register - September 2026 reporting window. Evidence cut-off: 2026-10-01.
Chart register:
CH-01 - Indexed BTC and ETH performance. Daily 00:00 UTC CoinGecko USD observations; index base is 100 on 1 September. BTC: $78,552.78 to $83,640.10, +6.48%; ETH: $2,466.57 to $2,677.38, +8.55%. Chart depicts 1 to 30 September only. Sources: https://api.coingecko.com/api/v3/coins/bitcoin/market_chart/range and https://api.coingecko.com/api/v3/coins/ethereum/market_chart/range.
CH-02 - US spot product flows. Bar values are cumulative daily net flows across September trading days: Bitcoin products $2.648B and Ethereum products $832.42M. This is a listed-US product data point, not global ETP flow. Source: https://sosovalue.com/assets/etf/us-btc-spot and https://sosovalue.com/assets/etf/us-eth-spot.
CH-03 - Infrastructure concentration. One Bitcoin product had $67.05B of $107.98B tracker-reported US Bitcoin spot assets at 30 September, 62.1%. USDt net circulation was $183.787B, 59.1% of DefiLlama aggregate stablecoin supply of $311.200B. USDt circulation was $92.395B on Tron and $86.734B on Ethereum, 97.5% combined. Sources: https://sosovalue.com/assets/etf/us-btc-spot ; https://tether.to/en/transparency/ ; https://stablecoins.llama.fi/stablecoincharts/all.
Material findings and 2LoD assessment:
DA-202609-04 - Liquid Network incident, 6 September. A rangeproof cache flaw allowed approximately 4,000 unbacked LBTC to reach a peg-out path. The issuer stated that 3,400 BTC was returned and approximately 602 BTC remained outstanding in the 23 September assessment. Assessment: settlement validation and peg-out authorization can transmit a software fault into reserve assets, exchange deposit operations and service interruption. Source: https://blog.blockstream.com/liquid-network-security-incident-assessment/.
DA-202609-05 - Bitget wallet-control compromise, 24 September. Bitget reported about $388M transferred from 12 hot/warm wallet addresses after a third-party security-product vulnerability enabled credential theft and forged withdrawal commands. Assessment: third-party privileged access and independent transaction verification are control dependencies; a control-plane fault can affect multiple chains and customer access. Source: https://www.bitget.com/campaigns/bitget-security-incident-2026.
DA-202609-06 - FinCEN alert, 3 September. The alert assessed 33,904 BSA reports filed from September 2023 through December 2025, identifying approximately $12.7B in reported suspected activity. The figure is not a September transaction total, a confirmed loss measure or an adjudicated illicit-flow total. Assessment: AI-assisted solicitation, fake platform activity, stablecoin transfers and cross-chain movement require connected fraud and AML controls. Source: https://www.fincen.gov/news/news-releases/fincen-identifies-nearly-13-billion-linked-suspected-digital-asset-scams.
DA-202609-07 - OFAC BitBank designation, 17 September. Treasury designated an Iranian exchange, its developer and associates, stating that the infrastructure facilitated transfers of hundreds of millions of dollars in Bitcoin to the IRGC during June and July 2026. Assessment: exchange, software-provider and beneficial-ownership links create sanctions-screening and secondary-sanctions exposure. Source: https://home.treasury.gov/news/press-releases/sb0632.
DA-202609-08 - UK FCA and OSFI implementation. FCA guidance opened the UK application gateway on 30 September, with a 28 February 2027 transitional deadline and 25 October 2027 regime commencement. OSFI guideline takes effect 1 November 2026 or 1 January 2027; the simplified approach deducts crypto exposures from CET1 and treats them as non-HQLA. Sources: https://www.fca.org.uk/publications/policy-statements/ps26-18-cryptoasset-perimeter-guidance ; https://www.osfi-bsif.gc.ca/en/guidance/guidance-library/capital-liquidity-treatment-crypto-asset-exposures-banking-guideline-2027.
DA-202609-09 - US proposals and conditional relief. Federal Reserve proposals cover payment stablecoin reserve assets, capital, risk management, custody and application process. SEC temporary conditional relief covers tokenized NMS stock in permissioned pools subject to rights equivalence, auditable code and concurrent trading halts. The Federal Reserve action remains a proposal, not binding law. Sources: https://www.federalreserve.gov/newsevents/pressreleases/bcreg20260924a.htm ; https://www.sec.gov/newsroom/press-releases/2026-90-sec-issues-innovation-exemption-facilitate-trading-tokenized-nms-stock-request-comment.
Prior-period correction: August 30 Tectonic/Cronos exploit disclosed in a September post-mortem. The post-mortem reported $120.4M nominal borrowing, $111.2M reversed by chain rollback and approximately $9.19M unrecovered. Retained as historical settlement-finality context only. Source: https://x.com/CronosNetwork/status/2097131718948094299.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00025" y="114300"/>
            <a:ext cx="8743950" cy="225028"/>
          </a:xfrm>
          <a:prstGeom prst="rect">
            <a:avLst/>
          </a:prstGeom>
          <a:noFill/>
          <a:ln/>
        </p:spPr>
        <p:txBody>
          <a:bodyPr wrap="none" lIns="0" tIns="0" rIns="0" bIns="0" rtlCol="0" anchor="t">
            <a:spAutoFit/>
          </a:bodyPr>
          <a:lstStyle/>
          <a:p>
            <a:pPr algn="l" indent="0" marL="0">
              <a:lnSpc>
                <a:spcPct val="84000"/>
              </a:lnSpc>
              <a:buNone/>
            </a:pPr>
            <a:r>
              <a:rPr lang="en-US" sz="1500" b="1" dirty="0">
                <a:solidFill>
                  <a:srgbClr val="111111"/>
                </a:solidFill>
                <a:latin typeface="Inter Bold" pitchFamily="34" charset="0"/>
                <a:ea typeface="Inter Bold" pitchFamily="34" charset="-122"/>
                <a:cs typeface="Inter Bold" pitchFamily="34" charset="-120"/>
              </a:rPr>
              <a:t>Digital Assets &amp; Crypto Risk Outlook: September 2026</a:t>
            </a:r>
            <a:endParaRPr lang="en-US" sz="1500" dirty="0"/>
          </a:p>
        </p:txBody>
      </p:sp>
      <p:sp>
        <p:nvSpPr>
          <p:cNvPr id="5" name="Shape 1"/>
          <p:cNvSpPr/>
          <p:nvPr/>
        </p:nvSpPr>
        <p:spPr>
          <a:xfrm>
            <a:off x="200025" y="410766"/>
            <a:ext cx="8286750" cy="261417"/>
          </a:xfrm>
          <a:prstGeom prst="rect">
            <a:avLst/>
          </a:prstGeom>
          <a:solidFill>
            <a:srgbClr val="000000">
              <a:alpha val="0"/>
            </a:srgbClr>
          </a:solidFill>
          <a:ln/>
        </p:spPr>
      </p:sp>
      <p:sp>
        <p:nvSpPr>
          <p:cNvPr id="6" name="Shape 2"/>
          <p:cNvSpPr/>
          <p:nvPr/>
        </p:nvSpPr>
        <p:spPr>
          <a:xfrm>
            <a:off x="200025" y="410766"/>
            <a:ext cx="28575" cy="261417"/>
          </a:xfrm>
          <a:prstGeom prst="rect">
            <a:avLst/>
          </a:prstGeom>
          <a:solidFill>
            <a:srgbClr val="00875A"/>
          </a:solidFill>
          <a:ln/>
        </p:spPr>
      </p:sp>
      <p:sp>
        <p:nvSpPr>
          <p:cNvPr id="7" name="Text 3"/>
          <p:cNvSpPr/>
          <p:nvPr/>
        </p:nvSpPr>
        <p:spPr>
          <a:xfrm>
            <a:off x="200025" y="410766"/>
            <a:ext cx="8286750" cy="261417"/>
          </a:xfrm>
          <a:prstGeom prst="rect">
            <a:avLst/>
          </a:prstGeom>
          <a:noFill/>
          <a:ln/>
        </p:spPr>
        <p:txBody>
          <a:bodyPr wrap="square" lIns="119126" tIns="0" rIns="0" bIns="0" rtlCol="0" anchor="t">
            <a:spAutoFit/>
          </a:bodyPr>
          <a:lstStyle/>
          <a:p>
            <a:pPr algn="l" indent="0" marL="0">
              <a:lnSpc>
                <a:spcPct val="97600"/>
              </a:lnSpc>
              <a:buNone/>
            </a:pPr>
            <a:r>
              <a:rPr lang="en-US" sz="800" dirty="0">
                <a:solidFill>
                  <a:srgbClr val="111111"/>
                </a:solidFill>
                <a:latin typeface="Inter" pitchFamily="34" charset="0"/>
                <a:ea typeface="Inter" pitchFamily="34" charset="-122"/>
                <a:cs typeface="Inter" pitchFamily="34" charset="-120"/>
              </a:rPr>
              <a:t>Positive asset returns masked expanding concentrated dependencies: market products, stablecoin rails and third-party wallet controls all transmitted operational and financial-crime risk. Management should tighten privileged access, collateral, redemption and sanctions-control assurance before scaling activity.</a:t>
            </a:r>
            <a:endParaRPr lang="en-US" sz="800" dirty="0"/>
          </a:p>
        </p:txBody>
      </p:sp>
      <p:sp>
        <p:nvSpPr>
          <p:cNvPr id="8" name="Text 4"/>
          <p:cNvSpPr/>
          <p:nvPr/>
        </p:nvSpPr>
        <p:spPr>
          <a:xfrm>
            <a:off x="200025" y="743620"/>
            <a:ext cx="2814638" cy="164306"/>
          </a:xfrm>
          <a:prstGeom prst="rect">
            <a:avLst/>
          </a:prstGeom>
          <a:noFill/>
          <a:ln/>
        </p:spPr>
        <p:txBody>
          <a:bodyPr wrap="square" lIns="0" tIns="0" rIns="0" bIns="51054" rtlCol="0" anchor="t">
            <a:spAutoFit/>
          </a:bodyPr>
          <a:lstStyle/>
          <a:p>
            <a:pPr algn="l" indent="0" marL="0">
              <a:lnSpc>
                <a:spcPct val="80000"/>
              </a:lnSpc>
              <a:buNone/>
            </a:pPr>
            <a:r>
              <a:rPr lang="en-US" sz="750" b="1" dirty="0">
                <a:solidFill>
                  <a:srgbClr val="00875A"/>
                </a:solidFill>
                <a:latin typeface="Inter Bold" pitchFamily="34" charset="0"/>
                <a:ea typeface="Inter Bold" pitchFamily="34" charset="-122"/>
                <a:cs typeface="Inter Bold" pitchFamily="34" charset="-120"/>
              </a:rPr>
              <a:t>MARKET VITAL SIGNS</a:t>
            </a:r>
            <a:endParaRPr lang="en-US" sz="750" dirty="0"/>
          </a:p>
        </p:txBody>
      </p:sp>
      <p:sp>
        <p:nvSpPr>
          <p:cNvPr id="9" name="Text 5"/>
          <p:cNvSpPr/>
          <p:nvPr/>
        </p:nvSpPr>
        <p:spPr>
          <a:xfrm>
            <a:off x="200025" y="1022226"/>
            <a:ext cx="2814638"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Indexed Performance</a:t>
            </a:r>
            <a:endParaRPr lang="en-US" sz="650" dirty="0"/>
          </a:p>
        </p:txBody>
      </p:sp>
      <p:sp>
        <p:nvSpPr>
          <p:cNvPr id="10" name="Text 6"/>
          <p:cNvSpPr/>
          <p:nvPr/>
        </p:nvSpPr>
        <p:spPr>
          <a:xfrm>
            <a:off x="300038" y="1214717"/>
            <a:ext cx="125016" cy="64294"/>
          </a:xfrm>
          <a:prstGeom prst="rect">
            <a:avLst/>
          </a:prstGeom>
          <a:noFill/>
          <a:ln/>
        </p:spPr>
        <p:txBody>
          <a:bodyPr wrap="none" lIns="0" tIns="0" rIns="0" bIns="0" rtlCol="0" anchor="t">
            <a:spAutoFit/>
          </a:bodyPr>
          <a:lstStyle/>
          <a:p>
            <a:pPr algn="l" indent="0" marL="0">
              <a:lnSpc>
                <a:spcPct val="80000"/>
              </a:lnSpc>
              <a:buNone/>
            </a:pPr>
            <a:r>
              <a:rPr lang="en-US" sz="450" dirty="0">
                <a:solidFill>
                  <a:srgbClr val="6B7280"/>
                </a:solidFill>
                <a:latin typeface="Inter" pitchFamily="34" charset="0"/>
                <a:ea typeface="Inter" pitchFamily="34" charset="-122"/>
                <a:cs typeface="Inter" pitchFamily="34" charset="-120"/>
              </a:rPr>
              <a:t>BTC</a:t>
            </a:r>
            <a:endParaRPr lang="en-US" sz="450" dirty="0"/>
          </a:p>
        </p:txBody>
      </p:sp>
      <p:sp>
        <p:nvSpPr>
          <p:cNvPr id="11" name="Text 7"/>
          <p:cNvSpPr/>
          <p:nvPr/>
        </p:nvSpPr>
        <p:spPr>
          <a:xfrm>
            <a:off x="596503" y="1214717"/>
            <a:ext cx="128588" cy="64294"/>
          </a:xfrm>
          <a:prstGeom prst="rect">
            <a:avLst/>
          </a:prstGeom>
          <a:noFill/>
          <a:ln/>
        </p:spPr>
        <p:txBody>
          <a:bodyPr wrap="none" lIns="0" tIns="0" rIns="0" bIns="0" rtlCol="0" anchor="t">
            <a:spAutoFit/>
          </a:bodyPr>
          <a:lstStyle/>
          <a:p>
            <a:pPr algn="l" indent="0" marL="0">
              <a:lnSpc>
                <a:spcPct val="80000"/>
              </a:lnSpc>
              <a:buNone/>
            </a:pPr>
            <a:r>
              <a:rPr lang="en-US" sz="450" dirty="0">
                <a:solidFill>
                  <a:srgbClr val="6B7280"/>
                </a:solidFill>
                <a:latin typeface="Inter" pitchFamily="34" charset="0"/>
                <a:ea typeface="Inter" pitchFamily="34" charset="-122"/>
                <a:cs typeface="Inter" pitchFamily="34" charset="-120"/>
              </a:rPr>
              <a:t>ETH</a:t>
            </a:r>
            <a:endParaRPr lang="en-US" sz="450" dirty="0"/>
          </a:p>
        </p:txBody>
      </p:sp>
      <p:pic>
        <p:nvPicPr>
          <p:cNvPr id="12" name="Image 1" descr="preencoded.png">    </p:cNvPr>
          <p:cNvPicPr>
            <a:picLocks noChangeAspect="1"/>
          </p:cNvPicPr>
          <p:nvPr/>
        </p:nvPicPr>
        <p:blipFill>
          <a:blip r:embed="rId2"/>
          <a:stretch>
            <a:fillRect/>
          </a:stretch>
        </p:blipFill>
        <p:spPr>
          <a:xfrm>
            <a:off x="200025" y="1364735"/>
            <a:ext cx="2814638" cy="428625"/>
          </a:xfrm>
          <a:prstGeom prst="rect">
            <a:avLst/>
          </a:prstGeom>
        </p:spPr>
      </p:pic>
      <p:sp>
        <p:nvSpPr>
          <p:cNvPr id="13" name="Text 8"/>
          <p:cNvSpPr/>
          <p:nvPr/>
        </p:nvSpPr>
        <p:spPr>
          <a:xfrm>
            <a:off x="200025" y="1879085"/>
            <a:ext cx="2814638" cy="197123"/>
          </a:xfrm>
          <a:prstGeom prst="rect">
            <a:avLst/>
          </a:prstGeom>
          <a:noFill/>
          <a:ln/>
        </p:spPr>
        <p:txBody>
          <a:bodyPr wrap="square" lIns="0" tIns="0" rIns="0" bIns="0" rtlCol="0" anchor="t">
            <a:spAutoFit/>
          </a:bodyPr>
          <a:lstStyle/>
          <a:p>
            <a:pPr algn="l" indent="0" marL="0">
              <a:lnSpc>
                <a:spcPct val="96000"/>
              </a:lnSpc>
              <a:buNone/>
            </a:pPr>
            <a:r>
              <a:rPr lang="en-US" sz="550" b="1" dirty="0">
                <a:solidFill>
                  <a:srgbClr val="111111"/>
                </a:solidFill>
                <a:latin typeface="Inter Bold" pitchFamily="34" charset="0"/>
                <a:ea typeface="Inter Bold" pitchFamily="34" charset="-122"/>
                <a:cs typeface="Inter Bold" pitchFamily="34" charset="-120"/>
              </a:rPr>
              <a:t>BTC:</a:t>
            </a:r>
            <a:r>
              <a:rPr lang="en-US" sz="600" dirty="0">
                <a:solidFill>
                  <a:srgbClr val="111111"/>
                </a:solidFill>
                <a:latin typeface="Inter" pitchFamily="34" charset="0"/>
                <a:ea typeface="Inter" pitchFamily="34" charset="-122"/>
                <a:cs typeface="Inter" pitchFamily="34" charset="-120"/>
              </a:rPr>
              <a:t> $78,553 to $83,640 - </a:t>
            </a:r>
            <a:r>
              <a:rPr lang="en-US" sz="550" b="1" dirty="0">
                <a:solidFill>
                  <a:srgbClr val="111111"/>
                </a:solidFill>
                <a:latin typeface="Inter Bold" pitchFamily="34" charset="0"/>
                <a:ea typeface="Inter Bold" pitchFamily="34" charset="-122"/>
                <a:cs typeface="Inter Bold" pitchFamily="34" charset="-120"/>
              </a:rPr>
              <a:t>+6.48%</a:t>
            </a:r>
            <a:r>
              <a:rPr lang="en-US" sz="600" dirty="0">
                <a:solidFill>
                  <a:srgbClr val="111111"/>
                </a:solidFill>
                <a:latin typeface="Inter" pitchFamily="34" charset="0"/>
                <a:ea typeface="Inter" pitchFamily="34" charset="-122"/>
                <a:cs typeface="Inter" pitchFamily="34" charset="-120"/>
              </a:rPr>
              <a:t>. </a:t>
            </a:r>
            <a:r>
              <a:rPr lang="en-US" sz="550" b="1" dirty="0">
                <a:solidFill>
                  <a:srgbClr val="111111"/>
                </a:solidFill>
                <a:latin typeface="Inter Bold" pitchFamily="34" charset="0"/>
                <a:ea typeface="Inter Bold" pitchFamily="34" charset="-122"/>
                <a:cs typeface="Inter Bold" pitchFamily="34" charset="-120"/>
              </a:rPr>
              <a:t>ETH:</a:t>
            </a:r>
            <a:r>
              <a:rPr lang="en-US" sz="600" dirty="0">
                <a:solidFill>
                  <a:srgbClr val="111111"/>
                </a:solidFill>
                <a:latin typeface="Inter" pitchFamily="34" charset="0"/>
                <a:ea typeface="Inter" pitchFamily="34" charset="-122"/>
                <a:cs typeface="Inter" pitchFamily="34" charset="-120"/>
              </a:rPr>
              <a:t> $2,467 to $2,677 - </a:t>
            </a:r>
            <a:r>
              <a:rPr lang="en-US" sz="550" b="1" dirty="0">
                <a:solidFill>
                  <a:srgbClr val="111111"/>
                </a:solidFill>
                <a:latin typeface="Inter Bold" pitchFamily="34" charset="0"/>
                <a:ea typeface="Inter Bold" pitchFamily="34" charset="-122"/>
                <a:cs typeface="Inter Bold" pitchFamily="34" charset="-120"/>
              </a:rPr>
              <a:t>+8.55%</a:t>
            </a:r>
            <a:r>
              <a:rPr lang="en-US" sz="600" dirty="0">
                <a:solidFill>
                  <a:srgbClr val="111111"/>
                </a:solidFill>
                <a:latin typeface="Inter" pitchFamily="34" charset="0"/>
                <a:ea typeface="Inter" pitchFamily="34" charset="-122"/>
                <a:cs typeface="Inter" pitchFamily="34" charset="-120"/>
              </a:rPr>
              <a:t>. </a:t>
            </a:r>
            <a:r>
              <a:rPr lang="en-US" sz="600" dirty="0">
                <a:solidFill>
                  <a:srgbClr val="111111"/>
                </a:solidFill>
                <a:latin typeface="Inter" pitchFamily="34" charset="0"/>
                <a:ea typeface="Inter" pitchFamily="34" charset="-122"/>
                <a:cs typeface="Inter" pitchFamily="34" charset="-120"/>
              </a:rPr>
              <a:t>Intramonth drawdowns reached 6.98% and 5.06%.</a:t>
            </a:r>
            <a:endParaRPr lang="en-US" sz="550" dirty="0"/>
          </a:p>
        </p:txBody>
      </p:sp>
      <p:sp>
        <p:nvSpPr>
          <p:cNvPr id="14" name="Text 9"/>
          <p:cNvSpPr/>
          <p:nvPr/>
        </p:nvSpPr>
        <p:spPr>
          <a:xfrm>
            <a:off x="200025" y="2197652"/>
            <a:ext cx="2814638"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US Spot Product Flows</a:t>
            </a:r>
            <a:endParaRPr lang="en-US" sz="650" dirty="0"/>
          </a:p>
        </p:txBody>
      </p:sp>
      <p:pic>
        <p:nvPicPr>
          <p:cNvPr id="15" name="Image 2" descr="preencoded.png">    </p:cNvPr>
          <p:cNvPicPr>
            <a:picLocks noChangeAspect="1"/>
          </p:cNvPicPr>
          <p:nvPr/>
        </p:nvPicPr>
        <p:blipFill>
          <a:blip r:embed="rId3"/>
          <a:stretch>
            <a:fillRect/>
          </a:stretch>
        </p:blipFill>
        <p:spPr>
          <a:xfrm>
            <a:off x="200025" y="2404430"/>
            <a:ext cx="2814638" cy="428625"/>
          </a:xfrm>
          <a:prstGeom prst="rect">
            <a:avLst/>
          </a:prstGeom>
        </p:spPr>
      </p:pic>
      <p:sp>
        <p:nvSpPr>
          <p:cNvPr id="16" name="Text 10"/>
          <p:cNvSpPr/>
          <p:nvPr/>
        </p:nvSpPr>
        <p:spPr>
          <a:xfrm>
            <a:off x="200025" y="2918780"/>
            <a:ext cx="2814638" cy="295684"/>
          </a:xfrm>
          <a:prstGeom prst="rect">
            <a:avLst/>
          </a:prstGeom>
          <a:noFill/>
          <a:ln/>
        </p:spPr>
        <p:txBody>
          <a:bodyPr wrap="square" lIns="0" tIns="0" rIns="0" bIns="0" rtlCol="0" anchor="t">
            <a:spAutoFit/>
          </a:bodyPr>
          <a:lstStyle/>
          <a:p>
            <a:pPr algn="l" indent="0" marL="0">
              <a:lnSpc>
                <a:spcPct val="96000"/>
              </a:lnSpc>
              <a:buNone/>
            </a:pPr>
            <a:r>
              <a:rPr lang="en-US" sz="550" b="1" dirty="0">
                <a:solidFill>
                  <a:srgbClr val="111111"/>
                </a:solidFill>
                <a:latin typeface="Inter Bold" pitchFamily="34" charset="0"/>
                <a:ea typeface="Inter Bold" pitchFamily="34" charset="-122"/>
                <a:cs typeface="Inter Bold" pitchFamily="34" charset="-120"/>
              </a:rPr>
              <a:t>BTC products:</a:t>
            </a:r>
            <a:r>
              <a:rPr lang="en-US" sz="600" dirty="0">
                <a:solidFill>
                  <a:srgbClr val="111111"/>
                </a:solidFill>
                <a:latin typeface="Inter" pitchFamily="34" charset="0"/>
                <a:ea typeface="Inter" pitchFamily="34" charset="-122"/>
                <a:cs typeface="Inter" pitchFamily="34" charset="-120"/>
              </a:rPr>
              <a:t> $2.65B net inflow; </a:t>
            </a:r>
            <a:r>
              <a:rPr lang="en-US" sz="550" b="1" dirty="0">
                <a:solidFill>
                  <a:srgbClr val="111111"/>
                </a:solidFill>
                <a:latin typeface="Inter Bold" pitchFamily="34" charset="0"/>
                <a:ea typeface="Inter Bold" pitchFamily="34" charset="-122"/>
                <a:cs typeface="Inter Bold" pitchFamily="34" charset="-120"/>
              </a:rPr>
              <a:t>ETH products:</a:t>
            </a:r>
            <a:r>
              <a:rPr lang="en-US" sz="600" dirty="0">
                <a:solidFill>
                  <a:srgbClr val="111111"/>
                </a:solidFill>
                <a:latin typeface="Inter" pitchFamily="34" charset="0"/>
                <a:ea typeface="Inter" pitchFamily="34" charset="-122"/>
                <a:cs typeface="Inter" pitchFamily="34" charset="-120"/>
              </a:rPr>
              <a:t> $0.83B. Month-end </a:t>
            </a:r>
            <a:r>
              <a:rPr lang="en-US" sz="600" dirty="0">
                <a:solidFill>
                  <a:srgbClr val="111111"/>
                </a:solidFill>
                <a:latin typeface="Inter" pitchFamily="34" charset="0"/>
                <a:ea typeface="Inter" pitchFamily="34" charset="-122"/>
                <a:cs typeface="Inter" pitchFamily="34" charset="-120"/>
              </a:rPr>
              <a:t>assets reached $108.0B and $17.7B, reinforcing creation, redemption </a:t>
            </a:r>
            <a:r>
              <a:rPr lang="en-US" sz="600" dirty="0">
                <a:solidFill>
                  <a:srgbClr val="111111"/>
                </a:solidFill>
                <a:latin typeface="Inter" pitchFamily="34" charset="0"/>
                <a:ea typeface="Inter" pitchFamily="34" charset="-122"/>
                <a:cs typeface="Inter" pitchFamily="34" charset="-120"/>
              </a:rPr>
              <a:t>and custody dependencies.</a:t>
            </a:r>
            <a:endParaRPr lang="en-US" sz="550" dirty="0"/>
          </a:p>
        </p:txBody>
      </p:sp>
      <p:sp>
        <p:nvSpPr>
          <p:cNvPr id="17" name="Text 11"/>
          <p:cNvSpPr/>
          <p:nvPr/>
        </p:nvSpPr>
        <p:spPr>
          <a:xfrm>
            <a:off x="200025" y="3335908"/>
            <a:ext cx="2814638"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Infrastructure Concentration</a:t>
            </a:r>
            <a:endParaRPr lang="en-US" sz="650" dirty="0"/>
          </a:p>
        </p:txBody>
      </p:sp>
      <p:pic>
        <p:nvPicPr>
          <p:cNvPr id="18" name="Image 3" descr="preencoded.png">    </p:cNvPr>
          <p:cNvPicPr>
            <a:picLocks noChangeAspect="1"/>
          </p:cNvPicPr>
          <p:nvPr/>
        </p:nvPicPr>
        <p:blipFill>
          <a:blip r:embed="rId4"/>
          <a:stretch>
            <a:fillRect/>
          </a:stretch>
        </p:blipFill>
        <p:spPr>
          <a:xfrm>
            <a:off x="200025" y="3542686"/>
            <a:ext cx="2814638" cy="428625"/>
          </a:xfrm>
          <a:prstGeom prst="rect">
            <a:avLst/>
          </a:prstGeom>
        </p:spPr>
      </p:pic>
      <p:sp>
        <p:nvSpPr>
          <p:cNvPr id="19" name="Text 12"/>
          <p:cNvSpPr/>
          <p:nvPr/>
        </p:nvSpPr>
        <p:spPr>
          <a:xfrm>
            <a:off x="200025" y="4057036"/>
            <a:ext cx="2814638"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One Bitcoin product held </a:t>
            </a:r>
            <a:r>
              <a:rPr lang="en-US" sz="550" b="1" dirty="0">
                <a:solidFill>
                  <a:srgbClr val="111111"/>
                </a:solidFill>
                <a:latin typeface="Inter Bold" pitchFamily="34" charset="0"/>
                <a:ea typeface="Inter Bold" pitchFamily="34" charset="-122"/>
                <a:cs typeface="Inter Bold" pitchFamily="34" charset="-120"/>
              </a:rPr>
              <a:t>62.1%</a:t>
            </a:r>
            <a:r>
              <a:rPr lang="en-US" sz="600" dirty="0">
                <a:solidFill>
                  <a:srgbClr val="111111"/>
                </a:solidFill>
                <a:latin typeface="Inter" pitchFamily="34" charset="0"/>
                <a:ea typeface="Inter" pitchFamily="34" charset="-122"/>
                <a:cs typeface="Inter" pitchFamily="34" charset="-120"/>
              </a:rPr>
              <a:t> of reported US spot assets. USDt was </a:t>
            </a:r>
            <a:r>
              <a:rPr lang="en-US" sz="550" b="1" dirty="0">
                <a:solidFill>
                  <a:srgbClr val="111111"/>
                </a:solidFill>
                <a:latin typeface="Inter Bold" pitchFamily="34" charset="0"/>
                <a:ea typeface="Inter Bold" pitchFamily="34" charset="-122"/>
                <a:cs typeface="Inter Bold" pitchFamily="34" charset="-120"/>
              </a:rPr>
              <a:t>59.1%</a:t>
            </a:r>
            <a:r>
              <a:rPr lang="en-US" sz="600" dirty="0">
                <a:solidFill>
                  <a:srgbClr val="111111"/>
                </a:solidFill>
                <a:latin typeface="Inter" pitchFamily="34" charset="0"/>
                <a:ea typeface="Inter" pitchFamily="34" charset="-122"/>
                <a:cs typeface="Inter" pitchFamily="34" charset="-120"/>
              </a:rPr>
              <a:t> of aggregate stablecoin supply; </a:t>
            </a:r>
            <a:r>
              <a:rPr lang="en-US" sz="550" b="1" dirty="0">
                <a:solidFill>
                  <a:srgbClr val="111111"/>
                </a:solidFill>
                <a:latin typeface="Inter Bold" pitchFamily="34" charset="0"/>
                <a:ea typeface="Inter Bold" pitchFamily="34" charset="-122"/>
                <a:cs typeface="Inter Bold" pitchFamily="34" charset="-120"/>
              </a:rPr>
              <a:t>97.5%</a:t>
            </a:r>
            <a:r>
              <a:rPr lang="en-US" sz="600" dirty="0">
                <a:solidFill>
                  <a:srgbClr val="111111"/>
                </a:solidFill>
                <a:latin typeface="Inter" pitchFamily="34" charset="0"/>
                <a:ea typeface="Inter" pitchFamily="34" charset="-122"/>
                <a:cs typeface="Inter" pitchFamily="34" charset="-120"/>
              </a:rPr>
              <a:t> sat on two principal </a:t>
            </a:r>
            <a:r>
              <a:rPr lang="en-US" sz="600" dirty="0">
                <a:solidFill>
                  <a:srgbClr val="111111"/>
                </a:solidFill>
                <a:latin typeface="Inter" pitchFamily="34" charset="0"/>
                <a:ea typeface="Inter" pitchFamily="34" charset="-122"/>
                <a:cs typeface="Inter" pitchFamily="34" charset="-120"/>
              </a:rPr>
              <a:t>chains.</a:t>
            </a:r>
            <a:endParaRPr lang="en-US" sz="600" dirty="0"/>
          </a:p>
        </p:txBody>
      </p:sp>
      <p:sp>
        <p:nvSpPr>
          <p:cNvPr id="20" name="Text 13"/>
          <p:cNvSpPr/>
          <p:nvPr/>
        </p:nvSpPr>
        <p:spPr>
          <a:xfrm>
            <a:off x="3221831" y="743620"/>
            <a:ext cx="2707481" cy="164306"/>
          </a:xfrm>
          <a:prstGeom prst="rect">
            <a:avLst/>
          </a:prstGeom>
          <a:noFill/>
          <a:ln/>
        </p:spPr>
        <p:txBody>
          <a:bodyPr wrap="square" lIns="0" tIns="0" rIns="0" bIns="51054" rtlCol="0" anchor="t">
            <a:spAutoFit/>
          </a:bodyPr>
          <a:lstStyle/>
          <a:p>
            <a:pPr algn="l" indent="0" marL="0">
              <a:lnSpc>
                <a:spcPct val="80000"/>
              </a:lnSpc>
              <a:buNone/>
            </a:pPr>
            <a:r>
              <a:rPr lang="en-US" sz="750" b="1" dirty="0">
                <a:solidFill>
                  <a:srgbClr val="00875A"/>
                </a:solidFill>
                <a:latin typeface="Inter Bold" pitchFamily="34" charset="0"/>
                <a:ea typeface="Inter Bold" pitchFamily="34" charset="-122"/>
                <a:cs typeface="Inter Bold" pitchFamily="34" charset="-120"/>
              </a:rPr>
              <a:t>KEY TRENDS</a:t>
            </a:r>
            <a:endParaRPr lang="en-US" sz="750" dirty="0"/>
          </a:p>
        </p:txBody>
      </p:sp>
      <p:sp>
        <p:nvSpPr>
          <p:cNvPr id="21" name="Text 14"/>
          <p:cNvSpPr/>
          <p:nvPr/>
        </p:nvSpPr>
        <p:spPr>
          <a:xfrm>
            <a:off x="3221831" y="1022226"/>
            <a:ext cx="2707481"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Liquid Network - Reserve Conversion</a:t>
            </a:r>
            <a:endParaRPr lang="en-US" sz="650" dirty="0"/>
          </a:p>
        </p:txBody>
      </p:sp>
      <p:sp>
        <p:nvSpPr>
          <p:cNvPr id="22" name="Text 15"/>
          <p:cNvSpPr/>
          <p:nvPr/>
        </p:nvSpPr>
        <p:spPr>
          <a:xfrm>
            <a:off x="3221831" y="1214717"/>
            <a:ext cx="600075" cy="114300"/>
          </a:xfrm>
          <a:prstGeom prst="rect">
            <a:avLst/>
          </a:prstGeom>
          <a:noFill/>
          <a:ln/>
        </p:spPr>
        <p:txBody>
          <a:bodyPr wrap="none" lIns="0" tIns="0" rIns="0" bIns="0" rtlCol="0" anchor="t">
            <a:spAutoFit/>
          </a:bodyPr>
          <a:lstStyle/>
          <a:p>
            <a:pPr algn="l" indent="0" marL="0">
              <a:lnSpc>
                <a:spcPct val="80000"/>
              </a:lnSpc>
              <a:buNone/>
            </a:pPr>
            <a:r>
              <a:rPr lang="en-US" sz="800" b="1" dirty="0">
                <a:solidFill>
                  <a:srgbClr val="00875A"/>
                </a:solidFill>
                <a:latin typeface="Inter Bold" pitchFamily="34" charset="0"/>
                <a:ea typeface="Inter Bold" pitchFamily="34" charset="-122"/>
                <a:cs typeface="Inter Bold" pitchFamily="34" charset="-120"/>
              </a:rPr>
              <a:t>4,000 BTC</a:t>
            </a:r>
            <a:endParaRPr lang="en-US" sz="800" dirty="0"/>
          </a:p>
        </p:txBody>
      </p:sp>
      <p:sp>
        <p:nvSpPr>
          <p:cNvPr id="23" name="Text 16"/>
          <p:cNvSpPr/>
          <p:nvPr/>
        </p:nvSpPr>
        <p:spPr>
          <a:xfrm>
            <a:off x="3879056" y="1214717"/>
            <a:ext cx="32147" cy="121444"/>
          </a:xfrm>
          <a:prstGeom prst="rect">
            <a:avLst/>
          </a:prstGeom>
          <a:noFill/>
          <a:ln/>
        </p:spPr>
        <p:txBody>
          <a:bodyPr wrap="none" lIns="0" tIns="0" rIns="0" bIns="0" rtlCol="0" anchor="t">
            <a:spAutoFit/>
          </a:bodyPr>
          <a:lstStyle/>
          <a:p>
            <a:pPr algn="l" indent="0" marL="0">
              <a:buNone/>
            </a:pPr>
            <a:r>
              <a:rPr lang="en-US" sz="750" dirty="0">
                <a:solidFill>
                  <a:srgbClr val="D1D5DB"/>
                </a:solidFill>
                <a:latin typeface="Inter" pitchFamily="34" charset="0"/>
                <a:ea typeface="Inter" pitchFamily="34" charset="-122"/>
                <a:cs typeface="Inter" pitchFamily="34" charset="-120"/>
              </a:rPr>
              <a:t>|</a:t>
            </a:r>
            <a:endParaRPr lang="en-US" sz="750" dirty="0"/>
          </a:p>
        </p:txBody>
      </p:sp>
      <p:sp>
        <p:nvSpPr>
          <p:cNvPr id="24" name="Text 17"/>
          <p:cNvSpPr/>
          <p:nvPr/>
        </p:nvSpPr>
        <p:spPr>
          <a:xfrm>
            <a:off x="3968353" y="1232576"/>
            <a:ext cx="692944" cy="92869"/>
          </a:xfrm>
          <a:prstGeom prst="rect">
            <a:avLst/>
          </a:prstGeom>
          <a:noFill/>
          <a:ln/>
        </p:spPr>
        <p:txBody>
          <a:bodyPr wrap="none" lIns="0" tIns="0" rIns="0" bIns="0" rtlCol="0" anchor="t">
            <a:spAutoFit/>
          </a:bodyPr>
          <a:lstStyle/>
          <a:p>
            <a:pPr algn="l" indent="0" marL="0">
              <a:lnSpc>
                <a:spcPct val="80000"/>
              </a:lnSpc>
              <a:buNone/>
            </a:pPr>
            <a:r>
              <a:rPr lang="en-US" sz="650" b="1" dirty="0">
                <a:solidFill>
                  <a:srgbClr val="00875A"/>
                </a:solidFill>
                <a:latin typeface="Inter Bold" pitchFamily="34" charset="0"/>
                <a:ea typeface="Inter Bold" pitchFamily="34" charset="-122"/>
                <a:cs typeface="Inter Bold" pitchFamily="34" charset="-120"/>
              </a:rPr>
              <a:t>3,400 returned</a:t>
            </a:r>
            <a:endParaRPr lang="en-US" sz="650" dirty="0"/>
          </a:p>
        </p:txBody>
      </p:sp>
      <p:sp>
        <p:nvSpPr>
          <p:cNvPr id="25" name="Text 18"/>
          <p:cNvSpPr/>
          <p:nvPr/>
        </p:nvSpPr>
        <p:spPr>
          <a:xfrm>
            <a:off x="4718447" y="1214717"/>
            <a:ext cx="32147" cy="121444"/>
          </a:xfrm>
          <a:prstGeom prst="rect">
            <a:avLst/>
          </a:prstGeom>
          <a:noFill/>
          <a:ln/>
        </p:spPr>
        <p:txBody>
          <a:bodyPr wrap="none" lIns="0" tIns="0" rIns="0" bIns="0" rtlCol="0" anchor="t">
            <a:spAutoFit/>
          </a:bodyPr>
          <a:lstStyle/>
          <a:p>
            <a:pPr algn="l" indent="0" marL="0">
              <a:buNone/>
            </a:pPr>
            <a:r>
              <a:rPr lang="en-US" sz="750" dirty="0">
                <a:solidFill>
                  <a:srgbClr val="D1D5DB"/>
                </a:solidFill>
                <a:latin typeface="Inter" pitchFamily="34" charset="0"/>
                <a:ea typeface="Inter" pitchFamily="34" charset="-122"/>
                <a:cs typeface="Inter" pitchFamily="34" charset="-120"/>
              </a:rPr>
              <a:t>|</a:t>
            </a:r>
            <a:endParaRPr lang="en-US" sz="750" dirty="0"/>
          </a:p>
        </p:txBody>
      </p:sp>
      <p:sp>
        <p:nvSpPr>
          <p:cNvPr id="26" name="Text 19"/>
          <p:cNvSpPr/>
          <p:nvPr/>
        </p:nvSpPr>
        <p:spPr>
          <a:xfrm>
            <a:off x="4807744" y="1232576"/>
            <a:ext cx="750094" cy="92869"/>
          </a:xfrm>
          <a:prstGeom prst="rect">
            <a:avLst/>
          </a:prstGeom>
          <a:noFill/>
          <a:ln/>
        </p:spPr>
        <p:txBody>
          <a:bodyPr wrap="none" lIns="0" tIns="0" rIns="0" bIns="0" rtlCol="0" anchor="t">
            <a:spAutoFit/>
          </a:bodyPr>
          <a:lstStyle/>
          <a:p>
            <a:pPr algn="l" indent="0" marL="0">
              <a:lnSpc>
                <a:spcPct val="80000"/>
              </a:lnSpc>
              <a:buNone/>
            </a:pPr>
            <a:r>
              <a:rPr lang="en-US" sz="650" b="1" dirty="0">
                <a:solidFill>
                  <a:srgbClr val="00875A"/>
                </a:solidFill>
                <a:latin typeface="Inter Bold" pitchFamily="34" charset="0"/>
                <a:ea typeface="Inter Bold" pitchFamily="34" charset="-122"/>
                <a:cs typeface="Inter Bold" pitchFamily="34" charset="-120"/>
              </a:rPr>
              <a:t>602 outstanding</a:t>
            </a:r>
            <a:endParaRPr lang="en-US" sz="650" dirty="0"/>
          </a:p>
        </p:txBody>
      </p:sp>
      <p:sp>
        <p:nvSpPr>
          <p:cNvPr id="27" name="Text 20"/>
          <p:cNvSpPr/>
          <p:nvPr/>
        </p:nvSpPr>
        <p:spPr>
          <a:xfrm>
            <a:off x="3221831" y="1407598"/>
            <a:ext cx="2707481"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A validation-cache fault reached the reserve peg-out path. The halt and chain correction demonstrate an operational vulnerability in settlement validation and a systemic reserve-concentration pathway.</a:t>
            </a:r>
            <a:endParaRPr lang="en-US" sz="600" dirty="0"/>
          </a:p>
        </p:txBody>
      </p:sp>
      <p:sp>
        <p:nvSpPr>
          <p:cNvPr id="28" name="Text 21"/>
          <p:cNvSpPr/>
          <p:nvPr/>
        </p:nvSpPr>
        <p:spPr>
          <a:xfrm>
            <a:off x="3221831" y="1746145"/>
            <a:ext cx="2707481" cy="219782"/>
          </a:xfrm>
          <a:prstGeom prst="rect">
            <a:avLst/>
          </a:prstGeom>
          <a:noFill/>
          <a:ln/>
        </p:spPr>
        <p:txBody>
          <a:bodyPr wrap="square" lIns="0" tIns="51054" rIns="0" bIns="0" rtlCol="0" anchor="t">
            <a:spAutoFit/>
          </a:bodyPr>
          <a:lstStyle/>
          <a:p>
            <a:pPr algn="l" indent="0" marL="0">
              <a:lnSpc>
                <a:spcPct val="94400"/>
              </a:lnSpc>
              <a:buNone/>
            </a:pPr>
            <a:r>
              <a:rPr lang="en-US" sz="500" b="1" dirty="0">
                <a:solidFill>
                  <a:srgbClr val="00875A"/>
                </a:solidFill>
                <a:latin typeface="Inter Bold" pitchFamily="34" charset="0"/>
                <a:ea typeface="Inter Bold" pitchFamily="34" charset="-122"/>
                <a:cs typeface="Inter Bold" pitchFamily="34" charset="-120"/>
              </a:rPr>
              <a:t>Control focus:</a:t>
            </a:r>
            <a:r>
              <a:rPr lang="en-US" sz="550" dirty="0">
                <a:solidFill>
                  <a:srgbClr val="555555"/>
                </a:solidFill>
                <a:latin typeface="Inter" pitchFamily="34" charset="0"/>
                <a:ea typeface="Inter" pitchFamily="34" charset="-122"/>
                <a:cs typeface="Inter" pitchFamily="34" charset="-120"/>
              </a:rPr>
              <a:t> independent validation, peg-out limits and recovery </a:t>
            </a:r>
            <a:r>
              <a:rPr lang="en-US" sz="550" dirty="0">
                <a:solidFill>
                  <a:srgbClr val="555555"/>
                </a:solidFill>
                <a:latin typeface="Inter" pitchFamily="34" charset="0"/>
                <a:ea typeface="Inter" pitchFamily="34" charset="-122"/>
                <a:cs typeface="Inter" pitchFamily="34" charset="-120"/>
              </a:rPr>
              <a:t>playbooks.</a:t>
            </a:r>
            <a:endParaRPr lang="en-US" sz="500" dirty="0"/>
          </a:p>
        </p:txBody>
      </p:sp>
      <p:sp>
        <p:nvSpPr>
          <p:cNvPr id="29" name="Text 22"/>
          <p:cNvSpPr/>
          <p:nvPr/>
        </p:nvSpPr>
        <p:spPr>
          <a:xfrm>
            <a:off x="3221831" y="2087370"/>
            <a:ext cx="2707481"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Bitget - Privileged Wallet Control</a:t>
            </a:r>
            <a:endParaRPr lang="en-US" sz="650" dirty="0"/>
          </a:p>
        </p:txBody>
      </p:sp>
      <p:sp>
        <p:nvSpPr>
          <p:cNvPr id="30" name="Text 23"/>
          <p:cNvSpPr/>
          <p:nvPr/>
        </p:nvSpPr>
        <p:spPr>
          <a:xfrm>
            <a:off x="3221831" y="2279861"/>
            <a:ext cx="407194" cy="114300"/>
          </a:xfrm>
          <a:prstGeom prst="rect">
            <a:avLst/>
          </a:prstGeom>
          <a:noFill/>
          <a:ln/>
        </p:spPr>
        <p:txBody>
          <a:bodyPr wrap="none" lIns="0" tIns="0" rIns="0" bIns="0" rtlCol="0" anchor="t">
            <a:spAutoFit/>
          </a:bodyPr>
          <a:lstStyle/>
          <a:p>
            <a:pPr algn="l" indent="0" marL="0">
              <a:lnSpc>
                <a:spcPct val="80000"/>
              </a:lnSpc>
              <a:buNone/>
            </a:pPr>
            <a:r>
              <a:rPr lang="en-US" sz="800" b="1" dirty="0">
                <a:solidFill>
                  <a:srgbClr val="00875A"/>
                </a:solidFill>
                <a:latin typeface="Inter Bold" pitchFamily="34" charset="0"/>
                <a:ea typeface="Inter Bold" pitchFamily="34" charset="-122"/>
                <a:cs typeface="Inter Bold" pitchFamily="34" charset="-120"/>
              </a:rPr>
              <a:t>$388M</a:t>
            </a:r>
            <a:endParaRPr lang="en-US" sz="800" dirty="0"/>
          </a:p>
        </p:txBody>
      </p:sp>
      <p:sp>
        <p:nvSpPr>
          <p:cNvPr id="31" name="Text 24"/>
          <p:cNvSpPr/>
          <p:nvPr/>
        </p:nvSpPr>
        <p:spPr>
          <a:xfrm>
            <a:off x="3686175" y="2279861"/>
            <a:ext cx="32147" cy="121444"/>
          </a:xfrm>
          <a:prstGeom prst="rect">
            <a:avLst/>
          </a:prstGeom>
          <a:noFill/>
          <a:ln/>
        </p:spPr>
        <p:txBody>
          <a:bodyPr wrap="none" lIns="0" tIns="0" rIns="0" bIns="0" rtlCol="0" anchor="t">
            <a:spAutoFit/>
          </a:bodyPr>
          <a:lstStyle/>
          <a:p>
            <a:pPr algn="l" indent="0" marL="0">
              <a:buNone/>
            </a:pPr>
            <a:r>
              <a:rPr lang="en-US" sz="750" dirty="0">
                <a:solidFill>
                  <a:srgbClr val="D1D5DB"/>
                </a:solidFill>
                <a:latin typeface="Inter" pitchFamily="34" charset="0"/>
                <a:ea typeface="Inter" pitchFamily="34" charset="-122"/>
                <a:cs typeface="Inter" pitchFamily="34" charset="-120"/>
              </a:rPr>
              <a:t>|</a:t>
            </a:r>
            <a:endParaRPr lang="en-US" sz="750" dirty="0"/>
          </a:p>
        </p:txBody>
      </p:sp>
      <p:sp>
        <p:nvSpPr>
          <p:cNvPr id="32" name="Text 25"/>
          <p:cNvSpPr/>
          <p:nvPr/>
        </p:nvSpPr>
        <p:spPr>
          <a:xfrm>
            <a:off x="3775472" y="2297720"/>
            <a:ext cx="907256" cy="92869"/>
          </a:xfrm>
          <a:prstGeom prst="rect">
            <a:avLst/>
          </a:prstGeom>
          <a:noFill/>
          <a:ln/>
        </p:spPr>
        <p:txBody>
          <a:bodyPr wrap="none" lIns="0" tIns="0" rIns="0" bIns="0" rtlCol="0" anchor="t">
            <a:spAutoFit/>
          </a:bodyPr>
          <a:lstStyle/>
          <a:p>
            <a:pPr algn="l" indent="0" marL="0">
              <a:lnSpc>
                <a:spcPct val="80000"/>
              </a:lnSpc>
              <a:buNone/>
            </a:pPr>
            <a:r>
              <a:rPr lang="en-US" sz="650" b="1" dirty="0">
                <a:solidFill>
                  <a:srgbClr val="00875A"/>
                </a:solidFill>
                <a:latin typeface="Inter Bold" pitchFamily="34" charset="0"/>
                <a:ea typeface="Inter Bold" pitchFamily="34" charset="-122"/>
                <a:cs typeface="Inter Bold" pitchFamily="34" charset="-120"/>
              </a:rPr>
              <a:t>12 hot/warm wallets</a:t>
            </a:r>
            <a:endParaRPr lang="en-US" sz="650" dirty="0"/>
          </a:p>
        </p:txBody>
      </p:sp>
      <p:sp>
        <p:nvSpPr>
          <p:cNvPr id="33" name="Text 26"/>
          <p:cNvSpPr/>
          <p:nvPr/>
        </p:nvSpPr>
        <p:spPr>
          <a:xfrm>
            <a:off x="3221831" y="2472742"/>
            <a:ext cx="2707481"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Third-party security-product compromise enabled forged withdrawal commands. Phased restoration shows how privilege concentration can become a multi-chain liquidity and service-availability event.</a:t>
            </a:r>
            <a:endParaRPr lang="en-US" sz="600" dirty="0"/>
          </a:p>
        </p:txBody>
      </p:sp>
      <p:sp>
        <p:nvSpPr>
          <p:cNvPr id="34" name="Text 27"/>
          <p:cNvSpPr/>
          <p:nvPr/>
        </p:nvSpPr>
        <p:spPr>
          <a:xfrm>
            <a:off x="3221831" y="2811289"/>
            <a:ext cx="2707481" cy="219782"/>
          </a:xfrm>
          <a:prstGeom prst="rect">
            <a:avLst/>
          </a:prstGeom>
          <a:noFill/>
          <a:ln/>
        </p:spPr>
        <p:txBody>
          <a:bodyPr wrap="square" lIns="0" tIns="51054" rIns="0" bIns="0" rtlCol="0" anchor="t">
            <a:spAutoFit/>
          </a:bodyPr>
          <a:lstStyle/>
          <a:p>
            <a:pPr algn="l" indent="0" marL="0">
              <a:lnSpc>
                <a:spcPct val="94400"/>
              </a:lnSpc>
              <a:buNone/>
            </a:pPr>
            <a:r>
              <a:rPr lang="en-US" sz="500" b="1" dirty="0">
                <a:solidFill>
                  <a:srgbClr val="00875A"/>
                </a:solidFill>
                <a:latin typeface="Inter Bold" pitchFamily="34" charset="0"/>
                <a:ea typeface="Inter Bold" pitchFamily="34" charset="-122"/>
                <a:cs typeface="Inter Bold" pitchFamily="34" charset="-120"/>
              </a:rPr>
              <a:t>Control focus:</a:t>
            </a:r>
            <a:r>
              <a:rPr lang="en-US" sz="550" dirty="0">
                <a:solidFill>
                  <a:srgbClr val="555555"/>
                </a:solidFill>
                <a:latin typeface="Inter" pitchFamily="34" charset="0"/>
                <a:ea typeface="Inter" pitchFamily="34" charset="-122"/>
                <a:cs typeface="Inter" pitchFamily="34" charset="-120"/>
              </a:rPr>
              <a:t> segregated privileges, independent transaction verification </a:t>
            </a:r>
            <a:r>
              <a:rPr lang="en-US" sz="550" dirty="0">
                <a:solidFill>
                  <a:srgbClr val="555555"/>
                </a:solidFill>
                <a:latin typeface="Inter" pitchFamily="34" charset="0"/>
                <a:ea typeface="Inter" pitchFamily="34" charset="-122"/>
                <a:cs typeface="Inter" pitchFamily="34" charset="-120"/>
              </a:rPr>
              <a:t>and third-party assurance.</a:t>
            </a:r>
            <a:endParaRPr lang="en-US" sz="500" dirty="0"/>
          </a:p>
        </p:txBody>
      </p:sp>
      <p:sp>
        <p:nvSpPr>
          <p:cNvPr id="35" name="Text 28"/>
          <p:cNvSpPr/>
          <p:nvPr/>
        </p:nvSpPr>
        <p:spPr>
          <a:xfrm>
            <a:off x="3221831" y="3152515"/>
            <a:ext cx="2707481"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AI-Enabled Fraud &amp; State-Linked Exposure</a:t>
            </a:r>
            <a:endParaRPr lang="en-US" sz="650" dirty="0"/>
          </a:p>
        </p:txBody>
      </p:sp>
      <p:sp>
        <p:nvSpPr>
          <p:cNvPr id="36" name="Text 29"/>
          <p:cNvSpPr/>
          <p:nvPr/>
        </p:nvSpPr>
        <p:spPr>
          <a:xfrm>
            <a:off x="3221831" y="3345005"/>
            <a:ext cx="417909" cy="114300"/>
          </a:xfrm>
          <a:prstGeom prst="rect">
            <a:avLst/>
          </a:prstGeom>
          <a:noFill/>
          <a:ln/>
        </p:spPr>
        <p:txBody>
          <a:bodyPr wrap="none" lIns="0" tIns="0" rIns="0" bIns="0" rtlCol="0" anchor="t">
            <a:spAutoFit/>
          </a:bodyPr>
          <a:lstStyle/>
          <a:p>
            <a:pPr algn="l" indent="0" marL="0">
              <a:lnSpc>
                <a:spcPct val="80000"/>
              </a:lnSpc>
              <a:buNone/>
            </a:pPr>
            <a:r>
              <a:rPr lang="en-US" sz="800" b="1" dirty="0">
                <a:solidFill>
                  <a:srgbClr val="00875A"/>
                </a:solidFill>
                <a:latin typeface="Inter Bold" pitchFamily="34" charset="0"/>
                <a:ea typeface="Inter Bold" pitchFamily="34" charset="-122"/>
                <a:cs typeface="Inter Bold" pitchFamily="34" charset="-120"/>
              </a:rPr>
              <a:t>33,904</a:t>
            </a:r>
            <a:endParaRPr lang="en-US" sz="800" dirty="0"/>
          </a:p>
        </p:txBody>
      </p:sp>
      <p:sp>
        <p:nvSpPr>
          <p:cNvPr id="37" name="Text 30"/>
          <p:cNvSpPr/>
          <p:nvPr/>
        </p:nvSpPr>
        <p:spPr>
          <a:xfrm>
            <a:off x="3696891" y="3362865"/>
            <a:ext cx="546497" cy="92869"/>
          </a:xfrm>
          <a:prstGeom prst="rect">
            <a:avLst/>
          </a:prstGeom>
          <a:noFill/>
          <a:ln/>
        </p:spPr>
        <p:txBody>
          <a:bodyPr wrap="none" lIns="0" tIns="0" rIns="0" bIns="0" rtlCol="0" anchor="t">
            <a:spAutoFit/>
          </a:bodyPr>
          <a:lstStyle/>
          <a:p>
            <a:pPr algn="l" indent="0" marL="0">
              <a:lnSpc>
                <a:spcPct val="80000"/>
              </a:lnSpc>
              <a:buNone/>
            </a:pPr>
            <a:r>
              <a:rPr lang="en-US" sz="650" b="1" dirty="0">
                <a:solidFill>
                  <a:srgbClr val="00875A"/>
                </a:solidFill>
                <a:latin typeface="Inter Bold" pitchFamily="34" charset="0"/>
                <a:ea typeface="Inter Bold" pitchFamily="34" charset="-122"/>
                <a:cs typeface="Inter Bold" pitchFamily="34" charset="-120"/>
              </a:rPr>
              <a:t>BSA reports</a:t>
            </a:r>
            <a:endParaRPr lang="en-US" sz="650" dirty="0"/>
          </a:p>
        </p:txBody>
      </p:sp>
      <p:sp>
        <p:nvSpPr>
          <p:cNvPr id="38" name="Text 31"/>
          <p:cNvSpPr/>
          <p:nvPr/>
        </p:nvSpPr>
        <p:spPr>
          <a:xfrm>
            <a:off x="4300538" y="3345005"/>
            <a:ext cx="32147" cy="121444"/>
          </a:xfrm>
          <a:prstGeom prst="rect">
            <a:avLst/>
          </a:prstGeom>
          <a:noFill/>
          <a:ln/>
        </p:spPr>
        <p:txBody>
          <a:bodyPr wrap="none" lIns="0" tIns="0" rIns="0" bIns="0" rtlCol="0" anchor="t">
            <a:spAutoFit/>
          </a:bodyPr>
          <a:lstStyle/>
          <a:p>
            <a:pPr algn="l" indent="0" marL="0">
              <a:buNone/>
            </a:pPr>
            <a:r>
              <a:rPr lang="en-US" sz="750" dirty="0">
                <a:solidFill>
                  <a:srgbClr val="D1D5DB"/>
                </a:solidFill>
                <a:latin typeface="Inter" pitchFamily="34" charset="0"/>
                <a:ea typeface="Inter" pitchFamily="34" charset="-122"/>
                <a:cs typeface="Inter" pitchFamily="34" charset="-120"/>
              </a:rPr>
              <a:t>|</a:t>
            </a:r>
            <a:endParaRPr lang="en-US" sz="750" dirty="0"/>
          </a:p>
        </p:txBody>
      </p:sp>
      <p:sp>
        <p:nvSpPr>
          <p:cNvPr id="39" name="Text 32"/>
          <p:cNvSpPr/>
          <p:nvPr/>
        </p:nvSpPr>
        <p:spPr>
          <a:xfrm>
            <a:off x="4389834" y="3362865"/>
            <a:ext cx="1164431" cy="92869"/>
          </a:xfrm>
          <a:prstGeom prst="rect">
            <a:avLst/>
          </a:prstGeom>
          <a:noFill/>
          <a:ln/>
        </p:spPr>
        <p:txBody>
          <a:bodyPr wrap="none" lIns="0" tIns="0" rIns="0" bIns="0" rtlCol="0" anchor="t">
            <a:spAutoFit/>
          </a:bodyPr>
          <a:lstStyle/>
          <a:p>
            <a:pPr algn="l" indent="0" marL="0">
              <a:lnSpc>
                <a:spcPct val="80000"/>
              </a:lnSpc>
              <a:buNone/>
            </a:pPr>
            <a:r>
              <a:rPr lang="en-US" sz="650" b="1" dirty="0">
                <a:solidFill>
                  <a:srgbClr val="00875A"/>
                </a:solidFill>
                <a:latin typeface="Inter Bold" pitchFamily="34" charset="0"/>
                <a:ea typeface="Inter Bold" pitchFamily="34" charset="-122"/>
                <a:cs typeface="Inter Bold" pitchFamily="34" charset="-120"/>
              </a:rPr>
              <a:t>$12.7B suspected activity</a:t>
            </a:r>
            <a:endParaRPr lang="en-US" sz="650" dirty="0"/>
          </a:p>
        </p:txBody>
      </p:sp>
      <p:sp>
        <p:nvSpPr>
          <p:cNvPr id="40" name="Text 33"/>
          <p:cNvSpPr/>
          <p:nvPr/>
        </p:nvSpPr>
        <p:spPr>
          <a:xfrm>
            <a:off x="3221831" y="3537886"/>
            <a:ext cx="2707481"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FinCEN links AI-enabled scam journeys to stablecoin and cross-chain laundering. OFAC action against an Iran-linked exchange extends sanctions-screening and secondary-sanctions exposure.</a:t>
            </a:r>
            <a:endParaRPr lang="en-US" sz="600" dirty="0"/>
          </a:p>
        </p:txBody>
      </p:sp>
      <p:sp>
        <p:nvSpPr>
          <p:cNvPr id="41" name="Text 34"/>
          <p:cNvSpPr/>
          <p:nvPr/>
        </p:nvSpPr>
        <p:spPr>
          <a:xfrm>
            <a:off x="3221831" y="3876433"/>
            <a:ext cx="2707481" cy="219782"/>
          </a:xfrm>
          <a:prstGeom prst="rect">
            <a:avLst/>
          </a:prstGeom>
          <a:noFill/>
          <a:ln/>
        </p:spPr>
        <p:txBody>
          <a:bodyPr wrap="square" lIns="0" tIns="51054" rIns="0" bIns="0" rtlCol="0" anchor="t">
            <a:spAutoFit/>
          </a:bodyPr>
          <a:lstStyle/>
          <a:p>
            <a:pPr algn="l" indent="0" marL="0">
              <a:lnSpc>
                <a:spcPct val="94400"/>
              </a:lnSpc>
              <a:buNone/>
            </a:pPr>
            <a:r>
              <a:rPr lang="en-US" sz="500" b="1" dirty="0">
                <a:solidFill>
                  <a:srgbClr val="00875A"/>
                </a:solidFill>
                <a:latin typeface="Inter Bold" pitchFamily="34" charset="0"/>
                <a:ea typeface="Inter Bold" pitchFamily="34" charset="-122"/>
                <a:cs typeface="Inter Bold" pitchFamily="34" charset="-120"/>
              </a:rPr>
              <a:t>Control focus:</a:t>
            </a:r>
            <a:r>
              <a:rPr lang="en-US" sz="550" dirty="0">
                <a:solidFill>
                  <a:srgbClr val="555555"/>
                </a:solidFill>
                <a:latin typeface="Inter" pitchFamily="34" charset="0"/>
                <a:ea typeface="Inter" pitchFamily="34" charset="-122"/>
                <a:cs typeface="Inter" pitchFamily="34" charset="-120"/>
              </a:rPr>
              <a:t> customer challenge, address screening, typology monitoring </a:t>
            </a:r>
            <a:r>
              <a:rPr lang="en-US" sz="550" dirty="0">
                <a:solidFill>
                  <a:srgbClr val="555555"/>
                </a:solidFill>
                <a:latin typeface="Inter" pitchFamily="34" charset="0"/>
                <a:ea typeface="Inter" pitchFamily="34" charset="-122"/>
                <a:cs typeface="Inter" pitchFamily="34" charset="-120"/>
              </a:rPr>
              <a:t>and rapid escalation.</a:t>
            </a:r>
            <a:endParaRPr lang="en-US" sz="500" dirty="0"/>
          </a:p>
        </p:txBody>
      </p:sp>
      <p:sp>
        <p:nvSpPr>
          <p:cNvPr id="42" name="Text 35"/>
          <p:cNvSpPr/>
          <p:nvPr/>
        </p:nvSpPr>
        <p:spPr>
          <a:xfrm>
            <a:off x="6136481" y="743620"/>
            <a:ext cx="2807494" cy="164306"/>
          </a:xfrm>
          <a:prstGeom prst="rect">
            <a:avLst/>
          </a:prstGeom>
          <a:noFill/>
          <a:ln/>
        </p:spPr>
        <p:txBody>
          <a:bodyPr wrap="square" lIns="0" tIns="0" rIns="0" bIns="51054" rtlCol="0" anchor="t">
            <a:spAutoFit/>
          </a:bodyPr>
          <a:lstStyle/>
          <a:p>
            <a:pPr algn="l" indent="0" marL="0">
              <a:lnSpc>
                <a:spcPct val="80000"/>
              </a:lnSpc>
              <a:buNone/>
            </a:pPr>
            <a:r>
              <a:rPr lang="en-US" sz="750" b="1" dirty="0">
                <a:solidFill>
                  <a:srgbClr val="00875A"/>
                </a:solidFill>
                <a:latin typeface="Inter Bold" pitchFamily="34" charset="0"/>
                <a:ea typeface="Inter Bold" pitchFamily="34" charset="-122"/>
                <a:cs typeface="Inter Bold" pitchFamily="34" charset="-120"/>
              </a:rPr>
              <a:t>REGULATORY MANDATES</a:t>
            </a:r>
            <a:endParaRPr lang="en-US" sz="750" dirty="0"/>
          </a:p>
        </p:txBody>
      </p:sp>
      <p:sp>
        <p:nvSpPr>
          <p:cNvPr id="43" name="Shape 36"/>
          <p:cNvSpPr/>
          <p:nvPr/>
        </p:nvSpPr>
        <p:spPr>
          <a:xfrm>
            <a:off x="6136481" y="1022226"/>
            <a:ext cx="697967" cy="121444"/>
          </a:xfrm>
          <a:prstGeom prst="rect">
            <a:avLst/>
          </a:prstGeom>
          <a:solidFill>
            <a:srgbClr val="00875A"/>
          </a:solidFill>
          <a:ln w="9144">
            <a:solidFill>
              <a:srgbClr val="00875A"/>
            </a:solidFill>
            <a:prstDash val="solid"/>
          </a:ln>
        </p:spPr>
      </p:sp>
      <p:sp>
        <p:nvSpPr>
          <p:cNvPr id="44" name="Text 37"/>
          <p:cNvSpPr/>
          <p:nvPr/>
        </p:nvSpPr>
        <p:spPr>
          <a:xfrm>
            <a:off x="6136481" y="1022226"/>
            <a:ext cx="697967" cy="121444"/>
          </a:xfrm>
          <a:prstGeom prst="rect">
            <a:avLst/>
          </a:prstGeom>
          <a:noFill/>
          <a:ln/>
        </p:spPr>
        <p:txBody>
          <a:bodyPr wrap="square" lIns="42545" tIns="25527" rIns="42545" bIns="25527" rtlCol="0" anchor="t">
            <a:spAutoFit/>
          </a:bodyPr>
          <a:lstStyle/>
          <a:p>
            <a:pPr algn="l" indent="0" marL="0">
              <a:lnSpc>
                <a:spcPct val="80000"/>
              </a:lnSpc>
              <a:buNone/>
            </a:pPr>
            <a:r>
              <a:rPr lang="en-US" sz="450" b="1" dirty="0">
                <a:solidFill>
                  <a:srgbClr val="FFFFFF"/>
                </a:solidFill>
                <a:latin typeface="Inter Bold" pitchFamily="34" charset="0"/>
                <a:ea typeface="Inter Bold" pitchFamily="34" charset="-122"/>
                <a:cs typeface="Inter Bold" pitchFamily="34" charset="-120"/>
              </a:rPr>
              <a:t>IMPLEMENTATION</a:t>
            </a:r>
            <a:endParaRPr lang="en-US" sz="450" dirty="0"/>
          </a:p>
        </p:txBody>
      </p:sp>
      <p:sp>
        <p:nvSpPr>
          <p:cNvPr id="45" name="Text 38"/>
          <p:cNvSpPr/>
          <p:nvPr/>
        </p:nvSpPr>
        <p:spPr>
          <a:xfrm>
            <a:off x="6136481" y="1215107"/>
            <a:ext cx="2807494"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UK FCA - Perimeter &amp; Gateway</a:t>
            </a:r>
            <a:endParaRPr lang="en-US" sz="650" dirty="0"/>
          </a:p>
        </p:txBody>
      </p:sp>
      <p:sp>
        <p:nvSpPr>
          <p:cNvPr id="46" name="Text 39"/>
          <p:cNvSpPr/>
          <p:nvPr/>
        </p:nvSpPr>
        <p:spPr>
          <a:xfrm>
            <a:off x="6136481" y="1407598"/>
            <a:ext cx="2807494"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The application gateway opened on 30 September. In-scope safeguarding, platform, arranging and staking activities need permission mapping; transitional applications close 28 February 2027.</a:t>
            </a:r>
            <a:endParaRPr lang="en-US" sz="600" dirty="0"/>
          </a:p>
        </p:txBody>
      </p:sp>
      <p:sp>
        <p:nvSpPr>
          <p:cNvPr id="47" name="Text 40"/>
          <p:cNvSpPr/>
          <p:nvPr/>
        </p:nvSpPr>
        <p:spPr>
          <a:xfrm>
            <a:off x="6136481" y="1746145"/>
            <a:ext cx="2807494" cy="131322"/>
          </a:xfrm>
          <a:prstGeom prst="rect">
            <a:avLst/>
          </a:prstGeom>
          <a:noFill/>
          <a:ln/>
        </p:spPr>
        <p:txBody>
          <a:bodyPr wrap="none" lIns="0" tIns="51054" rIns="0" bIns="0" rtlCol="0" anchor="t">
            <a:spAutoFit/>
          </a:bodyPr>
          <a:lstStyle/>
          <a:p>
            <a:pPr algn="l" indent="0" marL="0">
              <a:lnSpc>
                <a:spcPct val="94400"/>
              </a:lnSpc>
              <a:buNone/>
            </a:pPr>
            <a:r>
              <a:rPr lang="en-US" sz="500" b="1" dirty="0">
                <a:solidFill>
                  <a:srgbClr val="00875A"/>
                </a:solidFill>
                <a:latin typeface="Inter Bold" pitchFamily="34" charset="0"/>
                <a:ea typeface="Inter Bold" pitchFamily="34" charset="-122"/>
                <a:cs typeface="Inter Bold" pitchFamily="34" charset="-120"/>
              </a:rPr>
              <a:t>Management action:</a:t>
            </a:r>
            <a:r>
              <a:rPr lang="en-US" sz="550" dirty="0">
                <a:solidFill>
                  <a:srgbClr val="555555"/>
                </a:solidFill>
                <a:latin typeface="Inter" pitchFamily="34" charset="0"/>
                <a:ea typeface="Inter" pitchFamily="34" charset="-122"/>
                <a:cs typeface="Inter" pitchFamily="34" charset="-120"/>
              </a:rPr>
              <a:t> validate legal entity, activity and permission inventory.</a:t>
            </a:r>
            <a:endParaRPr lang="en-US" sz="500" dirty="0"/>
          </a:p>
        </p:txBody>
      </p:sp>
      <p:sp>
        <p:nvSpPr>
          <p:cNvPr id="48" name="Shape 41"/>
          <p:cNvSpPr/>
          <p:nvPr/>
        </p:nvSpPr>
        <p:spPr>
          <a:xfrm>
            <a:off x="6136481" y="1998911"/>
            <a:ext cx="697967" cy="121444"/>
          </a:xfrm>
          <a:prstGeom prst="rect">
            <a:avLst/>
          </a:prstGeom>
          <a:solidFill>
            <a:srgbClr val="00875A"/>
          </a:solidFill>
          <a:ln w="9144">
            <a:solidFill>
              <a:srgbClr val="00875A"/>
            </a:solidFill>
            <a:prstDash val="solid"/>
          </a:ln>
        </p:spPr>
      </p:sp>
      <p:sp>
        <p:nvSpPr>
          <p:cNvPr id="49" name="Text 42"/>
          <p:cNvSpPr/>
          <p:nvPr/>
        </p:nvSpPr>
        <p:spPr>
          <a:xfrm>
            <a:off x="6136481" y="1998911"/>
            <a:ext cx="697967" cy="121444"/>
          </a:xfrm>
          <a:prstGeom prst="rect">
            <a:avLst/>
          </a:prstGeom>
          <a:noFill/>
          <a:ln/>
        </p:spPr>
        <p:txBody>
          <a:bodyPr wrap="square" lIns="42545" tIns="25527" rIns="42545" bIns="25527" rtlCol="0" anchor="t">
            <a:spAutoFit/>
          </a:bodyPr>
          <a:lstStyle/>
          <a:p>
            <a:pPr algn="l" indent="0" marL="0">
              <a:lnSpc>
                <a:spcPct val="80000"/>
              </a:lnSpc>
              <a:buNone/>
            </a:pPr>
            <a:r>
              <a:rPr lang="en-US" sz="450" b="1" dirty="0">
                <a:solidFill>
                  <a:srgbClr val="FFFFFF"/>
                </a:solidFill>
                <a:latin typeface="Inter Bold" pitchFamily="34" charset="0"/>
                <a:ea typeface="Inter Bold" pitchFamily="34" charset="-122"/>
                <a:cs typeface="Inter Bold" pitchFamily="34" charset="-120"/>
              </a:rPr>
              <a:t>IMPLEMENTATION</a:t>
            </a:r>
            <a:endParaRPr lang="en-US" sz="450" dirty="0"/>
          </a:p>
        </p:txBody>
      </p:sp>
      <p:sp>
        <p:nvSpPr>
          <p:cNvPr id="50" name="Text 43"/>
          <p:cNvSpPr/>
          <p:nvPr/>
        </p:nvSpPr>
        <p:spPr>
          <a:xfrm>
            <a:off x="6136481" y="2191792"/>
            <a:ext cx="2807494"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OSFI - Capital &amp; Liquidity Treatment</a:t>
            </a:r>
            <a:endParaRPr lang="en-US" sz="650" dirty="0"/>
          </a:p>
        </p:txBody>
      </p:sp>
      <p:sp>
        <p:nvSpPr>
          <p:cNvPr id="51" name="Text 44"/>
          <p:cNvSpPr/>
          <p:nvPr/>
        </p:nvSpPr>
        <p:spPr>
          <a:xfrm>
            <a:off x="6136481" y="2384282"/>
            <a:ext cx="2807494"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Effective 1 November 2026 or 1 January 2027. The simplified approach deducts crypto exposures from CET1 and treats them as non-HQLA for LCR and NSFR.</a:t>
            </a:r>
            <a:endParaRPr lang="en-US" sz="600" dirty="0"/>
          </a:p>
        </p:txBody>
      </p:sp>
      <p:sp>
        <p:nvSpPr>
          <p:cNvPr id="52" name="Text 45"/>
          <p:cNvSpPr/>
          <p:nvPr/>
        </p:nvSpPr>
        <p:spPr>
          <a:xfrm>
            <a:off x="6136481" y="2722829"/>
            <a:ext cx="2807494" cy="219782"/>
          </a:xfrm>
          <a:prstGeom prst="rect">
            <a:avLst/>
          </a:prstGeom>
          <a:noFill/>
          <a:ln/>
        </p:spPr>
        <p:txBody>
          <a:bodyPr wrap="square" lIns="0" tIns="51054" rIns="0" bIns="0" rtlCol="0" anchor="t">
            <a:spAutoFit/>
          </a:bodyPr>
          <a:lstStyle/>
          <a:p>
            <a:pPr algn="l" indent="0" marL="0">
              <a:lnSpc>
                <a:spcPct val="94400"/>
              </a:lnSpc>
              <a:buNone/>
            </a:pPr>
            <a:r>
              <a:rPr lang="en-US" sz="500" b="1" dirty="0">
                <a:solidFill>
                  <a:srgbClr val="00875A"/>
                </a:solidFill>
                <a:latin typeface="Inter Bold" pitchFamily="34" charset="0"/>
                <a:ea typeface="Inter Bold" pitchFamily="34" charset="-122"/>
                <a:cs typeface="Inter Bold" pitchFamily="34" charset="-120"/>
              </a:rPr>
              <a:t>Management action:</a:t>
            </a:r>
            <a:r>
              <a:rPr lang="en-US" sz="550" dirty="0">
                <a:solidFill>
                  <a:srgbClr val="555555"/>
                </a:solidFill>
                <a:latin typeface="Inter" pitchFamily="34" charset="0"/>
                <a:ea typeface="Inter" pitchFamily="34" charset="-122"/>
                <a:cs typeface="Inter" pitchFamily="34" charset="-120"/>
              </a:rPr>
              <a:t> map direct, indirect, tokenised-asset and custody </a:t>
            </a:r>
            <a:r>
              <a:rPr lang="en-US" sz="550" dirty="0">
                <a:solidFill>
                  <a:srgbClr val="555555"/>
                </a:solidFill>
                <a:latin typeface="Inter" pitchFamily="34" charset="0"/>
                <a:ea typeface="Inter" pitchFamily="34" charset="-122"/>
                <a:cs typeface="Inter" pitchFamily="34" charset="-120"/>
              </a:rPr>
              <a:t>exposures.</a:t>
            </a:r>
            <a:endParaRPr lang="en-US" sz="500" dirty="0"/>
          </a:p>
        </p:txBody>
      </p:sp>
      <p:sp>
        <p:nvSpPr>
          <p:cNvPr id="53" name="Text 46"/>
          <p:cNvSpPr/>
          <p:nvPr/>
        </p:nvSpPr>
        <p:spPr>
          <a:xfrm>
            <a:off x="6136481" y="3064055"/>
            <a:ext cx="1237320" cy="121444"/>
          </a:xfrm>
          <a:prstGeom prst="rect">
            <a:avLst/>
          </a:prstGeom>
          <a:noFill/>
          <a:ln/>
        </p:spPr>
        <p:txBody>
          <a:bodyPr wrap="square" lIns="42545" tIns="25527" rIns="42545" bIns="25527" rtlCol="0" anchor="t">
            <a:spAutoFit/>
          </a:bodyPr>
          <a:lstStyle/>
          <a:p>
            <a:pPr algn="l" indent="0" marL="0">
              <a:lnSpc>
                <a:spcPct val="80000"/>
              </a:lnSpc>
              <a:buNone/>
            </a:pPr>
            <a:r>
              <a:rPr lang="en-US" sz="450" b="1" dirty="0">
                <a:solidFill>
                  <a:srgbClr val="00875A"/>
                </a:solidFill>
                <a:latin typeface="Inter Bold" pitchFamily="34" charset="0"/>
                <a:ea typeface="Inter Bold" pitchFamily="34" charset="-122"/>
                <a:cs typeface="Inter Bold" pitchFamily="34" charset="-120"/>
              </a:rPr>
              <a:t>PROPOSAL / CONDITIONAL RELIEF</a:t>
            </a:r>
            <a:endParaRPr lang="en-US" sz="450" dirty="0"/>
          </a:p>
        </p:txBody>
      </p:sp>
      <p:sp>
        <p:nvSpPr>
          <p:cNvPr id="54" name="Text 47"/>
          <p:cNvSpPr/>
          <p:nvPr/>
        </p:nvSpPr>
        <p:spPr>
          <a:xfrm>
            <a:off x="6136481" y="3271224"/>
            <a:ext cx="2807494" cy="106766"/>
          </a:xfrm>
          <a:prstGeom prst="rect">
            <a:avLst/>
          </a:prstGeom>
          <a:noFill/>
          <a:ln/>
        </p:spPr>
        <p:txBody>
          <a:bodyPr wrap="none" lIns="0" tIns="0" rIns="0" bIns="0" rtlCol="0" anchor="t">
            <a:spAutoFit/>
          </a:bodyPr>
          <a:lstStyle/>
          <a:p>
            <a:pPr algn="l" indent="0" marL="0">
              <a:lnSpc>
                <a:spcPct val="92000"/>
              </a:lnSpc>
              <a:buNone/>
            </a:pPr>
            <a:r>
              <a:rPr lang="en-US" sz="650" b="1" dirty="0">
                <a:solidFill>
                  <a:srgbClr val="111111"/>
                </a:solidFill>
                <a:latin typeface="Inter Bold" pitchFamily="34" charset="0"/>
                <a:ea typeface="Inter Bold" pitchFamily="34" charset="-122"/>
                <a:cs typeface="Inter Bold" pitchFamily="34" charset="-120"/>
              </a:rPr>
              <a:t>US - Stablecoins &amp; Tokenised Stocks</a:t>
            </a:r>
            <a:endParaRPr lang="en-US" sz="650" dirty="0"/>
          </a:p>
        </p:txBody>
      </p:sp>
      <p:sp>
        <p:nvSpPr>
          <p:cNvPr id="55" name="Text 48"/>
          <p:cNvSpPr/>
          <p:nvPr/>
        </p:nvSpPr>
        <p:spPr>
          <a:xfrm>
            <a:off x="6136481" y="3463714"/>
            <a:ext cx="2807494" cy="295684"/>
          </a:xfrm>
          <a:prstGeom prst="rect">
            <a:avLst/>
          </a:prstGeom>
          <a:noFill/>
          <a:ln/>
        </p:spPr>
        <p:txBody>
          <a:bodyPr wrap="square" lIns="0" tIns="0" rIns="0" bIns="0" rtlCol="0" anchor="t">
            <a:spAutoFit/>
          </a:bodyPr>
          <a:lstStyle/>
          <a:p>
            <a:pPr algn="l" indent="0" marL="0">
              <a:lnSpc>
                <a:spcPct val="96000"/>
              </a:lnSpc>
              <a:buNone/>
            </a:pPr>
            <a:r>
              <a:rPr lang="en-US" sz="600" dirty="0">
                <a:solidFill>
                  <a:srgbClr val="111111"/>
                </a:solidFill>
                <a:latin typeface="Inter" pitchFamily="34" charset="0"/>
                <a:ea typeface="Inter" pitchFamily="34" charset="-122"/>
                <a:cs typeface="Inter" pitchFamily="34" charset="-120"/>
              </a:rPr>
              <a:t>Reserve, capital, custody and approval requirements are proposed for payment stablecoins. Temporary tokenised-stock relief requires rights equivalence, auditable code and concurrent trading halts.</a:t>
            </a:r>
            <a:endParaRPr lang="en-US" sz="600" dirty="0"/>
          </a:p>
        </p:txBody>
      </p:sp>
      <p:sp>
        <p:nvSpPr>
          <p:cNvPr id="56" name="Text 49"/>
          <p:cNvSpPr/>
          <p:nvPr/>
        </p:nvSpPr>
        <p:spPr>
          <a:xfrm>
            <a:off x="6136481" y="3802261"/>
            <a:ext cx="2807494" cy="219782"/>
          </a:xfrm>
          <a:prstGeom prst="rect">
            <a:avLst/>
          </a:prstGeom>
          <a:noFill/>
          <a:ln/>
        </p:spPr>
        <p:txBody>
          <a:bodyPr wrap="square" lIns="0" tIns="51054" rIns="0" bIns="0" rtlCol="0" anchor="t">
            <a:spAutoFit/>
          </a:bodyPr>
          <a:lstStyle/>
          <a:p>
            <a:pPr algn="l" indent="0" marL="0">
              <a:lnSpc>
                <a:spcPct val="94400"/>
              </a:lnSpc>
              <a:buNone/>
            </a:pPr>
            <a:r>
              <a:rPr lang="en-US" sz="500" b="1" dirty="0">
                <a:solidFill>
                  <a:srgbClr val="00875A"/>
                </a:solidFill>
                <a:latin typeface="Inter Bold" pitchFamily="34" charset="0"/>
                <a:ea typeface="Inter Bold" pitchFamily="34" charset="-122"/>
                <a:cs typeface="Inter Bold" pitchFamily="34" charset="-120"/>
              </a:rPr>
              <a:t>Management action:</a:t>
            </a:r>
            <a:r>
              <a:rPr lang="en-US" sz="550" dirty="0">
                <a:solidFill>
                  <a:srgbClr val="555555"/>
                </a:solidFill>
                <a:latin typeface="Inter" pitchFamily="34" charset="0"/>
                <a:ea typeface="Inter" pitchFamily="34" charset="-122"/>
                <a:cs typeface="Inter" pitchFamily="34" charset="-120"/>
              </a:rPr>
              <a:t> test reserve, rights, code-assurance and halt-linkage </a:t>
            </a:r>
            <a:r>
              <a:rPr lang="en-US" sz="550" dirty="0">
                <a:solidFill>
                  <a:srgbClr val="555555"/>
                </a:solidFill>
                <a:latin typeface="Inter" pitchFamily="34" charset="0"/>
                <a:ea typeface="Inter" pitchFamily="34" charset="-122"/>
                <a:cs typeface="Inter" pitchFamily="34" charset="-120"/>
              </a:rPr>
              <a:t>controls.</a:t>
            </a:r>
            <a:endParaRPr lang="en-US" sz="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2026-10-09T09:51:17Z</dcterms:created>
  <dcterms:modified xsi:type="dcterms:W3CDTF">2026-10-09T09:51:17Z</dcterms:modified>
</cp:coreProperties>
</file>