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26212800" cy="14630400"/>
  <p:notesSz cx="6858000" cy="9144000"/>
  <p:embeddedFontLst>
    <p:embeddedFont>
      <p:font typeface="Arial MT Pro Bold" charset="1" panose="020B0802020202020204"/>
      <p:regular r:id="rId11"/>
    </p:embeddedFont>
    <p:embeddedFont>
      <p:font typeface="Arial MT Pro" charset="1" panose="020B050202020202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2998222" y="605325"/>
            <a:ext cx="15246102" cy="3593090"/>
          </a:xfrm>
          <a:prstGeom prst="rect">
            <a:avLst/>
          </a:prstGeom>
        </p:spPr>
        <p:txBody>
          <a:bodyPr anchor="t" rtlCol="false" tIns="0" lIns="0" bIns="0" rIns="0">
            <a:spAutoFit/>
          </a:bodyPr>
          <a:lstStyle/>
          <a:p>
            <a:pPr algn="just">
              <a:lnSpc>
                <a:spcPts val="6846"/>
              </a:lnSpc>
            </a:pPr>
            <a:r>
              <a:rPr lang="en-US" b="true" sz="5246" spc="167">
                <a:solidFill>
                  <a:srgbClr val="161616"/>
                </a:solidFill>
                <a:latin typeface="Arial MT Pro Bold"/>
                <a:ea typeface="Arial MT Pro Bold"/>
                <a:cs typeface="Arial MT Pro Bold"/>
                <a:sym typeface="Arial MT Pro Bold"/>
              </a:rPr>
              <a:t>Anatomy of an On-Chain Heist:</a:t>
            </a:r>
          </a:p>
          <a:p>
            <a:pPr algn="just">
              <a:lnSpc>
                <a:spcPts val="6846"/>
              </a:lnSpc>
            </a:pPr>
            <a:r>
              <a:rPr lang="en-US" b="true" sz="5246" spc="167">
                <a:solidFill>
                  <a:srgbClr val="161616"/>
                </a:solidFill>
                <a:latin typeface="Arial MT Pro Bold"/>
                <a:ea typeface="Arial MT Pro Bold"/>
                <a:cs typeface="Arial MT Pro Bold"/>
                <a:sym typeface="Arial MT Pro Bold"/>
              </a:rPr>
              <a:t>The Industrialization of Digital Asset Theft</a:t>
            </a:r>
          </a:p>
          <a:p>
            <a:pPr algn="just">
              <a:lnSpc>
                <a:spcPts val="6133"/>
              </a:lnSpc>
            </a:pPr>
            <a:r>
              <a:rPr lang="en-US" b="true" sz="4700" spc="150">
                <a:solidFill>
                  <a:srgbClr val="161616"/>
                </a:solidFill>
                <a:latin typeface="Arial MT Pro Bold"/>
                <a:ea typeface="Arial MT Pro Bold"/>
                <a:cs typeface="Arial MT Pro Bold"/>
                <a:sym typeface="Arial MT Pro Bold"/>
              </a:rPr>
              <a:t>$1.5 Billion Stolen in a Single Compromise</a:t>
            </a:r>
          </a:p>
          <a:p>
            <a:pPr algn="just">
              <a:lnSpc>
                <a:spcPts val="3915"/>
              </a:lnSpc>
            </a:pPr>
            <a:r>
              <a:rPr lang="en-US" sz="3000">
                <a:solidFill>
                  <a:srgbClr val="292826"/>
                </a:solidFill>
                <a:latin typeface="Arial MT Pro"/>
                <a:ea typeface="Arial MT Pro"/>
                <a:cs typeface="Arial MT Pro"/>
                <a:sym typeface="Arial MT Pro"/>
              </a:rPr>
              <a:t>The Bybit exchange hack demonstrates the industrial scale of modern crypto theft, where</a:t>
            </a:r>
          </a:p>
          <a:p>
            <a:pPr algn="just">
              <a:lnSpc>
                <a:spcPts val="3915"/>
              </a:lnSpc>
            </a:pPr>
            <a:r>
              <a:rPr lang="en-US" sz="3000">
                <a:solidFill>
                  <a:srgbClr val="292826"/>
                </a:solidFill>
                <a:latin typeface="Arial MT Pro"/>
                <a:ea typeface="Arial MT Pro"/>
                <a:cs typeface="Arial MT Pro"/>
                <a:sym typeface="Arial MT Pro"/>
              </a:rPr>
              <a:t>attackers successfully transferred approximately $1.5 billion in Ethereum and other assets.</a:t>
            </a:r>
          </a:p>
        </p:txBody>
      </p:sp>
      <p:sp>
        <p:nvSpPr>
          <p:cNvPr name="TextBox 4" id="4"/>
          <p:cNvSpPr txBox="true"/>
          <p:nvPr/>
        </p:nvSpPr>
        <p:spPr>
          <a:xfrm rot="0">
            <a:off x="1079342" y="5245205"/>
            <a:ext cx="8080596" cy="6106268"/>
          </a:xfrm>
          <a:prstGeom prst="rect">
            <a:avLst/>
          </a:prstGeom>
        </p:spPr>
        <p:txBody>
          <a:bodyPr anchor="t" rtlCol="false" tIns="0" lIns="0" bIns="0" rIns="0">
            <a:spAutoFit/>
          </a:bodyPr>
          <a:lstStyle/>
          <a:p>
            <a:pPr algn="l">
              <a:lnSpc>
                <a:spcPts val="5489"/>
              </a:lnSpc>
            </a:pPr>
            <a:r>
              <a:rPr lang="en-US" b="true" sz="4200" spc="75">
                <a:solidFill>
                  <a:srgbClr val="161616"/>
                </a:solidFill>
                <a:latin typeface="Arial MT Pro Bold"/>
                <a:ea typeface="Arial MT Pro Bold"/>
                <a:cs typeface="Arial MT Pro Bold"/>
                <a:sym typeface="Arial MT Pro Bold"/>
              </a:rPr>
              <a:t>Phase 1: The Attack -</a:t>
            </a:r>
          </a:p>
          <a:p>
            <a:pPr algn="l">
              <a:lnSpc>
                <a:spcPts val="5489"/>
              </a:lnSpc>
            </a:pPr>
            <a:r>
              <a:rPr lang="en-US" b="true" sz="4200" spc="75">
                <a:solidFill>
                  <a:srgbClr val="161616"/>
                </a:solidFill>
                <a:latin typeface="Arial MT Pro Bold"/>
                <a:ea typeface="Arial MT Pro Bold"/>
                <a:cs typeface="Arial MT Pro Bold"/>
                <a:sym typeface="Arial MT Pro Bold"/>
              </a:rPr>
              <a:t>Compromise and Exploitation</a:t>
            </a:r>
          </a:p>
          <a:p>
            <a:pPr algn="l">
              <a:lnSpc>
                <a:spcPts val="3528"/>
              </a:lnSpc>
            </a:pPr>
            <a:r>
              <a:rPr lang="en-US" sz="2700">
                <a:solidFill>
                  <a:srgbClr val="292826"/>
                </a:solidFill>
                <a:latin typeface="Arial MT Pro"/>
                <a:ea typeface="Arial MT Pro"/>
                <a:cs typeface="Arial MT Pro"/>
                <a:sym typeface="Arial MT Pro"/>
              </a:rPr>
              <a:t>Threat actors, identified as North Korea's Lazarus Group (UNC4899), initiate the attack </a:t>
            </a:r>
            <a:r>
              <a:rPr lang="en-US" sz="2700">
                <a:solidFill>
                  <a:srgbClr val="292826"/>
                </a:solidFill>
                <a:latin typeface="Arial MT Pro"/>
                <a:ea typeface="Arial MT Pro"/>
                <a:cs typeface="Arial MT Pro"/>
                <a:sym typeface="Arial MT Pro"/>
              </a:rPr>
              <a:t>by compromising a developer's machine to </a:t>
            </a:r>
            <a:r>
              <a:rPr lang="en-US" sz="2700">
                <a:solidFill>
                  <a:srgbClr val="292826"/>
                </a:solidFill>
                <a:latin typeface="Arial MT Pro"/>
                <a:ea typeface="Arial MT Pro"/>
                <a:cs typeface="Arial MT Pro"/>
                <a:sym typeface="Arial MT Pro"/>
              </a:rPr>
              <a:t>inject malicious code into a trusted wallet interface (a supply chain attack).</a:t>
            </a:r>
          </a:p>
          <a:p>
            <a:pPr algn="l">
              <a:lnSpc>
                <a:spcPts val="1307"/>
              </a:lnSpc>
            </a:pPr>
          </a:p>
          <a:p>
            <a:pPr algn="l">
              <a:lnSpc>
                <a:spcPts val="3528"/>
              </a:lnSpc>
            </a:pPr>
            <a:r>
              <a:rPr lang="en-US" sz="2700">
                <a:solidFill>
                  <a:srgbClr val="292826"/>
                </a:solidFill>
                <a:latin typeface="Arial MT Pro"/>
                <a:ea typeface="Arial MT Pro"/>
                <a:cs typeface="Arial MT Pro"/>
                <a:sym typeface="Arial MT Pro"/>
              </a:rPr>
              <a:t>They then use phishing and social </a:t>
            </a:r>
            <a:r>
              <a:rPr lang="en-US" sz="2700">
                <a:solidFill>
                  <a:srgbClr val="292826"/>
                </a:solidFill>
                <a:latin typeface="Arial MT Pro"/>
                <a:ea typeface="Arial MT Pro"/>
                <a:cs typeface="Arial MT Pro"/>
                <a:sym typeface="Arial MT Pro"/>
              </a:rPr>
              <a:t>engineering to trick authorized personnel </a:t>
            </a:r>
            <a:r>
              <a:rPr lang="en-US" sz="2700">
                <a:solidFill>
                  <a:srgbClr val="292826"/>
                </a:solidFill>
                <a:latin typeface="Arial MT Pro"/>
                <a:ea typeface="Arial MT Pro"/>
                <a:cs typeface="Arial MT Pro"/>
                <a:sym typeface="Arial MT Pro"/>
              </a:rPr>
              <a:t>into signing seemingly legitimate transactions, which ultimately allows for an unauthorized upgrade of the wallet's </a:t>
            </a:r>
            <a:r>
              <a:rPr lang="en-US" sz="2700">
                <a:solidFill>
                  <a:srgbClr val="292826"/>
                </a:solidFill>
                <a:latin typeface="Arial MT Pro"/>
                <a:ea typeface="Arial MT Pro"/>
                <a:cs typeface="Arial MT Pro"/>
                <a:sym typeface="Arial MT Pro"/>
              </a:rPr>
              <a:t>smart contract, giving attackers full control</a:t>
            </a:r>
          </a:p>
        </p:txBody>
      </p:sp>
      <p:sp>
        <p:nvSpPr>
          <p:cNvPr name="TextBox 5" id="5"/>
          <p:cNvSpPr txBox="true"/>
          <p:nvPr/>
        </p:nvSpPr>
        <p:spPr>
          <a:xfrm rot="0">
            <a:off x="9776867" y="5318473"/>
            <a:ext cx="6432500" cy="5936361"/>
          </a:xfrm>
          <a:prstGeom prst="rect">
            <a:avLst/>
          </a:prstGeom>
        </p:spPr>
        <p:txBody>
          <a:bodyPr anchor="t" rtlCol="false" tIns="0" lIns="0" bIns="0" rIns="0">
            <a:spAutoFit/>
          </a:bodyPr>
          <a:lstStyle/>
          <a:p>
            <a:pPr algn="l">
              <a:lnSpc>
                <a:spcPts val="5292"/>
              </a:lnSpc>
            </a:pPr>
            <a:r>
              <a:rPr lang="en-US" b="true" sz="4200" spc="67">
                <a:solidFill>
                  <a:srgbClr val="161616"/>
                </a:solidFill>
                <a:latin typeface="Arial MT Pro Bold"/>
                <a:ea typeface="Arial MT Pro Bold"/>
                <a:cs typeface="Arial MT Pro Bold"/>
                <a:sym typeface="Arial MT Pro Bold"/>
              </a:rPr>
              <a:t>Phase 2: The Bridge -</a:t>
            </a:r>
          </a:p>
          <a:p>
            <a:pPr algn="l">
              <a:lnSpc>
                <a:spcPts val="5292"/>
              </a:lnSpc>
            </a:pPr>
            <a:r>
              <a:rPr lang="en-US" b="true" sz="4200" spc="67">
                <a:solidFill>
                  <a:srgbClr val="161616"/>
                </a:solidFill>
                <a:latin typeface="Arial MT Pro Bold"/>
                <a:ea typeface="Arial MT Pro Bold"/>
                <a:cs typeface="Arial MT Pro Bold"/>
                <a:sym typeface="Arial MT Pro Bold"/>
              </a:rPr>
              <a:t>Cross-Chain Laundering</a:t>
            </a:r>
          </a:p>
          <a:p>
            <a:pPr algn="l">
              <a:lnSpc>
                <a:spcPts val="5292"/>
              </a:lnSpc>
            </a:pPr>
            <a:r>
              <a:rPr lang="en-US" b="true" sz="4200" spc="67">
                <a:solidFill>
                  <a:srgbClr val="161616"/>
                </a:solidFill>
                <a:latin typeface="Arial MT Pro Bold"/>
                <a:ea typeface="Arial MT Pro Bold"/>
                <a:cs typeface="Arial MT Pro Bold"/>
                <a:sym typeface="Arial MT Pro Bold"/>
              </a:rPr>
              <a:t>and Obfuscation</a:t>
            </a:r>
          </a:p>
          <a:p>
            <a:pPr algn="l">
              <a:lnSpc>
                <a:spcPts val="3402"/>
              </a:lnSpc>
            </a:pPr>
            <a:r>
              <a:rPr lang="en-US" sz="2700" spc="43">
                <a:solidFill>
                  <a:srgbClr val="161616"/>
                </a:solidFill>
                <a:latin typeface="Arial MT Pro"/>
                <a:ea typeface="Arial MT Pro"/>
                <a:cs typeface="Arial MT Pro"/>
                <a:sym typeface="Arial MT Pro"/>
              </a:rPr>
              <a:t>To hide the origin of the stolen funds,</a:t>
            </a:r>
          </a:p>
          <a:p>
            <a:pPr algn="l">
              <a:lnSpc>
                <a:spcPts val="3402"/>
              </a:lnSpc>
            </a:pPr>
            <a:r>
              <a:rPr lang="en-US" sz="2700" spc="43">
                <a:solidFill>
                  <a:srgbClr val="161616"/>
                </a:solidFill>
                <a:latin typeface="Arial MT Pro"/>
                <a:ea typeface="Arial MT Pro"/>
                <a:cs typeface="Arial MT Pro"/>
                <a:sym typeface="Arial MT Pro"/>
              </a:rPr>
              <a:t>attackers use a multi-pronged laundering</a:t>
            </a:r>
          </a:p>
          <a:p>
            <a:pPr algn="l">
              <a:lnSpc>
                <a:spcPts val="3402"/>
              </a:lnSpc>
            </a:pPr>
            <a:r>
              <a:rPr lang="en-US" sz="2700" spc="43">
                <a:solidFill>
                  <a:srgbClr val="161616"/>
                </a:solidFill>
                <a:latin typeface="Arial MT Pro"/>
                <a:ea typeface="Arial MT Pro"/>
                <a:cs typeface="Arial MT Pro"/>
                <a:sym typeface="Arial MT Pro"/>
              </a:rPr>
              <a:t>strategy. This includes routing funds</a:t>
            </a:r>
          </a:p>
          <a:p>
            <a:pPr algn="l">
              <a:lnSpc>
                <a:spcPts val="3402"/>
              </a:lnSpc>
            </a:pPr>
            <a:r>
              <a:rPr lang="en-US" sz="2700">
                <a:solidFill>
                  <a:srgbClr val="292826"/>
                </a:solidFill>
                <a:latin typeface="Arial MT Pro"/>
                <a:ea typeface="Arial MT Pro"/>
                <a:cs typeface="Arial MT Pro"/>
                <a:sym typeface="Arial MT Pro"/>
              </a:rPr>
              <a:t>through mixing services (e.g., eXch mixer)</a:t>
            </a:r>
          </a:p>
          <a:p>
            <a:pPr algn="l">
              <a:lnSpc>
                <a:spcPts val="3402"/>
              </a:lnSpc>
            </a:pPr>
            <a:r>
              <a:rPr lang="en-US" sz="2700" spc="48">
                <a:solidFill>
                  <a:srgbClr val="292826"/>
                </a:solidFill>
                <a:latin typeface="Arial MT Pro"/>
                <a:ea typeface="Arial MT Pro"/>
                <a:cs typeface="Arial MT Pro"/>
                <a:sym typeface="Arial MT Pro"/>
              </a:rPr>
              <a:t>to mask wallet addresses and using</a:t>
            </a:r>
          </a:p>
          <a:p>
            <a:pPr algn="l">
              <a:lnSpc>
                <a:spcPts val="3402"/>
              </a:lnSpc>
            </a:pPr>
            <a:r>
              <a:rPr lang="en-US" sz="2700" spc="48">
                <a:solidFill>
                  <a:srgbClr val="292826"/>
                </a:solidFill>
                <a:latin typeface="Arial MT Pro"/>
                <a:ea typeface="Arial MT Pro"/>
                <a:cs typeface="Arial MT Pro"/>
                <a:sym typeface="Arial MT Pro"/>
              </a:rPr>
              <a:t>cross-chain bridge protocols (e.g.,</a:t>
            </a:r>
          </a:p>
          <a:p>
            <a:pPr algn="l">
              <a:lnSpc>
                <a:spcPts val="3402"/>
              </a:lnSpc>
            </a:pPr>
            <a:r>
              <a:rPr lang="en-US" sz="2700">
                <a:solidFill>
                  <a:srgbClr val="292826"/>
                </a:solidFill>
                <a:latin typeface="Arial MT Pro"/>
                <a:ea typeface="Arial MT Pro"/>
                <a:cs typeface="Arial MT Pro"/>
                <a:sym typeface="Arial MT Pro"/>
              </a:rPr>
              <a:t>ChainFlip) to swap stolen assets like</a:t>
            </a:r>
          </a:p>
          <a:p>
            <a:pPr algn="l">
              <a:lnSpc>
                <a:spcPts val="3402"/>
              </a:lnSpc>
            </a:pPr>
            <a:r>
              <a:rPr lang="en-US" sz="2700">
                <a:solidFill>
                  <a:srgbClr val="292826"/>
                </a:solidFill>
                <a:latin typeface="Arial MT Pro"/>
                <a:ea typeface="Arial MT Pro"/>
                <a:cs typeface="Arial MT Pro"/>
                <a:sym typeface="Arial MT Pro"/>
              </a:rPr>
              <a:t>Ethereum into other cryptocurrencies</a:t>
            </a:r>
          </a:p>
          <a:p>
            <a:pPr algn="l">
              <a:lnSpc>
                <a:spcPts val="3402"/>
              </a:lnSpc>
            </a:pPr>
            <a:r>
              <a:rPr lang="en-US" sz="2700">
                <a:solidFill>
                  <a:srgbClr val="292826"/>
                </a:solidFill>
                <a:latin typeface="Arial MT Pro"/>
                <a:ea typeface="Arial MT Pro"/>
                <a:cs typeface="Arial MT Pro"/>
                <a:sym typeface="Arial MT Pro"/>
              </a:rPr>
              <a:t>such as Bitcoin.</a:t>
            </a:r>
          </a:p>
        </p:txBody>
      </p:sp>
      <p:sp>
        <p:nvSpPr>
          <p:cNvPr name="TextBox 6" id="6"/>
          <p:cNvSpPr txBox="true"/>
          <p:nvPr/>
        </p:nvSpPr>
        <p:spPr>
          <a:xfrm rot="0">
            <a:off x="18288160" y="5244747"/>
            <a:ext cx="6197650" cy="5611520"/>
          </a:xfrm>
          <a:prstGeom prst="rect">
            <a:avLst/>
          </a:prstGeom>
        </p:spPr>
        <p:txBody>
          <a:bodyPr anchor="t" rtlCol="false" tIns="0" lIns="0" bIns="0" rIns="0">
            <a:spAutoFit/>
          </a:bodyPr>
          <a:lstStyle/>
          <a:p>
            <a:pPr algn="l">
              <a:lnSpc>
                <a:spcPts val="5392"/>
              </a:lnSpc>
            </a:pPr>
            <a:r>
              <a:rPr lang="en-US" b="true" sz="4200" spc="117">
                <a:solidFill>
                  <a:srgbClr val="161616"/>
                </a:solidFill>
                <a:latin typeface="Arial MT Pro Bold"/>
                <a:ea typeface="Arial MT Pro Bold"/>
                <a:cs typeface="Arial MT Pro Bold"/>
                <a:sym typeface="Arial MT Pro Bold"/>
              </a:rPr>
              <a:t>Phase 3: The Launder -</a:t>
            </a:r>
          </a:p>
          <a:p>
            <a:pPr algn="l">
              <a:lnSpc>
                <a:spcPts val="5392"/>
              </a:lnSpc>
            </a:pPr>
            <a:r>
              <a:rPr lang="en-US" b="true" sz="4200" spc="142">
                <a:solidFill>
                  <a:srgbClr val="161616"/>
                </a:solidFill>
                <a:latin typeface="Arial MT Pro Bold"/>
                <a:ea typeface="Arial MT Pro Bold"/>
                <a:cs typeface="Arial MT Pro Bold"/>
                <a:sym typeface="Arial MT Pro Bold"/>
              </a:rPr>
              <a:t>Cashing Out and</a:t>
            </a:r>
          </a:p>
          <a:p>
            <a:pPr algn="l">
              <a:lnSpc>
                <a:spcPts val="5392"/>
              </a:lnSpc>
            </a:pPr>
            <a:r>
              <a:rPr lang="en-US" b="true" sz="4200" spc="142">
                <a:solidFill>
                  <a:srgbClr val="161616"/>
                </a:solidFill>
                <a:latin typeface="Arial MT Pro Bold"/>
                <a:ea typeface="Arial MT Pro Bold"/>
                <a:cs typeface="Arial MT Pro Bold"/>
                <a:sym typeface="Arial MT Pro Bold"/>
              </a:rPr>
              <a:t>Dispersal</a:t>
            </a:r>
          </a:p>
          <a:p>
            <a:pPr algn="l">
              <a:lnSpc>
                <a:spcPts val="3466"/>
              </a:lnSpc>
            </a:pPr>
            <a:r>
              <a:rPr lang="en-US" sz="2700" spc="56">
                <a:solidFill>
                  <a:srgbClr val="292826"/>
                </a:solidFill>
                <a:latin typeface="Arial MT Pro"/>
                <a:ea typeface="Arial MT Pro"/>
                <a:cs typeface="Arial MT Pro"/>
                <a:sym typeface="Arial MT Pro"/>
              </a:rPr>
              <a:t>The final stage involves converting the</a:t>
            </a:r>
          </a:p>
          <a:p>
            <a:pPr algn="l">
              <a:lnSpc>
                <a:spcPts val="3466"/>
              </a:lnSpc>
            </a:pPr>
            <a:r>
              <a:rPr lang="en-US" sz="2700">
                <a:solidFill>
                  <a:srgbClr val="292826"/>
                </a:solidFill>
                <a:latin typeface="Arial MT Pro"/>
                <a:ea typeface="Arial MT Pro"/>
                <a:cs typeface="Arial MT Pro"/>
                <a:sym typeface="Arial MT Pro"/>
              </a:rPr>
              <a:t>laundered assets into various</a:t>
            </a:r>
          </a:p>
          <a:p>
            <a:pPr algn="l">
              <a:lnSpc>
                <a:spcPts val="3466"/>
              </a:lnSpc>
            </a:pPr>
            <a:r>
              <a:rPr lang="en-US" sz="2700" spc="43">
                <a:solidFill>
                  <a:srgbClr val="292826"/>
                </a:solidFill>
                <a:latin typeface="Arial MT Pro"/>
                <a:ea typeface="Arial MT Pro"/>
                <a:cs typeface="Arial MT Pro"/>
                <a:sym typeface="Arial MT Pro"/>
              </a:rPr>
              <a:t>cryptocurrencies and dispersing them</a:t>
            </a:r>
          </a:p>
          <a:p>
            <a:pPr algn="l">
              <a:lnSpc>
                <a:spcPts val="3466"/>
              </a:lnSpc>
            </a:pPr>
            <a:r>
              <a:rPr lang="en-US" sz="2700">
                <a:solidFill>
                  <a:srgbClr val="292826"/>
                </a:solidFill>
                <a:latin typeface="Arial MT Pro"/>
                <a:ea typeface="Arial MT Pro"/>
                <a:cs typeface="Arial MT Pro"/>
                <a:sym typeface="Arial MT Pro"/>
              </a:rPr>
              <a:t>across numerous blockchain addresses.</a:t>
            </a:r>
          </a:p>
          <a:p>
            <a:pPr algn="l">
              <a:lnSpc>
                <a:spcPts val="3466"/>
              </a:lnSpc>
            </a:pPr>
            <a:r>
              <a:rPr lang="en-US" sz="2700" spc="59">
                <a:solidFill>
                  <a:srgbClr val="292826"/>
                </a:solidFill>
                <a:latin typeface="Arial MT Pro"/>
                <a:ea typeface="Arial MT Pro"/>
                <a:cs typeface="Arial MT Pro"/>
                <a:sym typeface="Arial MT Pro"/>
              </a:rPr>
              <a:t>This tactic is designed to further</a:t>
            </a:r>
          </a:p>
          <a:p>
            <a:pPr algn="l">
              <a:lnSpc>
                <a:spcPts val="3466"/>
              </a:lnSpc>
            </a:pPr>
            <a:r>
              <a:rPr lang="en-US" sz="2700">
                <a:solidFill>
                  <a:srgbClr val="292826"/>
                </a:solidFill>
                <a:latin typeface="Arial MT Pro"/>
                <a:ea typeface="Arial MT Pro"/>
                <a:cs typeface="Arial MT Pro"/>
                <a:sym typeface="Arial MT Pro"/>
              </a:rPr>
              <a:t>complicate tracking efforts and hinder</a:t>
            </a:r>
          </a:p>
          <a:p>
            <a:pPr algn="l">
              <a:lnSpc>
                <a:spcPts val="3466"/>
              </a:lnSpc>
            </a:pPr>
            <a:r>
              <a:rPr lang="en-US" sz="2700">
                <a:solidFill>
                  <a:srgbClr val="292826"/>
                </a:solidFill>
                <a:latin typeface="Arial MT Pro"/>
                <a:ea typeface="Arial MT Pro"/>
                <a:cs typeface="Arial MT Pro"/>
                <a:sym typeface="Arial MT Pro"/>
              </a:rPr>
              <a:t>any attempts at recovery by law</a:t>
            </a:r>
          </a:p>
          <a:p>
            <a:pPr algn="l">
              <a:lnSpc>
                <a:spcPts val="3466"/>
              </a:lnSpc>
            </a:pPr>
            <a:r>
              <a:rPr lang="en-US" sz="2700">
                <a:solidFill>
                  <a:srgbClr val="292826"/>
                </a:solidFill>
                <a:latin typeface="Arial MT Pro"/>
                <a:ea typeface="Arial MT Pro"/>
                <a:cs typeface="Arial MT Pro"/>
                <a:sym typeface="Arial MT Pro"/>
              </a:rPr>
              <a:t>enforcement or security firms.</a:t>
            </a:r>
          </a:p>
        </p:txBody>
      </p:sp>
      <p:sp>
        <p:nvSpPr>
          <p:cNvPr name="TextBox 7" id="7"/>
          <p:cNvSpPr txBox="true"/>
          <p:nvPr/>
        </p:nvSpPr>
        <p:spPr>
          <a:xfrm rot="0">
            <a:off x="2604897" y="12622736"/>
            <a:ext cx="15961668" cy="781376"/>
          </a:xfrm>
          <a:prstGeom prst="rect">
            <a:avLst/>
          </a:prstGeom>
        </p:spPr>
        <p:txBody>
          <a:bodyPr anchor="t" rtlCol="false" tIns="0" lIns="0" bIns="0" rIns="0">
            <a:spAutoFit/>
          </a:bodyPr>
          <a:lstStyle/>
          <a:p>
            <a:pPr algn="ctr">
              <a:lnSpc>
                <a:spcPts val="5757"/>
              </a:lnSpc>
            </a:pPr>
            <a:r>
              <a:rPr lang="en-US" b="true" sz="4112" spc="139">
                <a:solidFill>
                  <a:srgbClr val="161616"/>
                </a:solidFill>
                <a:latin typeface="Arial MT Pro Bold"/>
                <a:ea typeface="Arial MT Pro Bold"/>
                <a:cs typeface="Arial MT Pro Bold"/>
                <a:sym typeface="Arial MT Pro Bold"/>
              </a:rPr>
              <a:t>DeFi Protocols: The Soft Underbelly of the Financial System</a:t>
            </a:r>
          </a:p>
        </p:txBody>
      </p:sp>
      <p:sp>
        <p:nvSpPr>
          <p:cNvPr name="TextBox 8" id="8"/>
          <p:cNvSpPr txBox="true"/>
          <p:nvPr/>
        </p:nvSpPr>
        <p:spPr>
          <a:xfrm rot="0">
            <a:off x="2604897" y="13375537"/>
            <a:ext cx="19191536" cy="810616"/>
          </a:xfrm>
          <a:prstGeom prst="rect">
            <a:avLst/>
          </a:prstGeom>
        </p:spPr>
        <p:txBody>
          <a:bodyPr anchor="t" rtlCol="false" tIns="0" lIns="0" bIns="0" rIns="0">
            <a:spAutoFit/>
          </a:bodyPr>
          <a:lstStyle/>
          <a:p>
            <a:pPr algn="l">
              <a:lnSpc>
                <a:spcPts val="2932"/>
              </a:lnSpc>
            </a:pPr>
            <a:r>
              <a:rPr lang="en-US" sz="2700">
                <a:solidFill>
                  <a:srgbClr val="292826"/>
                </a:solidFill>
                <a:latin typeface="Arial MT Pro"/>
                <a:ea typeface="Arial MT Pro"/>
                <a:cs typeface="Arial MT Pro"/>
                <a:sym typeface="Arial MT Pro"/>
              </a:rPr>
              <a:t>The complex, often pseudonymous, and cross-jurisdictional nature of DeFi protocols allows threat actors to execute laundering</a:t>
            </a:r>
          </a:p>
          <a:p>
            <a:pPr algn="l">
              <a:lnSpc>
                <a:spcPts val="2932"/>
              </a:lnSpc>
            </a:pPr>
            <a:r>
              <a:rPr lang="en-US" sz="2700">
                <a:solidFill>
                  <a:srgbClr val="292826"/>
                </a:solidFill>
                <a:latin typeface="Arial MT Pro"/>
                <a:ea typeface="Arial MT Pro"/>
                <a:cs typeface="Arial MT Pro"/>
                <a:sym typeface="Arial MT Pro"/>
              </a:rPr>
              <a:t>schemes that bypass the traditional AML and KYC controls inherent in the global financial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23271" cy="14630400"/>
          </a:xfrm>
          <a:custGeom>
            <a:avLst/>
            <a:gdLst/>
            <a:ahLst/>
            <a:cxnLst/>
            <a:rect r="r" b="b" t="t" l="l"/>
            <a:pathLst>
              <a:path h="14630400" w="26223271">
                <a:moveTo>
                  <a:pt x="0" y="0"/>
                </a:moveTo>
                <a:lnTo>
                  <a:pt x="26223271" y="0"/>
                </a:lnTo>
                <a:lnTo>
                  <a:pt x="26223271" y="14630400"/>
                </a:lnTo>
                <a:lnTo>
                  <a:pt x="0" y="14630400"/>
                </a:lnTo>
                <a:lnTo>
                  <a:pt x="0" y="0"/>
                </a:lnTo>
                <a:close/>
              </a:path>
            </a:pathLst>
          </a:custGeom>
          <a:blipFill>
            <a:blip r:embed="rId2"/>
            <a:stretch>
              <a:fillRect l="0" t="0" r="0" b="0"/>
            </a:stretch>
          </a:blipFill>
        </p:spPr>
      </p:sp>
      <p:sp>
        <p:nvSpPr>
          <p:cNvPr name="TextBox 3" id="3"/>
          <p:cNvSpPr txBox="true"/>
          <p:nvPr/>
        </p:nvSpPr>
        <p:spPr>
          <a:xfrm rot="0">
            <a:off x="11484782" y="6055132"/>
            <a:ext cx="3259634" cy="2329002"/>
          </a:xfrm>
          <a:prstGeom prst="rect">
            <a:avLst/>
          </a:prstGeom>
        </p:spPr>
        <p:txBody>
          <a:bodyPr anchor="t" rtlCol="false" tIns="0" lIns="0" bIns="0" rIns="0">
            <a:spAutoFit/>
          </a:bodyPr>
          <a:lstStyle/>
          <a:p>
            <a:pPr algn="ctr">
              <a:lnSpc>
                <a:spcPts val="4887"/>
              </a:lnSpc>
            </a:pPr>
            <a:r>
              <a:rPr lang="en-US" b="true" sz="3699" spc="140">
                <a:solidFill>
                  <a:srgbClr val="2D2B29"/>
                </a:solidFill>
                <a:latin typeface="Arial MT Pro Bold"/>
                <a:ea typeface="Arial MT Pro Bold"/>
                <a:cs typeface="Arial MT Pro Bold"/>
                <a:sym typeface="Arial MT Pro Bold"/>
              </a:rPr>
              <a:t>Financial</a:t>
            </a:r>
          </a:p>
          <a:p>
            <a:pPr algn="ctr">
              <a:lnSpc>
                <a:spcPts val="4887"/>
              </a:lnSpc>
            </a:pPr>
            <a:r>
              <a:rPr lang="en-US" b="true" sz="3699" spc="140">
                <a:solidFill>
                  <a:srgbClr val="2D2B29"/>
                </a:solidFill>
                <a:latin typeface="Arial MT Pro Bold"/>
                <a:ea typeface="Arial MT Pro Bold"/>
                <a:cs typeface="Arial MT Pro Bold"/>
                <a:sym typeface="Arial MT Pro Bold"/>
              </a:rPr>
              <a:t>Institution</a:t>
            </a:r>
          </a:p>
          <a:p>
            <a:pPr algn="ctr">
              <a:lnSpc>
                <a:spcPts val="4095"/>
              </a:lnSpc>
            </a:pPr>
            <a:r>
              <a:rPr lang="en-US" sz="3100">
                <a:solidFill>
                  <a:srgbClr val="2D2B29"/>
                </a:solidFill>
                <a:latin typeface="Arial MT Pro"/>
                <a:ea typeface="Arial MT Pro"/>
                <a:cs typeface="Arial MT Pro"/>
                <a:sym typeface="Arial MT Pro"/>
              </a:rPr>
              <a:t>Core infrastructure</a:t>
            </a:r>
          </a:p>
          <a:p>
            <a:pPr algn="ctr">
              <a:lnSpc>
                <a:spcPts val="4095"/>
              </a:lnSpc>
            </a:pPr>
            <a:r>
              <a:rPr lang="en-US" sz="3100">
                <a:solidFill>
                  <a:srgbClr val="2D2B29"/>
                </a:solidFill>
                <a:latin typeface="Arial MT Pro"/>
                <a:ea typeface="Arial MT Pro"/>
                <a:cs typeface="Arial MT Pro"/>
                <a:sym typeface="Arial MT Pro"/>
              </a:rPr>
              <a:t>and data.</a:t>
            </a:r>
          </a:p>
        </p:txBody>
      </p:sp>
      <p:sp>
        <p:nvSpPr>
          <p:cNvPr name="TextBox 4" id="4"/>
          <p:cNvSpPr txBox="true"/>
          <p:nvPr/>
        </p:nvSpPr>
        <p:spPr>
          <a:xfrm rot="0">
            <a:off x="19851186" y="1329690"/>
            <a:ext cx="5701314" cy="3995607"/>
          </a:xfrm>
          <a:prstGeom prst="rect">
            <a:avLst/>
          </a:prstGeom>
        </p:spPr>
        <p:txBody>
          <a:bodyPr anchor="t" rtlCol="false" tIns="0" lIns="0" bIns="0" rIns="0">
            <a:spAutoFit/>
          </a:bodyPr>
          <a:lstStyle/>
          <a:p>
            <a:pPr algn="l">
              <a:lnSpc>
                <a:spcPts val="4892"/>
              </a:lnSpc>
            </a:pPr>
            <a:r>
              <a:rPr lang="en-US" b="true" sz="3470">
                <a:solidFill>
                  <a:srgbClr val="2D2B29"/>
                </a:solidFill>
                <a:latin typeface="Arial MT Pro Bold"/>
                <a:ea typeface="Arial MT Pro Bold"/>
                <a:cs typeface="Arial MT Pro Bold"/>
                <a:sym typeface="Arial MT Pro Bold"/>
              </a:rPr>
              <a:t>The Aggregation Effect:</a:t>
            </a:r>
          </a:p>
          <a:p>
            <a:pPr algn="l">
              <a:lnSpc>
                <a:spcPts val="4892"/>
              </a:lnSpc>
            </a:pPr>
            <a:r>
              <a:rPr lang="en-US" b="true" sz="3470">
                <a:solidFill>
                  <a:srgbClr val="2D2B29"/>
                </a:solidFill>
                <a:latin typeface="Arial MT Pro Bold"/>
                <a:ea typeface="Arial MT Pro Bold"/>
                <a:cs typeface="Arial MT Pro Bold"/>
                <a:sym typeface="Arial MT Pro Bold"/>
              </a:rPr>
              <a:t>One Breach, Many Victims</a:t>
            </a:r>
          </a:p>
          <a:p>
            <a:pPr algn="l">
              <a:lnSpc>
                <a:spcPts val="850"/>
              </a:lnSpc>
            </a:pPr>
          </a:p>
          <a:p>
            <a:pPr algn="l">
              <a:lnSpc>
                <a:spcPts val="3670"/>
              </a:lnSpc>
            </a:pPr>
            <a:r>
              <a:rPr lang="en-US" b="true" sz="2603">
                <a:solidFill>
                  <a:srgbClr val="2D2B29"/>
                </a:solidFill>
                <a:latin typeface="Arial MT Pro Bold"/>
                <a:ea typeface="Arial MT Pro Bold"/>
                <a:cs typeface="Arial MT Pro Bold"/>
                <a:sym typeface="Arial MT Pro Bold"/>
              </a:rPr>
              <a:t>The Aggregation Effect in Action</a:t>
            </a:r>
          </a:p>
          <a:p>
            <a:pPr algn="l">
              <a:lnSpc>
                <a:spcPts val="3412"/>
              </a:lnSpc>
            </a:pPr>
            <a:r>
              <a:rPr lang="en-US" sz="2419">
                <a:solidFill>
                  <a:srgbClr val="2D2B29"/>
                </a:solidFill>
                <a:latin typeface="Arial MT Pro"/>
                <a:ea typeface="Arial MT Pro"/>
                <a:cs typeface="Arial MT Pro"/>
                <a:sym typeface="Arial MT Pro"/>
              </a:rPr>
              <a:t>A single compromise in the software or vendor supply chain creates a cascading failure, impacting thousands of downstream organizations simultaneously.</a:t>
            </a:r>
          </a:p>
        </p:txBody>
      </p:sp>
      <p:sp>
        <p:nvSpPr>
          <p:cNvPr name="TextBox 5" id="5"/>
          <p:cNvSpPr txBox="true"/>
          <p:nvPr/>
        </p:nvSpPr>
        <p:spPr>
          <a:xfrm rot="0">
            <a:off x="21540364" y="5583142"/>
            <a:ext cx="3782752" cy="1162243"/>
          </a:xfrm>
          <a:prstGeom prst="rect">
            <a:avLst/>
          </a:prstGeom>
        </p:spPr>
        <p:txBody>
          <a:bodyPr anchor="t" rtlCol="false" tIns="0" lIns="0" bIns="0" rIns="0">
            <a:spAutoFit/>
          </a:bodyPr>
          <a:lstStyle/>
          <a:p>
            <a:pPr algn="l">
              <a:lnSpc>
                <a:spcPts val="2932"/>
              </a:lnSpc>
            </a:pPr>
            <a:r>
              <a:rPr lang="en-US" b="true" sz="2319" spc="-20">
                <a:solidFill>
                  <a:srgbClr val="2D2B29"/>
                </a:solidFill>
                <a:latin typeface="Arial MT Pro Bold"/>
                <a:ea typeface="Arial MT Pro Bold"/>
                <a:cs typeface="Arial MT Pro Bold"/>
                <a:sym typeface="Arial MT Pro Bold"/>
              </a:rPr>
              <a:t>Case Study 1: Software</a:t>
            </a:r>
          </a:p>
          <a:p>
            <a:pPr algn="l">
              <a:lnSpc>
                <a:spcPts val="2932"/>
              </a:lnSpc>
            </a:pPr>
            <a:r>
              <a:rPr lang="en-US" b="true" sz="2319" spc="-20">
                <a:solidFill>
                  <a:srgbClr val="2D2B29"/>
                </a:solidFill>
                <a:latin typeface="Arial MT Pro Bold"/>
                <a:ea typeface="Arial MT Pro Bold"/>
                <a:cs typeface="Arial MT Pro Bold"/>
                <a:sym typeface="Arial MT Pro Bold"/>
              </a:rPr>
              <a:t>Supply Chain Compromise</a:t>
            </a:r>
          </a:p>
          <a:p>
            <a:pPr algn="l">
              <a:lnSpc>
                <a:spcPts val="2932"/>
              </a:lnSpc>
            </a:pPr>
          </a:p>
        </p:txBody>
      </p:sp>
      <p:sp>
        <p:nvSpPr>
          <p:cNvPr name="TextBox 6" id="6"/>
          <p:cNvSpPr txBox="true"/>
          <p:nvPr/>
        </p:nvSpPr>
        <p:spPr>
          <a:xfrm rot="0">
            <a:off x="21540364" y="8899063"/>
            <a:ext cx="3782752" cy="785499"/>
          </a:xfrm>
          <a:prstGeom prst="rect">
            <a:avLst/>
          </a:prstGeom>
        </p:spPr>
        <p:txBody>
          <a:bodyPr anchor="t" rtlCol="false" tIns="0" lIns="0" bIns="0" rIns="0">
            <a:spAutoFit/>
          </a:bodyPr>
          <a:lstStyle/>
          <a:p>
            <a:pPr algn="l">
              <a:lnSpc>
                <a:spcPts val="2969"/>
              </a:lnSpc>
            </a:pPr>
            <a:r>
              <a:rPr lang="en-US" b="true" sz="2316" spc="-23">
                <a:solidFill>
                  <a:srgbClr val="2D2B29"/>
                </a:solidFill>
                <a:latin typeface="Arial MT Pro Bold"/>
                <a:ea typeface="Arial MT Pro Bold"/>
                <a:cs typeface="Arial MT Pro Bold"/>
                <a:sym typeface="Arial MT Pro Bold"/>
              </a:rPr>
              <a:t>Case Study 2: Critical</a:t>
            </a:r>
          </a:p>
          <a:p>
            <a:pPr algn="l">
              <a:lnSpc>
                <a:spcPts val="2969"/>
              </a:lnSpc>
            </a:pPr>
            <a:r>
              <a:rPr lang="en-US" b="true" sz="2316" spc="-23">
                <a:solidFill>
                  <a:srgbClr val="2D2B29"/>
                </a:solidFill>
                <a:latin typeface="Arial MT Pro Bold"/>
                <a:ea typeface="Arial MT Pro Bold"/>
                <a:cs typeface="Arial MT Pro Bold"/>
                <a:sym typeface="Arial MT Pro Bold"/>
              </a:rPr>
              <a:t>Vendor Breach</a:t>
            </a:r>
          </a:p>
        </p:txBody>
      </p:sp>
      <p:sp>
        <p:nvSpPr>
          <p:cNvPr name="TextBox 7" id="7"/>
          <p:cNvSpPr txBox="true"/>
          <p:nvPr/>
        </p:nvSpPr>
        <p:spPr>
          <a:xfrm rot="0">
            <a:off x="13489573" y="12594320"/>
            <a:ext cx="12723227" cy="1503045"/>
          </a:xfrm>
          <a:prstGeom prst="rect">
            <a:avLst/>
          </a:prstGeom>
        </p:spPr>
        <p:txBody>
          <a:bodyPr anchor="t" rtlCol="false" tIns="0" lIns="0" bIns="0" rIns="0">
            <a:spAutoFit/>
          </a:bodyPr>
          <a:lstStyle/>
          <a:p>
            <a:pPr algn="l">
              <a:lnSpc>
                <a:spcPts val="2864"/>
              </a:lnSpc>
            </a:pPr>
            <a:r>
              <a:rPr lang="en-US" b="true" sz="2499" spc="14">
                <a:solidFill>
                  <a:srgbClr val="2D2B29"/>
                </a:solidFill>
                <a:latin typeface="Arial MT Pro Bold"/>
                <a:ea typeface="Arial MT Pro Bold"/>
                <a:cs typeface="Arial MT Pro Bold"/>
                <a:sym typeface="Arial MT Pro Bold"/>
              </a:rPr>
              <a:t>RISK INSIGHT: Threats Now Move at the Speed of Automation. </a:t>
            </a:r>
            <a:r>
              <a:rPr lang="en-US" sz="2499" spc="14">
                <a:solidFill>
                  <a:srgbClr val="2D2B29"/>
                </a:solidFill>
                <a:latin typeface="Arial MT Pro"/>
                <a:ea typeface="Arial MT Pro"/>
                <a:cs typeface="Arial MT Pro"/>
                <a:sym typeface="Arial MT Pro"/>
              </a:rPr>
              <a:t>These attacks propagate at the speed of CI/CD pipelines, making traditional vendor management ineffective at catching malicious </a:t>
            </a:r>
            <a:r>
              <a:rPr lang="en-US" sz="2499" spc="14">
                <a:solidFill>
                  <a:srgbClr val="2D2B29"/>
                </a:solidFill>
                <a:latin typeface="Arial MT Pro"/>
                <a:ea typeface="Arial MT Pro"/>
                <a:cs typeface="Arial MT Pro"/>
                <a:sym typeface="Arial MT Pro"/>
              </a:rPr>
              <a:t>code injections or compromised API keys in real time. (Source: Palo Alto Networks)</a:t>
            </a:r>
          </a:p>
        </p:txBody>
      </p:sp>
      <p:sp>
        <p:nvSpPr>
          <p:cNvPr name="TextBox 8" id="8"/>
          <p:cNvSpPr txBox="true"/>
          <p:nvPr/>
        </p:nvSpPr>
        <p:spPr>
          <a:xfrm rot="0">
            <a:off x="9579795" y="9757250"/>
            <a:ext cx="7063680" cy="1575601"/>
          </a:xfrm>
          <a:prstGeom prst="rect">
            <a:avLst/>
          </a:prstGeom>
        </p:spPr>
        <p:txBody>
          <a:bodyPr anchor="t" rtlCol="false" tIns="0" lIns="0" bIns="0" rIns="0">
            <a:spAutoFit/>
          </a:bodyPr>
          <a:lstStyle/>
          <a:p>
            <a:pPr algn="ctr">
              <a:lnSpc>
                <a:spcPts val="3285"/>
              </a:lnSpc>
            </a:pPr>
            <a:r>
              <a:rPr lang="en-US" b="true" sz="2700" spc="16">
                <a:solidFill>
                  <a:srgbClr val="2D2B29"/>
                </a:solidFill>
                <a:latin typeface="Arial MT Pro Bold"/>
                <a:ea typeface="Arial MT Pro Bold"/>
                <a:cs typeface="Arial MT Pro Bold"/>
                <a:sym typeface="Arial MT Pro Bold"/>
              </a:rPr>
              <a:t>The Perimeter Has Dissolved</a:t>
            </a:r>
          </a:p>
          <a:p>
            <a:pPr algn="ctr">
              <a:lnSpc>
                <a:spcPts val="2969"/>
              </a:lnSpc>
            </a:pPr>
            <a:r>
              <a:rPr lang="en-US" sz="2439" spc="14">
                <a:solidFill>
                  <a:srgbClr val="2D2B29"/>
                </a:solidFill>
                <a:latin typeface="Arial MT Pro"/>
                <a:ea typeface="Arial MT Pro"/>
                <a:cs typeface="Arial MT Pro"/>
                <a:sym typeface="Arial MT Pro"/>
              </a:rPr>
              <a:t>A single compromised vendor can provide an entry</a:t>
            </a:r>
          </a:p>
          <a:p>
            <a:pPr algn="ctr">
              <a:lnSpc>
                <a:spcPts val="2969"/>
              </a:lnSpc>
            </a:pPr>
            <a:r>
              <a:rPr lang="en-US" sz="2439">
                <a:solidFill>
                  <a:srgbClr val="2D2B29"/>
                </a:solidFill>
                <a:latin typeface="Arial MT Pro"/>
                <a:ea typeface="Arial MT Pro"/>
                <a:cs typeface="Arial MT Pro"/>
                <a:sym typeface="Arial MT Pro"/>
              </a:rPr>
              <a:t>point for widespread disruption across this entire</a:t>
            </a:r>
          </a:p>
          <a:p>
            <a:pPr algn="ctr">
              <a:lnSpc>
                <a:spcPts val="2969"/>
              </a:lnSpc>
            </a:pPr>
            <a:r>
              <a:rPr lang="en-US" sz="2439" spc="29">
                <a:solidFill>
                  <a:srgbClr val="2D2B29"/>
                </a:solidFill>
                <a:latin typeface="Arial MT Pro"/>
                <a:ea typeface="Arial MT Pro"/>
                <a:cs typeface="Arial MT Pro"/>
                <a:sym typeface="Arial MT Pro"/>
              </a:rPr>
              <a:t>interconnected ecosystem.</a:t>
            </a:r>
          </a:p>
        </p:txBody>
      </p:sp>
      <p:sp>
        <p:nvSpPr>
          <p:cNvPr name="TextBox 9" id="9"/>
          <p:cNvSpPr txBox="true"/>
          <p:nvPr/>
        </p:nvSpPr>
        <p:spPr>
          <a:xfrm rot="0">
            <a:off x="2081472" y="12104877"/>
            <a:ext cx="11033126" cy="2130146"/>
          </a:xfrm>
          <a:prstGeom prst="rect">
            <a:avLst/>
          </a:prstGeom>
        </p:spPr>
        <p:txBody>
          <a:bodyPr anchor="t" rtlCol="false" tIns="0" lIns="0" bIns="0" rIns="0">
            <a:spAutoFit/>
          </a:bodyPr>
          <a:lstStyle/>
          <a:p>
            <a:pPr algn="l">
              <a:lnSpc>
                <a:spcPts val="3501"/>
              </a:lnSpc>
            </a:pPr>
            <a:r>
              <a:rPr lang="en-US" b="true" sz="2699" spc="5">
                <a:solidFill>
                  <a:srgbClr val="2D2B29"/>
                </a:solidFill>
                <a:latin typeface="Arial MT Pro Bold"/>
                <a:ea typeface="Arial MT Pro Bold"/>
                <a:cs typeface="Arial MT Pro Bold"/>
                <a:sym typeface="Arial MT Pro Bold"/>
              </a:rPr>
              <a:t>The Control Gap: Why Vendor Risk Management Fails</a:t>
            </a:r>
          </a:p>
          <a:p>
            <a:pPr algn="l">
              <a:lnSpc>
                <a:spcPts val="3242"/>
              </a:lnSpc>
            </a:pPr>
            <a:r>
              <a:rPr lang="en-US" b="true" sz="2499" spc="4">
                <a:solidFill>
                  <a:srgbClr val="2D2B29"/>
                </a:solidFill>
                <a:latin typeface="Arial MT Pro Bold"/>
                <a:ea typeface="Arial MT Pro Bold"/>
                <a:cs typeface="Arial MT Pro Bold"/>
                <a:sym typeface="Arial MT Pro Bold"/>
              </a:rPr>
              <a:t>KEY FINDING: Traditional Vendor Audits Are Too Slow.</a:t>
            </a:r>
            <a:r>
              <a:rPr lang="en-US" sz="2499" spc="4">
                <a:solidFill>
                  <a:srgbClr val="2D2B29"/>
                </a:solidFill>
                <a:latin typeface="Arial MT Pro"/>
                <a:ea typeface="Arial MT Pro"/>
                <a:cs typeface="Arial MT Pro"/>
                <a:sym typeface="Arial MT Pro"/>
              </a:rPr>
              <a:t> Point-in-time, compliance-based assessments and questionnaires cannot keep pace with dynamic, real-time threats embedded within software updates or cloud services.</a:t>
            </a:r>
          </a:p>
        </p:txBody>
      </p:sp>
      <p:sp>
        <p:nvSpPr>
          <p:cNvPr name="TextBox 10" id="10"/>
          <p:cNvSpPr txBox="true"/>
          <p:nvPr/>
        </p:nvSpPr>
        <p:spPr>
          <a:xfrm rot="0">
            <a:off x="595216" y="9925968"/>
            <a:ext cx="6700540" cy="1912302"/>
          </a:xfrm>
          <a:prstGeom prst="rect">
            <a:avLst/>
          </a:prstGeom>
        </p:spPr>
        <p:txBody>
          <a:bodyPr anchor="t" rtlCol="false" tIns="0" lIns="0" bIns="0" rIns="0">
            <a:spAutoFit/>
          </a:bodyPr>
          <a:lstStyle/>
          <a:p>
            <a:pPr algn="l">
              <a:lnSpc>
                <a:spcPts val="2942"/>
              </a:lnSpc>
            </a:pPr>
            <a:r>
              <a:rPr lang="en-US" b="true" sz="2499" spc="29">
                <a:solidFill>
                  <a:srgbClr val="2D2B29"/>
                </a:solidFill>
                <a:latin typeface="Arial MT Pro Bold"/>
                <a:ea typeface="Arial MT Pro Bold"/>
                <a:cs typeface="Arial MT Pro Bold"/>
                <a:sym typeface="Arial MT Pro Bold"/>
              </a:rPr>
              <a:t>Theft.</a:t>
            </a:r>
            <a:r>
              <a:rPr lang="en-US" sz="2499" spc="29">
                <a:solidFill>
                  <a:srgbClr val="2D2B29"/>
                </a:solidFill>
                <a:latin typeface="Arial MT Pro"/>
                <a:ea typeface="Arial MT Pro"/>
                <a:cs typeface="Arial MT Pro"/>
                <a:sym typeface="Arial MT Pro"/>
              </a:rPr>
              <a:t> Malware like the "Shal-Hulud" worm</a:t>
            </a:r>
          </a:p>
          <a:p>
            <a:pPr algn="l">
              <a:lnSpc>
                <a:spcPts val="2942"/>
              </a:lnSpc>
            </a:pPr>
            <a:r>
              <a:rPr lang="en-US" sz="2499" spc="14">
                <a:solidFill>
                  <a:srgbClr val="2D2B29"/>
                </a:solidFill>
                <a:latin typeface="Arial MT Pro"/>
                <a:ea typeface="Arial MT Pro"/>
                <a:cs typeface="Arial MT Pro"/>
                <a:sym typeface="Arial MT Pro"/>
              </a:rPr>
              <a:t>uses compromised developer accounts to steal</a:t>
            </a:r>
          </a:p>
          <a:p>
            <a:pPr algn="l">
              <a:lnSpc>
                <a:spcPts val="2942"/>
              </a:lnSpc>
            </a:pPr>
            <a:r>
              <a:rPr lang="en-US" sz="2499" spc="19">
                <a:solidFill>
                  <a:srgbClr val="2D2B29"/>
                </a:solidFill>
                <a:latin typeface="Arial MT Pro"/>
                <a:ea typeface="Arial MT Pro"/>
                <a:cs typeface="Arial MT Pro"/>
                <a:sym typeface="Arial MT Pro"/>
              </a:rPr>
              <a:t>API keys and credentials directly from cloud</a:t>
            </a:r>
          </a:p>
          <a:p>
            <a:pPr algn="l">
              <a:lnSpc>
                <a:spcPts val="2942"/>
              </a:lnSpc>
            </a:pPr>
            <a:r>
              <a:rPr lang="en-US" sz="2499">
                <a:solidFill>
                  <a:srgbClr val="2D2B29"/>
                </a:solidFill>
                <a:latin typeface="Arial MT Pro"/>
                <a:ea typeface="Arial MT Pro"/>
                <a:cs typeface="Arial MT Pro"/>
                <a:sym typeface="Arial MT Pro"/>
              </a:rPr>
              <a:t>environments like AWS Secrets Manager and</a:t>
            </a:r>
          </a:p>
          <a:p>
            <a:pPr algn="l">
              <a:lnSpc>
                <a:spcPts val="2942"/>
              </a:lnSpc>
            </a:pPr>
            <a:r>
              <a:rPr lang="en-US" sz="2499" spc="-52">
                <a:solidFill>
                  <a:srgbClr val="2D2B29"/>
                </a:solidFill>
                <a:latin typeface="Arial MT Pro"/>
                <a:ea typeface="Arial MT Pro"/>
                <a:cs typeface="Arial MT Pro"/>
                <a:sym typeface="Arial MT Pro"/>
              </a:rPr>
              <a:t>Azure Key Vault. (Source: Wiz)</a:t>
            </a:r>
          </a:p>
        </p:txBody>
      </p:sp>
      <p:sp>
        <p:nvSpPr>
          <p:cNvPr name="TextBox 11" id="11"/>
          <p:cNvSpPr txBox="true"/>
          <p:nvPr/>
        </p:nvSpPr>
        <p:spPr>
          <a:xfrm rot="0">
            <a:off x="580780" y="9294270"/>
            <a:ext cx="5510957" cy="403098"/>
          </a:xfrm>
          <a:prstGeom prst="rect">
            <a:avLst/>
          </a:prstGeom>
        </p:spPr>
        <p:txBody>
          <a:bodyPr anchor="t" rtlCol="false" tIns="0" lIns="0" bIns="0" rIns="0">
            <a:spAutoFit/>
          </a:bodyPr>
          <a:lstStyle/>
          <a:p>
            <a:pPr algn="ctr">
              <a:lnSpc>
                <a:spcPts val="2982"/>
              </a:lnSpc>
            </a:pPr>
            <a:r>
              <a:rPr lang="en-US" b="true" sz="2130" spc="-21">
                <a:solidFill>
                  <a:srgbClr val="2D2B29"/>
                </a:solidFill>
                <a:latin typeface="Arial MT Pro Bold"/>
                <a:ea typeface="Arial MT Pro Bold"/>
                <a:cs typeface="Arial MT Pro Bold"/>
                <a:sym typeface="Arial MT Pro Bold"/>
              </a:rPr>
              <a:t>EXAMPLE: Attack Path: Credential &amp; Secret</a:t>
            </a:r>
          </a:p>
        </p:txBody>
      </p:sp>
      <p:sp>
        <p:nvSpPr>
          <p:cNvPr name="TextBox 12" id="12"/>
          <p:cNvSpPr txBox="true"/>
          <p:nvPr/>
        </p:nvSpPr>
        <p:spPr>
          <a:xfrm rot="0">
            <a:off x="580780" y="6825708"/>
            <a:ext cx="6103888" cy="2278062"/>
          </a:xfrm>
          <a:prstGeom prst="rect">
            <a:avLst/>
          </a:prstGeom>
        </p:spPr>
        <p:txBody>
          <a:bodyPr anchor="t" rtlCol="false" tIns="0" lIns="0" bIns="0" rIns="0">
            <a:spAutoFit/>
          </a:bodyPr>
          <a:lstStyle/>
          <a:p>
            <a:pPr algn="l">
              <a:lnSpc>
                <a:spcPts val="2987"/>
              </a:lnSpc>
            </a:pPr>
            <a:r>
              <a:rPr lang="en-US" b="true" sz="2499" spc="7">
                <a:solidFill>
                  <a:srgbClr val="2D2B29"/>
                </a:solidFill>
                <a:latin typeface="Arial MT Pro Bold"/>
                <a:ea typeface="Arial MT Pro Bold"/>
                <a:cs typeface="Arial MT Pro Bold"/>
                <a:sym typeface="Arial MT Pro Bold"/>
              </a:rPr>
              <a:t>KEY FINDING: Invisible to Traditional</a:t>
            </a:r>
          </a:p>
          <a:p>
            <a:pPr algn="l">
              <a:lnSpc>
                <a:spcPts val="2987"/>
              </a:lnSpc>
            </a:pPr>
            <a:r>
              <a:rPr lang="en-US" b="true" sz="2499" spc="7">
                <a:solidFill>
                  <a:srgbClr val="2D2B29"/>
                </a:solidFill>
                <a:latin typeface="Arial MT Pro Bold"/>
                <a:ea typeface="Arial MT Pro Bold"/>
                <a:cs typeface="Arial MT Pro Bold"/>
                <a:sym typeface="Arial MT Pro Bold"/>
              </a:rPr>
              <a:t>Security. </a:t>
            </a:r>
            <a:r>
              <a:rPr lang="en-US" sz="2499" spc="7">
                <a:solidFill>
                  <a:srgbClr val="2D2B29"/>
                </a:solidFill>
                <a:latin typeface="Arial MT Pro"/>
                <a:ea typeface="Arial MT Pro"/>
                <a:cs typeface="Arial MT Pro"/>
                <a:sym typeface="Arial MT Pro"/>
              </a:rPr>
              <a:t>These APIs are often created rapidly by development teams ("vibe coding"), bypassing normal security reviews and existing outside the visibility of network firewalls.</a:t>
            </a:r>
          </a:p>
        </p:txBody>
      </p:sp>
      <p:sp>
        <p:nvSpPr>
          <p:cNvPr name="TextBox 13" id="13"/>
          <p:cNvSpPr txBox="true"/>
          <p:nvPr/>
        </p:nvSpPr>
        <p:spPr>
          <a:xfrm rot="0">
            <a:off x="580780" y="4257133"/>
            <a:ext cx="6103888" cy="2339975"/>
          </a:xfrm>
          <a:prstGeom prst="rect">
            <a:avLst/>
          </a:prstGeom>
        </p:spPr>
        <p:txBody>
          <a:bodyPr anchor="t" rtlCol="false" tIns="0" lIns="0" bIns="0" rIns="0">
            <a:spAutoFit/>
          </a:bodyPr>
          <a:lstStyle/>
          <a:p>
            <a:pPr algn="l">
              <a:lnSpc>
                <a:spcPts val="3024"/>
              </a:lnSpc>
            </a:pPr>
            <a:r>
              <a:rPr lang="en-US" b="true" sz="2499" spc="-9">
                <a:solidFill>
                  <a:srgbClr val="2D2B29"/>
                </a:solidFill>
                <a:latin typeface="Arial MT Pro Bold"/>
                <a:ea typeface="Arial MT Pro Bold"/>
                <a:cs typeface="Arial MT Pro Bold"/>
                <a:sym typeface="Arial MT Pro Bold"/>
              </a:rPr>
              <a:t>D</a:t>
            </a:r>
            <a:r>
              <a:rPr lang="en-US" b="true" sz="2499" spc="-9">
                <a:solidFill>
                  <a:srgbClr val="2D2B29"/>
                </a:solidFill>
                <a:latin typeface="Arial MT Pro Bold"/>
                <a:ea typeface="Arial MT Pro Bold"/>
                <a:cs typeface="Arial MT Pro Bold"/>
                <a:sym typeface="Arial MT Pro Bold"/>
              </a:rPr>
              <a:t>EFINITION: "Shadow APIs" are the</a:t>
            </a:r>
          </a:p>
          <a:p>
            <a:pPr algn="l">
              <a:lnSpc>
                <a:spcPts val="3024"/>
              </a:lnSpc>
            </a:pPr>
            <a:r>
              <a:rPr lang="en-US" b="true" sz="2499" spc="-9">
                <a:solidFill>
                  <a:srgbClr val="2D2B29"/>
                </a:solidFill>
                <a:latin typeface="Arial MT Pro Bold"/>
                <a:ea typeface="Arial MT Pro Bold"/>
                <a:cs typeface="Arial MT Pro Bold"/>
                <a:sym typeface="Arial MT Pro Bold"/>
              </a:rPr>
              <a:t>Silent Risk.</a:t>
            </a:r>
            <a:r>
              <a:rPr lang="en-US" sz="2499" spc="-9">
                <a:solidFill>
                  <a:srgbClr val="2D2B29"/>
                </a:solidFill>
                <a:latin typeface="Arial MT Pro"/>
                <a:ea typeface="Arial MT Pro"/>
                <a:cs typeface="Arial MT Pro"/>
                <a:sym typeface="Arial MT Pro"/>
              </a:rPr>
              <a:t> As businesses integrate Al and</a:t>
            </a:r>
          </a:p>
          <a:p>
            <a:pPr algn="l">
              <a:lnSpc>
                <a:spcPts val="3024"/>
              </a:lnSpc>
            </a:pPr>
            <a:r>
              <a:rPr lang="en-US" sz="2499">
                <a:solidFill>
                  <a:srgbClr val="2D2B29"/>
                </a:solidFill>
                <a:latin typeface="Arial MT Pro"/>
                <a:ea typeface="Arial MT Pro"/>
                <a:cs typeface="Arial MT Pro"/>
                <a:sym typeface="Arial MT Pro"/>
              </a:rPr>
              <a:t>microservices, unmanaged and insecure</a:t>
            </a:r>
          </a:p>
          <a:p>
            <a:pPr algn="l">
              <a:lnSpc>
                <a:spcPts val="3024"/>
              </a:lnSpc>
            </a:pPr>
            <a:r>
              <a:rPr lang="en-US" sz="2499" spc="-14">
                <a:solidFill>
                  <a:srgbClr val="2D2B29"/>
                </a:solidFill>
                <a:latin typeface="Arial MT Pro"/>
                <a:ea typeface="Arial MT Pro"/>
                <a:cs typeface="Arial MT Pro"/>
                <a:sym typeface="Arial MT Pro"/>
              </a:rPr>
              <a:t>APIs have become the central nervous</a:t>
            </a:r>
          </a:p>
          <a:p>
            <a:pPr algn="l">
              <a:lnSpc>
                <a:spcPts val="3024"/>
              </a:lnSpc>
            </a:pPr>
            <a:r>
              <a:rPr lang="en-US" sz="2499" spc="-14">
                <a:solidFill>
                  <a:srgbClr val="2D2B29"/>
                </a:solidFill>
                <a:latin typeface="Arial MT Pro"/>
                <a:ea typeface="Arial MT Pro"/>
                <a:cs typeface="Arial MT Pro"/>
                <a:sym typeface="Arial MT Pro"/>
              </a:rPr>
              <a:t>system of data flow, creating a creeping,</a:t>
            </a:r>
          </a:p>
          <a:p>
            <a:pPr algn="l">
              <a:lnSpc>
                <a:spcPts val="3024"/>
              </a:lnSpc>
            </a:pPr>
            <a:r>
              <a:rPr lang="en-US" sz="2499" spc="-14">
                <a:solidFill>
                  <a:srgbClr val="2D2B29"/>
                </a:solidFill>
                <a:latin typeface="Arial MT Pro"/>
                <a:ea typeface="Arial MT Pro"/>
                <a:cs typeface="Arial MT Pro"/>
                <a:sym typeface="Arial MT Pro"/>
              </a:rPr>
              <a:t>silent risk. (Source: STL Digital)</a:t>
            </a:r>
          </a:p>
        </p:txBody>
      </p:sp>
      <p:sp>
        <p:nvSpPr>
          <p:cNvPr name="TextBox 14" id="14"/>
          <p:cNvSpPr txBox="true"/>
          <p:nvPr/>
        </p:nvSpPr>
        <p:spPr>
          <a:xfrm rot="0">
            <a:off x="580780" y="2771901"/>
            <a:ext cx="5118943" cy="1264535"/>
          </a:xfrm>
          <a:prstGeom prst="rect">
            <a:avLst/>
          </a:prstGeom>
        </p:spPr>
        <p:txBody>
          <a:bodyPr anchor="t" rtlCol="false" tIns="0" lIns="0" bIns="0" rIns="0">
            <a:spAutoFit/>
          </a:bodyPr>
          <a:lstStyle/>
          <a:p>
            <a:pPr algn="just">
              <a:lnSpc>
                <a:spcPts val="4851"/>
              </a:lnSpc>
            </a:pPr>
            <a:r>
              <a:rPr lang="en-US" b="true" sz="3465" spc="-117">
                <a:solidFill>
                  <a:srgbClr val="2D2B29"/>
                </a:solidFill>
                <a:latin typeface="Arial MT Pro Bold"/>
                <a:ea typeface="Arial MT Pro Bold"/>
                <a:cs typeface="Arial MT Pro Bold"/>
                <a:sym typeface="Arial MT Pro Bold"/>
              </a:rPr>
              <a:t>"Shadow APIs" are the Silent Risk</a:t>
            </a:r>
          </a:p>
        </p:txBody>
      </p:sp>
      <p:sp>
        <p:nvSpPr>
          <p:cNvPr name="TextBox 15" id="15"/>
          <p:cNvSpPr txBox="true"/>
          <p:nvPr/>
        </p:nvSpPr>
        <p:spPr>
          <a:xfrm rot="0">
            <a:off x="580780" y="1372965"/>
            <a:ext cx="5541764" cy="1264412"/>
          </a:xfrm>
          <a:prstGeom prst="rect">
            <a:avLst/>
          </a:prstGeom>
        </p:spPr>
        <p:txBody>
          <a:bodyPr anchor="t" rtlCol="false" tIns="0" lIns="0" bIns="0" rIns="0">
            <a:spAutoFit/>
          </a:bodyPr>
          <a:lstStyle/>
          <a:p>
            <a:pPr algn="ctr">
              <a:lnSpc>
                <a:spcPts val="4858"/>
              </a:lnSpc>
            </a:pPr>
            <a:r>
              <a:rPr lang="en-US" b="true" sz="3470" spc="10">
                <a:solidFill>
                  <a:srgbClr val="2D2B29"/>
                </a:solidFill>
                <a:latin typeface="Arial MT Pro Bold"/>
                <a:ea typeface="Arial MT Pro Bold"/>
                <a:cs typeface="Arial MT Pro Bold"/>
                <a:sym typeface="Arial MT Pro Bold"/>
              </a:rPr>
              <a:t>The Hidden Threat Vector:</a:t>
            </a:r>
          </a:p>
          <a:p>
            <a:pPr algn="l">
              <a:lnSpc>
                <a:spcPts val="4858"/>
              </a:lnSpc>
            </a:pPr>
            <a:r>
              <a:rPr lang="en-US" b="true" sz="3470" spc="10">
                <a:solidFill>
                  <a:srgbClr val="2D2B29"/>
                </a:solidFill>
                <a:latin typeface="Arial MT Pro Bold"/>
                <a:ea typeface="Arial MT Pro Bold"/>
                <a:cs typeface="Arial MT Pro Bold"/>
                <a:sym typeface="Arial MT Pro Bold"/>
              </a:rPr>
              <a:t>Shadow APIs</a:t>
            </a:r>
          </a:p>
        </p:txBody>
      </p:sp>
      <p:sp>
        <p:nvSpPr>
          <p:cNvPr name="TextBox 16" id="16"/>
          <p:cNvSpPr txBox="true"/>
          <p:nvPr/>
        </p:nvSpPr>
        <p:spPr>
          <a:xfrm rot="0">
            <a:off x="3979410" y="439513"/>
            <a:ext cx="18231445" cy="1066801"/>
          </a:xfrm>
          <a:prstGeom prst="rect">
            <a:avLst/>
          </a:prstGeom>
        </p:spPr>
        <p:txBody>
          <a:bodyPr anchor="t" rtlCol="false" tIns="0" lIns="0" bIns="0" rIns="0">
            <a:spAutoFit/>
          </a:bodyPr>
          <a:lstStyle/>
          <a:p>
            <a:pPr algn="ctr">
              <a:lnSpc>
                <a:spcPts val="7874"/>
              </a:lnSpc>
            </a:pPr>
            <a:r>
              <a:rPr lang="en-US" b="true" sz="5624" spc="95">
                <a:solidFill>
                  <a:srgbClr val="131213"/>
                </a:solidFill>
                <a:latin typeface="Arial MT Pro Bold"/>
                <a:ea typeface="Arial MT Pro Bold"/>
                <a:cs typeface="Arial MT Pro Bold"/>
                <a:sym typeface="Arial MT Pro Bold"/>
              </a:rPr>
              <a:t>Systemic Risk: The Threat is Now Outside the Walls</a:t>
            </a:r>
          </a:p>
        </p:txBody>
      </p:sp>
      <p:sp>
        <p:nvSpPr>
          <p:cNvPr name="TextBox 17" id="17"/>
          <p:cNvSpPr txBox="true"/>
          <p:nvPr/>
        </p:nvSpPr>
        <p:spPr>
          <a:xfrm rot="0">
            <a:off x="20765553" y="9747725"/>
            <a:ext cx="4534411" cy="1899924"/>
          </a:xfrm>
          <a:prstGeom prst="rect">
            <a:avLst/>
          </a:prstGeom>
        </p:spPr>
        <p:txBody>
          <a:bodyPr anchor="t" rtlCol="false" tIns="0" lIns="0" bIns="0" rIns="0">
            <a:spAutoFit/>
          </a:bodyPr>
          <a:lstStyle/>
          <a:p>
            <a:pPr algn="l">
              <a:lnSpc>
                <a:spcPts val="2969"/>
              </a:lnSpc>
            </a:pPr>
            <a:r>
              <a:rPr lang="en-US" sz="2316" spc="-23">
                <a:solidFill>
                  <a:srgbClr val="2D2B29"/>
                </a:solidFill>
                <a:latin typeface="Arial MT Pro"/>
                <a:ea typeface="Arial MT Pro"/>
                <a:cs typeface="Arial MT Pro"/>
                <a:sym typeface="Arial MT Pro"/>
              </a:rPr>
              <a:t>A breach at Dimensional Control Systems, a software provider, exposed sensitive data from its major manufacturing clients, including Boeing </a:t>
            </a:r>
          </a:p>
        </p:txBody>
      </p:sp>
      <p:sp>
        <p:nvSpPr>
          <p:cNvPr name="TextBox 18" id="18"/>
          <p:cNvSpPr txBox="true"/>
          <p:nvPr/>
        </p:nvSpPr>
        <p:spPr>
          <a:xfrm rot="0">
            <a:off x="20765553" y="6395732"/>
            <a:ext cx="4557564" cy="2276668"/>
          </a:xfrm>
          <a:prstGeom prst="rect">
            <a:avLst/>
          </a:prstGeom>
        </p:spPr>
        <p:txBody>
          <a:bodyPr anchor="t" rtlCol="false" tIns="0" lIns="0" bIns="0" rIns="0">
            <a:spAutoFit/>
          </a:bodyPr>
          <a:lstStyle/>
          <a:p>
            <a:pPr algn="l">
              <a:lnSpc>
                <a:spcPts val="2932"/>
              </a:lnSpc>
            </a:pPr>
            <a:r>
              <a:rPr lang="en-US" sz="2319" spc="-20">
                <a:solidFill>
                  <a:srgbClr val="2D2B29"/>
                </a:solidFill>
                <a:latin typeface="Arial MT Pro"/>
                <a:ea typeface="Arial MT Pro"/>
                <a:cs typeface="Arial MT Pro"/>
                <a:sym typeface="Arial MT Pro"/>
              </a:rPr>
              <a:t>The "Shal-Hulud 2.0" worm attack</a:t>
            </a:r>
          </a:p>
          <a:p>
            <a:pPr algn="l">
              <a:lnSpc>
                <a:spcPts val="2932"/>
              </a:lnSpc>
            </a:pPr>
            <a:r>
              <a:rPr lang="en-US" sz="2319" spc="-20">
                <a:solidFill>
                  <a:srgbClr val="2D2B29"/>
                </a:solidFill>
                <a:latin typeface="Arial MT Pro"/>
                <a:ea typeface="Arial MT Pro"/>
                <a:cs typeface="Arial MT Pro"/>
                <a:sym typeface="Arial MT Pro"/>
              </a:rPr>
              <a:t>compromised ~700 legitimate npm</a:t>
            </a:r>
          </a:p>
          <a:p>
            <a:pPr algn="l">
              <a:lnSpc>
                <a:spcPts val="2932"/>
              </a:lnSpc>
            </a:pPr>
            <a:r>
              <a:rPr lang="en-US" sz="2319">
                <a:solidFill>
                  <a:srgbClr val="2D2B29"/>
                </a:solidFill>
                <a:latin typeface="Arial MT Pro"/>
                <a:ea typeface="Arial MT Pro"/>
                <a:cs typeface="Arial MT Pro"/>
                <a:sym typeface="Arial MT Pro"/>
              </a:rPr>
              <a:t>packages, leading to the automated </a:t>
            </a:r>
            <a:r>
              <a:rPr lang="en-US" sz="2319">
                <a:solidFill>
                  <a:srgbClr val="2D2B29"/>
                </a:solidFill>
                <a:latin typeface="Arial MT Pro"/>
                <a:ea typeface="Arial MT Pro"/>
                <a:cs typeface="Arial MT Pro"/>
                <a:sym typeface="Arial MT Pro"/>
              </a:rPr>
              <a:t>creation of over 25,000 millicious and widespread data exfilitation.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1048464" y="623576"/>
            <a:ext cx="12243495" cy="2868930"/>
          </a:xfrm>
          <a:prstGeom prst="rect">
            <a:avLst/>
          </a:prstGeom>
        </p:spPr>
        <p:txBody>
          <a:bodyPr anchor="t" rtlCol="false" tIns="0" lIns="0" bIns="0" rIns="0">
            <a:spAutoFit/>
          </a:bodyPr>
          <a:lstStyle/>
          <a:p>
            <a:pPr algn="l">
              <a:lnSpc>
                <a:spcPts val="7900"/>
              </a:lnSpc>
            </a:pPr>
            <a:r>
              <a:rPr lang="en-US" b="true" sz="5000">
                <a:solidFill>
                  <a:srgbClr val="142437"/>
                </a:solidFill>
                <a:latin typeface="Arial MT Pro Bold"/>
                <a:ea typeface="Arial MT Pro Bold"/>
                <a:cs typeface="Arial MT Pro Bold"/>
                <a:sym typeface="Arial MT Pro Bold"/>
              </a:rPr>
              <a:t>Financial Fraud &amp; Al Social Engineering:</a:t>
            </a:r>
          </a:p>
          <a:p>
            <a:pPr algn="l">
              <a:lnSpc>
                <a:spcPts val="7900"/>
              </a:lnSpc>
            </a:pPr>
            <a:r>
              <a:rPr lang="en-US" b="true" sz="5000">
                <a:solidFill>
                  <a:srgbClr val="142437"/>
                </a:solidFill>
                <a:latin typeface="Arial MT Pro Bold"/>
                <a:ea typeface="Arial MT Pro Bold"/>
                <a:cs typeface="Arial MT Pro Bold"/>
                <a:sym typeface="Arial MT Pro Bold"/>
              </a:rPr>
              <a:t>How Al Weaponizes the Human Element</a:t>
            </a:r>
          </a:p>
          <a:p>
            <a:pPr algn="l">
              <a:lnSpc>
                <a:spcPts val="6319"/>
              </a:lnSpc>
            </a:pPr>
            <a:r>
              <a:rPr lang="en-US" b="true" sz="3999">
                <a:solidFill>
                  <a:srgbClr val="142437"/>
                </a:solidFill>
                <a:latin typeface="Arial MT Pro Bold"/>
                <a:ea typeface="Arial MT Pro Bold"/>
                <a:cs typeface="Arial MT Pro Bold"/>
                <a:sym typeface="Arial MT Pro Bold"/>
              </a:rPr>
              <a:t>The Anatomy of a Deepfake CEO Fraud Attack</a:t>
            </a:r>
          </a:p>
        </p:txBody>
      </p:sp>
      <p:sp>
        <p:nvSpPr>
          <p:cNvPr name="TextBox 4" id="4"/>
          <p:cNvSpPr txBox="true"/>
          <p:nvPr/>
        </p:nvSpPr>
        <p:spPr>
          <a:xfrm rot="0">
            <a:off x="1490271" y="4615410"/>
            <a:ext cx="1935565" cy="673100"/>
          </a:xfrm>
          <a:prstGeom prst="rect">
            <a:avLst/>
          </a:prstGeom>
        </p:spPr>
        <p:txBody>
          <a:bodyPr anchor="t" rtlCol="false" tIns="0" lIns="0" bIns="0" rIns="0">
            <a:spAutoFit/>
          </a:bodyPr>
          <a:lstStyle/>
          <a:p>
            <a:pPr algn="just">
              <a:lnSpc>
                <a:spcPts val="4900"/>
              </a:lnSpc>
            </a:pPr>
            <a:r>
              <a:rPr lang="en-US" b="true" sz="3500">
                <a:solidFill>
                  <a:srgbClr val="282723"/>
                </a:solidFill>
                <a:latin typeface="Arial MT Pro Bold"/>
                <a:ea typeface="Arial MT Pro Bold"/>
                <a:cs typeface="Arial MT Pro Bold"/>
                <a:sym typeface="Arial MT Pro Bold"/>
              </a:rPr>
              <a:t>Step 1:</a:t>
            </a:r>
          </a:p>
        </p:txBody>
      </p:sp>
      <p:sp>
        <p:nvSpPr>
          <p:cNvPr name="TextBox 5" id="5"/>
          <p:cNvSpPr txBox="true"/>
          <p:nvPr/>
        </p:nvSpPr>
        <p:spPr>
          <a:xfrm rot="0">
            <a:off x="1473428" y="5210287"/>
            <a:ext cx="4610993" cy="891502"/>
          </a:xfrm>
          <a:prstGeom prst="rect">
            <a:avLst/>
          </a:prstGeom>
        </p:spPr>
        <p:txBody>
          <a:bodyPr anchor="t" rtlCol="false" tIns="0" lIns="0" bIns="0" rIns="0">
            <a:spAutoFit/>
          </a:bodyPr>
          <a:lstStyle/>
          <a:p>
            <a:pPr algn="l">
              <a:lnSpc>
                <a:spcPts val="3345"/>
              </a:lnSpc>
            </a:pPr>
            <a:r>
              <a:rPr lang="en-US" b="true" sz="2700">
                <a:solidFill>
                  <a:srgbClr val="282723"/>
                </a:solidFill>
                <a:latin typeface="Arial MT Pro Bold"/>
                <a:ea typeface="Arial MT Pro Bold"/>
                <a:cs typeface="Arial MT Pro Bold"/>
                <a:sym typeface="Arial MT Pro Bold"/>
              </a:rPr>
              <a:t>Reconnaissance</a:t>
            </a:r>
          </a:p>
          <a:p>
            <a:pPr algn="l">
              <a:lnSpc>
                <a:spcPts val="3345"/>
              </a:lnSpc>
            </a:pPr>
            <a:r>
              <a:rPr lang="en-US" b="true" sz="2700">
                <a:solidFill>
                  <a:srgbClr val="282723"/>
                </a:solidFill>
                <a:latin typeface="Arial MT Pro Bold"/>
                <a:ea typeface="Arial MT Pro Bold"/>
                <a:cs typeface="Arial MT Pro Bold"/>
                <a:sym typeface="Arial MT Pro Bold"/>
              </a:rPr>
              <a:t>(Voice Sampling &amp; Profiling)</a:t>
            </a:r>
          </a:p>
        </p:txBody>
      </p:sp>
      <p:sp>
        <p:nvSpPr>
          <p:cNvPr name="TextBox 6" id="6"/>
          <p:cNvSpPr txBox="true"/>
          <p:nvPr/>
        </p:nvSpPr>
        <p:spPr>
          <a:xfrm rot="0">
            <a:off x="1214169" y="6165988"/>
            <a:ext cx="5381703" cy="2655252"/>
          </a:xfrm>
          <a:prstGeom prst="rect">
            <a:avLst/>
          </a:prstGeom>
        </p:spPr>
        <p:txBody>
          <a:bodyPr anchor="t" rtlCol="false" tIns="0" lIns="0" bIns="0" rIns="0">
            <a:spAutoFit/>
          </a:bodyPr>
          <a:lstStyle/>
          <a:p>
            <a:pPr algn="l">
              <a:lnSpc>
                <a:spcPts val="2942"/>
              </a:lnSpc>
            </a:pPr>
            <a:r>
              <a:rPr lang="en-US" sz="2499">
                <a:solidFill>
                  <a:srgbClr val="282723"/>
                </a:solidFill>
                <a:latin typeface="Arial MT Pro"/>
                <a:ea typeface="Arial MT Pro"/>
                <a:cs typeface="Arial MT Pro"/>
                <a:sym typeface="Arial MT Pro"/>
              </a:rPr>
              <a:t>Attackers use Al-powered Open-</a:t>
            </a:r>
          </a:p>
          <a:p>
            <a:pPr algn="l">
              <a:lnSpc>
                <a:spcPts val="2942"/>
              </a:lnSpc>
            </a:pPr>
            <a:r>
              <a:rPr lang="en-US" sz="2499">
                <a:solidFill>
                  <a:srgbClr val="282723"/>
                </a:solidFill>
                <a:latin typeface="Arial MT Pro"/>
                <a:ea typeface="Arial MT Pro"/>
                <a:cs typeface="Arial MT Pro"/>
                <a:sym typeface="Arial MT Pro"/>
              </a:rPr>
              <a:t>Source Intelligence (OSINT) to scrape public sources like conference presentations, interviews, and social media videos to collect voice samples of C-suite executives and learn their speech patterns.</a:t>
            </a:r>
          </a:p>
        </p:txBody>
      </p:sp>
      <p:sp>
        <p:nvSpPr>
          <p:cNvPr name="TextBox 7" id="7"/>
          <p:cNvSpPr txBox="true"/>
          <p:nvPr/>
        </p:nvSpPr>
        <p:spPr>
          <a:xfrm rot="0">
            <a:off x="7525635" y="4676951"/>
            <a:ext cx="4115991" cy="1536662"/>
          </a:xfrm>
          <a:prstGeom prst="rect">
            <a:avLst/>
          </a:prstGeom>
        </p:spPr>
        <p:txBody>
          <a:bodyPr anchor="t" rtlCol="false" tIns="0" lIns="0" bIns="0" rIns="0">
            <a:spAutoFit/>
          </a:bodyPr>
          <a:lstStyle/>
          <a:p>
            <a:pPr algn="l">
              <a:lnSpc>
                <a:spcPts val="4595"/>
              </a:lnSpc>
            </a:pPr>
            <a:r>
              <a:rPr lang="en-US" b="true" sz="3500">
                <a:solidFill>
                  <a:srgbClr val="282723"/>
                </a:solidFill>
                <a:latin typeface="Arial MT Pro Bold"/>
                <a:ea typeface="Arial MT Pro Bold"/>
                <a:cs typeface="Arial MT Pro Bold"/>
                <a:sym typeface="Arial MT Pro Bold"/>
              </a:rPr>
              <a:t>Step 2:</a:t>
            </a:r>
          </a:p>
          <a:p>
            <a:pPr algn="l">
              <a:lnSpc>
                <a:spcPts val="3545"/>
              </a:lnSpc>
            </a:pPr>
            <a:r>
              <a:rPr lang="en-US" b="true" sz="2700">
                <a:solidFill>
                  <a:srgbClr val="282723"/>
                </a:solidFill>
                <a:latin typeface="Arial MT Pro Bold"/>
                <a:ea typeface="Arial MT Pro Bold"/>
                <a:cs typeface="Arial MT Pro Bold"/>
                <a:sym typeface="Arial MT Pro Bold"/>
              </a:rPr>
              <a:t>Impersonation</a:t>
            </a:r>
          </a:p>
          <a:p>
            <a:pPr algn="l">
              <a:lnSpc>
                <a:spcPts val="3545"/>
              </a:lnSpc>
            </a:pPr>
            <a:r>
              <a:rPr lang="en-US" b="true" sz="2700">
                <a:solidFill>
                  <a:srgbClr val="282723"/>
                </a:solidFill>
                <a:latin typeface="Arial MT Pro Bold"/>
                <a:ea typeface="Arial MT Pro Bold"/>
                <a:cs typeface="Arial MT Pro Bold"/>
                <a:sym typeface="Arial MT Pro Bold"/>
              </a:rPr>
              <a:t>(Al-Generated Voice Call</a:t>
            </a:r>
            <a:r>
              <a:rPr lang="en-US" sz="2700">
                <a:solidFill>
                  <a:srgbClr val="282723"/>
                </a:solidFill>
                <a:latin typeface="Arial MT Pro"/>
                <a:ea typeface="Arial MT Pro"/>
                <a:cs typeface="Arial MT Pro"/>
                <a:sym typeface="Arial MT Pro"/>
              </a:rPr>
              <a:t>)</a:t>
            </a:r>
          </a:p>
        </p:txBody>
      </p:sp>
      <p:sp>
        <p:nvSpPr>
          <p:cNvPr name="TextBox 8" id="8"/>
          <p:cNvSpPr txBox="true"/>
          <p:nvPr/>
        </p:nvSpPr>
        <p:spPr>
          <a:xfrm rot="0">
            <a:off x="7519797" y="6412824"/>
            <a:ext cx="5121548" cy="2803842"/>
          </a:xfrm>
          <a:prstGeom prst="rect">
            <a:avLst/>
          </a:prstGeom>
        </p:spPr>
        <p:txBody>
          <a:bodyPr anchor="t" rtlCol="false" tIns="0" lIns="0" bIns="0" rIns="0">
            <a:spAutoFit/>
          </a:bodyPr>
          <a:lstStyle/>
          <a:p>
            <a:pPr algn="l">
              <a:lnSpc>
                <a:spcPts val="2747"/>
              </a:lnSpc>
            </a:pPr>
            <a:r>
              <a:rPr lang="en-US" sz="2499">
                <a:solidFill>
                  <a:srgbClr val="282723"/>
                </a:solidFill>
                <a:latin typeface="Arial MT Pro"/>
                <a:ea typeface="Arial MT Pro"/>
                <a:cs typeface="Arial MT Pro"/>
                <a:sym typeface="Arial MT Pro"/>
              </a:rPr>
              <a:t>Using the collected voice samples,</a:t>
            </a:r>
          </a:p>
          <a:p>
            <a:pPr algn="l">
              <a:lnSpc>
                <a:spcPts val="2747"/>
              </a:lnSpc>
            </a:pPr>
            <a:r>
              <a:rPr lang="en-US" sz="2499">
                <a:solidFill>
                  <a:srgbClr val="282723"/>
                </a:solidFill>
                <a:latin typeface="Arial MT Pro"/>
                <a:ea typeface="Arial MT Pro"/>
                <a:cs typeface="Arial MT Pro"/>
                <a:sym typeface="Arial MT Pro"/>
              </a:rPr>
              <a:t>attackers deploy generative Al to</a:t>
            </a:r>
          </a:p>
          <a:p>
            <a:pPr algn="l">
              <a:lnSpc>
                <a:spcPts val="2747"/>
              </a:lnSpc>
            </a:pPr>
            <a:r>
              <a:rPr lang="en-US" sz="2499">
                <a:solidFill>
                  <a:srgbClr val="282723"/>
                </a:solidFill>
                <a:latin typeface="Arial MT Pro"/>
                <a:ea typeface="Arial MT Pro"/>
                <a:cs typeface="Arial MT Pro"/>
                <a:sym typeface="Arial MT Pro"/>
              </a:rPr>
              <a:t>create a realistic deepfake audio clone of the executive. This clone is used to place an urgent call to an employee in the finance department, requesting an immediate wire transfer.</a:t>
            </a:r>
          </a:p>
        </p:txBody>
      </p:sp>
      <p:sp>
        <p:nvSpPr>
          <p:cNvPr name="TextBox 9" id="9"/>
          <p:cNvSpPr txBox="true"/>
          <p:nvPr/>
        </p:nvSpPr>
        <p:spPr>
          <a:xfrm rot="0">
            <a:off x="13561605" y="4603863"/>
            <a:ext cx="1481882" cy="673100"/>
          </a:xfrm>
          <a:prstGeom prst="rect">
            <a:avLst/>
          </a:prstGeom>
        </p:spPr>
        <p:txBody>
          <a:bodyPr anchor="t" rtlCol="false" tIns="0" lIns="0" bIns="0" rIns="0">
            <a:spAutoFit/>
          </a:bodyPr>
          <a:lstStyle/>
          <a:p>
            <a:pPr algn="l">
              <a:lnSpc>
                <a:spcPts val="4900"/>
              </a:lnSpc>
            </a:pPr>
            <a:r>
              <a:rPr lang="en-US" b="true" sz="3500">
                <a:solidFill>
                  <a:srgbClr val="282723"/>
                </a:solidFill>
                <a:latin typeface="Arial MT Pro Bold"/>
                <a:ea typeface="Arial MT Pro Bold"/>
                <a:cs typeface="Arial MT Pro Bold"/>
                <a:sym typeface="Arial MT Pro Bold"/>
              </a:rPr>
              <a:t>Step 3:</a:t>
            </a:r>
          </a:p>
        </p:txBody>
      </p:sp>
      <p:sp>
        <p:nvSpPr>
          <p:cNvPr name="TextBox 10" id="10"/>
          <p:cNvSpPr txBox="true"/>
          <p:nvPr/>
        </p:nvSpPr>
        <p:spPr>
          <a:xfrm rot="0">
            <a:off x="13561605" y="5116628"/>
            <a:ext cx="5398820" cy="4403420"/>
          </a:xfrm>
          <a:prstGeom prst="rect">
            <a:avLst/>
          </a:prstGeom>
        </p:spPr>
        <p:txBody>
          <a:bodyPr anchor="t" rtlCol="false" tIns="0" lIns="0" bIns="0" rIns="0">
            <a:spAutoFit/>
          </a:bodyPr>
          <a:lstStyle/>
          <a:p>
            <a:pPr algn="l">
              <a:lnSpc>
                <a:spcPts val="3372"/>
              </a:lnSpc>
            </a:pPr>
            <a:r>
              <a:rPr lang="en-US" b="true" sz="2700">
                <a:solidFill>
                  <a:srgbClr val="282723"/>
                </a:solidFill>
                <a:latin typeface="Arial MT Pro Bold"/>
                <a:ea typeface="Arial MT Pro Bold"/>
                <a:cs typeface="Arial MT Pro Bold"/>
                <a:sym typeface="Arial MT Pro Bold"/>
              </a:rPr>
              <a:t>Authorization (Social</a:t>
            </a:r>
          </a:p>
          <a:p>
            <a:pPr algn="l">
              <a:lnSpc>
                <a:spcPts val="3372"/>
              </a:lnSpc>
            </a:pPr>
            <a:r>
              <a:rPr lang="en-US" b="true" sz="2700">
                <a:solidFill>
                  <a:srgbClr val="282723"/>
                </a:solidFill>
                <a:latin typeface="Arial MT Pro Bold"/>
                <a:ea typeface="Arial MT Pro Bold"/>
                <a:cs typeface="Arial MT Pro Bold"/>
                <a:sym typeface="Arial MT Pro Bold"/>
              </a:rPr>
              <a:t>Engineering &amp; MFA Bypass)</a:t>
            </a:r>
          </a:p>
          <a:p>
            <a:pPr algn="l">
              <a:lnSpc>
                <a:spcPts val="3122"/>
              </a:lnSpc>
            </a:pPr>
            <a:r>
              <a:rPr lang="en-US" sz="2499">
                <a:solidFill>
                  <a:srgbClr val="282723"/>
                </a:solidFill>
                <a:latin typeface="Arial MT Pro"/>
                <a:ea typeface="Arial MT Pro"/>
                <a:cs typeface="Arial MT Pro"/>
                <a:sym typeface="Arial MT Pro"/>
              </a:rPr>
              <a:t>The attacker, convincingly impersonating a trusted executive,</a:t>
            </a:r>
          </a:p>
          <a:p>
            <a:pPr algn="l">
              <a:lnSpc>
                <a:spcPts val="3122"/>
              </a:lnSpc>
            </a:pPr>
            <a:r>
              <a:rPr lang="en-US" sz="2499">
                <a:solidFill>
                  <a:srgbClr val="282723"/>
                </a:solidFill>
                <a:latin typeface="Arial MT Pro"/>
                <a:ea typeface="Arial MT Pro"/>
                <a:cs typeface="Arial MT Pro"/>
                <a:sym typeface="Arial MT Pro"/>
              </a:rPr>
              <a:t>pressures the employee to authorize the payment. This social engineering can bypass standard Multi-Factor Authentication (MFA) by tricking the user into approving a prompt from a malicious sign-in page or downgrading to a less secure method.</a:t>
            </a:r>
          </a:p>
        </p:txBody>
      </p:sp>
      <p:sp>
        <p:nvSpPr>
          <p:cNvPr name="TextBox 11" id="11"/>
          <p:cNvSpPr txBox="true"/>
          <p:nvPr/>
        </p:nvSpPr>
        <p:spPr>
          <a:xfrm rot="0">
            <a:off x="19780102" y="4667426"/>
            <a:ext cx="4969658" cy="4821936"/>
          </a:xfrm>
          <a:prstGeom prst="rect">
            <a:avLst/>
          </a:prstGeom>
        </p:spPr>
        <p:txBody>
          <a:bodyPr anchor="t" rtlCol="false" tIns="0" lIns="0" bIns="0" rIns="0">
            <a:spAutoFit/>
          </a:bodyPr>
          <a:lstStyle/>
          <a:p>
            <a:pPr algn="l">
              <a:lnSpc>
                <a:spcPts val="4616"/>
              </a:lnSpc>
            </a:pPr>
            <a:r>
              <a:rPr lang="en-US" b="true" sz="3500">
                <a:solidFill>
                  <a:srgbClr val="282723"/>
                </a:solidFill>
                <a:latin typeface="Arial MT Pro Bold"/>
                <a:ea typeface="Arial MT Pro Bold"/>
                <a:cs typeface="Arial MT Pro Bold"/>
                <a:sym typeface="Arial MT Pro Bold"/>
              </a:rPr>
              <a:t>Step 4:</a:t>
            </a:r>
          </a:p>
          <a:p>
            <a:pPr algn="l">
              <a:lnSpc>
                <a:spcPts val="3561"/>
              </a:lnSpc>
            </a:pPr>
            <a:r>
              <a:rPr lang="en-US" b="true" sz="2700">
                <a:solidFill>
                  <a:srgbClr val="282723"/>
                </a:solidFill>
                <a:latin typeface="Arial MT Pro Bold"/>
                <a:ea typeface="Arial MT Pro Bold"/>
                <a:cs typeface="Arial MT Pro Bold"/>
                <a:sym typeface="Arial MT Pro Bold"/>
              </a:rPr>
              <a:t>Transfer (Real-Time,</a:t>
            </a:r>
          </a:p>
          <a:p>
            <a:pPr algn="l">
              <a:lnSpc>
                <a:spcPts val="3561"/>
              </a:lnSpc>
            </a:pPr>
            <a:r>
              <a:rPr lang="en-US" b="true" sz="2700">
                <a:solidFill>
                  <a:srgbClr val="282723"/>
                </a:solidFill>
                <a:latin typeface="Arial MT Pro Bold"/>
                <a:ea typeface="Arial MT Pro Bold"/>
                <a:cs typeface="Arial MT Pro Bold"/>
                <a:sym typeface="Arial MT Pro Bold"/>
              </a:rPr>
              <a:t>Irreversible Payment)</a:t>
            </a:r>
          </a:p>
          <a:p>
            <a:pPr algn="l">
              <a:lnSpc>
                <a:spcPts val="3297"/>
              </a:lnSpc>
            </a:pPr>
            <a:r>
              <a:rPr lang="en-US" sz="2499">
                <a:solidFill>
                  <a:srgbClr val="282723"/>
                </a:solidFill>
                <a:latin typeface="Arial MT Pro"/>
                <a:ea typeface="Arial MT Pro"/>
                <a:cs typeface="Arial MT Pro"/>
                <a:sym typeface="Arial MT Pro"/>
              </a:rPr>
              <a:t>The employee, believing the request is legitimate, executes the transfer via an instant payment scheme. The funds are moved immediately and are often irrecoverable, as the speed of the transaction outpaces traditional fraud detection systems.</a:t>
            </a:r>
          </a:p>
        </p:txBody>
      </p:sp>
      <p:sp>
        <p:nvSpPr>
          <p:cNvPr name="TextBox 12" id="12"/>
          <p:cNvSpPr txBox="true"/>
          <p:nvPr/>
        </p:nvSpPr>
        <p:spPr>
          <a:xfrm rot="0">
            <a:off x="1214169" y="10226316"/>
            <a:ext cx="6965305" cy="673100"/>
          </a:xfrm>
          <a:prstGeom prst="rect">
            <a:avLst/>
          </a:prstGeom>
        </p:spPr>
        <p:txBody>
          <a:bodyPr anchor="t" rtlCol="false" tIns="0" lIns="0" bIns="0" rIns="0">
            <a:spAutoFit/>
          </a:bodyPr>
          <a:lstStyle/>
          <a:p>
            <a:pPr algn="ctr">
              <a:lnSpc>
                <a:spcPts val="4900"/>
              </a:lnSpc>
            </a:pPr>
            <a:r>
              <a:rPr lang="en-US" b="true" sz="3500">
                <a:solidFill>
                  <a:srgbClr val="282723"/>
                </a:solidFill>
                <a:latin typeface="Arial MT Pro Bold"/>
                <a:ea typeface="Arial MT Pro Bold"/>
                <a:cs typeface="Arial MT Pro Bold"/>
                <a:sym typeface="Arial MT Pro Bold"/>
              </a:rPr>
              <a:t>Critical Threat Vectors and Risks</a:t>
            </a:r>
          </a:p>
        </p:txBody>
      </p:sp>
      <p:sp>
        <p:nvSpPr>
          <p:cNvPr name="TextBox 13" id="13"/>
          <p:cNvSpPr txBox="true"/>
          <p:nvPr/>
        </p:nvSpPr>
        <p:spPr>
          <a:xfrm rot="0">
            <a:off x="1048464" y="12131152"/>
            <a:ext cx="7657505" cy="1947596"/>
          </a:xfrm>
          <a:prstGeom prst="rect">
            <a:avLst/>
          </a:prstGeom>
        </p:spPr>
        <p:txBody>
          <a:bodyPr anchor="t" rtlCol="false" tIns="0" lIns="0" bIns="0" rIns="0">
            <a:spAutoFit/>
          </a:bodyPr>
          <a:lstStyle/>
          <a:p>
            <a:pPr algn="l">
              <a:lnSpc>
                <a:spcPts val="3069"/>
              </a:lnSpc>
            </a:pPr>
            <a:r>
              <a:rPr lang="en-US" sz="2400">
                <a:solidFill>
                  <a:srgbClr val="282723"/>
                </a:solidFill>
                <a:latin typeface="Arial MT Pro"/>
                <a:ea typeface="Arial MT Pro"/>
                <a:cs typeface="Arial MT Pro"/>
                <a:sym typeface="Arial MT Pro"/>
              </a:rPr>
              <a:t>Sophisticated voice cloning technology can now recreate</a:t>
            </a:r>
          </a:p>
          <a:p>
            <a:pPr algn="l">
              <a:lnSpc>
                <a:spcPts val="3069"/>
              </a:lnSpc>
            </a:pPr>
            <a:r>
              <a:rPr lang="en-US" sz="2400">
                <a:solidFill>
                  <a:srgbClr val="282723"/>
                </a:solidFill>
                <a:latin typeface="Arial MT Pro"/>
                <a:ea typeface="Arial MT Pro"/>
                <a:cs typeface="Arial MT Pro"/>
                <a:sym typeface="Arial MT Pro"/>
              </a:rPr>
              <a:t>speech patterns, tone, and emotional inflections, making</a:t>
            </a:r>
          </a:p>
          <a:p>
            <a:pPr algn="l">
              <a:lnSpc>
                <a:spcPts val="3069"/>
              </a:lnSpc>
            </a:pPr>
            <a:r>
              <a:rPr lang="en-US" sz="2400">
                <a:solidFill>
                  <a:srgbClr val="282723"/>
                </a:solidFill>
                <a:latin typeface="Arial MT Pro"/>
                <a:ea typeface="Arial MT Pro"/>
                <a:cs typeface="Arial MT Pro"/>
                <a:sym typeface="Arial MT Pro"/>
              </a:rPr>
              <a:t>deepfake audio calls a highly effective tool for</a:t>
            </a:r>
          </a:p>
          <a:p>
            <a:pPr algn="l">
              <a:lnSpc>
                <a:spcPts val="3069"/>
              </a:lnSpc>
            </a:pPr>
            <a:r>
              <a:rPr lang="en-US" sz="2400">
                <a:solidFill>
                  <a:srgbClr val="282723"/>
                </a:solidFill>
                <a:latin typeface="Arial MT Pro"/>
                <a:ea typeface="Arial MT Pro"/>
                <a:cs typeface="Arial MT Pro"/>
                <a:sym typeface="Arial MT Pro"/>
              </a:rPr>
              <a:t>impersonating executives and manipulating employees</a:t>
            </a:r>
          </a:p>
          <a:p>
            <a:pPr algn="l">
              <a:lnSpc>
                <a:spcPts val="3069"/>
              </a:lnSpc>
            </a:pPr>
            <a:r>
              <a:rPr lang="en-US" sz="2400">
                <a:solidFill>
                  <a:srgbClr val="282723"/>
                </a:solidFill>
                <a:latin typeface="Arial MT Pro"/>
                <a:ea typeface="Arial MT Pro"/>
                <a:cs typeface="Arial MT Pro"/>
                <a:sym typeface="Arial MT Pro"/>
              </a:rPr>
              <a:t>into authorizing fraudulent actions.</a:t>
            </a:r>
          </a:p>
        </p:txBody>
      </p:sp>
      <p:sp>
        <p:nvSpPr>
          <p:cNvPr name="TextBox 14" id="14"/>
          <p:cNvSpPr txBox="true"/>
          <p:nvPr/>
        </p:nvSpPr>
        <p:spPr>
          <a:xfrm rot="0">
            <a:off x="10284981" y="11408501"/>
            <a:ext cx="5297239" cy="512445"/>
          </a:xfrm>
          <a:prstGeom prst="rect">
            <a:avLst/>
          </a:prstGeom>
        </p:spPr>
        <p:txBody>
          <a:bodyPr anchor="t" rtlCol="false" tIns="0" lIns="0" bIns="0" rIns="0">
            <a:spAutoFit/>
          </a:bodyPr>
          <a:lstStyle/>
          <a:p>
            <a:pPr algn="ctr">
              <a:lnSpc>
                <a:spcPts val="3779"/>
              </a:lnSpc>
            </a:pPr>
            <a:r>
              <a:rPr lang="en-US" b="true" sz="2700">
                <a:solidFill>
                  <a:srgbClr val="282723"/>
                </a:solidFill>
                <a:latin typeface="Arial MT Pro Bold"/>
                <a:ea typeface="Arial MT Pro Bold"/>
                <a:cs typeface="Arial MT Pro Bold"/>
                <a:sym typeface="Arial MT Pro Bold"/>
              </a:rPr>
              <a:t>MFA is No Longer a Silver Bullet</a:t>
            </a:r>
          </a:p>
        </p:txBody>
      </p:sp>
      <p:sp>
        <p:nvSpPr>
          <p:cNvPr name="TextBox 15" id="15"/>
          <p:cNvSpPr txBox="true"/>
          <p:nvPr/>
        </p:nvSpPr>
        <p:spPr>
          <a:xfrm rot="0">
            <a:off x="9354693" y="12275939"/>
            <a:ext cx="7809309" cy="1675790"/>
          </a:xfrm>
          <a:prstGeom prst="rect">
            <a:avLst/>
          </a:prstGeom>
        </p:spPr>
        <p:txBody>
          <a:bodyPr anchor="t" rtlCol="false" tIns="0" lIns="0" bIns="0" rIns="0">
            <a:spAutoFit/>
          </a:bodyPr>
          <a:lstStyle/>
          <a:p>
            <a:pPr algn="l">
              <a:lnSpc>
                <a:spcPts val="2584"/>
              </a:lnSpc>
            </a:pPr>
            <a:r>
              <a:rPr lang="en-US" sz="2400">
                <a:solidFill>
                  <a:srgbClr val="282723"/>
                </a:solidFill>
                <a:latin typeface="Arial MT Pro"/>
                <a:ea typeface="Arial MT Pro"/>
                <a:cs typeface="Arial MT Pro"/>
                <a:sym typeface="Arial MT Pro"/>
              </a:rPr>
              <a:t>Attackers are increasingly using social engineering to</a:t>
            </a:r>
          </a:p>
          <a:p>
            <a:pPr algn="l">
              <a:lnSpc>
                <a:spcPts val="2584"/>
              </a:lnSpc>
            </a:pPr>
            <a:r>
              <a:rPr lang="en-US" sz="2400">
                <a:solidFill>
                  <a:srgbClr val="282723"/>
                </a:solidFill>
                <a:latin typeface="Arial MT Pro"/>
                <a:ea typeface="Arial MT Pro"/>
                <a:cs typeface="Arial MT Pro"/>
                <a:sym typeface="Arial MT Pro"/>
              </a:rPr>
              <a:t>bypass standard MFA, Many modern phishing kits include</a:t>
            </a:r>
          </a:p>
          <a:p>
            <a:pPr algn="l">
              <a:lnSpc>
                <a:spcPts val="2584"/>
              </a:lnSpc>
            </a:pPr>
            <a:r>
              <a:rPr lang="en-US" sz="2400">
                <a:solidFill>
                  <a:srgbClr val="282723"/>
                </a:solidFill>
                <a:latin typeface="Arial MT Pro"/>
                <a:ea typeface="Arial MT Pro"/>
                <a:cs typeface="Arial MT Pro"/>
                <a:sym typeface="Arial MT Pro"/>
              </a:rPr>
              <a:t>features to manage MFA prompts or force a downgrade</a:t>
            </a:r>
          </a:p>
          <a:p>
            <a:pPr algn="l">
              <a:lnSpc>
                <a:spcPts val="2584"/>
              </a:lnSpc>
            </a:pPr>
            <a:r>
              <a:rPr lang="en-US" sz="2400">
                <a:solidFill>
                  <a:srgbClr val="282723"/>
                </a:solidFill>
                <a:latin typeface="Arial MT Pro"/>
                <a:ea typeface="Arial MT Pro"/>
                <a:cs typeface="Arial MT Pro"/>
                <a:sym typeface="Arial MT Pro"/>
              </a:rPr>
              <a:t>to less secure methods, making phishing-resistant MFA</a:t>
            </a:r>
          </a:p>
          <a:p>
            <a:pPr algn="l">
              <a:lnSpc>
                <a:spcPts val="2584"/>
              </a:lnSpc>
            </a:pPr>
            <a:r>
              <a:rPr lang="en-US" sz="2400">
                <a:solidFill>
                  <a:srgbClr val="282723"/>
                </a:solidFill>
                <a:latin typeface="Arial MT Pro"/>
                <a:ea typeface="Arial MT Pro"/>
                <a:cs typeface="Arial MT Pro"/>
                <a:sym typeface="Arial MT Pro"/>
              </a:rPr>
              <a:t>(e.g., FIDO2 keys) essential.</a:t>
            </a:r>
          </a:p>
        </p:txBody>
      </p:sp>
      <p:sp>
        <p:nvSpPr>
          <p:cNvPr name="TextBox 16" id="16"/>
          <p:cNvSpPr txBox="true"/>
          <p:nvPr/>
        </p:nvSpPr>
        <p:spPr>
          <a:xfrm rot="0">
            <a:off x="17675394" y="12131152"/>
            <a:ext cx="7262664" cy="1892825"/>
          </a:xfrm>
          <a:prstGeom prst="rect">
            <a:avLst/>
          </a:prstGeom>
        </p:spPr>
        <p:txBody>
          <a:bodyPr anchor="t" rtlCol="false" tIns="0" lIns="0" bIns="0" rIns="0">
            <a:spAutoFit/>
          </a:bodyPr>
          <a:lstStyle/>
          <a:p>
            <a:pPr algn="l">
              <a:lnSpc>
                <a:spcPts val="2977"/>
              </a:lnSpc>
            </a:pPr>
            <a:r>
              <a:rPr lang="en-US" sz="2276">
                <a:solidFill>
                  <a:srgbClr val="282723"/>
                </a:solidFill>
                <a:latin typeface="Arial MT Pro"/>
                <a:ea typeface="Arial MT Pro"/>
                <a:cs typeface="Arial MT Pro"/>
                <a:sym typeface="Arial MT Pro"/>
              </a:rPr>
              <a:t>The rise of instant payment schemes creates a critical</a:t>
            </a:r>
          </a:p>
          <a:p>
            <a:pPr algn="l">
              <a:lnSpc>
                <a:spcPts val="2977"/>
              </a:lnSpc>
            </a:pPr>
            <a:r>
              <a:rPr lang="en-US" sz="2276">
                <a:solidFill>
                  <a:srgbClr val="282723"/>
                </a:solidFill>
                <a:latin typeface="Arial MT Pro"/>
                <a:ea typeface="Arial MT Pro"/>
                <a:cs typeface="Arial MT Pro"/>
                <a:sym typeface="Arial MT Pro"/>
              </a:rPr>
              <a:t>vulnerability. Once an Al-driven social engineering attack</a:t>
            </a:r>
          </a:p>
          <a:p>
            <a:pPr algn="l">
              <a:lnSpc>
                <a:spcPts val="2977"/>
              </a:lnSpc>
            </a:pPr>
            <a:r>
              <a:rPr lang="en-US" sz="2276">
                <a:solidFill>
                  <a:srgbClr val="282723"/>
                </a:solidFill>
                <a:latin typeface="Arial MT Pro"/>
                <a:ea typeface="Arial MT Pro"/>
                <a:cs typeface="Arial MT Pro"/>
                <a:sym typeface="Arial MT Pro"/>
              </a:rPr>
              <a:t>successfully triggers an authorization, the funds are</a:t>
            </a:r>
          </a:p>
          <a:p>
            <a:pPr algn="l">
              <a:lnSpc>
                <a:spcPts val="2977"/>
              </a:lnSpc>
            </a:pPr>
            <a:r>
              <a:rPr lang="en-US" sz="2276">
                <a:solidFill>
                  <a:srgbClr val="282723"/>
                </a:solidFill>
                <a:latin typeface="Arial MT Pro"/>
                <a:ea typeface="Arial MT Pro"/>
                <a:cs typeface="Arial MT Pro"/>
                <a:sym typeface="Arial MT Pro"/>
              </a:rPr>
              <a:t>transferred and laundered faster than security teams can</a:t>
            </a:r>
          </a:p>
          <a:p>
            <a:pPr algn="l">
              <a:lnSpc>
                <a:spcPts val="2977"/>
              </a:lnSpc>
            </a:pPr>
            <a:r>
              <a:rPr lang="en-US" sz="2276">
                <a:solidFill>
                  <a:srgbClr val="282723"/>
                </a:solidFill>
                <a:latin typeface="Arial MT Pro"/>
                <a:ea typeface="Arial MT Pro"/>
                <a:cs typeface="Arial MT Pro"/>
                <a:sym typeface="Arial MT Pro"/>
              </a:rPr>
              <a:t>investigate and respond.</a:t>
            </a:r>
          </a:p>
        </p:txBody>
      </p:sp>
      <p:sp>
        <p:nvSpPr>
          <p:cNvPr name="TextBox 17" id="17"/>
          <p:cNvSpPr txBox="true"/>
          <p:nvPr/>
        </p:nvSpPr>
        <p:spPr>
          <a:xfrm rot="0">
            <a:off x="2044183" y="11238022"/>
            <a:ext cx="6135291" cy="891502"/>
          </a:xfrm>
          <a:prstGeom prst="rect">
            <a:avLst/>
          </a:prstGeom>
        </p:spPr>
        <p:txBody>
          <a:bodyPr anchor="t" rtlCol="false" tIns="0" lIns="0" bIns="0" rIns="0">
            <a:spAutoFit/>
          </a:bodyPr>
          <a:lstStyle/>
          <a:p>
            <a:pPr algn="l">
              <a:lnSpc>
                <a:spcPts val="3345"/>
              </a:lnSpc>
            </a:pPr>
            <a:r>
              <a:rPr lang="en-US" b="true" sz="2700">
                <a:solidFill>
                  <a:srgbClr val="282723"/>
                </a:solidFill>
                <a:latin typeface="Arial MT Pro Bold"/>
                <a:ea typeface="Arial MT Pro Bold"/>
                <a:cs typeface="Arial MT Pro Bold"/>
                <a:sym typeface="Arial MT Pro Bold"/>
              </a:rPr>
              <a:t>Al-E</a:t>
            </a:r>
            <a:r>
              <a:rPr lang="en-US" b="true" sz="2700">
                <a:solidFill>
                  <a:srgbClr val="282723"/>
                </a:solidFill>
                <a:latin typeface="Arial MT Pro Bold"/>
                <a:ea typeface="Arial MT Pro Bold"/>
                <a:cs typeface="Arial MT Pro Bold"/>
                <a:sym typeface="Arial MT Pro Bold"/>
              </a:rPr>
              <a:t>nabled Vishing: The New Frontier</a:t>
            </a:r>
          </a:p>
          <a:p>
            <a:pPr algn="l">
              <a:lnSpc>
                <a:spcPts val="3345"/>
              </a:lnSpc>
            </a:pPr>
            <a:r>
              <a:rPr lang="en-US" b="true" sz="2700">
                <a:solidFill>
                  <a:srgbClr val="282723"/>
                </a:solidFill>
                <a:latin typeface="Arial MT Pro Bold"/>
                <a:ea typeface="Arial MT Pro Bold"/>
                <a:cs typeface="Arial MT Pro Bold"/>
                <a:sym typeface="Arial MT Pro Bold"/>
              </a:rPr>
              <a:t>of Impersonation</a:t>
            </a:r>
          </a:p>
        </p:txBody>
      </p:sp>
      <p:sp>
        <p:nvSpPr>
          <p:cNvPr name="TextBox 18" id="18"/>
          <p:cNvSpPr txBox="true"/>
          <p:nvPr/>
        </p:nvSpPr>
        <p:spPr>
          <a:xfrm rot="0">
            <a:off x="18606600" y="11140829"/>
            <a:ext cx="7316663" cy="988695"/>
          </a:xfrm>
          <a:prstGeom prst="rect">
            <a:avLst/>
          </a:prstGeom>
        </p:spPr>
        <p:txBody>
          <a:bodyPr anchor="t" rtlCol="false" tIns="0" lIns="0" bIns="0" rIns="0">
            <a:spAutoFit/>
          </a:bodyPr>
          <a:lstStyle/>
          <a:p>
            <a:pPr algn="l">
              <a:lnSpc>
                <a:spcPts val="3779"/>
              </a:lnSpc>
            </a:pPr>
            <a:r>
              <a:rPr lang="en-US" b="true" sz="2700">
                <a:solidFill>
                  <a:srgbClr val="282723"/>
                </a:solidFill>
                <a:latin typeface="Arial MT Pro Bold"/>
                <a:ea typeface="Arial MT Pro Bold"/>
                <a:cs typeface="Arial MT Pro Bold"/>
                <a:sym typeface="Arial MT Pro Bold"/>
              </a:rPr>
              <a:t>The Payment Integrity</a:t>
            </a:r>
            <a:r>
              <a:rPr lang="en-US" b="true" sz="2700">
                <a:solidFill>
                  <a:srgbClr val="282723"/>
                </a:solidFill>
                <a:latin typeface="Arial MT Pro Bold"/>
                <a:ea typeface="Arial MT Pro Bold"/>
                <a:cs typeface="Arial MT Pro Bold"/>
                <a:sym typeface="Arial MT Pro Bold"/>
              </a:rPr>
              <a:t> Risk: Faster </a:t>
            </a:r>
            <a:r>
              <a:rPr lang="en-US" b="true" sz="2700">
                <a:solidFill>
                  <a:srgbClr val="282723"/>
                </a:solidFill>
                <a:latin typeface="Arial MT Pro Bold"/>
                <a:ea typeface="Arial MT Pro Bold"/>
                <a:cs typeface="Arial MT Pro Bold"/>
                <a:sym typeface="Arial MT Pro Bold"/>
              </a:rPr>
              <a:t>Payments, Faster Fraud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2638118" y="609294"/>
            <a:ext cx="21116776" cy="1008710"/>
          </a:xfrm>
          <a:prstGeom prst="rect">
            <a:avLst/>
          </a:prstGeom>
        </p:spPr>
        <p:txBody>
          <a:bodyPr anchor="t" rtlCol="false" tIns="0" lIns="0" bIns="0" rIns="0">
            <a:spAutoFit/>
          </a:bodyPr>
          <a:lstStyle/>
          <a:p>
            <a:pPr algn="ctr">
              <a:lnSpc>
                <a:spcPts val="7401"/>
              </a:lnSpc>
            </a:pPr>
            <a:r>
              <a:rPr lang="en-US" b="true" sz="5287">
                <a:solidFill>
                  <a:srgbClr val="252522"/>
                </a:solidFill>
                <a:latin typeface="Arial MT Pro Bold"/>
                <a:ea typeface="Arial MT Pro Bold"/>
                <a:cs typeface="Arial MT Pro Bold"/>
                <a:sym typeface="Arial MT Pro Bold"/>
              </a:rPr>
              <a:t>Ransomware 2.0: The Strategic Pivot from Encryption to Extortion</a:t>
            </a:r>
          </a:p>
        </p:txBody>
      </p:sp>
      <p:sp>
        <p:nvSpPr>
          <p:cNvPr name="TextBox 4" id="4"/>
          <p:cNvSpPr txBox="true"/>
          <p:nvPr/>
        </p:nvSpPr>
        <p:spPr>
          <a:xfrm rot="0">
            <a:off x="1117080" y="2241298"/>
            <a:ext cx="9577983" cy="654515"/>
          </a:xfrm>
          <a:prstGeom prst="rect">
            <a:avLst/>
          </a:prstGeom>
        </p:spPr>
        <p:txBody>
          <a:bodyPr anchor="t" rtlCol="false" tIns="0" lIns="0" bIns="0" rIns="0">
            <a:spAutoFit/>
          </a:bodyPr>
          <a:lstStyle/>
          <a:p>
            <a:pPr algn="ctr">
              <a:lnSpc>
                <a:spcPts val="4874"/>
              </a:lnSpc>
            </a:pPr>
            <a:r>
              <a:rPr lang="en-US" b="true" sz="3481">
                <a:solidFill>
                  <a:srgbClr val="252522"/>
                </a:solidFill>
                <a:latin typeface="Arial MT Pro Bold"/>
                <a:ea typeface="Arial MT Pro Bold"/>
                <a:cs typeface="Arial MT Pro Bold"/>
                <a:sym typeface="Arial MT Pro Bold"/>
              </a:rPr>
              <a:t>Ransomware 1.0:</a:t>
            </a:r>
            <a:r>
              <a:rPr lang="en-US" sz="3481">
                <a:solidFill>
                  <a:srgbClr val="252522"/>
                </a:solidFill>
                <a:latin typeface="Arial MT Pro"/>
                <a:ea typeface="Arial MT Pro"/>
                <a:cs typeface="Arial MT Pro"/>
                <a:sym typeface="Arial MT Pro"/>
              </a:rPr>
              <a:t> The Encryption Era ("Before")</a:t>
            </a:r>
          </a:p>
        </p:txBody>
      </p:sp>
      <p:sp>
        <p:nvSpPr>
          <p:cNvPr name="TextBox 5" id="5"/>
          <p:cNvSpPr txBox="true"/>
          <p:nvPr/>
        </p:nvSpPr>
        <p:spPr>
          <a:xfrm rot="0">
            <a:off x="13986159" y="2212723"/>
            <a:ext cx="10216455" cy="654515"/>
          </a:xfrm>
          <a:prstGeom prst="rect">
            <a:avLst/>
          </a:prstGeom>
        </p:spPr>
        <p:txBody>
          <a:bodyPr anchor="t" rtlCol="false" tIns="0" lIns="0" bIns="0" rIns="0">
            <a:spAutoFit/>
          </a:bodyPr>
          <a:lstStyle/>
          <a:p>
            <a:pPr algn="ctr">
              <a:lnSpc>
                <a:spcPts val="4874"/>
              </a:lnSpc>
            </a:pPr>
            <a:r>
              <a:rPr lang="en-US" b="true" sz="3481">
                <a:solidFill>
                  <a:srgbClr val="252522"/>
                </a:solidFill>
                <a:latin typeface="Arial MT Pro Bold"/>
                <a:ea typeface="Arial MT Pro Bold"/>
                <a:cs typeface="Arial MT Pro Bold"/>
                <a:sym typeface="Arial MT Pro Bold"/>
              </a:rPr>
              <a:t>Ransomware 2.0:</a:t>
            </a:r>
            <a:r>
              <a:rPr lang="en-US" sz="3481">
                <a:solidFill>
                  <a:srgbClr val="252522"/>
                </a:solidFill>
                <a:latin typeface="Arial MT Pro"/>
                <a:ea typeface="Arial MT Pro"/>
                <a:cs typeface="Arial MT Pro"/>
                <a:sym typeface="Arial MT Pro"/>
              </a:rPr>
              <a:t> The Extortion-Only Pivot ("After")</a:t>
            </a:r>
          </a:p>
        </p:txBody>
      </p:sp>
      <p:sp>
        <p:nvSpPr>
          <p:cNvPr name="TextBox 6" id="6"/>
          <p:cNvSpPr txBox="true"/>
          <p:nvPr/>
        </p:nvSpPr>
        <p:spPr>
          <a:xfrm rot="0">
            <a:off x="884427" y="3480119"/>
            <a:ext cx="11304781" cy="1361827"/>
          </a:xfrm>
          <a:prstGeom prst="rect">
            <a:avLst/>
          </a:prstGeom>
        </p:spPr>
        <p:txBody>
          <a:bodyPr anchor="t" rtlCol="false" tIns="0" lIns="0" bIns="0" rIns="0">
            <a:spAutoFit/>
          </a:bodyPr>
          <a:lstStyle/>
          <a:p>
            <a:pPr algn="l">
              <a:lnSpc>
                <a:spcPts val="3681"/>
              </a:lnSpc>
            </a:pPr>
            <a:r>
              <a:rPr lang="en-US" b="true" sz="3000">
                <a:solidFill>
                  <a:srgbClr val="252522"/>
                </a:solidFill>
                <a:latin typeface="Arial MT Pro Bold"/>
                <a:ea typeface="Arial MT Pro Bold"/>
                <a:cs typeface="Arial MT Pro Bold"/>
                <a:sym typeface="Arial MT Pro Bold"/>
              </a:rPr>
              <a:t>Primary Tactic: Mass Encryption</a:t>
            </a:r>
          </a:p>
          <a:p>
            <a:pPr algn="l">
              <a:lnSpc>
                <a:spcPts val="3312"/>
              </a:lnSpc>
            </a:pPr>
            <a:r>
              <a:rPr lang="en-US" sz="2700">
                <a:solidFill>
                  <a:srgbClr val="252522"/>
                </a:solidFill>
                <a:latin typeface="Arial MT Pro"/>
                <a:ea typeface="Arial MT Pro"/>
                <a:cs typeface="Arial MT Pro"/>
                <a:sym typeface="Arial MT Pro"/>
              </a:rPr>
              <a:t>Attackers focused on making systems and files unusable by encrypting them, effectively halting business operations.</a:t>
            </a:r>
          </a:p>
        </p:txBody>
      </p:sp>
      <p:sp>
        <p:nvSpPr>
          <p:cNvPr name="TextBox 7" id="7"/>
          <p:cNvSpPr txBox="true"/>
          <p:nvPr/>
        </p:nvSpPr>
        <p:spPr>
          <a:xfrm rot="0">
            <a:off x="13481516" y="3422969"/>
            <a:ext cx="6181725" cy="581025"/>
          </a:xfrm>
          <a:prstGeom prst="rect">
            <a:avLst/>
          </a:prstGeom>
        </p:spPr>
        <p:txBody>
          <a:bodyPr anchor="t" rtlCol="false" tIns="0" lIns="0" bIns="0" rIns="0">
            <a:spAutoFit/>
          </a:bodyPr>
          <a:lstStyle/>
          <a:p>
            <a:pPr algn="ctr">
              <a:lnSpc>
                <a:spcPts val="4200"/>
              </a:lnSpc>
            </a:pPr>
            <a:r>
              <a:rPr lang="en-US" b="true" sz="3000">
                <a:solidFill>
                  <a:srgbClr val="252522"/>
                </a:solidFill>
                <a:latin typeface="Arial MT Pro Bold"/>
                <a:ea typeface="Arial MT Pro Bold"/>
                <a:cs typeface="Arial MT Pro Bold"/>
                <a:sym typeface="Arial MT Pro Bold"/>
              </a:rPr>
              <a:t>Encryption Is No Longer Required</a:t>
            </a:r>
          </a:p>
        </p:txBody>
      </p:sp>
      <p:sp>
        <p:nvSpPr>
          <p:cNvPr name="TextBox 8" id="8"/>
          <p:cNvSpPr txBox="true"/>
          <p:nvPr/>
        </p:nvSpPr>
        <p:spPr>
          <a:xfrm rot="0">
            <a:off x="13466826" y="4035566"/>
            <a:ext cx="12563717" cy="1098233"/>
          </a:xfrm>
          <a:prstGeom prst="rect">
            <a:avLst/>
          </a:prstGeom>
        </p:spPr>
        <p:txBody>
          <a:bodyPr anchor="t" rtlCol="false" tIns="0" lIns="0" bIns="0" rIns="0">
            <a:spAutoFit/>
          </a:bodyPr>
          <a:lstStyle/>
          <a:p>
            <a:pPr algn="l">
              <a:lnSpc>
                <a:spcPts val="2767"/>
              </a:lnSpc>
            </a:pPr>
            <a:r>
              <a:rPr lang="en-US" sz="2700">
                <a:solidFill>
                  <a:srgbClr val="252522"/>
                </a:solidFill>
                <a:latin typeface="Arial MT Pro"/>
                <a:ea typeface="Arial MT Pro"/>
                <a:cs typeface="Arial MT Pro"/>
                <a:sym typeface="Arial MT Pro"/>
              </a:rPr>
              <a:t>A growing micro-trend shows adversaries omitting ransom notes and file encryption, moving directly to emails and phone calls to initiate extortion based on stolen data.</a:t>
            </a:r>
          </a:p>
        </p:txBody>
      </p:sp>
      <p:sp>
        <p:nvSpPr>
          <p:cNvPr name="TextBox 9" id="9"/>
          <p:cNvSpPr txBox="true"/>
          <p:nvPr/>
        </p:nvSpPr>
        <p:spPr>
          <a:xfrm rot="0">
            <a:off x="13450443" y="5108421"/>
            <a:ext cx="12580100" cy="1311631"/>
          </a:xfrm>
          <a:prstGeom prst="rect">
            <a:avLst/>
          </a:prstGeom>
        </p:spPr>
        <p:txBody>
          <a:bodyPr anchor="t" rtlCol="false" tIns="0" lIns="0" bIns="0" rIns="0">
            <a:spAutoFit/>
          </a:bodyPr>
          <a:lstStyle/>
          <a:p>
            <a:pPr algn="l">
              <a:lnSpc>
                <a:spcPts val="3337"/>
              </a:lnSpc>
            </a:pPr>
            <a:r>
              <a:rPr lang="en-US" b="true" sz="2700">
                <a:solidFill>
                  <a:srgbClr val="252522"/>
                </a:solidFill>
                <a:latin typeface="Arial MT Pro Bold"/>
                <a:ea typeface="Arial MT Pro Bold"/>
                <a:cs typeface="Arial MT Pro Bold"/>
                <a:sym typeface="Arial MT Pro Bold"/>
              </a:rPr>
              <a:t>Shift to Intelligent Data Exploitation</a:t>
            </a:r>
          </a:p>
          <a:p>
            <a:pPr algn="l">
              <a:lnSpc>
                <a:spcPts val="3337"/>
              </a:lnSpc>
            </a:pPr>
            <a:r>
              <a:rPr lang="en-US" sz="2700">
                <a:solidFill>
                  <a:srgbClr val="252522"/>
                </a:solidFill>
                <a:latin typeface="Arial MT Pro"/>
                <a:ea typeface="Arial MT Pro"/>
                <a:cs typeface="Arial MT Pro"/>
                <a:sym typeface="Arial MT Pro"/>
              </a:rPr>
              <a:t>Attackers are pivoting from pure encryption to using Al to identify and exfiltrate a victim's most valuable and sensitive assets to apply maximum pressure.</a:t>
            </a:r>
          </a:p>
        </p:txBody>
      </p:sp>
      <p:sp>
        <p:nvSpPr>
          <p:cNvPr name="TextBox 10" id="10"/>
          <p:cNvSpPr txBox="true"/>
          <p:nvPr/>
        </p:nvSpPr>
        <p:spPr>
          <a:xfrm rot="0">
            <a:off x="868299" y="5117946"/>
            <a:ext cx="11320909" cy="1311078"/>
          </a:xfrm>
          <a:prstGeom prst="rect">
            <a:avLst/>
          </a:prstGeom>
        </p:spPr>
        <p:txBody>
          <a:bodyPr anchor="t" rtlCol="false" tIns="0" lIns="0" bIns="0" rIns="0">
            <a:spAutoFit/>
          </a:bodyPr>
          <a:lstStyle/>
          <a:p>
            <a:pPr algn="l">
              <a:lnSpc>
                <a:spcPts val="3549"/>
              </a:lnSpc>
            </a:pPr>
            <a:r>
              <a:rPr lang="en-US" b="true" sz="3000">
                <a:solidFill>
                  <a:srgbClr val="252522"/>
                </a:solidFill>
                <a:latin typeface="Arial MT Pro Bold"/>
                <a:ea typeface="Arial MT Pro Bold"/>
                <a:cs typeface="Arial MT Pro Bold"/>
                <a:sym typeface="Arial MT Pro Bold"/>
              </a:rPr>
              <a:t>Primary Leverage: Operational Disruption</a:t>
            </a:r>
          </a:p>
          <a:p>
            <a:pPr algn="l">
              <a:lnSpc>
                <a:spcPts val="3194"/>
              </a:lnSpc>
            </a:pPr>
            <a:r>
              <a:rPr lang="en-US" sz="2700">
                <a:solidFill>
                  <a:srgbClr val="252522"/>
                </a:solidFill>
                <a:latin typeface="Arial MT Pro"/>
                <a:ea typeface="Arial MT Pro"/>
                <a:cs typeface="Arial MT Pro"/>
                <a:sym typeface="Arial MT Pro"/>
              </a:rPr>
              <a:t>The core threat was the inability to conduct business, leading to immediate</a:t>
            </a:r>
          </a:p>
          <a:p>
            <a:pPr algn="l">
              <a:lnSpc>
                <a:spcPts val="3194"/>
              </a:lnSpc>
            </a:pPr>
            <a:r>
              <a:rPr lang="en-US" sz="2700">
                <a:solidFill>
                  <a:srgbClr val="252522"/>
                </a:solidFill>
                <a:latin typeface="Arial MT Pro"/>
                <a:ea typeface="Arial MT Pro"/>
                <a:cs typeface="Arial MT Pro"/>
                <a:sym typeface="Arial MT Pro"/>
              </a:rPr>
              <a:t>financial losses and pressure to restore services quickly.</a:t>
            </a:r>
          </a:p>
        </p:txBody>
      </p:sp>
      <p:sp>
        <p:nvSpPr>
          <p:cNvPr name="TextBox 11" id="11"/>
          <p:cNvSpPr txBox="true"/>
          <p:nvPr/>
        </p:nvSpPr>
        <p:spPr>
          <a:xfrm rot="0">
            <a:off x="868299" y="10491408"/>
            <a:ext cx="10843617" cy="1337234"/>
          </a:xfrm>
          <a:prstGeom prst="rect">
            <a:avLst/>
          </a:prstGeom>
        </p:spPr>
        <p:txBody>
          <a:bodyPr anchor="t" rtlCol="false" tIns="0" lIns="0" bIns="0" rIns="0">
            <a:spAutoFit/>
          </a:bodyPr>
          <a:lstStyle/>
          <a:p>
            <a:pPr algn="l">
              <a:lnSpc>
                <a:spcPts val="3647"/>
              </a:lnSpc>
            </a:pPr>
            <a:r>
              <a:rPr lang="en-US" b="true" sz="3000">
                <a:solidFill>
                  <a:srgbClr val="252522"/>
                </a:solidFill>
                <a:latin typeface="Arial MT Pro Bold"/>
                <a:ea typeface="Arial MT Pro Bold"/>
                <a:cs typeface="Arial MT Pro Bold"/>
                <a:sym typeface="Arial MT Pro Bold"/>
              </a:rPr>
              <a:t>Key Defense: Data Backups</a:t>
            </a:r>
          </a:p>
          <a:p>
            <a:pPr algn="l">
              <a:lnSpc>
                <a:spcPts val="3283"/>
              </a:lnSpc>
            </a:pPr>
            <a:r>
              <a:rPr lang="en-US" sz="2700">
                <a:solidFill>
                  <a:srgbClr val="252522"/>
                </a:solidFill>
                <a:latin typeface="Arial MT Pro"/>
                <a:ea typeface="Arial MT Pro"/>
                <a:cs typeface="Arial MT Pro"/>
                <a:sym typeface="Arial MT Pro"/>
              </a:rPr>
              <a:t>A reliable and recent backup was the primary tool for recovery, allowing</a:t>
            </a:r>
          </a:p>
          <a:p>
            <a:pPr algn="l">
              <a:lnSpc>
                <a:spcPts val="3283"/>
              </a:lnSpc>
            </a:pPr>
            <a:r>
              <a:rPr lang="en-US" sz="2700">
                <a:solidFill>
                  <a:srgbClr val="252522"/>
                </a:solidFill>
                <a:latin typeface="Arial MT Pro"/>
                <a:ea typeface="Arial MT Pro"/>
                <a:cs typeface="Arial MT Pro"/>
                <a:sym typeface="Arial MT Pro"/>
              </a:rPr>
              <a:t>organizations to restore systems and avoid payment.</a:t>
            </a:r>
          </a:p>
        </p:txBody>
      </p:sp>
      <p:sp>
        <p:nvSpPr>
          <p:cNvPr name="TextBox 12" id="12"/>
          <p:cNvSpPr txBox="true"/>
          <p:nvPr/>
        </p:nvSpPr>
        <p:spPr>
          <a:xfrm rot="0">
            <a:off x="13450443" y="10510458"/>
            <a:ext cx="12762357" cy="1671828"/>
          </a:xfrm>
          <a:prstGeom prst="rect">
            <a:avLst/>
          </a:prstGeom>
        </p:spPr>
        <p:txBody>
          <a:bodyPr anchor="t" rtlCol="false" tIns="0" lIns="0" bIns="0" rIns="0">
            <a:spAutoFit/>
          </a:bodyPr>
          <a:lstStyle/>
          <a:p>
            <a:pPr algn="l">
              <a:lnSpc>
                <a:spcPts val="3479"/>
              </a:lnSpc>
            </a:pPr>
            <a:r>
              <a:rPr lang="en-US" b="true" sz="3000">
                <a:solidFill>
                  <a:srgbClr val="252522"/>
                </a:solidFill>
                <a:latin typeface="Arial MT Pro Bold"/>
                <a:ea typeface="Arial MT Pro Bold"/>
                <a:cs typeface="Arial MT Pro Bold"/>
                <a:sym typeface="Arial MT Pro Bold"/>
              </a:rPr>
              <a:t>Backups Are No Longer a Complete Defense</a:t>
            </a:r>
          </a:p>
          <a:p>
            <a:pPr algn="l">
              <a:lnSpc>
                <a:spcPts val="3131"/>
              </a:lnSpc>
            </a:pPr>
            <a:r>
              <a:rPr lang="en-US" sz="2700">
                <a:solidFill>
                  <a:srgbClr val="252522"/>
                </a:solidFill>
                <a:latin typeface="Arial MT Pro"/>
                <a:ea typeface="Arial MT Pro"/>
                <a:cs typeface="Arial MT Pro"/>
                <a:sym typeface="Arial MT Pro"/>
              </a:rPr>
              <a:t>Groups like 'LeakNet' are tracked as being '</a:t>
            </a:r>
            <a:r>
              <a:rPr lang="en-US" sz="2700">
                <a:solidFill>
                  <a:srgbClr val="252522"/>
                </a:solidFill>
                <a:latin typeface="Arial MT Pro"/>
                <a:ea typeface="Arial MT Pro"/>
                <a:cs typeface="Arial MT Pro"/>
                <a:sym typeface="Arial MT Pro"/>
              </a:rPr>
              <a:t>data-broker/extortion first,</a:t>
            </a:r>
            <a:r>
              <a:rPr lang="en-US" sz="2700">
                <a:solidFill>
                  <a:srgbClr val="252522"/>
                </a:solidFill>
                <a:latin typeface="Arial MT Pro"/>
                <a:ea typeface="Arial MT Pro"/>
                <a:cs typeface="Arial MT Pro"/>
                <a:sym typeface="Arial MT Pro"/>
              </a:rPr>
              <a:t>' focusing on data exposure as their primary impact, with file encryption not being their main tactic.</a:t>
            </a:r>
          </a:p>
        </p:txBody>
      </p:sp>
      <p:sp>
        <p:nvSpPr>
          <p:cNvPr name="TextBox 13" id="13"/>
          <p:cNvSpPr txBox="true"/>
          <p:nvPr/>
        </p:nvSpPr>
        <p:spPr>
          <a:xfrm rot="0">
            <a:off x="13450443" y="12115611"/>
            <a:ext cx="9090422" cy="2159279"/>
          </a:xfrm>
          <a:prstGeom prst="rect">
            <a:avLst/>
          </a:prstGeom>
        </p:spPr>
        <p:txBody>
          <a:bodyPr anchor="t" rtlCol="false" tIns="0" lIns="0" bIns="0" rIns="0">
            <a:spAutoFit/>
          </a:bodyPr>
          <a:lstStyle/>
          <a:p>
            <a:pPr algn="l">
              <a:lnSpc>
                <a:spcPts val="3624"/>
              </a:lnSpc>
            </a:pPr>
            <a:r>
              <a:rPr lang="en-US" b="true" sz="3000">
                <a:solidFill>
                  <a:srgbClr val="252522"/>
                </a:solidFill>
                <a:latin typeface="Arial MT Pro Bold"/>
                <a:ea typeface="Arial MT Pro Bold"/>
                <a:cs typeface="Arial MT Pro Bold"/>
                <a:sym typeface="Arial MT Pro Bold"/>
              </a:rPr>
              <a:t>The Rise of "Triple Extortion"</a:t>
            </a:r>
          </a:p>
          <a:p>
            <a:pPr algn="l">
              <a:lnSpc>
                <a:spcPts val="3261"/>
              </a:lnSpc>
            </a:pPr>
            <a:r>
              <a:rPr lang="en-US" sz="2700">
                <a:solidFill>
                  <a:srgbClr val="252522"/>
                </a:solidFill>
                <a:latin typeface="Arial MT Pro"/>
                <a:ea typeface="Arial MT Pro"/>
                <a:cs typeface="Arial MT Pro"/>
                <a:sym typeface="Arial MT Pro"/>
              </a:rPr>
              <a:t>Modern campaigns often involve multiple layers of coercion:</a:t>
            </a:r>
          </a:p>
          <a:p>
            <a:pPr algn="l">
              <a:lnSpc>
                <a:spcPts val="3261"/>
              </a:lnSpc>
            </a:pPr>
            <a:r>
              <a:rPr lang="en-US" sz="2700" spc="29">
                <a:solidFill>
                  <a:srgbClr val="252522"/>
                </a:solidFill>
                <a:latin typeface="Arial MT Pro"/>
                <a:ea typeface="Arial MT Pro"/>
                <a:cs typeface="Arial MT Pro"/>
                <a:sym typeface="Arial MT Pro"/>
              </a:rPr>
              <a:t>1) Threatening to leak stolen data,</a:t>
            </a:r>
          </a:p>
          <a:p>
            <a:pPr algn="l">
              <a:lnSpc>
                <a:spcPts val="3261"/>
              </a:lnSpc>
            </a:pPr>
            <a:r>
              <a:rPr lang="en-US" sz="2700" spc="29">
                <a:solidFill>
                  <a:srgbClr val="252522"/>
                </a:solidFill>
                <a:latin typeface="Arial MT Pro"/>
                <a:ea typeface="Arial MT Pro"/>
                <a:cs typeface="Arial MT Pro"/>
                <a:sym typeface="Arial MT Pro"/>
              </a:rPr>
              <a:t>2) Threatening to disrupt services (e.g., DDoS), and</a:t>
            </a:r>
          </a:p>
          <a:p>
            <a:pPr algn="l">
              <a:lnSpc>
                <a:spcPts val="3261"/>
              </a:lnSpc>
            </a:pPr>
            <a:r>
              <a:rPr lang="en-US" sz="2700">
                <a:solidFill>
                  <a:srgbClr val="252522"/>
                </a:solidFill>
                <a:latin typeface="Arial MT Pro"/>
                <a:ea typeface="Arial MT Pro"/>
                <a:cs typeface="Arial MT Pro"/>
                <a:sym typeface="Arial MT Pro"/>
              </a:rPr>
              <a:t>3) Directly harassing customers, partners, and employees.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23271" cy="14630400"/>
          </a:xfrm>
          <a:custGeom>
            <a:avLst/>
            <a:gdLst/>
            <a:ahLst/>
            <a:cxnLst/>
            <a:rect r="r" b="b" t="t" l="l"/>
            <a:pathLst>
              <a:path h="14630400" w="26223271">
                <a:moveTo>
                  <a:pt x="0" y="0"/>
                </a:moveTo>
                <a:lnTo>
                  <a:pt x="26223271" y="0"/>
                </a:lnTo>
                <a:lnTo>
                  <a:pt x="26223271" y="14630400"/>
                </a:lnTo>
                <a:lnTo>
                  <a:pt x="0" y="14630400"/>
                </a:lnTo>
                <a:lnTo>
                  <a:pt x="0" y="0"/>
                </a:lnTo>
                <a:close/>
              </a:path>
            </a:pathLst>
          </a:custGeom>
          <a:blipFill>
            <a:blip r:embed="rId2"/>
            <a:stretch>
              <a:fillRect l="0" t="0" r="0" b="0"/>
            </a:stretch>
          </a:blipFill>
        </p:spPr>
      </p:sp>
      <p:sp>
        <p:nvSpPr>
          <p:cNvPr name="TextBox 3" id="3"/>
          <p:cNvSpPr txBox="true"/>
          <p:nvPr/>
        </p:nvSpPr>
        <p:spPr>
          <a:xfrm rot="0">
            <a:off x="4787474" y="382920"/>
            <a:ext cx="16681103" cy="891689"/>
          </a:xfrm>
          <a:prstGeom prst="rect">
            <a:avLst/>
          </a:prstGeom>
        </p:spPr>
        <p:txBody>
          <a:bodyPr anchor="t" rtlCol="false" tIns="0" lIns="0" bIns="0" rIns="0">
            <a:spAutoFit/>
          </a:bodyPr>
          <a:lstStyle/>
          <a:p>
            <a:pPr algn="ctr">
              <a:lnSpc>
                <a:spcPts val="6501"/>
              </a:lnSpc>
            </a:pPr>
            <a:r>
              <a:rPr lang="en-US" b="true" sz="4644">
                <a:solidFill>
                  <a:srgbClr val="2B2A26"/>
                </a:solidFill>
                <a:latin typeface="Arial MT Pro Bold"/>
                <a:ea typeface="Arial MT Pro Bold"/>
                <a:cs typeface="Arial MT Pro Bold"/>
                <a:sym typeface="Arial MT Pro Bold"/>
              </a:rPr>
              <a:t>Indirect Client Sector Risk: The Credential Contagion Effect</a:t>
            </a:r>
          </a:p>
        </p:txBody>
      </p:sp>
      <p:sp>
        <p:nvSpPr>
          <p:cNvPr name="TextBox 4" id="4"/>
          <p:cNvSpPr txBox="true"/>
          <p:nvPr/>
        </p:nvSpPr>
        <p:spPr>
          <a:xfrm rot="0">
            <a:off x="8554500" y="1762936"/>
            <a:ext cx="9081492" cy="512215"/>
          </a:xfrm>
          <a:prstGeom prst="rect">
            <a:avLst/>
          </a:prstGeom>
        </p:spPr>
        <p:txBody>
          <a:bodyPr anchor="t" rtlCol="false" tIns="0" lIns="0" bIns="0" rIns="0">
            <a:spAutoFit/>
          </a:bodyPr>
          <a:lstStyle/>
          <a:p>
            <a:pPr algn="ctr">
              <a:lnSpc>
                <a:spcPts val="3792"/>
              </a:lnSpc>
            </a:pPr>
            <a:r>
              <a:rPr lang="en-US" b="true" sz="2709">
                <a:solidFill>
                  <a:srgbClr val="2B2A26"/>
                </a:solidFill>
                <a:latin typeface="Arial MT Pro Bold"/>
                <a:ea typeface="Arial MT Pro Bold"/>
                <a:cs typeface="Arial MT Pro Bold"/>
                <a:sym typeface="Arial MT Pro Bold"/>
              </a:rPr>
              <a:t>Stage 1: Mass Credential Compromise in Client Sectors</a:t>
            </a:r>
          </a:p>
        </p:txBody>
      </p:sp>
      <p:sp>
        <p:nvSpPr>
          <p:cNvPr name="TextBox 5" id="5"/>
          <p:cNvSpPr txBox="true"/>
          <p:nvPr/>
        </p:nvSpPr>
        <p:spPr>
          <a:xfrm rot="0">
            <a:off x="999094" y="2475997"/>
            <a:ext cx="3011091" cy="512445"/>
          </a:xfrm>
          <a:prstGeom prst="rect">
            <a:avLst/>
          </a:prstGeom>
        </p:spPr>
        <p:txBody>
          <a:bodyPr anchor="t" rtlCol="false" tIns="0" lIns="0" bIns="0" rIns="0">
            <a:spAutoFit/>
          </a:bodyPr>
          <a:lstStyle/>
          <a:p>
            <a:pPr algn="ctr">
              <a:lnSpc>
                <a:spcPts val="3779"/>
              </a:lnSpc>
            </a:pPr>
            <a:r>
              <a:rPr lang="en-US" b="true" sz="2700">
                <a:solidFill>
                  <a:srgbClr val="2B2A26"/>
                </a:solidFill>
                <a:latin typeface="Arial MT Pro Bold"/>
                <a:ea typeface="Arial MT Pro Bold"/>
                <a:cs typeface="Arial MT Pro Bold"/>
                <a:sym typeface="Arial MT Pro Bold"/>
              </a:rPr>
              <a:t>Healthcare Breach</a:t>
            </a:r>
          </a:p>
        </p:txBody>
      </p:sp>
      <p:sp>
        <p:nvSpPr>
          <p:cNvPr name="TextBox 6" id="6"/>
          <p:cNvSpPr txBox="true"/>
          <p:nvPr/>
        </p:nvSpPr>
        <p:spPr>
          <a:xfrm rot="0">
            <a:off x="999094" y="2971905"/>
            <a:ext cx="10649508" cy="2107070"/>
          </a:xfrm>
          <a:prstGeom prst="rect">
            <a:avLst/>
          </a:prstGeom>
        </p:spPr>
        <p:txBody>
          <a:bodyPr anchor="t" rtlCol="false" tIns="0" lIns="0" bIns="0" rIns="0">
            <a:spAutoFit/>
          </a:bodyPr>
          <a:lstStyle/>
          <a:p>
            <a:pPr algn="l">
              <a:lnSpc>
                <a:spcPts val="2743"/>
              </a:lnSpc>
            </a:pPr>
            <a:r>
              <a:rPr lang="en-US" sz="2300">
                <a:solidFill>
                  <a:srgbClr val="2B2A26"/>
                </a:solidFill>
                <a:latin typeface="Arial MT Pro"/>
                <a:ea typeface="Arial MT Pro"/>
                <a:cs typeface="Arial MT Pro"/>
                <a:sym typeface="Arial MT Pro"/>
              </a:rPr>
              <a:t>Threat actors target high-volume consumer sectors like healthcare and retail, which hold millions of user accounts, to harvest credentials on a massive scale.</a:t>
            </a:r>
          </a:p>
          <a:p>
            <a:pPr algn="l">
              <a:lnSpc>
                <a:spcPts val="2743"/>
              </a:lnSpc>
            </a:pPr>
            <a:r>
              <a:rPr lang="en-US" sz="2300">
                <a:solidFill>
                  <a:srgbClr val="2B2A26"/>
                </a:solidFill>
                <a:latin typeface="Arial MT Pro"/>
                <a:ea typeface="Arial MT Pro"/>
                <a:cs typeface="Arial MT Pro"/>
                <a:sym typeface="Arial MT Pro"/>
              </a:rPr>
              <a:t>Example (Healthcare): </a:t>
            </a:r>
            <a:r>
              <a:rPr lang="en-US" b="true" sz="2300">
                <a:solidFill>
                  <a:srgbClr val="2B2A26"/>
                </a:solidFill>
                <a:latin typeface="Arial MT Pro Bold"/>
                <a:ea typeface="Arial MT Pro Bold"/>
                <a:cs typeface="Arial MT Pro Bold"/>
                <a:sym typeface="Arial MT Pro Bold"/>
              </a:rPr>
              <a:t>The Change Healthcare breach exposed records of over 100 million individuals. In 2025, 100% of hacked healthcare records were stolen unencrypted via compromised credentials, creating a massive pool of data for identity theft and fraud.</a:t>
            </a:r>
          </a:p>
        </p:txBody>
      </p:sp>
      <p:sp>
        <p:nvSpPr>
          <p:cNvPr name="TextBox 7" id="7"/>
          <p:cNvSpPr txBox="true"/>
          <p:nvPr/>
        </p:nvSpPr>
        <p:spPr>
          <a:xfrm rot="0">
            <a:off x="15029212" y="2512323"/>
            <a:ext cx="2191494" cy="512445"/>
          </a:xfrm>
          <a:prstGeom prst="rect">
            <a:avLst/>
          </a:prstGeom>
        </p:spPr>
        <p:txBody>
          <a:bodyPr anchor="t" rtlCol="false" tIns="0" lIns="0" bIns="0" rIns="0">
            <a:spAutoFit/>
          </a:bodyPr>
          <a:lstStyle/>
          <a:p>
            <a:pPr algn="ctr">
              <a:lnSpc>
                <a:spcPts val="3779"/>
              </a:lnSpc>
            </a:pPr>
            <a:r>
              <a:rPr lang="en-US" b="true" sz="2700">
                <a:solidFill>
                  <a:srgbClr val="2B2A26"/>
                </a:solidFill>
                <a:latin typeface="Arial MT Pro Bold"/>
                <a:ea typeface="Arial MT Pro Bold"/>
                <a:cs typeface="Arial MT Pro Bold"/>
                <a:sym typeface="Arial MT Pro Bold"/>
              </a:rPr>
              <a:t>Retail Breach</a:t>
            </a:r>
          </a:p>
        </p:txBody>
      </p:sp>
      <p:sp>
        <p:nvSpPr>
          <p:cNvPr name="TextBox 8" id="8"/>
          <p:cNvSpPr txBox="true"/>
          <p:nvPr/>
        </p:nvSpPr>
        <p:spPr>
          <a:xfrm rot="0">
            <a:off x="15029212" y="2986668"/>
            <a:ext cx="10273446" cy="1720748"/>
          </a:xfrm>
          <a:prstGeom prst="rect">
            <a:avLst/>
          </a:prstGeom>
        </p:spPr>
        <p:txBody>
          <a:bodyPr anchor="t" rtlCol="false" tIns="0" lIns="0" bIns="0" rIns="0">
            <a:spAutoFit/>
          </a:bodyPr>
          <a:lstStyle/>
          <a:p>
            <a:pPr algn="l">
              <a:lnSpc>
                <a:spcPts val="2635"/>
              </a:lnSpc>
            </a:pPr>
            <a:r>
              <a:rPr lang="en-US" sz="2300">
                <a:solidFill>
                  <a:srgbClr val="2B2A26"/>
                </a:solidFill>
                <a:latin typeface="Arial MT Pro"/>
                <a:ea typeface="Arial MT Pro"/>
                <a:cs typeface="Arial MT Pro"/>
                <a:sym typeface="Arial MT Pro"/>
              </a:rPr>
              <a:t>Example (Retail): The </a:t>
            </a:r>
            <a:r>
              <a:rPr lang="en-US" b="true" sz="2300">
                <a:solidFill>
                  <a:srgbClr val="2B2A26"/>
                </a:solidFill>
                <a:latin typeface="Arial MT Pro Bold"/>
                <a:ea typeface="Arial MT Pro Bold"/>
                <a:cs typeface="Arial MT Pro Bold"/>
                <a:sym typeface="Arial MT Pro Bold"/>
              </a:rPr>
              <a:t>North Face</a:t>
            </a:r>
            <a:r>
              <a:rPr lang="en-US" sz="2300">
                <a:solidFill>
                  <a:srgbClr val="2B2A26"/>
                </a:solidFill>
                <a:latin typeface="Arial MT Pro"/>
                <a:ea typeface="Arial MT Pro"/>
                <a:cs typeface="Arial MT Pro"/>
                <a:sym typeface="Arial MT Pro"/>
              </a:rPr>
              <a:t> breach was executed using credential</a:t>
            </a:r>
          </a:p>
          <a:p>
            <a:pPr algn="l">
              <a:lnSpc>
                <a:spcPts val="2635"/>
              </a:lnSpc>
            </a:pPr>
            <a:r>
              <a:rPr lang="en-US" sz="2300">
                <a:solidFill>
                  <a:srgbClr val="2B2A26"/>
                </a:solidFill>
                <a:latin typeface="Arial MT Pro"/>
                <a:ea typeface="Arial MT Pro"/>
                <a:cs typeface="Arial MT Pro"/>
                <a:sym typeface="Arial MT Pro"/>
              </a:rPr>
              <a:t>stuffing, a tactic that directly targets clients who reuse passwords.</a:t>
            </a:r>
          </a:p>
          <a:p>
            <a:pPr algn="l">
              <a:lnSpc>
                <a:spcPts val="2635"/>
              </a:lnSpc>
            </a:pPr>
            <a:r>
              <a:rPr lang="en-US" b="true" sz="2300">
                <a:solidFill>
                  <a:srgbClr val="2B2A26"/>
                </a:solidFill>
                <a:latin typeface="Arial MT Pro Bold"/>
                <a:ea typeface="Arial MT Pro Bold"/>
                <a:cs typeface="Arial MT Pro Bold"/>
                <a:sym typeface="Arial MT Pro Bold"/>
              </a:rPr>
              <a:t>Retail cyberattacks increased by 34% in 2025, with coordinated ransomware campaigns hitting major UK brands like Marks &amp; Spencer and Harrods, further fueling the credential theft ecosystem.</a:t>
            </a:r>
          </a:p>
        </p:txBody>
      </p:sp>
      <p:sp>
        <p:nvSpPr>
          <p:cNvPr name="TextBox 9" id="9"/>
          <p:cNvSpPr txBox="true"/>
          <p:nvPr/>
        </p:nvSpPr>
        <p:spPr>
          <a:xfrm rot="0">
            <a:off x="8129214" y="5491013"/>
            <a:ext cx="4129236" cy="713187"/>
          </a:xfrm>
          <a:prstGeom prst="rect">
            <a:avLst/>
          </a:prstGeom>
        </p:spPr>
        <p:txBody>
          <a:bodyPr anchor="t" rtlCol="false" tIns="0" lIns="0" bIns="0" rIns="0">
            <a:spAutoFit/>
          </a:bodyPr>
          <a:lstStyle/>
          <a:p>
            <a:pPr algn="r">
              <a:lnSpc>
                <a:spcPts val="2445"/>
              </a:lnSpc>
            </a:pPr>
            <a:r>
              <a:rPr lang="en-US" sz="2264">
                <a:solidFill>
                  <a:srgbClr val="2B2A26"/>
                </a:solidFill>
                <a:latin typeface="Arial MT Pro"/>
                <a:ea typeface="Arial MT Pro"/>
                <a:cs typeface="Arial MT Pro"/>
                <a:sym typeface="Arial MT Pro"/>
              </a:rPr>
              <a:t>Compromised Credentials</a:t>
            </a:r>
          </a:p>
          <a:p>
            <a:pPr algn="r">
              <a:lnSpc>
                <a:spcPts val="2786"/>
              </a:lnSpc>
            </a:pPr>
            <a:r>
              <a:rPr lang="en-US" sz="2580" spc="10">
                <a:solidFill>
                  <a:srgbClr val="2B2A26"/>
                </a:solidFill>
                <a:latin typeface="Arial MT Pro"/>
                <a:ea typeface="Arial MT Pro"/>
                <a:cs typeface="Arial MT Pro"/>
                <a:sym typeface="Arial MT Pro"/>
              </a:rPr>
              <a:t>(Username/Password Pairs)</a:t>
            </a:r>
          </a:p>
        </p:txBody>
      </p:sp>
      <p:sp>
        <p:nvSpPr>
          <p:cNvPr name="TextBox 10" id="10"/>
          <p:cNvSpPr txBox="true"/>
          <p:nvPr/>
        </p:nvSpPr>
        <p:spPr>
          <a:xfrm rot="0">
            <a:off x="6811006" y="6511463"/>
            <a:ext cx="12617648" cy="581025"/>
          </a:xfrm>
          <a:prstGeom prst="rect">
            <a:avLst/>
          </a:prstGeom>
        </p:spPr>
        <p:txBody>
          <a:bodyPr anchor="t" rtlCol="false" tIns="0" lIns="0" bIns="0" rIns="0">
            <a:spAutoFit/>
          </a:bodyPr>
          <a:lstStyle/>
          <a:p>
            <a:pPr algn="ctr">
              <a:lnSpc>
                <a:spcPts val="4200"/>
              </a:lnSpc>
            </a:pPr>
            <a:r>
              <a:rPr lang="en-US" b="true" sz="3000">
                <a:solidFill>
                  <a:srgbClr val="2B2A26"/>
                </a:solidFill>
                <a:latin typeface="Arial MT Pro Bold"/>
                <a:ea typeface="Arial MT Pro Bold"/>
                <a:cs typeface="Arial MT Pro Bold"/>
                <a:sym typeface="Arial MT Pro Bold"/>
              </a:rPr>
              <a:t>Stage 2: The Bridge - Weaponizing Stolen Data via Credential Stuffing</a:t>
            </a:r>
          </a:p>
        </p:txBody>
      </p:sp>
      <p:sp>
        <p:nvSpPr>
          <p:cNvPr name="TextBox 11" id="11"/>
          <p:cNvSpPr txBox="true"/>
          <p:nvPr/>
        </p:nvSpPr>
        <p:spPr>
          <a:xfrm rot="0">
            <a:off x="7869141" y="7286625"/>
            <a:ext cx="10591308" cy="1208024"/>
          </a:xfrm>
          <a:prstGeom prst="rect">
            <a:avLst/>
          </a:prstGeom>
        </p:spPr>
        <p:txBody>
          <a:bodyPr anchor="t" rtlCol="false" tIns="0" lIns="0" bIns="0" rIns="0">
            <a:spAutoFit/>
          </a:bodyPr>
          <a:lstStyle/>
          <a:p>
            <a:pPr algn="l">
              <a:lnSpc>
                <a:spcPts val="2323"/>
              </a:lnSpc>
            </a:pPr>
            <a:r>
              <a:rPr lang="en-US" b="true" sz="2300">
                <a:solidFill>
                  <a:srgbClr val="078E63"/>
                </a:solidFill>
                <a:latin typeface="Arial MT Pro Bold"/>
                <a:ea typeface="Arial MT Pro Bold"/>
                <a:cs typeface="Arial MT Pro Bold"/>
                <a:sym typeface="Arial MT Pro Bold"/>
              </a:rPr>
              <a:t>KEY FINDING:</a:t>
            </a:r>
            <a:r>
              <a:rPr lang="en-US" sz="2300">
                <a:solidFill>
                  <a:srgbClr val="2B2A26"/>
                </a:solidFill>
                <a:latin typeface="Arial MT Pro"/>
                <a:ea typeface="Arial MT Pro"/>
                <a:cs typeface="Arial MT Pro"/>
                <a:sym typeface="Arial MT Pro"/>
              </a:rPr>
              <a:t> </a:t>
            </a:r>
            <a:r>
              <a:rPr lang="en-US" b="true" sz="2300">
                <a:solidFill>
                  <a:srgbClr val="2B2A26"/>
                </a:solidFill>
                <a:latin typeface="Arial MT Pro Bold"/>
                <a:ea typeface="Arial MT Pro Bold"/>
                <a:cs typeface="Arial MT Pro Bold"/>
                <a:sym typeface="Arial MT Pro Bold"/>
              </a:rPr>
              <a:t>The attack relies on a single user behavior: password reuse. </a:t>
            </a:r>
            <a:r>
              <a:rPr lang="en-US" sz="2300">
                <a:solidFill>
                  <a:srgbClr val="2B2A26"/>
                </a:solidFill>
                <a:latin typeface="Arial MT Pro"/>
                <a:ea typeface="Arial MT Pro"/>
                <a:cs typeface="Arial MT Pro"/>
                <a:sym typeface="Arial MT Pro"/>
              </a:rPr>
              <a:t>The success of this tactic is built on the widespread habit of clients using the same credentials for their banking services as they do for shopping and healthcare sites.</a:t>
            </a:r>
          </a:p>
        </p:txBody>
      </p:sp>
      <p:sp>
        <p:nvSpPr>
          <p:cNvPr name="TextBox 12" id="12"/>
          <p:cNvSpPr txBox="true"/>
          <p:nvPr/>
        </p:nvSpPr>
        <p:spPr>
          <a:xfrm rot="0">
            <a:off x="7869141" y="8954975"/>
            <a:ext cx="8906983" cy="974928"/>
          </a:xfrm>
          <a:prstGeom prst="rect">
            <a:avLst/>
          </a:prstGeom>
        </p:spPr>
        <p:txBody>
          <a:bodyPr anchor="t" rtlCol="false" tIns="0" lIns="0" bIns="0" rIns="0">
            <a:spAutoFit/>
          </a:bodyPr>
          <a:lstStyle/>
          <a:p>
            <a:pPr algn="l">
              <a:lnSpc>
                <a:spcPts val="2433"/>
              </a:lnSpc>
            </a:pPr>
            <a:r>
              <a:rPr lang="en-US" sz="2300">
                <a:solidFill>
                  <a:srgbClr val="2B2A26"/>
                </a:solidFill>
                <a:latin typeface="Arial MT Pro"/>
                <a:ea typeface="Arial MT Pro"/>
                <a:cs typeface="Arial MT Pro"/>
                <a:sym typeface="Arial MT Pro"/>
              </a:rPr>
              <a:t>Attackers use automated tools to rapidly </a:t>
            </a:r>
            <a:r>
              <a:rPr lang="en-US" b="true" sz="2300">
                <a:solidFill>
                  <a:srgbClr val="2B2A26"/>
                </a:solidFill>
                <a:latin typeface="Arial MT Pro Bold"/>
                <a:ea typeface="Arial MT Pro Bold"/>
                <a:cs typeface="Arial MT Pro Bold"/>
                <a:sym typeface="Arial MT Pro Bold"/>
              </a:rPr>
              <a:t>test thousands of stolen username/password</a:t>
            </a:r>
            <a:r>
              <a:rPr lang="en-US" sz="2300">
                <a:solidFill>
                  <a:srgbClr val="2B2A26"/>
                </a:solidFill>
                <a:latin typeface="Arial MT Pro"/>
                <a:ea typeface="Arial MT Pro"/>
                <a:cs typeface="Arial MT Pro"/>
                <a:sym typeface="Arial MT Pro"/>
              </a:rPr>
              <a:t> combinations (from the retail/healthcare breaches) against the bank's login portal.</a:t>
            </a:r>
          </a:p>
        </p:txBody>
      </p:sp>
      <p:sp>
        <p:nvSpPr>
          <p:cNvPr name="TextBox 13" id="13"/>
          <p:cNvSpPr txBox="true"/>
          <p:nvPr/>
        </p:nvSpPr>
        <p:spPr>
          <a:xfrm rot="0">
            <a:off x="6811006" y="10615703"/>
            <a:ext cx="12472839" cy="562074"/>
          </a:xfrm>
          <a:prstGeom prst="rect">
            <a:avLst/>
          </a:prstGeom>
        </p:spPr>
        <p:txBody>
          <a:bodyPr anchor="t" rtlCol="false" tIns="0" lIns="0" bIns="0" rIns="0">
            <a:spAutoFit/>
          </a:bodyPr>
          <a:lstStyle/>
          <a:p>
            <a:pPr algn="ctr">
              <a:lnSpc>
                <a:spcPts val="4194"/>
              </a:lnSpc>
            </a:pPr>
            <a:r>
              <a:rPr lang="en-US" b="true" sz="2996">
                <a:solidFill>
                  <a:srgbClr val="2B2A26"/>
                </a:solidFill>
                <a:latin typeface="Arial MT Pro Bold"/>
                <a:ea typeface="Arial MT Pro Bold"/>
                <a:cs typeface="Arial MT Pro Bold"/>
                <a:sym typeface="Arial MT Pro Bold"/>
              </a:rPr>
              <a:t>Stage 3: The Impact - Account Takeover (ATO) &amp; Bypassed Defenses</a:t>
            </a:r>
          </a:p>
        </p:txBody>
      </p:sp>
      <p:sp>
        <p:nvSpPr>
          <p:cNvPr name="TextBox 14" id="14"/>
          <p:cNvSpPr txBox="true"/>
          <p:nvPr/>
        </p:nvSpPr>
        <p:spPr>
          <a:xfrm rot="0">
            <a:off x="10165380" y="11892153"/>
            <a:ext cx="1483221" cy="990095"/>
          </a:xfrm>
          <a:prstGeom prst="rect">
            <a:avLst/>
          </a:prstGeom>
        </p:spPr>
        <p:txBody>
          <a:bodyPr anchor="t" rtlCol="false" tIns="0" lIns="0" bIns="0" rIns="0">
            <a:spAutoFit/>
          </a:bodyPr>
          <a:lstStyle/>
          <a:p>
            <a:pPr algn="l">
              <a:lnSpc>
                <a:spcPts val="2508"/>
              </a:lnSpc>
            </a:pPr>
            <a:r>
              <a:rPr lang="en-US" b="true" sz="2212">
                <a:solidFill>
                  <a:srgbClr val="2B2A26"/>
                </a:solidFill>
                <a:latin typeface="Arial MT Pro Bold"/>
                <a:ea typeface="Arial MT Pro Bold"/>
                <a:cs typeface="Arial MT Pro Bold"/>
                <a:sym typeface="Arial MT Pro Bold"/>
              </a:rPr>
              <a:t>Successful</a:t>
            </a:r>
          </a:p>
          <a:p>
            <a:pPr algn="l">
              <a:lnSpc>
                <a:spcPts val="2508"/>
              </a:lnSpc>
            </a:pPr>
            <a:r>
              <a:rPr lang="en-US" b="true" sz="2212">
                <a:solidFill>
                  <a:srgbClr val="2B2A26"/>
                </a:solidFill>
                <a:latin typeface="Arial MT Pro Bold"/>
                <a:ea typeface="Arial MT Pro Bold"/>
                <a:cs typeface="Arial MT Pro Bold"/>
                <a:sym typeface="Arial MT Pro Bold"/>
              </a:rPr>
              <a:t>Credential</a:t>
            </a:r>
          </a:p>
          <a:p>
            <a:pPr algn="l">
              <a:lnSpc>
                <a:spcPts val="2508"/>
              </a:lnSpc>
            </a:pPr>
            <a:r>
              <a:rPr lang="en-US" b="true" sz="2212">
                <a:solidFill>
                  <a:srgbClr val="2B2A26"/>
                </a:solidFill>
                <a:latin typeface="Arial MT Pro Bold"/>
                <a:ea typeface="Arial MT Pro Bold"/>
                <a:cs typeface="Arial MT Pro Bold"/>
                <a:sym typeface="Arial MT Pro Bold"/>
              </a:rPr>
              <a:t>Match</a:t>
            </a:r>
          </a:p>
        </p:txBody>
      </p:sp>
      <p:sp>
        <p:nvSpPr>
          <p:cNvPr name="TextBox 15" id="15"/>
          <p:cNvSpPr txBox="true"/>
          <p:nvPr/>
        </p:nvSpPr>
        <p:spPr>
          <a:xfrm rot="0">
            <a:off x="11936768" y="11844528"/>
            <a:ext cx="5471689" cy="2094548"/>
          </a:xfrm>
          <a:prstGeom prst="rect">
            <a:avLst/>
          </a:prstGeom>
        </p:spPr>
        <p:txBody>
          <a:bodyPr anchor="t" rtlCol="false" tIns="0" lIns="0" bIns="0" rIns="0">
            <a:spAutoFit/>
          </a:bodyPr>
          <a:lstStyle/>
          <a:p>
            <a:pPr algn="l">
              <a:lnSpc>
                <a:spcPts val="3232"/>
              </a:lnSpc>
            </a:pPr>
            <a:r>
              <a:rPr lang="en-US" b="true" sz="2499">
                <a:solidFill>
                  <a:srgbClr val="2B2A26"/>
                </a:solidFill>
                <a:latin typeface="Arial MT Pro Bold"/>
                <a:ea typeface="Arial MT Pro Bold"/>
                <a:cs typeface="Arial MT Pro Bold"/>
                <a:sym typeface="Arial MT Pro Bold"/>
              </a:rPr>
              <a:t>Account Takeover (ATO)</a:t>
            </a:r>
          </a:p>
          <a:p>
            <a:pPr algn="l">
              <a:lnSpc>
                <a:spcPts val="3232"/>
              </a:lnSpc>
            </a:pPr>
            <a:r>
              <a:rPr lang="en-US" sz="2499">
                <a:solidFill>
                  <a:srgbClr val="2B2A26"/>
                </a:solidFill>
                <a:latin typeface="Arial MT Pro"/>
                <a:ea typeface="Arial MT Pro"/>
                <a:cs typeface="Arial MT Pro"/>
                <a:sym typeface="Arial MT Pro"/>
              </a:rPr>
              <a:t>A successful credential match grants the attacker full access to the client's bank account, enabling fraudulent transfers and data theft.</a:t>
            </a:r>
          </a:p>
        </p:txBody>
      </p:sp>
      <p:sp>
        <p:nvSpPr>
          <p:cNvPr name="TextBox 16" id="16"/>
          <p:cNvSpPr txBox="true"/>
          <p:nvPr/>
        </p:nvSpPr>
        <p:spPr>
          <a:xfrm rot="0">
            <a:off x="17626467" y="11701653"/>
            <a:ext cx="6347139" cy="2185019"/>
          </a:xfrm>
          <a:prstGeom prst="rect">
            <a:avLst/>
          </a:prstGeom>
        </p:spPr>
        <p:txBody>
          <a:bodyPr anchor="t" rtlCol="false" tIns="0" lIns="0" bIns="0" rIns="0">
            <a:spAutoFit/>
          </a:bodyPr>
          <a:lstStyle/>
          <a:p>
            <a:pPr algn="l">
              <a:lnSpc>
                <a:spcPts val="3047"/>
              </a:lnSpc>
            </a:pPr>
            <a:r>
              <a:rPr lang="en-US" b="true" sz="2499">
                <a:solidFill>
                  <a:srgbClr val="2D483B"/>
                </a:solidFill>
                <a:latin typeface="Arial MT Pro Bold"/>
                <a:ea typeface="Arial MT Pro Bold"/>
                <a:cs typeface="Arial MT Pro Bold"/>
                <a:sym typeface="Arial MT Pro Bold"/>
              </a:rPr>
              <a:t>RISK INSIGHT: </a:t>
            </a:r>
            <a:r>
              <a:rPr lang="en-US" b="true" sz="2499">
                <a:solidFill>
                  <a:srgbClr val="0E0E0F"/>
                </a:solidFill>
                <a:latin typeface="Arial MT Pro Bold"/>
                <a:ea typeface="Arial MT Pro Bold"/>
                <a:cs typeface="Arial MT Pro Bold"/>
                <a:sym typeface="Arial MT Pro Bold"/>
              </a:rPr>
              <a:t>The Bank's Perimeter is Bypassed by Valid Credentials</a:t>
            </a:r>
          </a:p>
          <a:p>
            <a:pPr algn="l">
              <a:lnSpc>
                <a:spcPts val="2742"/>
              </a:lnSpc>
            </a:pPr>
            <a:r>
              <a:rPr lang="en-US" sz="2250">
                <a:solidFill>
                  <a:srgbClr val="2B2A26"/>
                </a:solidFill>
                <a:latin typeface="Arial MT Pro"/>
                <a:ea typeface="Arial MT Pro"/>
                <a:cs typeface="Arial MT Pro"/>
                <a:sym typeface="Arial MT Pro"/>
              </a:rPr>
              <a:t>This attack vector does not break through </a:t>
            </a:r>
            <a:r>
              <a:rPr lang="en-US" sz="2250">
                <a:solidFill>
                  <a:srgbClr val="2B2A26"/>
                </a:solidFill>
                <a:latin typeface="Arial MT Pro"/>
                <a:ea typeface="Arial MT Pro"/>
                <a:cs typeface="Arial MT Pro"/>
                <a:sym typeface="Arial MT Pro"/>
              </a:rPr>
              <a:t>technical defenses like firewalls; it uses legitimate </a:t>
            </a:r>
            <a:r>
              <a:rPr lang="en-US" sz="2250">
                <a:solidFill>
                  <a:srgbClr val="2B2A26"/>
                </a:solidFill>
                <a:latin typeface="Arial MT Pro"/>
                <a:ea typeface="Arial MT Pro"/>
                <a:cs typeface="Arial MT Pro"/>
                <a:sym typeface="Arial MT Pro"/>
              </a:rPr>
              <a:t>login credentials that the system recognizes as authentic, making detection difficult.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DAG90k9mLsE</dc:identifier>
  <dcterms:modified xsi:type="dcterms:W3CDTF">2011-08-01T06:04:30Z</dcterms:modified>
  <cp:revision>1</cp:revision>
  <dc:title>FY2025 Executive Intelligence Summary: From Elevated Risk to Direct Confrontation The New Battlefield: Blurring Lines Between Crime &amp; Conflict</dc:title>
</cp:coreProperties>
</file>