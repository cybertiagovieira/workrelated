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Arial MT Pro Bold" charset="1" panose="020B0802020202020204"/>
      <p:regular r:id="rId11"/>
    </p:embeddedFont>
    <p:embeddedFont>
      <p:font typeface="Arial MT Pro" charset="1" panose="020B0502020202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8017"/>
            <a:ext cx="18294651" cy="10210966"/>
          </a:xfrm>
          <a:custGeom>
            <a:avLst/>
            <a:gdLst/>
            <a:ahLst/>
            <a:cxnLst/>
            <a:rect r="r" b="b" t="t" l="l"/>
            <a:pathLst>
              <a:path h="10210966" w="18294651">
                <a:moveTo>
                  <a:pt x="0" y="0"/>
                </a:moveTo>
                <a:lnTo>
                  <a:pt x="18294651" y="0"/>
                </a:lnTo>
                <a:lnTo>
                  <a:pt x="18294651" y="10210966"/>
                </a:lnTo>
                <a:lnTo>
                  <a:pt x="0" y="10210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85570" y="325783"/>
            <a:ext cx="17178654" cy="2276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47"/>
              </a:lnSpc>
            </a:pPr>
            <a:r>
              <a:rPr lang="en-US" b="true" sz="4710" spc="146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INCIDENT ANALYSIS - THE MINISTRY</a:t>
            </a:r>
          </a:p>
          <a:p>
            <a:pPr algn="l">
              <a:lnSpc>
                <a:spcPts val="5747"/>
              </a:lnSpc>
            </a:pPr>
            <a:r>
              <a:rPr lang="en-US" b="true" sz="4710" spc="146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OF THE INTERIOR INTRUSION</a:t>
            </a:r>
          </a:p>
          <a:p>
            <a:pPr algn="l">
              <a:lnSpc>
                <a:spcPts val="5747"/>
              </a:lnSpc>
            </a:pPr>
            <a:r>
              <a:rPr lang="en-US" sz="4710" spc="146">
                <a:solidFill>
                  <a:srgbClr val="177F56"/>
                </a:solidFill>
                <a:latin typeface="Arial MT Pro"/>
                <a:ea typeface="Arial MT Pro"/>
                <a:cs typeface="Arial MT Pro"/>
                <a:sym typeface="Arial MT Pro"/>
              </a:rPr>
              <a:t>Sovereign Data Compromise: Place Beauvau (Dec 17, 2025)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12161" y="2987704"/>
            <a:ext cx="5089902" cy="3024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2"/>
              </a:lnSpc>
            </a:pPr>
            <a:r>
              <a:rPr lang="en-US" b="true" sz="2617" spc="-2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Event: Silent Exfiltration</a:t>
            </a:r>
          </a:p>
          <a:p>
            <a:pPr algn="l">
              <a:lnSpc>
                <a:spcPts val="2927"/>
              </a:lnSpc>
            </a:pPr>
            <a:r>
              <a:rPr lang="en-US" b="true" sz="2407" spc="103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Vector:</a:t>
            </a: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 Malicious intrusion into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internal email infrastructure. Initial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access facilitated by compromised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credentials harvested via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Info-stealer malware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(RedLine/Lumma) targeting</a:t>
            </a:r>
          </a:p>
          <a:p>
            <a:pPr algn="l">
              <a:lnSpc>
                <a:spcPts val="2927"/>
              </a:lnSpc>
            </a:pPr>
            <a:r>
              <a:rPr lang="en-US" sz="2407" spc="103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administrative staff.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99347" y="6329993"/>
            <a:ext cx="5571284" cy="2151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b="true" sz="2407" spc="81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Dwell Time:</a:t>
            </a: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 Operational indicators</a:t>
            </a:r>
          </a:p>
          <a:p>
            <a:pPr algn="l">
              <a:lnSpc>
                <a:spcPts val="2812"/>
              </a:lnSpc>
            </a:pP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suggest a 'silent' dwell period</a:t>
            </a:r>
          </a:p>
          <a:p>
            <a:pPr algn="l">
              <a:lnSpc>
                <a:spcPts val="2812"/>
              </a:lnSpc>
            </a:pP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allowing for methodical data scraping.</a:t>
            </a:r>
          </a:p>
          <a:p>
            <a:pPr algn="l">
              <a:lnSpc>
                <a:spcPts val="2812"/>
              </a:lnSpc>
            </a:pP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This contrasts sharply with destructive</a:t>
            </a:r>
          </a:p>
          <a:p>
            <a:pPr algn="l">
              <a:lnSpc>
                <a:spcPts val="2812"/>
              </a:lnSpc>
            </a:pP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ransomware TTPs; the objective was</a:t>
            </a:r>
          </a:p>
          <a:p>
            <a:pPr algn="l">
              <a:lnSpc>
                <a:spcPts val="2812"/>
              </a:lnSpc>
            </a:pPr>
            <a:r>
              <a:rPr lang="en-US" sz="2407" spc="8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purely espionage.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74924" y="2982133"/>
            <a:ext cx="5263285" cy="2285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0"/>
              </a:lnSpc>
            </a:pPr>
            <a:r>
              <a:rPr lang="en-US" b="true" sz="2617" spc="-5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Critical Data at Risk</a:t>
            </a:r>
          </a:p>
          <a:p>
            <a:pPr algn="l">
              <a:lnSpc>
                <a:spcPts val="2935"/>
              </a:lnSpc>
            </a:pPr>
            <a:r>
              <a:rPr lang="en-US" b="true" sz="2407" spc="36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TAJ Access (Criminal Records):</a:t>
            </a:r>
          </a:p>
          <a:p>
            <a:pPr algn="l">
              <a:lnSpc>
                <a:spcPts val="2935"/>
              </a:lnSpc>
            </a:pPr>
            <a:r>
              <a:rPr lang="en-US" sz="2407" spc="36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Attackers recovered access codes for</a:t>
            </a:r>
          </a:p>
          <a:p>
            <a:pPr algn="l">
              <a:lnSpc>
                <a:spcPts val="2935"/>
              </a:lnSpc>
            </a:pPr>
            <a:r>
              <a:rPr lang="en-US" sz="2407" spc="9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the Traitement des Antécédents</a:t>
            </a:r>
          </a:p>
          <a:p>
            <a:pPr algn="l">
              <a:lnSpc>
                <a:spcPts val="2935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Judiciaires. Allows consultation of</a:t>
            </a:r>
          </a:p>
          <a:p>
            <a:pPr algn="l">
              <a:lnSpc>
                <a:spcPts val="2935"/>
              </a:lnSpc>
            </a:pPr>
            <a:r>
              <a:rPr lang="en-US" sz="2407" spc="7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suspect profiles and victim data.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488219" y="5590290"/>
            <a:ext cx="5268520" cy="1077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3"/>
              </a:lnSpc>
            </a:pPr>
            <a:r>
              <a:rPr lang="en-US" b="true" sz="2407" spc="26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FPR Access (Wanted Persons):</a:t>
            </a:r>
          </a:p>
          <a:p>
            <a:pPr algn="l">
              <a:lnSpc>
                <a:spcPts val="2713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Exposure of the Fichier des Personnes</a:t>
            </a:r>
          </a:p>
          <a:p>
            <a:pPr algn="l">
              <a:lnSpc>
                <a:spcPts val="2713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Recherchées.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474939" y="6979175"/>
            <a:ext cx="5225641" cy="180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b="true" sz="2407" spc="52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Impact: </a:t>
            </a:r>
            <a:r>
              <a:rPr lang="en-US" sz="2407" spc="52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Compromise of 'Sovereign</a:t>
            </a:r>
          </a:p>
          <a:p>
            <a:pPr algn="l">
              <a:lnSpc>
                <a:spcPts val="2822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Identity Data' the source of truth</a:t>
            </a:r>
          </a:p>
          <a:p>
            <a:pPr algn="l">
              <a:lnSpc>
                <a:spcPts val="2822"/>
              </a:lnSpc>
            </a:pPr>
            <a:r>
              <a:rPr lang="en-US" sz="2407" spc="2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used by the state to verify legal</a:t>
            </a:r>
          </a:p>
          <a:p>
            <a:pPr algn="l">
              <a:lnSpc>
                <a:spcPts val="2822"/>
              </a:lnSpc>
            </a:pPr>
            <a:r>
              <a:rPr lang="en-US" sz="2407" spc="21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standing. This data is high-fidelity and</a:t>
            </a:r>
          </a:p>
          <a:p>
            <a:pPr algn="l">
              <a:lnSpc>
                <a:spcPts val="2822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hard to revoke.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550224" y="2961344"/>
            <a:ext cx="5359635" cy="126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1"/>
              </a:lnSpc>
            </a:pPr>
            <a:r>
              <a:rPr lang="en-US" b="true" sz="2617" spc="36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Attribution: The 'Com' Nexus</a:t>
            </a:r>
          </a:p>
          <a:p>
            <a:pPr algn="l">
              <a:lnSpc>
                <a:spcPts val="3156"/>
              </a:lnSpc>
            </a:pPr>
            <a:r>
              <a:rPr lang="en-US" sz="2407" spc="12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The Suspect: 22-year-old individual</a:t>
            </a:r>
          </a:p>
          <a:p>
            <a:pPr algn="l">
              <a:lnSpc>
                <a:spcPts val="3156"/>
              </a:lnSpc>
            </a:pPr>
            <a:r>
              <a:rPr lang="en-US" sz="2407" spc="12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'SSRQM' arrested near Limoges.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64269" y="4633351"/>
            <a:ext cx="5119568" cy="17968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b="true" sz="2407" spc="77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Ecosystem:</a:t>
            </a:r>
            <a:r>
              <a:rPr lang="en-US" sz="2407" spc="7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 Intelligence links</a:t>
            </a:r>
          </a:p>
          <a:p>
            <a:pPr algn="l">
              <a:lnSpc>
                <a:spcPts val="2781"/>
              </a:lnSpc>
            </a:pPr>
            <a:r>
              <a:rPr lang="en-US" sz="2407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TTPS to 'The Com'-a convergence of</a:t>
            </a:r>
          </a:p>
          <a:p>
            <a:pPr algn="l">
              <a:lnSpc>
                <a:spcPts val="2781"/>
              </a:lnSpc>
            </a:pPr>
            <a:r>
              <a:rPr lang="en-US" sz="2407" spc="52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high-level social engineering groups</a:t>
            </a:r>
          </a:p>
          <a:p>
            <a:pPr algn="l">
              <a:lnSpc>
                <a:spcPts val="2781"/>
              </a:lnSpc>
            </a:pPr>
            <a:r>
              <a:rPr lang="en-US" sz="2407" spc="52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(Scattered Spider/Lapsus$) and</a:t>
            </a:r>
          </a:p>
          <a:p>
            <a:pPr algn="l">
              <a:lnSpc>
                <a:spcPts val="2781"/>
              </a:lnSpc>
            </a:pPr>
            <a:r>
              <a:rPr lang="en-US" sz="2407" spc="52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state-aligned actors.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564214" y="6679935"/>
            <a:ext cx="5495250" cy="109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76"/>
              </a:lnSpc>
            </a:pPr>
            <a:r>
              <a:rPr lang="en-US" b="true" sz="2407" spc="69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Profile:</a:t>
            </a:r>
            <a:r>
              <a:rPr lang="en-US" sz="2407" spc="69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 Technical sophistication of an</a:t>
            </a:r>
          </a:p>
          <a:p>
            <a:pPr algn="l">
              <a:lnSpc>
                <a:spcPts val="2776"/>
              </a:lnSpc>
            </a:pPr>
            <a:r>
              <a:rPr lang="en-US" sz="2407" spc="69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APT combined with the agility of</a:t>
            </a:r>
          </a:p>
          <a:p>
            <a:pPr algn="l">
              <a:lnSpc>
                <a:spcPts val="2776"/>
              </a:lnSpc>
            </a:pPr>
            <a:r>
              <a:rPr lang="en-US" sz="2407" spc="69">
                <a:solidFill>
                  <a:srgbClr val="191919"/>
                </a:solidFill>
                <a:latin typeface="Arial MT Pro"/>
                <a:ea typeface="Arial MT Pro"/>
                <a:cs typeface="Arial MT Pro"/>
                <a:sym typeface="Arial MT Pro"/>
              </a:rPr>
              <a:t>organized cybercrime.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12161" y="9118424"/>
            <a:ext cx="17411118" cy="811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5"/>
              </a:lnSpc>
            </a:pPr>
            <a:r>
              <a:rPr lang="en-US" b="true" sz="2826" spc="56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Key Takeaway: A 'silent' exfiltration of high-fidelity legal data, executed while security teams were</a:t>
            </a:r>
          </a:p>
          <a:p>
            <a:pPr algn="l">
              <a:lnSpc>
                <a:spcPts val="2965"/>
              </a:lnSpc>
            </a:pPr>
            <a:r>
              <a:rPr lang="en-US" b="true" sz="2826" spc="56">
                <a:solidFill>
                  <a:srgbClr val="191919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distracted by concurrent 'noisy' attacks.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8017"/>
            <a:ext cx="18294651" cy="10210966"/>
          </a:xfrm>
          <a:custGeom>
            <a:avLst/>
            <a:gdLst/>
            <a:ahLst/>
            <a:cxnLst/>
            <a:rect r="r" b="b" t="t" l="l"/>
            <a:pathLst>
              <a:path h="10210966" w="18294651">
                <a:moveTo>
                  <a:pt x="0" y="0"/>
                </a:moveTo>
                <a:lnTo>
                  <a:pt x="18294651" y="0"/>
                </a:lnTo>
                <a:lnTo>
                  <a:pt x="18294651" y="10210966"/>
                </a:lnTo>
                <a:lnTo>
                  <a:pt x="0" y="10210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4930" y="750273"/>
            <a:ext cx="17763070" cy="820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47"/>
              </a:lnSpc>
              <a:spcBef>
                <a:spcPct val="0"/>
              </a:spcBef>
            </a:pPr>
            <a:r>
              <a:rPr lang="en-US" b="true" sz="4710" spc="146" strike="noStrike" u="none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STRATEGIC CONTEXT - A HYBRID WARFARE CAMPAIGN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4930" y="1625611"/>
            <a:ext cx="17763070" cy="820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47"/>
              </a:lnSpc>
              <a:spcBef>
                <a:spcPct val="0"/>
              </a:spcBef>
            </a:pPr>
            <a:r>
              <a:rPr lang="en-US" sz="4710" spc="146" strike="noStrike" u="none">
                <a:solidFill>
                  <a:srgbClr val="177F56"/>
                </a:solidFill>
                <a:latin typeface="Arial MT Pro"/>
                <a:ea typeface="Arial MT Pro"/>
                <a:cs typeface="Arial MT Pro"/>
                <a:sym typeface="Arial MT Pro"/>
              </a:rPr>
              <a:t>The 'Fog of War': Diversionary &amp; Kinetic Cyber Threats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82117" y="3251224"/>
            <a:ext cx="5362444" cy="2406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7"/>
              </a:lnSpc>
            </a:pPr>
            <a:r>
              <a:rPr lang="en-US" b="true" sz="1989" spc="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Geopolitical Retaliation</a:t>
            </a:r>
          </a:p>
          <a:p>
            <a:pPr algn="l">
              <a:lnSpc>
                <a:spcPts val="2727"/>
              </a:lnSpc>
            </a:pPr>
            <a:r>
              <a:rPr lang="en-US" b="true" sz="1989" spc="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Context:</a:t>
            </a:r>
            <a:r>
              <a:rPr lang="en-US" sz="1989" spc="13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Offensive triggered by EU decision to indefinitely freeze Russian sovereign assets.</a:t>
            </a:r>
          </a:p>
          <a:p>
            <a:pPr algn="l">
              <a:lnSpc>
                <a:spcPts val="2727"/>
              </a:lnSpc>
            </a:pPr>
            <a:r>
              <a:rPr lang="en-US" b="true" sz="1989" spc="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Doctrine:</a:t>
            </a:r>
            <a:r>
              <a:rPr lang="en-US" sz="1989" spc="13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'Hybrid Warfare' strategy utilizing simultaneous disruptive and espionage operations </a:t>
            </a:r>
            <a:r>
              <a:rPr lang="en-US" sz="1989" spc="13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to stretch French defensive resources.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28319" y="2628009"/>
            <a:ext cx="4826526" cy="487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64"/>
              </a:lnSpc>
            </a:pPr>
            <a:r>
              <a:rPr lang="en-US" b="true" sz="2617" spc="-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Dec 22-26, 2025: The Diversion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891686" y="3165665"/>
            <a:ext cx="6544840" cy="2585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75"/>
              </a:lnSpc>
            </a:pPr>
            <a:r>
              <a:rPr lang="en-US" b="true" sz="1989" spc="1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'Noisy' La Poste DDoS</a:t>
            </a:r>
          </a:p>
          <a:p>
            <a:pPr algn="l">
              <a:lnSpc>
                <a:spcPts val="2575"/>
              </a:lnSpc>
            </a:pPr>
            <a:r>
              <a:rPr lang="en-US" b="true" sz="1989" spc="1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Vector:</a:t>
            </a:r>
            <a:r>
              <a:rPr lang="en-US" sz="1989" spc="1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Massive DDoS attacks by pro-Russian hacktivists NoName057(16) using 'DDoSia' malware.</a:t>
            </a:r>
          </a:p>
          <a:p>
            <a:pPr algn="l">
              <a:lnSpc>
                <a:spcPts val="2575"/>
              </a:lnSpc>
            </a:pPr>
            <a:r>
              <a:rPr lang="en-US" b="true" sz="1989" spc="1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Operational Impact:</a:t>
            </a:r>
            <a:r>
              <a:rPr lang="en-US" sz="1989" spc="1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Saturation of banking logins (La Banque Postale) and logistics tracking.</a:t>
            </a:r>
          </a:p>
          <a:p>
            <a:pPr algn="l">
              <a:lnSpc>
                <a:spcPts val="2575"/>
              </a:lnSpc>
            </a:pPr>
            <a:r>
              <a:rPr lang="en-US" b="true" sz="1989" spc="1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Strategic Function:</a:t>
            </a:r>
            <a:r>
              <a:rPr lang="en-US" sz="1989" spc="1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A smokescreen to draw SOC/CERT attention away from the quiet, high-value data theft at the </a:t>
            </a:r>
            <a:r>
              <a:rPr lang="en-US" sz="1989" spc="1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Ministry.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670801" y="2643008"/>
            <a:ext cx="5565440" cy="487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64"/>
              </a:lnSpc>
            </a:pPr>
            <a:r>
              <a:rPr lang="en-US" b="true" sz="2617" spc="-15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Dec 14-17, 2025: The Kinetic Threat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722560" y="3246823"/>
            <a:ext cx="5182639" cy="2360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7"/>
              </a:lnSpc>
            </a:pPr>
            <a:r>
              <a:rPr lang="en-US" b="true" sz="1989" spc="-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Maritime Sabotage Convergence</a:t>
            </a:r>
          </a:p>
          <a:p>
            <a:pPr algn="l">
              <a:lnSpc>
                <a:spcPts val="2317"/>
              </a:lnSpc>
            </a:pPr>
            <a:r>
              <a:rPr lang="en-US" b="true" sz="1989" spc="-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Incident: </a:t>
            </a: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Discovery of Remote Access Trojan</a:t>
            </a:r>
          </a:p>
          <a:p>
            <a:pPr algn="l">
              <a:lnSpc>
                <a:spcPts val="2317"/>
              </a:lnSpc>
            </a:pP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(RAT) on GNV ferry Fantastic in Séte.</a:t>
            </a:r>
          </a:p>
          <a:p>
            <a:pPr algn="l">
              <a:lnSpc>
                <a:spcPts val="2317"/>
              </a:lnSpc>
            </a:pPr>
            <a:r>
              <a:rPr lang="en-US" b="true" sz="1989" spc="-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Capability:</a:t>
            </a: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Malware targeted OT (Operational</a:t>
            </a:r>
          </a:p>
          <a:p>
            <a:pPr algn="l">
              <a:lnSpc>
                <a:spcPts val="2317"/>
              </a:lnSpc>
            </a:pP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Technology) systems, capable of manipulating</a:t>
            </a:r>
          </a:p>
          <a:p>
            <a:pPr algn="l">
              <a:lnSpc>
                <a:spcPts val="2317"/>
              </a:lnSpc>
            </a:pP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navigation and propulsion.</a:t>
            </a:r>
          </a:p>
          <a:p>
            <a:pPr algn="l">
              <a:lnSpc>
                <a:spcPts val="2317"/>
              </a:lnSpc>
            </a:pPr>
            <a:r>
              <a:rPr lang="en-US" b="true" sz="1989" spc="-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Implication:</a:t>
            </a: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 Willingness to cross the digital-</a:t>
            </a:r>
          </a:p>
          <a:p>
            <a:pPr algn="l">
              <a:lnSpc>
                <a:spcPts val="2317"/>
              </a:lnSpc>
            </a:pPr>
            <a:r>
              <a:rPr lang="en-US" sz="1989" spc="-1">
                <a:solidFill>
                  <a:srgbClr val="222222"/>
                </a:solidFill>
                <a:latin typeface="Arial MT Pro"/>
                <a:ea typeface="Arial MT Pro"/>
                <a:cs typeface="Arial MT Pro"/>
                <a:sym typeface="Arial MT Pro"/>
              </a:rPr>
              <a:t>physical divide, threatening logistics chains.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4694" y="7851204"/>
            <a:ext cx="1515690" cy="385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8"/>
              </a:lnSpc>
            </a:pPr>
            <a:r>
              <a:rPr lang="en-US" b="true" sz="1256" spc="5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DISRUPTIVE OPS</a:t>
            </a:r>
          </a:p>
          <a:p>
            <a:pPr algn="ctr">
              <a:lnSpc>
                <a:spcPts val="1448"/>
              </a:lnSpc>
            </a:pPr>
            <a:r>
              <a:rPr lang="en-US" b="true" sz="1256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(DDOS/SABOTAGE)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03105" y="6126095"/>
            <a:ext cx="1588982" cy="235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58"/>
              </a:lnSpc>
            </a:pPr>
            <a:r>
              <a:rPr lang="en-US" b="true" sz="1256" spc="6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EU ASSET FREEZE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72306" y="6933326"/>
            <a:ext cx="850581" cy="509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b="true" sz="1046" spc="7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RUSSIAN</a:t>
            </a:r>
          </a:p>
          <a:p>
            <a:pPr algn="ctr">
              <a:lnSpc>
                <a:spcPts val="1309"/>
              </a:lnSpc>
            </a:pPr>
            <a:r>
              <a:rPr lang="en-US" b="true" sz="1046" spc="7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STRATEGIC</a:t>
            </a:r>
          </a:p>
          <a:p>
            <a:pPr algn="ctr">
              <a:lnSpc>
                <a:spcPts val="1309"/>
              </a:lnSpc>
            </a:pPr>
            <a:r>
              <a:rPr lang="en-US" b="true" sz="1046" spc="7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RESPONSE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468368" y="7859573"/>
            <a:ext cx="1641832" cy="385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7"/>
              </a:lnSpc>
            </a:pPr>
            <a:r>
              <a:rPr lang="en-US" b="true" sz="1256" spc="1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ESPIONAGE OPS</a:t>
            </a:r>
          </a:p>
          <a:p>
            <a:pPr algn="ctr">
              <a:lnSpc>
                <a:spcPts val="1447"/>
              </a:lnSpc>
            </a:pPr>
            <a:r>
              <a:rPr lang="en-US" b="true" sz="1256" spc="1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(DATA THEFT/INTEL)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28319" y="7669649"/>
            <a:ext cx="1373968" cy="32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4"/>
              </a:lnSpc>
            </a:pPr>
            <a:r>
              <a:rPr lang="en-US" b="true" sz="115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NoName057(16)</a:t>
            </a:r>
          </a:p>
          <a:p>
            <a:pPr algn="ctr">
              <a:lnSpc>
                <a:spcPts val="1254"/>
              </a:lnSpc>
            </a:pPr>
            <a:r>
              <a:rPr lang="en-US" b="true" sz="1151" spc="74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'DDoSia' BOTNET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801174" y="6759185"/>
            <a:ext cx="1778817" cy="348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02"/>
              </a:lnSpc>
            </a:pPr>
            <a:r>
              <a:rPr lang="en-US" b="true" sz="1151" spc="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LA BANQUE POSTALE</a:t>
            </a:r>
          </a:p>
          <a:p>
            <a:pPr algn="ctr">
              <a:lnSpc>
                <a:spcPts val="1302"/>
              </a:lnSpc>
            </a:pPr>
            <a:r>
              <a:rPr lang="en-US" b="true" sz="115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(BANKING SATURATION)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856143" y="8016135"/>
            <a:ext cx="1668880" cy="363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36"/>
              </a:lnSpc>
            </a:pPr>
            <a:r>
              <a:rPr lang="en-US" b="true" sz="1151" spc="2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LOGISTICS TRACKING</a:t>
            </a:r>
          </a:p>
          <a:p>
            <a:pPr algn="ctr">
              <a:lnSpc>
                <a:spcPts val="1336"/>
              </a:lnSpc>
            </a:pPr>
            <a:r>
              <a:rPr lang="en-US" b="true" sz="115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(SATURATION)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001706" y="8884316"/>
            <a:ext cx="1791780" cy="340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5"/>
              </a:lnSpc>
            </a:pPr>
            <a:r>
              <a:rPr lang="en-US" b="true" sz="1151" spc="17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STRETCHED FR</a:t>
            </a:r>
          </a:p>
          <a:p>
            <a:pPr algn="ctr">
              <a:lnSpc>
                <a:spcPts val="1285"/>
              </a:lnSpc>
            </a:pPr>
            <a:r>
              <a:rPr lang="en-US" b="true" sz="1151" spc="6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DEFENSE RESOURCES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657303" y="6769157"/>
            <a:ext cx="1452869" cy="527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1"/>
              </a:lnSpc>
            </a:pPr>
            <a:r>
              <a:rPr lang="en-US" b="true" sz="1151" spc="3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SOC/CERT</a:t>
            </a:r>
          </a:p>
          <a:p>
            <a:pPr algn="ctr">
              <a:lnSpc>
                <a:spcPts val="1381"/>
              </a:lnSpc>
            </a:pPr>
            <a:r>
              <a:rPr lang="en-US" b="true" sz="1151" spc="3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ATTENTION FOCUS</a:t>
            </a:r>
          </a:p>
          <a:p>
            <a:pPr algn="ctr">
              <a:lnSpc>
                <a:spcPts val="1381"/>
              </a:lnSpc>
            </a:pPr>
            <a:r>
              <a:rPr lang="en-US" b="true" sz="1151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(NOISY EVENT)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848571" y="8946808"/>
            <a:ext cx="1462841" cy="417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2"/>
              </a:lnSpc>
            </a:pPr>
            <a:r>
              <a:rPr lang="en-US" b="true" sz="1151" spc="3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QUIET HIGH-VALUE</a:t>
            </a:r>
          </a:p>
          <a:p>
            <a:pPr algn="ctr">
              <a:lnSpc>
                <a:spcPts val="1612"/>
              </a:lnSpc>
            </a:pPr>
            <a:r>
              <a:rPr lang="en-US" b="true" sz="1151" spc="3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DATA THEFT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854845" y="8952977"/>
            <a:ext cx="1032689" cy="557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57"/>
              </a:lnSpc>
            </a:pPr>
            <a:r>
              <a:rPr lang="en-US" b="true" sz="1151" spc="5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MINISTRY OF</a:t>
            </a:r>
          </a:p>
          <a:p>
            <a:pPr algn="ctr">
              <a:lnSpc>
                <a:spcPts val="1457"/>
              </a:lnSpc>
            </a:pPr>
            <a:r>
              <a:rPr lang="en-US" b="true" sz="1151" spc="5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DEFENSE</a:t>
            </a:r>
          </a:p>
          <a:p>
            <a:pPr algn="ctr">
              <a:lnSpc>
                <a:spcPts val="1457"/>
              </a:lnSpc>
            </a:pPr>
            <a:r>
              <a:rPr lang="en-US" b="true" sz="1151" spc="52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(COVERT OP)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354696" y="6200778"/>
            <a:ext cx="2740707" cy="271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5"/>
              </a:lnSpc>
            </a:pPr>
            <a:r>
              <a:rPr lang="en-US" b="true" sz="1360" spc="-16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GNV FERRY "FANTASTIC* (SÈTE)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587109" y="6821508"/>
            <a:ext cx="1019227" cy="385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5"/>
              </a:lnSpc>
            </a:pPr>
            <a:r>
              <a:rPr lang="en-US" b="true" sz="1256" spc="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NAVIGATION</a:t>
            </a:r>
          </a:p>
          <a:p>
            <a:pPr algn="ctr">
              <a:lnSpc>
                <a:spcPts val="1445"/>
              </a:lnSpc>
            </a:pPr>
            <a:r>
              <a:rPr lang="en-US" b="true" sz="1256" spc="1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SYSTEMS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02640" y="7547666"/>
            <a:ext cx="1150229" cy="363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39"/>
              </a:lnSpc>
            </a:pPr>
            <a:r>
              <a:rPr lang="en-US" b="true" sz="1151" spc="2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RAT</a:t>
            </a:r>
          </a:p>
          <a:p>
            <a:pPr algn="ctr">
              <a:lnSpc>
                <a:spcPts val="1339"/>
              </a:lnSpc>
            </a:pPr>
            <a:r>
              <a:rPr lang="en-US" b="true" sz="1151" spc="2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(OT MALWARE)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53330" y="7547666"/>
            <a:ext cx="1086785" cy="362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3"/>
              </a:lnSpc>
            </a:pPr>
            <a:r>
              <a:rPr lang="en-US" b="true" sz="1151" spc="94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PROPULSION</a:t>
            </a:r>
          </a:p>
          <a:p>
            <a:pPr algn="ctr">
              <a:lnSpc>
                <a:spcPts val="1343"/>
              </a:lnSpc>
            </a:pPr>
            <a:r>
              <a:rPr lang="en-US" b="true" sz="1151" spc="94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CONTROL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203773" y="7691315"/>
            <a:ext cx="1481039" cy="665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17"/>
              </a:lnSpc>
            </a:pPr>
            <a:r>
              <a:rPr lang="en-US" b="true" sz="1360" spc="5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OT SYSTEMS</a:t>
            </a:r>
          </a:p>
          <a:p>
            <a:pPr algn="ctr">
              <a:lnSpc>
                <a:spcPts val="1717"/>
              </a:lnSpc>
            </a:pPr>
            <a:r>
              <a:rPr lang="en-US" b="true" sz="1360" spc="5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(PHYSICAL</a:t>
            </a:r>
          </a:p>
          <a:p>
            <a:pPr algn="ctr">
              <a:lnSpc>
                <a:spcPts val="1717"/>
              </a:lnSpc>
            </a:pPr>
            <a:r>
              <a:rPr lang="en-US" b="true" sz="1360" spc="59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MANIPULATION)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872723" y="8899042"/>
            <a:ext cx="2634135" cy="36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72"/>
              </a:lnSpc>
            </a:pPr>
            <a:r>
              <a:rPr lang="en-US" b="true" sz="1203" spc="27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THREATENED LOGISTICS CHAINS</a:t>
            </a:r>
          </a:p>
          <a:p>
            <a:pPr algn="ctr">
              <a:lnSpc>
                <a:spcPts val="1372"/>
              </a:lnSpc>
            </a:pPr>
            <a:r>
              <a:rPr lang="en-US" b="true" sz="1203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(DIGITAL-PHYSICAL CROSSING)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24930" y="2696123"/>
            <a:ext cx="5188123" cy="477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88"/>
              </a:lnSpc>
            </a:pPr>
            <a:r>
              <a:rPr lang="en-US" b="true" sz="2617" spc="18">
                <a:solidFill>
                  <a:srgbClr val="222222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Dec 12, 2025: The Macro-Trigger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8017"/>
            <a:ext cx="18294651" cy="10210966"/>
          </a:xfrm>
          <a:custGeom>
            <a:avLst/>
            <a:gdLst/>
            <a:ahLst/>
            <a:cxnLst/>
            <a:rect r="r" b="b" t="t" l="l"/>
            <a:pathLst>
              <a:path h="10210966" w="18294651">
                <a:moveTo>
                  <a:pt x="0" y="0"/>
                </a:moveTo>
                <a:lnTo>
                  <a:pt x="18294651" y="0"/>
                </a:lnTo>
                <a:lnTo>
                  <a:pt x="18294651" y="10210966"/>
                </a:lnTo>
                <a:lnTo>
                  <a:pt x="0" y="10210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07058" y="719558"/>
            <a:ext cx="16759845" cy="154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47"/>
              </a:lnSpc>
              <a:spcBef>
                <a:spcPct val="0"/>
              </a:spcBef>
            </a:pPr>
            <a:r>
              <a:rPr lang="en-US" b="true" sz="4710" spc="146" strike="noStrike" u="none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DATA ECOSYSTEM RISK – 'THE IDENTITY GRAPH'</a:t>
            </a:r>
          </a:p>
          <a:p>
            <a:pPr algn="l" marL="0" indent="0" lvl="0">
              <a:lnSpc>
                <a:spcPts val="5747"/>
              </a:lnSpc>
              <a:spcBef>
                <a:spcPct val="0"/>
              </a:spcBef>
            </a:pPr>
            <a:r>
              <a:rPr lang="en-US" sz="4710" spc="146" strike="noStrike" u="none">
                <a:solidFill>
                  <a:srgbClr val="177F56"/>
                </a:solidFill>
                <a:latin typeface="Arial MT Pro"/>
                <a:ea typeface="Arial MT Pro"/>
                <a:cs typeface="Arial MT Pro"/>
                <a:sym typeface="Arial MT Pro"/>
              </a:rPr>
              <a:t>Synthesis of Fragmented Data Leaks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4308" y="2834407"/>
            <a:ext cx="6217025" cy="2951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4"/>
              </a:lnSpc>
            </a:pPr>
            <a:r>
              <a:rPr lang="en-US" b="true" sz="2617" spc="62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Identity Anchors (The Base)</a:t>
            </a:r>
          </a:p>
          <a:p>
            <a:pPr algn="l">
              <a:lnSpc>
                <a:spcPts val="2874"/>
              </a:lnSpc>
            </a:pPr>
            <a:r>
              <a:rPr lang="en-US" b="true" sz="2407" spc="60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Source:</a:t>
            </a:r>
            <a:r>
              <a:rPr lang="en-US" sz="2407" spc="60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 Pass'Sport Breach + CAF Partner Leak</a:t>
            </a:r>
          </a:p>
          <a:p>
            <a:pPr algn="l">
              <a:lnSpc>
                <a:spcPts val="2874"/>
              </a:lnSpc>
            </a:pPr>
            <a:r>
              <a:rPr lang="en-US" b="true" sz="2407" spc="65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Volume:</a:t>
            </a:r>
            <a:r>
              <a:rPr lang="en-US" sz="2407" spc="65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 6.5M emails/addresses + 22M family </a:t>
            </a:r>
            <a:r>
              <a:rPr lang="en-US" sz="2407" spc="65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records.</a:t>
            </a:r>
          </a:p>
          <a:p>
            <a:pPr algn="l">
              <a:lnSpc>
                <a:spcPts val="2874"/>
              </a:lnSpc>
            </a:pPr>
            <a:r>
              <a:rPr lang="en-US" b="true" sz="2407" spc="89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Utility:</a:t>
            </a:r>
            <a:r>
              <a:rPr lang="en-US" sz="2407" spc="89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 Provides 'lifestyle' data (family composition, benefits status) to validate</a:t>
            </a:r>
          </a:p>
          <a:p>
            <a:pPr algn="l">
              <a:lnSpc>
                <a:spcPts val="2874"/>
              </a:lnSpc>
            </a:pPr>
            <a:r>
              <a:rPr lang="en-US" sz="2407" spc="89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social engineering scripts.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17433" y="2996856"/>
            <a:ext cx="6290435" cy="2591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32"/>
              </a:lnSpc>
            </a:pPr>
            <a:r>
              <a:rPr lang="en-US" b="true" sz="2617" spc="136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Financial Anchors (The Mechanism)</a:t>
            </a:r>
          </a:p>
          <a:p>
            <a:pPr algn="l">
              <a:lnSpc>
                <a:spcPts val="2882"/>
              </a:lnSpc>
            </a:pPr>
            <a:r>
              <a:rPr lang="en-US" b="true" sz="2407" spc="40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Source:</a:t>
            </a:r>
            <a:r>
              <a:rPr lang="en-US" sz="2407" spc="40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 45M Record 'Data Trove' (Late 2025)</a:t>
            </a:r>
          </a:p>
          <a:p>
            <a:pPr algn="l">
              <a:lnSpc>
                <a:spcPts val="2882"/>
              </a:lnSpc>
            </a:pPr>
            <a:r>
              <a:rPr lang="en-US" b="true" sz="2407" spc="91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Content: </a:t>
            </a:r>
            <a:r>
              <a:rPr lang="en-US" sz="2407" spc="91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IBANS and BICs tied to French banks. Utility: Allows for direct banking ecosystem injection and Direct Debit fraud.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033929" y="3449361"/>
            <a:ext cx="2226793" cy="1648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350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</a:t>
            </a:r>
          </a:p>
          <a:p>
            <a:pPr algn="ctr">
              <a:lnSpc>
                <a:spcPts val="4200"/>
              </a:lnSpc>
            </a:pPr>
            <a:r>
              <a:rPr lang="en-US" b="true" sz="3350" spc="271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PERFECT</a:t>
            </a:r>
          </a:p>
          <a:p>
            <a:pPr algn="ctr">
              <a:lnSpc>
                <a:spcPts val="4200"/>
              </a:lnSpc>
            </a:pPr>
            <a:r>
              <a:rPr lang="en-US" b="true" sz="3350" spc="271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PROFILE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91326" y="6495916"/>
            <a:ext cx="7621592" cy="2202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82"/>
              </a:lnSpc>
              <a:spcBef>
                <a:spcPct val="0"/>
              </a:spcBef>
            </a:pPr>
            <a:r>
              <a:rPr lang="en-US" b="true" sz="2407" spc="91" strike="noStrike" u="none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Verification Anchors (The Seal)</a:t>
            </a:r>
          </a:p>
          <a:p>
            <a:pPr algn="l" marL="0" indent="0" lvl="0">
              <a:lnSpc>
                <a:spcPts val="2882"/>
              </a:lnSpc>
              <a:spcBef>
                <a:spcPct val="0"/>
              </a:spcBef>
            </a:pPr>
            <a:r>
              <a:rPr lang="en-US" b="true" sz="2407" spc="91" strike="noStrike" u="none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Source: </a:t>
            </a:r>
            <a:r>
              <a:rPr lang="en-US" sz="2407" spc="91" strike="noStrike" u="none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Ministry of Interior (TAJ/FPR)</a:t>
            </a:r>
          </a:p>
          <a:p>
            <a:pPr algn="l" marL="0" indent="0" lvl="0">
              <a:lnSpc>
                <a:spcPts val="2882"/>
              </a:lnSpc>
              <a:spcBef>
                <a:spcPct val="0"/>
              </a:spcBef>
            </a:pPr>
            <a:r>
              <a:rPr lang="en-US" b="true" sz="2407" spc="91" strike="noStrike" u="none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Content: </a:t>
            </a:r>
            <a:r>
              <a:rPr lang="en-US" sz="2407" spc="91" strike="noStrike" u="none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'Police Verified' status, legal history, aliases.</a:t>
            </a:r>
          </a:p>
          <a:p>
            <a:pPr algn="l" marL="0" indent="0" lvl="0">
              <a:lnSpc>
                <a:spcPts val="2882"/>
              </a:lnSpc>
              <a:spcBef>
                <a:spcPct val="0"/>
              </a:spcBef>
            </a:pPr>
            <a:r>
              <a:rPr lang="en-US" b="true" sz="2407" spc="91" strike="noStrike" u="none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Utility: </a:t>
            </a:r>
            <a:r>
              <a:rPr lang="en-US" sz="2407" spc="91" strike="noStrike" u="none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Validates identity against government</a:t>
            </a:r>
          </a:p>
          <a:p>
            <a:pPr algn="l" marL="0" indent="0" lvl="0">
              <a:lnSpc>
                <a:spcPts val="2882"/>
              </a:lnSpc>
              <a:spcBef>
                <a:spcPct val="0"/>
              </a:spcBef>
            </a:pPr>
            <a:r>
              <a:rPr lang="en-US" sz="2407" spc="91" strike="noStrike" u="none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databases, defeating negative news checks.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07058" y="9149900"/>
            <a:ext cx="17306288" cy="1135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b="true" sz="2512" spc="140">
                <a:solidFill>
                  <a:srgbClr val="151515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Result: </a:t>
            </a:r>
            <a:r>
              <a:rPr lang="en-US" sz="2512" spc="140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Threat actors are building 'Identity Graphs' that validate a victim's history across social, financial, and legal </a:t>
            </a:r>
            <a:r>
              <a:rPr lang="en-US" sz="2512" spc="140">
                <a:solidFill>
                  <a:srgbClr val="151515"/>
                </a:solidFill>
                <a:latin typeface="Arial MT Pro"/>
                <a:ea typeface="Arial MT Pro"/>
                <a:cs typeface="Arial MT Pro"/>
                <a:sym typeface="Arial MT Pro"/>
              </a:rPr>
              <a:t>dimensions. The assumption is that Ministry data is being cross-referenced with concurrent leaks to create 'unflagable' identities.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8017"/>
            <a:ext cx="18294651" cy="10210966"/>
          </a:xfrm>
          <a:custGeom>
            <a:avLst/>
            <a:gdLst/>
            <a:ahLst/>
            <a:cxnLst/>
            <a:rect r="r" b="b" t="t" l="l"/>
            <a:pathLst>
              <a:path h="10210966" w="18294651">
                <a:moveTo>
                  <a:pt x="0" y="0"/>
                </a:moveTo>
                <a:lnTo>
                  <a:pt x="18294651" y="0"/>
                </a:lnTo>
                <a:lnTo>
                  <a:pt x="18294651" y="10210966"/>
                </a:lnTo>
                <a:lnTo>
                  <a:pt x="0" y="10210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3609" y="436817"/>
            <a:ext cx="18101042" cy="801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19"/>
              </a:lnSpc>
              <a:spcBef>
                <a:spcPct val="0"/>
              </a:spcBef>
            </a:pPr>
            <a:r>
              <a:rPr lang="en-US" b="true" sz="4606" spc="142" strike="noStrike" u="none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FINANCIAL FRAUD VECTORS - WEAPONIZING THE BREACH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04853" y="2479921"/>
            <a:ext cx="4755603" cy="104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72"/>
              </a:lnSpc>
            </a:pPr>
            <a:r>
              <a:rPr lang="en-US" b="true" sz="3140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Vector 1: 'Police Verified'</a:t>
            </a:r>
          </a:p>
          <a:p>
            <a:pPr algn="l">
              <a:lnSpc>
                <a:spcPts val="3872"/>
              </a:lnSpc>
            </a:pPr>
            <a:r>
              <a:rPr lang="en-US" b="true" sz="3140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Synthetic Identities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3609" y="3558899"/>
            <a:ext cx="5912341" cy="5997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5059" indent="-282530" lvl="1">
              <a:lnSpc>
                <a:spcPts val="3622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Mechanism: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 Fraudsters use real, 'clean' police data (non-wanted status) to pass Enhanced Due Diligence (EDD).</a:t>
            </a:r>
          </a:p>
          <a:p>
            <a:pPr algn="l" marL="565059" indent="-282530" lvl="1">
              <a:lnSpc>
                <a:spcPts val="3622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Threat: 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Creation of synthetic profiles that appear government-validated. Accounts are aged (Credit Loading) before a massive 'bust-out'.</a:t>
            </a:r>
          </a:p>
          <a:p>
            <a:pPr algn="l" marL="565059" indent="-282530" lvl="1">
              <a:lnSpc>
                <a:spcPts val="3622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Detection Gap: 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Watchlist checks return 'clear' because the attacker knows exactly who is not on the FPR list.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344233" y="2479921"/>
            <a:ext cx="5606185" cy="104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72"/>
              </a:lnSpc>
              <a:spcBef>
                <a:spcPct val="0"/>
              </a:spcBef>
            </a:pPr>
            <a:r>
              <a:rPr lang="en-US" b="true" sz="3140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Vector 2: High-Context Social</a:t>
            </a:r>
          </a:p>
          <a:p>
            <a:pPr algn="l" marL="0" indent="0" lvl="0">
              <a:lnSpc>
                <a:spcPts val="3872"/>
              </a:lnSpc>
              <a:spcBef>
                <a:spcPct val="0"/>
              </a:spcBef>
            </a:pPr>
            <a:r>
              <a:rPr lang="en-US" b="true" sz="3140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Engineering (APP Fraud)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186295" y="3558899"/>
            <a:ext cx="5922061" cy="4621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5059" indent="-282530" lvl="1">
              <a:lnSpc>
                <a:spcPts val="362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617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Mechanism: </a:t>
            </a:r>
            <a:r>
              <a:rPr lang="en-US" sz="2617" strike="noStrike" u="none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Criminals pose as police/judicial officers.</a:t>
            </a:r>
          </a:p>
          <a:p>
            <a:pPr algn="l" marL="565059" indent="-282530" lvl="1">
              <a:lnSpc>
                <a:spcPts val="362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617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Hook:</a:t>
            </a:r>
            <a:r>
              <a:rPr lang="en-US" sz="2617" strike="noStrike" u="none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 Attackers cite real case file numbers or judicial blocks obtained from stolen TAJ data.</a:t>
            </a:r>
          </a:p>
          <a:p>
            <a:pPr algn="l" marL="565059" indent="-282530" lvl="1">
              <a:lnSpc>
                <a:spcPts val="362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617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Success Rate: </a:t>
            </a:r>
            <a:r>
              <a:rPr lang="en-US" sz="2617" strike="noStrike" u="none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High fidelity data ('We are freezing your account due to Case #X-123) drastically increases victim compliance in authorizing transfers.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57810" y="2479921"/>
            <a:ext cx="5619805" cy="104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72"/>
              </a:lnSpc>
              <a:spcBef>
                <a:spcPct val="0"/>
              </a:spcBef>
            </a:pPr>
            <a:r>
              <a:rPr lang="en-US" b="true" sz="3140" strike="noStrike" u="none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Vector 3: Digital Identity Hijacking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08356" y="3577949"/>
            <a:ext cx="6033923" cy="4860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5059" indent="-282530" lvl="1">
              <a:lnSpc>
                <a:spcPts val="3467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Mechanism: 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Attempts to hijack La Poste Digital Identity accounts using Ministry data.</a:t>
            </a:r>
          </a:p>
          <a:p>
            <a:pPr algn="l" marL="565059" indent="-282530" lvl="1">
              <a:lnSpc>
                <a:spcPts val="3467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Timing: 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Attacks coincided with DDoS cover; attackers relied on overwhelmed support teams bypassing verification protocols ('Fail-Open' vulnerability).</a:t>
            </a:r>
          </a:p>
          <a:p>
            <a:pPr algn="l" marL="565059" indent="-282530" lvl="1">
              <a:lnSpc>
                <a:spcPts val="3467"/>
              </a:lnSpc>
              <a:buFont typeface="Arial"/>
              <a:buChar char="•"/>
            </a:pPr>
            <a:r>
              <a:rPr lang="en-US" b="true" sz="2617">
                <a:solidFill>
                  <a:srgbClr val="1B1B1B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Impact: </a:t>
            </a:r>
            <a:r>
              <a:rPr lang="en-US" sz="2617">
                <a:solidFill>
                  <a:srgbClr val="1B1B1B"/>
                </a:solidFill>
                <a:latin typeface="Arial MT Pro"/>
                <a:ea typeface="Arial MT Pro"/>
                <a:cs typeface="Arial MT Pro"/>
                <a:sym typeface="Arial MT Pro"/>
              </a:rPr>
              <a:t>Compromise of the primary authenticator used for accessing banking services.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3609" y="1142629"/>
            <a:ext cx="18101042" cy="771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491"/>
              </a:lnSpc>
              <a:spcBef>
                <a:spcPct val="0"/>
              </a:spcBef>
            </a:pPr>
            <a:r>
              <a:rPr lang="en-US" sz="4501" spc="139" strike="noStrike" u="none">
                <a:solidFill>
                  <a:srgbClr val="177F56"/>
                </a:solidFill>
                <a:latin typeface="Arial MT Pro"/>
                <a:ea typeface="Arial MT Pro"/>
                <a:cs typeface="Arial MT Pro"/>
                <a:sym typeface="Arial MT Pro"/>
              </a:rPr>
              <a:t>Downstream Impacts on Banking Fraud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8017"/>
            <a:ext cx="18294651" cy="10210966"/>
          </a:xfrm>
          <a:custGeom>
            <a:avLst/>
            <a:gdLst/>
            <a:ahLst/>
            <a:cxnLst/>
            <a:rect r="r" b="b" t="t" l="l"/>
            <a:pathLst>
              <a:path h="10210966" w="18294651">
                <a:moveTo>
                  <a:pt x="0" y="0"/>
                </a:moveTo>
                <a:lnTo>
                  <a:pt x="18294651" y="0"/>
                </a:lnTo>
                <a:lnTo>
                  <a:pt x="18294651" y="10210966"/>
                </a:lnTo>
                <a:lnTo>
                  <a:pt x="0" y="10210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65061" y="463685"/>
            <a:ext cx="14533800" cy="801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19"/>
              </a:lnSpc>
              <a:spcBef>
                <a:spcPct val="0"/>
              </a:spcBef>
            </a:pPr>
            <a:r>
              <a:rPr lang="en-US" b="true" sz="4606" spc="142" strike="noStrike" u="none">
                <a:solidFill>
                  <a:srgbClr val="177F5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MITIGATION &amp; STRATEGIC RECOMMENDATIONS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6768" y="1159972"/>
            <a:ext cx="8640183" cy="801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19"/>
              </a:lnSpc>
              <a:spcBef>
                <a:spcPct val="0"/>
              </a:spcBef>
            </a:pPr>
            <a:r>
              <a:rPr lang="en-US" sz="4606" spc="142" strike="noStrike" u="none">
                <a:solidFill>
                  <a:srgbClr val="177F56"/>
                </a:solidFill>
                <a:latin typeface="Arial MT Pro"/>
                <a:ea typeface="Arial MT Pro"/>
                <a:cs typeface="Arial MT Pro"/>
                <a:sym typeface="Arial MT Pro"/>
              </a:rPr>
              <a:t>Defensive Posture for the Bank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26036" y="2325725"/>
            <a:ext cx="8577326" cy="3446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0"/>
              </a:lnSpc>
            </a:pPr>
            <a:r>
              <a:rPr lang="en-US" b="true" sz="2931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Authentication Hardening</a:t>
            </a:r>
          </a:p>
          <a:p>
            <a:pPr algn="l">
              <a:lnSpc>
                <a:spcPts val="3794"/>
              </a:lnSpc>
            </a:pPr>
            <a:r>
              <a:rPr lang="en-US" b="true" sz="2617" spc="2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Immediate Action:</a:t>
            </a:r>
            <a:r>
              <a:rPr lang="en-US" sz="2617" spc="2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 Migration away from legacy NTLM</a:t>
            </a:r>
          </a:p>
          <a:p>
            <a:pPr algn="l">
              <a:lnSpc>
                <a:spcPts val="3794"/>
              </a:lnSpc>
            </a:pPr>
            <a:r>
              <a:rPr lang="en-US" sz="2617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protocols (exploited by APT28).</a:t>
            </a:r>
          </a:p>
          <a:p>
            <a:pPr algn="l">
              <a:lnSpc>
                <a:spcPts val="3794"/>
              </a:lnSpc>
            </a:pPr>
            <a:r>
              <a:rPr lang="en-US" b="true" sz="2617" spc="41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MFA Evolution:</a:t>
            </a:r>
            <a:r>
              <a:rPr lang="en-US" sz="2617" spc="41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 Enforce FIDO2/PKI-based Multi-Factor</a:t>
            </a:r>
          </a:p>
          <a:p>
            <a:pPr algn="l">
              <a:lnSpc>
                <a:spcPts val="3794"/>
              </a:lnSpc>
            </a:pPr>
            <a:r>
              <a:rPr lang="en-US" sz="2617" spc="7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Authentication for all internal access. SMS-based MFA is </a:t>
            </a:r>
            <a:r>
              <a:rPr lang="en-US" sz="2617" spc="7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insufficient against 'The Com' ecosystem (SIM swapping).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58930" y="2349934"/>
            <a:ext cx="8395055" cy="3375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1"/>
              </a:lnSpc>
            </a:pPr>
            <a:r>
              <a:rPr lang="en-US" b="true" sz="2617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Fraud Detection (Behavioral Biometrics)</a:t>
            </a:r>
          </a:p>
          <a:p>
            <a:pPr algn="l">
              <a:lnSpc>
                <a:spcPts val="3771"/>
              </a:lnSpc>
            </a:pPr>
            <a:r>
              <a:rPr lang="en-US" b="true" sz="2617" spc="34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Shift: </a:t>
            </a:r>
            <a:r>
              <a:rPr lang="en-US" sz="2617" spc="34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Static data matching is compromised. A</a:t>
            </a:r>
          </a:p>
          <a:p>
            <a:pPr algn="l">
              <a:lnSpc>
                <a:spcPts val="3771"/>
              </a:lnSpc>
            </a:pPr>
            <a:r>
              <a:rPr lang="en-US" sz="2617" spc="88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'correct' match does not equal a legitimate customer.</a:t>
            </a:r>
          </a:p>
          <a:p>
            <a:pPr algn="l">
              <a:lnSpc>
                <a:spcPts val="3771"/>
              </a:lnSpc>
            </a:pPr>
            <a:r>
              <a:rPr lang="en-US" b="true" sz="2617" spc="65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Implementation: </a:t>
            </a:r>
            <a:r>
              <a:rPr lang="en-US" sz="2617" spc="6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Deploy behavioral biometrics (keystroke </a:t>
            </a:r>
            <a:r>
              <a:rPr lang="en-US" sz="2617" spc="6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dynamics, mouse latency) to detect 'non-human' entry </a:t>
            </a:r>
            <a:r>
              <a:rPr lang="en-US" sz="2617" spc="6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during origination (paste functions/scripts).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26036" y="6411797"/>
            <a:ext cx="4052477" cy="56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50"/>
              </a:lnSpc>
              <a:spcBef>
                <a:spcPct val="0"/>
              </a:spcBef>
            </a:pPr>
            <a:r>
              <a:rPr lang="en-US" b="true" sz="2931" spc="85" strike="noStrike" u="none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 Human Perimeter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26036" y="6884737"/>
            <a:ext cx="8577326" cy="2414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94"/>
              </a:lnSpc>
              <a:spcBef>
                <a:spcPct val="0"/>
              </a:spcBef>
            </a:pPr>
            <a:r>
              <a:rPr lang="en-US" b="true" sz="2617" spc="75" strike="noStrike" u="none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Training Update: </a:t>
            </a:r>
            <a:r>
              <a:rPr lang="en-US" sz="2617" spc="75" strike="noStrike" u="none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Flag calls referencing 'judicial blocks' or 'police inquiries' as critical risk indicators.</a:t>
            </a:r>
          </a:p>
          <a:p>
            <a:pPr algn="l" marL="0" indent="0" lvl="0">
              <a:lnSpc>
                <a:spcPts val="3794"/>
              </a:lnSpc>
              <a:spcBef>
                <a:spcPct val="0"/>
              </a:spcBef>
            </a:pPr>
            <a:r>
              <a:rPr lang="en-US" b="true" sz="2617" spc="75" strike="noStrike" u="none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Verification Protocol: </a:t>
            </a:r>
            <a:r>
              <a:rPr lang="en-US" sz="2617" spc="75" strike="noStrike" u="none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Establish out-of-band verification channels for requests purporting to come from law enforcement.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558447" y="6420287"/>
            <a:ext cx="4685303" cy="56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50"/>
              </a:lnSpc>
              <a:spcBef>
                <a:spcPct val="0"/>
              </a:spcBef>
            </a:pPr>
            <a:r>
              <a:rPr lang="en-US" b="true" sz="2931" spc="85" strike="noStrike" u="none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Proactive Threat Hunting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58447" y="6913312"/>
            <a:ext cx="8395538" cy="26665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3"/>
              </a:lnSpc>
            </a:pPr>
            <a:r>
              <a:rPr lang="en-US" b="true" sz="2617" spc="44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Intel Requirement: </a:t>
            </a:r>
            <a:r>
              <a:rPr lang="en-US" sz="2617" spc="44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Monitor dark web markets for Info-</a:t>
            </a:r>
          </a:p>
          <a:p>
            <a:pPr algn="l">
              <a:lnSpc>
                <a:spcPts val="3473"/>
              </a:lnSpc>
            </a:pPr>
            <a:r>
              <a:rPr lang="en-US" sz="2617" spc="57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stealer logs (RedLine/Lumma) matching employee</a:t>
            </a:r>
          </a:p>
          <a:p>
            <a:pPr algn="l">
              <a:lnSpc>
                <a:spcPts val="3473"/>
              </a:lnSpc>
            </a:pPr>
            <a:r>
              <a:rPr lang="en-US" sz="2617" spc="157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credentials.</a:t>
            </a:r>
          </a:p>
          <a:p>
            <a:pPr algn="l">
              <a:lnSpc>
                <a:spcPts val="3473"/>
              </a:lnSpc>
            </a:pPr>
            <a:r>
              <a:rPr lang="en-US" b="true" sz="2617" spc="75">
                <a:solidFill>
                  <a:srgbClr val="171716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Graph Analysis: </a:t>
            </a:r>
            <a:r>
              <a:rPr lang="en-US" sz="2617" spc="7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Utilize link analysis to identify clusters of </a:t>
            </a:r>
            <a:r>
              <a:rPr lang="en-US" sz="2617" spc="7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accounts overlapping with known CAF/Pass'Sport leak </a:t>
            </a:r>
            <a:r>
              <a:rPr lang="en-US" sz="2617" spc="75">
                <a:solidFill>
                  <a:srgbClr val="171716"/>
                </a:solidFill>
                <a:latin typeface="Arial MT Pro"/>
                <a:ea typeface="Arial MT Pro"/>
                <a:cs typeface="Arial MT Pro"/>
                <a:sym typeface="Arial MT Pro"/>
              </a:rPr>
              <a:t>parameters.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DAG_h9lu5GA</dc:identifier>
  <dcterms:modified xsi:type="dcterms:W3CDTF">2011-08-01T06:04:30Z</dcterms:modified>
  <cp:revision>1</cp:revision>
  <dc:title>Critical Data at Risk TAJ Access (Criminal Records): Attackers recovered access codes for the Traitement des Antécédents Judiciaires. Allows consultation of suspect profiles and victim data.</dc:title>
</cp:coreProperties>
</file>