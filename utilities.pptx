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Crimson Pro Semi Bold"/>
      <p:regular r:id="rId13"/>
    </p:embeddedFont>
    <p:embeddedFont>
      <p:font typeface="Crimson Pro Semi Bold"/>
      <p:regular r:id="rId14"/>
    </p:embeddedFont>
    <p:embeddedFont>
      <p:font typeface="Crimson Pro Semi Bold"/>
      <p:regular r:id="rId15"/>
    </p:embeddedFont>
    <p:embeddedFont>
      <p:font typeface="Crimson Pro Semi Bold"/>
      <p:regular r:id="rId16"/>
    </p:embeddedFont>
    <p:embeddedFont>
      <p:font typeface="Heebo"/>
      <p:regular r:id="rId17"/>
    </p:embeddedFont>
    <p:embeddedFont>
      <p:font typeface="Heeb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6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2802136"/>
            <a:ext cx="2676763" cy="373142"/>
          </a:xfrm>
          <a:prstGeom prst="roundRect">
            <a:avLst>
              <a:gd name="adj" fmla="val 6383"/>
            </a:avLst>
          </a:prstGeom>
          <a:solidFill>
            <a:srgbClr val="CCFFF3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9252" y="2909292"/>
            <a:ext cx="158710" cy="15871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637258" y="2861667"/>
            <a:ext cx="220063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CYBER THREAT INTELLIGENCE</a:t>
            </a:r>
            <a:endParaRPr lang="en-US" sz="1250" dirty="0"/>
          </a:p>
        </p:txBody>
      </p:sp>
      <p:sp>
        <p:nvSpPr>
          <p:cNvPr id="6" name="Shape 2"/>
          <p:cNvSpPr/>
          <p:nvPr/>
        </p:nvSpPr>
        <p:spPr>
          <a:xfrm>
            <a:off x="9056132" y="2794516"/>
            <a:ext cx="2514005" cy="388382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00674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82814" y="2861667"/>
            <a:ext cx="226064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2026 SECTORIAL ASSESSMENT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280190" y="3262193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Cyber Risk Sectorial Assessment: Utilities Sector 2026</a:t>
            </a:r>
            <a:endParaRPr lang="en-US" sz="3900" dirty="0"/>
          </a:p>
        </p:txBody>
      </p:sp>
      <p:sp>
        <p:nvSpPr>
          <p:cNvPr id="9" name="Text 5"/>
          <p:cNvSpPr/>
          <p:nvPr/>
        </p:nvSpPr>
        <p:spPr>
          <a:xfrm>
            <a:off x="6280190" y="4800005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Prepared for Risk Executives — European Union Financial Institution</a:t>
            </a:r>
            <a:endParaRPr lang="en-US" sz="15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February 2026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68905" y="1339334"/>
            <a:ext cx="776764" cy="190619"/>
          </a:xfrm>
          <a:prstGeom prst="roundRect">
            <a:avLst>
              <a:gd name="adj" fmla="val 7418"/>
            </a:avLst>
          </a:prstGeom>
          <a:solidFill>
            <a:srgbClr val="CCFF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39509" y="1387554"/>
            <a:ext cx="94178" cy="941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80717" y="1374577"/>
            <a:ext cx="494348" cy="120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1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504486" y="1374577"/>
            <a:ext cx="1473637" cy="120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THREATS &amp; ATTACK VECTORS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668905" y="1557933"/>
            <a:ext cx="6033135" cy="368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Top 5 Cybersecurity Threats in the Utilities Sector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2668905" y="2030968"/>
            <a:ext cx="9292471" cy="300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convergence of legacy OT infrastructure with IIoT, 5G, and cloud-integrated control loops has exponentially expanded the attack surface. Threat actors have evolved from passive espionage to actively mapping industrial control loops and manipulating physical processes remotely.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668905" y="2410182"/>
            <a:ext cx="117753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68905" y="2595086"/>
            <a:ext cx="3050858" cy="15240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10" name="Text 7"/>
          <p:cNvSpPr/>
          <p:nvPr/>
        </p:nvSpPr>
        <p:spPr>
          <a:xfrm>
            <a:off x="2668905" y="2684383"/>
            <a:ext cx="1472922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AI-Accelerated Attacks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668905" y="2910364"/>
            <a:ext cx="3050858" cy="751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87%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incident response investigations cite AI vulnerabilities as the fastest-growing risk. Agentic AI automates reconnaissance and rewrites malicious code dynamically. Average lateral movement breakout time: </a:t>
            </a:r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48 minutes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(22% faster than prior years).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789652" y="2410182"/>
            <a:ext cx="117753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89652" y="2595086"/>
            <a:ext cx="3050858" cy="15240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14" name="Text 11"/>
          <p:cNvSpPr/>
          <p:nvPr/>
        </p:nvSpPr>
        <p:spPr>
          <a:xfrm>
            <a:off x="5789652" y="2684383"/>
            <a:ext cx="1623774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Identity-Driven Intrusions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789652" y="2910364"/>
            <a:ext cx="3050858" cy="751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Identity weaknesses are a material factor in </a:t>
            </a:r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~90%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investigations. AI-generated deepfakes and advanced phishing account for </a:t>
            </a:r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37%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all AI-driven breaches, bypassing MFA through social engineering of third-party contractors.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910399" y="2410182"/>
            <a:ext cx="117753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910399" y="2595086"/>
            <a:ext cx="3050977" cy="15240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18" name="Text 15"/>
          <p:cNvSpPr/>
          <p:nvPr/>
        </p:nvSpPr>
        <p:spPr>
          <a:xfrm>
            <a:off x="8910399" y="2684383"/>
            <a:ext cx="2586038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Supply Chain &amp; Third-Party Dependencies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910399" y="2910364"/>
            <a:ext cx="3050977" cy="60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65%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large organizations cite third-party vulnerabilities as a massive barrier to resilience. State-aligned adversaries infiltrate trusted vendor software repositories to embed stealthy malware deep into OT networks.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668905" y="3819882"/>
            <a:ext cx="117753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668905" y="4004786"/>
            <a:ext cx="4611291" cy="15240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22" name="Text 19"/>
          <p:cNvSpPr/>
          <p:nvPr/>
        </p:nvSpPr>
        <p:spPr>
          <a:xfrm>
            <a:off x="2668905" y="4094083"/>
            <a:ext cx="2112288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Ransomware &amp; Targeted Extortion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2668905" y="4320064"/>
            <a:ext cx="4611291" cy="450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Ransomware targeting critical infrastructure spiked </a:t>
            </a:r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149%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early 2025. Threat groups now employ double and triple extortion — encrypting data, exfiltrating SCADA configurations, and threatening public release.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350085" y="3819882"/>
            <a:ext cx="117753" cy="147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350085" y="4004786"/>
            <a:ext cx="4611291" cy="15240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26" name="Text 23"/>
          <p:cNvSpPr/>
          <p:nvPr/>
        </p:nvSpPr>
        <p:spPr>
          <a:xfrm>
            <a:off x="7350085" y="4094083"/>
            <a:ext cx="2972872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Unpatched Software &amp; Legacy OT Vulnerabilities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350085" y="4320064"/>
            <a:ext cx="4611291" cy="450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45%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utility organizations operate severely out-of-date, unsupported systems. Zero-days are weaponized within days of disclosure — legacy environments cannot be patched without unacceptable operational downtime.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668905" y="4996748"/>
            <a:ext cx="9292471" cy="22265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2668905" y="5123855"/>
            <a:ext cx="4452104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Utilities-Specific Architectural Vulnerabilities</a:t>
            </a:r>
            <a:endParaRPr lang="en-US" sz="1850" dirty="0"/>
          </a:p>
        </p:txBody>
      </p:sp>
      <p:sp>
        <p:nvSpPr>
          <p:cNvPr id="30" name="Text 27"/>
          <p:cNvSpPr/>
          <p:nvPr/>
        </p:nvSpPr>
        <p:spPr>
          <a:xfrm>
            <a:off x="2668905" y="5523190"/>
            <a:ext cx="9292471" cy="300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Unlike standard IT environments, OT systems — PLCs, DCS, and HMIs — were engineered decades ago to prioritize physical availability over digital security. Foundational protocols like </a:t>
            </a:r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Modbus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</a:t>
            </a:r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DNP3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transmit commands in plain text without encryption, authentication, or session validation, enabling command spoofing and replay attacks.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584013" y="5902404"/>
            <a:ext cx="4672251" cy="987743"/>
          </a:xfrm>
          <a:prstGeom prst="roundRect">
            <a:avLst>
              <a:gd name="adj" fmla="val 1790"/>
            </a:avLst>
          </a:prstGeom>
          <a:solidFill>
            <a:srgbClr val="00674F"/>
          </a:solidFill>
          <a:ln/>
        </p:spPr>
      </p:sp>
      <p:sp>
        <p:nvSpPr>
          <p:cNvPr id="32" name="Text 29"/>
          <p:cNvSpPr/>
          <p:nvPr/>
        </p:nvSpPr>
        <p:spPr>
          <a:xfrm>
            <a:off x="2701766" y="5972294"/>
            <a:ext cx="1616869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IIoT Edge Device Exposure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2701766" y="6226254"/>
            <a:ext cx="4436745" cy="60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Rapid "smart grid" deployment has introduced massive, unmonitored attack surfaces. Many remote terminal units rely on hardcoded firmware with critical vulnerabilities that </a:t>
            </a:r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cannot be patched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due to hardware limitations. Devices lacking firmware verification can be permanently bricked by attackers.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7466409" y="5972294"/>
            <a:ext cx="1472922" cy="184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Shadow AI Risk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7466409" y="6226254"/>
            <a:ext cx="4502468" cy="60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Engineers utilizing unsanctioned public AI models to optimize code or process operational data account for </a:t>
            </a:r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20%</a:t>
            </a:r>
            <a:pPr algn="l"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recent data breaches, stripping the organization of governance over proprietary industrial data and introducing hidden, unmonitored exposure.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272891"/>
            <a:ext cx="654248" cy="154781"/>
          </a:xfrm>
          <a:prstGeom prst="roundRect">
            <a:avLst>
              <a:gd name="adj" fmla="val 7694"/>
            </a:avLst>
          </a:prstGeom>
          <a:solidFill>
            <a:srgbClr val="CCFF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1980" y="310634"/>
            <a:ext cx="79296" cy="792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80924" y="302657"/>
            <a:ext cx="41624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2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106227" y="302657"/>
            <a:ext cx="70163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IMPACT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3402449" y="447437"/>
            <a:ext cx="586382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 of Cyber Incidents in the Utilities Sector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3402449" y="832009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cost of a cyber breach is no longer a localized IT expense — it is a material financial event capable of eroding years of profitability and triggering severe regulatory sanctions. Extended incident lifecycles in industrial environments amplify damages exponentially.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402449" y="1175147"/>
            <a:ext cx="1909882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$4.44M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3737134" y="1589246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Global Average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402449" y="1774031"/>
            <a:ext cx="190988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cost of a data breach globally (2025)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374243" y="1175147"/>
            <a:ext cx="191000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$10.22M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5709047" y="1589246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U.S. Record High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374243" y="1774031"/>
            <a:ext cx="1910001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Driven by aggressive regulatory penalties and forensic costs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46156" y="1175147"/>
            <a:ext cx="1909882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$5.56M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7680841" y="1589246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Industrial Sector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346156" y="1774031"/>
            <a:ext cx="190988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18% YoY increase — 3rd most expensive industry globally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9317950" y="1175147"/>
            <a:ext cx="1910001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$4.83M</a:t>
            </a:r>
            <a:endParaRPr lang="en-US" sz="2550" dirty="0"/>
          </a:p>
        </p:txBody>
      </p:sp>
      <p:sp>
        <p:nvSpPr>
          <p:cNvPr id="18" name="Text 15"/>
          <p:cNvSpPr/>
          <p:nvPr/>
        </p:nvSpPr>
        <p:spPr>
          <a:xfrm>
            <a:off x="9652754" y="1589246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Energy Sector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317950" y="1774031"/>
            <a:ext cx="1910001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Penalizing operators with complex distributed networks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402449" y="2067639"/>
            <a:ext cx="7825502" cy="406360"/>
          </a:xfrm>
          <a:prstGeom prst="roundRect">
            <a:avLst>
              <a:gd name="adj" fmla="val 3663"/>
            </a:avLst>
          </a:prstGeom>
          <a:solidFill>
            <a:srgbClr val="B3FFE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628" y="2196227"/>
            <a:ext cx="123944" cy="99179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724751" y="2141934"/>
            <a:ext cx="7404021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Industrial organizations take an average of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199 days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identify an intrusion and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73 additional days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contain it — granting adversaries unmitigated access to escalate privileges and exfiltrate sensitive data.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3402449" y="2548414"/>
            <a:ext cx="236541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Cost Breakdown by Category</a:t>
            </a:r>
            <a:endParaRPr lang="en-US" sz="1550" dirty="0"/>
          </a:p>
        </p:txBody>
      </p:sp>
      <p:sp>
        <p:nvSpPr>
          <p:cNvPr id="24" name="Shape 20"/>
          <p:cNvSpPr/>
          <p:nvPr/>
        </p:nvSpPr>
        <p:spPr>
          <a:xfrm>
            <a:off x="3402449" y="2870835"/>
            <a:ext cx="1919168" cy="858917"/>
          </a:xfrm>
          <a:prstGeom prst="roundRect">
            <a:avLst>
              <a:gd name="adj" fmla="val 1733"/>
            </a:avLst>
          </a:prstGeom>
          <a:solidFill>
            <a:srgbClr val="F2EEEE"/>
          </a:solidFill>
          <a:ln/>
        </p:spPr>
      </p:sp>
      <p:sp>
        <p:nvSpPr>
          <p:cNvPr id="25" name="Text 21"/>
          <p:cNvSpPr/>
          <p:nvPr/>
        </p:nvSpPr>
        <p:spPr>
          <a:xfrm>
            <a:off x="3501628" y="2970014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Detection &amp; Escalation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3501628" y="3154799"/>
            <a:ext cx="1720810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Specialized ICS forensic experts, board-level crisis management, physical response teams to remote substations</a:t>
            </a:r>
            <a:endParaRPr lang="en-US" sz="750" dirty="0"/>
          </a:p>
        </p:txBody>
      </p:sp>
      <p:sp>
        <p:nvSpPr>
          <p:cNvPr id="27" name="Shape 23"/>
          <p:cNvSpPr/>
          <p:nvPr/>
        </p:nvSpPr>
        <p:spPr>
          <a:xfrm>
            <a:off x="5371148" y="2870835"/>
            <a:ext cx="1919288" cy="858917"/>
          </a:xfrm>
          <a:prstGeom prst="roundRect">
            <a:avLst>
              <a:gd name="adj" fmla="val 1733"/>
            </a:avLst>
          </a:prstGeom>
          <a:solidFill>
            <a:srgbClr val="F2EEEE"/>
          </a:solidFill>
          <a:ln/>
        </p:spPr>
      </p:sp>
      <p:sp>
        <p:nvSpPr>
          <p:cNvPr id="28" name="Text 24"/>
          <p:cNvSpPr/>
          <p:nvPr/>
        </p:nvSpPr>
        <p:spPr>
          <a:xfrm>
            <a:off x="5470327" y="2970014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Notification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470327" y="3154799"/>
            <a:ext cx="1720929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NIS2 &amp; GDPR compliance — cross-border regulatory disclosures within rigid 24-hour and 72-hour reporting windows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7339965" y="2870835"/>
            <a:ext cx="1919168" cy="858917"/>
          </a:xfrm>
          <a:prstGeom prst="roundRect">
            <a:avLst>
              <a:gd name="adj" fmla="val 1733"/>
            </a:avLst>
          </a:prstGeom>
          <a:solidFill>
            <a:srgbClr val="F2EEEE"/>
          </a:solidFill>
          <a:ln/>
        </p:spPr>
      </p:sp>
      <p:sp>
        <p:nvSpPr>
          <p:cNvPr id="31" name="Text 27"/>
          <p:cNvSpPr/>
          <p:nvPr/>
        </p:nvSpPr>
        <p:spPr>
          <a:xfrm>
            <a:off x="7439144" y="2970014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Post-Breach Response</a:t>
            </a:r>
            <a:endParaRPr lang="en-US" sz="950" dirty="0"/>
          </a:p>
        </p:txBody>
      </p:sp>
      <p:sp>
        <p:nvSpPr>
          <p:cNvPr id="32" name="Text 28"/>
          <p:cNvSpPr/>
          <p:nvPr/>
        </p:nvSpPr>
        <p:spPr>
          <a:xfrm>
            <a:off x="7439144" y="3154799"/>
            <a:ext cx="1720810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Heaviest burden: rebuilding OT architecture, regulatory fines up to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$1M/day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NERC CIP violation</a:t>
            </a:r>
            <a:endParaRPr lang="en-US" sz="750" dirty="0"/>
          </a:p>
        </p:txBody>
      </p:sp>
      <p:sp>
        <p:nvSpPr>
          <p:cNvPr id="33" name="Shape 29"/>
          <p:cNvSpPr/>
          <p:nvPr/>
        </p:nvSpPr>
        <p:spPr>
          <a:xfrm>
            <a:off x="9308663" y="2870835"/>
            <a:ext cx="1919288" cy="858917"/>
          </a:xfrm>
          <a:prstGeom prst="roundRect">
            <a:avLst>
              <a:gd name="adj" fmla="val 1733"/>
            </a:avLst>
          </a:prstGeom>
          <a:solidFill>
            <a:srgbClr val="F2EEEE"/>
          </a:solidFill>
          <a:ln/>
        </p:spPr>
      </p:sp>
      <p:sp>
        <p:nvSpPr>
          <p:cNvPr id="34" name="Text 30"/>
          <p:cNvSpPr/>
          <p:nvPr/>
        </p:nvSpPr>
        <p:spPr>
          <a:xfrm>
            <a:off x="9407843" y="2970014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Lost Business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9407843" y="3154799"/>
            <a:ext cx="1720929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86% of breached orgs experience physical disruption — revenue loss, reputational destruction, customer churn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3402449" y="3804166"/>
            <a:ext cx="392465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Financial Metrics: Utilities vs. All Industries</a:t>
            </a:r>
            <a:endParaRPr lang="en-US" sz="1550" dirty="0"/>
          </a:p>
        </p:txBody>
      </p:sp>
      <p:sp>
        <p:nvSpPr>
          <p:cNvPr id="37" name="Shape 33"/>
          <p:cNvSpPr/>
          <p:nvPr/>
        </p:nvSpPr>
        <p:spPr>
          <a:xfrm>
            <a:off x="3402449" y="4126587"/>
            <a:ext cx="1702710" cy="247129"/>
          </a:xfrm>
          <a:prstGeom prst="roundRect">
            <a:avLst>
              <a:gd name="adj" fmla="val 51801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528" y="4188369"/>
            <a:ext cx="123564" cy="123564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3639281" y="4157478"/>
            <a:ext cx="1393799" cy="185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Utilities / Industrial ($M)</a:t>
            </a:r>
            <a:endParaRPr lang="en-US" sz="700" dirty="0"/>
          </a:p>
        </p:txBody>
      </p:sp>
      <p:sp>
        <p:nvSpPr>
          <p:cNvPr id="40" name="Shape 35"/>
          <p:cNvSpPr/>
          <p:nvPr/>
        </p:nvSpPr>
        <p:spPr>
          <a:xfrm>
            <a:off x="5187535" y="4126587"/>
            <a:ext cx="1478910" cy="247129"/>
          </a:xfrm>
          <a:prstGeom prst="roundRect">
            <a:avLst>
              <a:gd name="adj" fmla="val 51801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9614" y="4188369"/>
            <a:ext cx="123564" cy="123564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424367" y="4157478"/>
            <a:ext cx="1169999" cy="185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Global Average ($M)</a:t>
            </a:r>
            <a:endParaRPr lang="en-US" sz="70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2449" y="4476686"/>
            <a:ext cx="7825740" cy="403643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3402449" y="8564523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Organizations extensively utilizing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security AI and automated threat response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save an average of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$1.9M per breach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Shadow AI adds ~$670K in hidden liabilities per incident. The cybersecurity skills shortage inflates costs by up to 43%.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463629"/>
            <a:ext cx="654248" cy="154781"/>
          </a:xfrm>
          <a:prstGeom prst="roundRect">
            <a:avLst>
              <a:gd name="adj" fmla="val 7694"/>
            </a:avLst>
          </a:prstGeom>
          <a:solidFill>
            <a:srgbClr val="CCFF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1980" y="501372"/>
            <a:ext cx="79296" cy="792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80924" y="493395"/>
            <a:ext cx="41624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3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106227" y="493395"/>
            <a:ext cx="91916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WORST-CASE SCENARIOS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3402449" y="638175"/>
            <a:ext cx="577369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Impact: Catastrophic Cyber Incident Scenarios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3402449" y="1022747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true threat profile of the utilities sector is defined by exposure to catastrophic, worst-case scenarios. Power, water, and telecommunications are the foundational bedrock upon which all economic activity rests — severe compromise generates massive macroeconomic shocks far beyond the targeted entity.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402449" y="1316355"/>
            <a:ext cx="7825502" cy="621030"/>
          </a:xfrm>
          <a:prstGeom prst="roundRect">
            <a:avLst>
              <a:gd name="adj" fmla="val 2397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3402449" y="1316355"/>
            <a:ext cx="2608421" cy="621030"/>
          </a:xfrm>
          <a:prstGeom prst="roundRect">
            <a:avLst>
              <a:gd name="adj" fmla="val 2397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3501628" y="1415534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$300B+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501628" y="1600319"/>
            <a:ext cx="241006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modeled financial impact of a severe, coordinated global OT cyber event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6010870" y="1316355"/>
            <a:ext cx="2608540" cy="62103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3" name="Shape 10"/>
          <p:cNvSpPr/>
          <p:nvPr/>
        </p:nvSpPr>
        <p:spPr>
          <a:xfrm>
            <a:off x="6010870" y="1316355"/>
            <a:ext cx="15240" cy="621030"/>
          </a:xfrm>
          <a:prstGeom prst="roundRect">
            <a:avLst>
              <a:gd name="adj" fmla="val 97675"/>
            </a:avLst>
          </a:prstGeom>
          <a:solidFill>
            <a:srgbClr val="D8D4D4"/>
          </a:solidFill>
          <a:ln/>
        </p:spPr>
      </p:sp>
      <p:sp>
        <p:nvSpPr>
          <p:cNvPr id="14" name="Text 11"/>
          <p:cNvSpPr/>
          <p:nvPr/>
        </p:nvSpPr>
        <p:spPr>
          <a:xfrm>
            <a:off x="6110049" y="1415534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$172B+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110049" y="1600319"/>
            <a:ext cx="241018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Direct business interruption costs from cascading supply chain failures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8619411" y="1316355"/>
            <a:ext cx="2608421" cy="621030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7" name="Shape 14"/>
          <p:cNvSpPr/>
          <p:nvPr/>
        </p:nvSpPr>
        <p:spPr>
          <a:xfrm>
            <a:off x="8619411" y="1316355"/>
            <a:ext cx="15240" cy="621030"/>
          </a:xfrm>
          <a:prstGeom prst="roundRect">
            <a:avLst>
              <a:gd name="adj" fmla="val 97675"/>
            </a:avLst>
          </a:prstGeom>
          <a:solidFill>
            <a:srgbClr val="D8D4D4"/>
          </a:solidFill>
          <a:ln/>
        </p:spPr>
      </p:sp>
      <p:sp>
        <p:nvSpPr>
          <p:cNvPr id="18" name="Text 15"/>
          <p:cNvSpPr/>
          <p:nvPr/>
        </p:nvSpPr>
        <p:spPr>
          <a:xfrm>
            <a:off x="8718590" y="1415534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$43.5B/day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718590" y="1600319"/>
            <a:ext cx="241006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U.S. economic activity jeopardized by a single day of disrupted water service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402449" y="2011799"/>
            <a:ext cx="417075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Cascading Failure: The Asymmetric Damage Model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3402449" y="2378869"/>
            <a:ext cx="419504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recent cyberattack on a major automotive manufacturer illustrates utility interconnectedness: production halted for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five weeks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paralyzing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5,000+ downstream suppliers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402449" y="2661404"/>
            <a:ext cx="4195048" cy="510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Direct financial impact: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$260M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25% quarterly revenue drop</a:t>
            </a:r>
            <a:endParaRPr lang="en-US" sz="750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Wider regional macroeconomic losses: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$2.5B</a:t>
            </a:r>
            <a:endParaRPr lang="en-US" sz="750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disproportionate, asymmetric damage is the precise strategic goal of nation-state actors targeting power grids and water treatment facilities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402449" y="3216354"/>
            <a:ext cx="4195048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Power or communication outages could trigger severe "cyber runs" on banks, undermining confidence in the global financial system and causing liquidity crises.</a:t>
            </a:r>
            <a:endParaRPr lang="en-US" sz="7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052" y="2389942"/>
            <a:ext cx="3388400" cy="338840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3402449" y="5939358"/>
            <a:ext cx="7825502" cy="20003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3402449" y="6033730"/>
            <a:ext cx="293072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Long-Term Financial Consequences</a:t>
            </a:r>
            <a:endParaRPr lang="en-US" sz="1550" dirty="0"/>
          </a:p>
        </p:txBody>
      </p:sp>
      <p:sp>
        <p:nvSpPr>
          <p:cNvPr id="27" name="Shape 23"/>
          <p:cNvSpPr/>
          <p:nvPr/>
        </p:nvSpPr>
        <p:spPr>
          <a:xfrm>
            <a:off x="3402449" y="6504980"/>
            <a:ext cx="2575441" cy="1260872"/>
          </a:xfrm>
          <a:prstGeom prst="roundRect">
            <a:avLst>
              <a:gd name="adj" fmla="val 5802"/>
            </a:avLst>
          </a:prstGeom>
          <a:solidFill>
            <a:srgbClr val="FFFFFF"/>
          </a:solidFill>
          <a:ln/>
        </p:spPr>
      </p:sp>
      <p:sp>
        <p:nvSpPr>
          <p:cNvPr id="28" name="Shape 24"/>
          <p:cNvSpPr/>
          <p:nvPr/>
        </p:nvSpPr>
        <p:spPr>
          <a:xfrm>
            <a:off x="3402449" y="6489740"/>
            <a:ext cx="2575441" cy="60960"/>
          </a:xfrm>
          <a:prstGeom prst="roundRect">
            <a:avLst>
              <a:gd name="adj" fmla="val 24419"/>
            </a:avLst>
          </a:prstGeom>
          <a:solidFill>
            <a:srgbClr val="00674F"/>
          </a:solidFill>
          <a:ln/>
        </p:spPr>
      </p:sp>
      <p:sp>
        <p:nvSpPr>
          <p:cNvPr id="29" name="Shape 25"/>
          <p:cNvSpPr/>
          <p:nvPr/>
        </p:nvSpPr>
        <p:spPr>
          <a:xfrm>
            <a:off x="4541282" y="6356152"/>
            <a:ext cx="297656" cy="297656"/>
          </a:xfrm>
          <a:prstGeom prst="roundRect">
            <a:avLst>
              <a:gd name="adj" fmla="val 307200"/>
            </a:avLst>
          </a:prstGeom>
          <a:solidFill>
            <a:srgbClr val="00674F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0579" y="6445448"/>
            <a:ext cx="119063" cy="11906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516868" y="6752987"/>
            <a:ext cx="128230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Credit Rating Depression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3516868" y="6937772"/>
            <a:ext cx="2346603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Moody's and S&amp;P have integrated cyber risk into credit analysis. Post-breach, ratings remain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severely depressed for up to 3 years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Utilities must issue debt at longer maturities and higher interest rates, crippling renewable energy investment capacity.</a:t>
            </a:r>
            <a:endParaRPr lang="en-US" sz="750" dirty="0"/>
          </a:p>
        </p:txBody>
      </p:sp>
      <p:sp>
        <p:nvSpPr>
          <p:cNvPr id="33" name="Shape 28"/>
          <p:cNvSpPr/>
          <p:nvPr/>
        </p:nvSpPr>
        <p:spPr>
          <a:xfrm>
            <a:off x="6027420" y="6504980"/>
            <a:ext cx="2575441" cy="1260872"/>
          </a:xfrm>
          <a:prstGeom prst="roundRect">
            <a:avLst>
              <a:gd name="adj" fmla="val 5802"/>
            </a:avLst>
          </a:prstGeom>
          <a:solidFill>
            <a:srgbClr val="FFFFFF"/>
          </a:solidFill>
          <a:ln/>
        </p:spPr>
      </p:sp>
      <p:sp>
        <p:nvSpPr>
          <p:cNvPr id="34" name="Shape 29"/>
          <p:cNvSpPr/>
          <p:nvPr/>
        </p:nvSpPr>
        <p:spPr>
          <a:xfrm>
            <a:off x="6027420" y="6489740"/>
            <a:ext cx="2575441" cy="60960"/>
          </a:xfrm>
          <a:prstGeom prst="roundRect">
            <a:avLst>
              <a:gd name="adj" fmla="val 24419"/>
            </a:avLst>
          </a:prstGeom>
          <a:solidFill>
            <a:srgbClr val="00674F"/>
          </a:solidFill>
          <a:ln/>
        </p:spPr>
      </p:sp>
      <p:sp>
        <p:nvSpPr>
          <p:cNvPr id="35" name="Shape 30"/>
          <p:cNvSpPr/>
          <p:nvPr/>
        </p:nvSpPr>
        <p:spPr>
          <a:xfrm>
            <a:off x="7166253" y="6356152"/>
            <a:ext cx="297656" cy="297656"/>
          </a:xfrm>
          <a:prstGeom prst="roundRect">
            <a:avLst>
              <a:gd name="adj" fmla="val 307200"/>
            </a:avLst>
          </a:prstGeom>
          <a:solidFill>
            <a:srgbClr val="00674F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55550" y="6445448"/>
            <a:ext cx="119063" cy="119063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141839" y="6752987"/>
            <a:ext cx="1579721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Insurance Market Constriction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6141839" y="6937772"/>
            <a:ext cx="2346603" cy="713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Underwriters are selectively retreating from the market. Post-breach utilities face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astronomical premium spikes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reduced coverage limits, and ambiguous cyberwarfare exclusions — leading to protracted litigation and massive reserve requirements.</a:t>
            </a:r>
            <a:endParaRPr lang="en-US" sz="750" dirty="0"/>
          </a:p>
        </p:txBody>
      </p:sp>
      <p:sp>
        <p:nvSpPr>
          <p:cNvPr id="39" name="Shape 33"/>
          <p:cNvSpPr/>
          <p:nvPr/>
        </p:nvSpPr>
        <p:spPr>
          <a:xfrm>
            <a:off x="8652391" y="6504980"/>
            <a:ext cx="2575560" cy="1260872"/>
          </a:xfrm>
          <a:prstGeom prst="roundRect">
            <a:avLst>
              <a:gd name="adj" fmla="val 5802"/>
            </a:avLst>
          </a:prstGeom>
          <a:solidFill>
            <a:srgbClr val="FFFFFF"/>
          </a:solidFill>
          <a:ln/>
        </p:spPr>
      </p:sp>
      <p:sp>
        <p:nvSpPr>
          <p:cNvPr id="40" name="Shape 34"/>
          <p:cNvSpPr/>
          <p:nvPr/>
        </p:nvSpPr>
        <p:spPr>
          <a:xfrm>
            <a:off x="8652391" y="6489740"/>
            <a:ext cx="2575560" cy="60960"/>
          </a:xfrm>
          <a:prstGeom prst="roundRect">
            <a:avLst>
              <a:gd name="adj" fmla="val 24419"/>
            </a:avLst>
          </a:prstGeom>
          <a:solidFill>
            <a:srgbClr val="00674F"/>
          </a:solidFill>
          <a:ln/>
        </p:spPr>
      </p:sp>
      <p:sp>
        <p:nvSpPr>
          <p:cNvPr id="41" name="Shape 35"/>
          <p:cNvSpPr/>
          <p:nvPr/>
        </p:nvSpPr>
        <p:spPr>
          <a:xfrm>
            <a:off x="9791343" y="6356152"/>
            <a:ext cx="297656" cy="297656"/>
          </a:xfrm>
          <a:prstGeom prst="roundRect">
            <a:avLst>
              <a:gd name="adj" fmla="val 307200"/>
            </a:avLst>
          </a:prstGeom>
          <a:solidFill>
            <a:srgbClr val="00674F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880640" y="6445448"/>
            <a:ext cx="119063" cy="119063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8766810" y="6752987"/>
            <a:ext cx="144494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Permanent Revenue Erosion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8766810" y="6937772"/>
            <a:ext cx="2346722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Loss of market confidence triggers behavioral shifts: enterprise and industrial customers seek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alternative decentralized energy solutions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leading to permanent, unrecoverable revenue loss for the compromised utility.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1418630"/>
            <a:ext cx="654248" cy="154781"/>
          </a:xfrm>
          <a:prstGeom prst="roundRect">
            <a:avLst>
              <a:gd name="adj" fmla="val 7694"/>
            </a:avLst>
          </a:prstGeom>
          <a:solidFill>
            <a:srgbClr val="CCFF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1980" y="1456373"/>
            <a:ext cx="79296" cy="792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80924" y="1448395"/>
            <a:ext cx="41624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4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106227" y="1448395"/>
            <a:ext cx="460772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CASE STUDY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3402449" y="1593175"/>
            <a:ext cx="64317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Case Study: Poland Energy Sector Attack — December 29, 2025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3402449" y="1977747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During severe winter storms and sub-zero temperatures, a coordinated cyber sabotage campaign targeted Polish energy and manufacturing sectors — demonstrating the complete transition from intelligence gathering to outright physical destruction using tailored malware.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402449" y="229004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Attack Profile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3331012" y="2612469"/>
            <a:ext cx="3127891" cy="2103358"/>
          </a:xfrm>
          <a:prstGeom prst="roundRect">
            <a:avLst>
              <a:gd name="adj" fmla="val 708"/>
            </a:avLst>
          </a:prstGeom>
          <a:solidFill>
            <a:srgbClr val="00674F"/>
          </a:solidFill>
          <a:ln/>
        </p:spPr>
      </p:sp>
      <p:sp>
        <p:nvSpPr>
          <p:cNvPr id="10" name="Text 7"/>
          <p:cNvSpPr/>
          <p:nvPr/>
        </p:nvSpPr>
        <p:spPr>
          <a:xfrm>
            <a:off x="3430191" y="2661999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Threat Actor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430191" y="2866549"/>
            <a:ext cx="292953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Static Tundra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(aka Sandworm / Berserk Bear / FSB Center 16) — Russian state-sponsored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430191" y="3153966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Targets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430191" y="3358515"/>
            <a:ext cx="292953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30+ renewable energy facilities, a major CHP plant serving ~500K customers, a private manufacturer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430191" y="3645932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Malware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430191" y="3850481"/>
            <a:ext cx="292953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DynoWiper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custom-built to irreversibly destroy data, corrupt firmware, and permanently brick remote terminal units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430191" y="4137898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Nature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430191" y="4342448"/>
            <a:ext cx="292953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Purely destructive — classified as deliberate, coordinated cyber arson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637020" y="2661999"/>
            <a:ext cx="1491377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Operational Impact Timeline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928616" y="2872740"/>
            <a:ext cx="15240" cy="1787366"/>
          </a:xfrm>
          <a:prstGeom prst="roundRect">
            <a:avLst>
              <a:gd name="adj" fmla="val 97675"/>
            </a:avLst>
          </a:prstGeom>
          <a:solidFill>
            <a:srgbClr val="D8D4D4"/>
          </a:solidFill>
          <a:ln/>
        </p:spPr>
      </p:sp>
      <p:sp>
        <p:nvSpPr>
          <p:cNvPr id="20" name="Shape 17"/>
          <p:cNvSpPr/>
          <p:nvPr/>
        </p:nvSpPr>
        <p:spPr>
          <a:xfrm>
            <a:off x="8753118" y="2976682"/>
            <a:ext cx="198358" cy="15240"/>
          </a:xfrm>
          <a:prstGeom prst="roundRect">
            <a:avLst>
              <a:gd name="adj" fmla="val 97675"/>
            </a:avLst>
          </a:prstGeom>
          <a:solidFill>
            <a:srgbClr val="D8D4D4"/>
          </a:solidFill>
          <a:ln/>
        </p:spPr>
      </p:sp>
      <p:sp>
        <p:nvSpPr>
          <p:cNvPr id="21" name="Shape 18"/>
          <p:cNvSpPr/>
          <p:nvPr/>
        </p:nvSpPr>
        <p:spPr>
          <a:xfrm>
            <a:off x="8899029" y="2947095"/>
            <a:ext cx="74414" cy="74414"/>
          </a:xfrm>
          <a:prstGeom prst="roundRect">
            <a:avLst>
              <a:gd name="adj" fmla="val 614401"/>
            </a:avLst>
          </a:prstGeom>
          <a:solidFill>
            <a:srgbClr val="00674F"/>
          </a:solidFill>
          <a:ln/>
        </p:spPr>
      </p:sp>
      <p:sp>
        <p:nvSpPr>
          <p:cNvPr id="22" name="Text 19"/>
          <p:cNvSpPr/>
          <p:nvPr/>
        </p:nvSpPr>
        <p:spPr>
          <a:xfrm>
            <a:off x="6844784" y="2906792"/>
            <a:ext cx="1694617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March 2025 — Initial Infiltration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637020" y="3111341"/>
            <a:ext cx="1902381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CHP plant compromised. Threat actors began 9-month stealthy reconnaissance — mapping architecture, harvesting credentials, escalating privileges across deeply embedded industrial systems.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8920996" y="3472696"/>
            <a:ext cx="198358" cy="15240"/>
          </a:xfrm>
          <a:prstGeom prst="roundRect">
            <a:avLst>
              <a:gd name="adj" fmla="val 97675"/>
            </a:avLst>
          </a:prstGeom>
          <a:solidFill>
            <a:srgbClr val="D8D4D4"/>
          </a:solidFill>
          <a:ln/>
        </p:spPr>
      </p:sp>
      <p:sp>
        <p:nvSpPr>
          <p:cNvPr id="25" name="Shape 22"/>
          <p:cNvSpPr/>
          <p:nvPr/>
        </p:nvSpPr>
        <p:spPr>
          <a:xfrm>
            <a:off x="8899029" y="3443109"/>
            <a:ext cx="74414" cy="74414"/>
          </a:xfrm>
          <a:prstGeom prst="roundRect">
            <a:avLst>
              <a:gd name="adj" fmla="val 614401"/>
            </a:avLst>
          </a:prstGeom>
          <a:solidFill>
            <a:srgbClr val="00674F"/>
          </a:solidFill>
          <a:ln/>
        </p:spPr>
      </p:sp>
      <p:sp>
        <p:nvSpPr>
          <p:cNvPr id="26" name="Text 23"/>
          <p:cNvSpPr/>
          <p:nvPr/>
        </p:nvSpPr>
        <p:spPr>
          <a:xfrm>
            <a:off x="9333071" y="3402806"/>
            <a:ext cx="1700808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December 2025 — Pre-Execution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9333071" y="3607356"/>
            <a:ext cx="1902381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Widespread exploitation of end-of-support edge devices across 30+ renewable farms. DynoWiper payload staged on compromised remote terminal units.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8753118" y="3936206"/>
            <a:ext cx="198358" cy="15240"/>
          </a:xfrm>
          <a:prstGeom prst="roundRect">
            <a:avLst>
              <a:gd name="adj" fmla="val 97675"/>
            </a:avLst>
          </a:prstGeom>
          <a:solidFill>
            <a:srgbClr val="D8D4D4"/>
          </a:solidFill>
          <a:ln/>
        </p:spPr>
      </p:sp>
      <p:sp>
        <p:nvSpPr>
          <p:cNvPr id="29" name="Shape 26"/>
          <p:cNvSpPr/>
          <p:nvPr/>
        </p:nvSpPr>
        <p:spPr>
          <a:xfrm>
            <a:off x="8899029" y="3906619"/>
            <a:ext cx="74414" cy="74414"/>
          </a:xfrm>
          <a:prstGeom prst="roundRect">
            <a:avLst>
              <a:gd name="adj" fmla="val 614401"/>
            </a:avLst>
          </a:prstGeom>
          <a:solidFill>
            <a:srgbClr val="00674F"/>
          </a:solidFill>
          <a:ln/>
        </p:spPr>
      </p:sp>
      <p:sp>
        <p:nvSpPr>
          <p:cNvPr id="30" name="Text 27"/>
          <p:cNvSpPr/>
          <p:nvPr/>
        </p:nvSpPr>
        <p:spPr>
          <a:xfrm>
            <a:off x="6803112" y="3866317"/>
            <a:ext cx="1736288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December 29, 2025 — Detonation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637020" y="4070866"/>
            <a:ext cx="1902381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Simultaneous coordinated detonation across all targets — deliberately timed with severe winter storms to maximize humanitarian and economic impact.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402449" y="4790242"/>
            <a:ext cx="236529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 &amp; Outcome</a:t>
            </a:r>
            <a:endParaRPr lang="en-US" sz="1550" dirty="0"/>
          </a:p>
        </p:txBody>
      </p:sp>
      <p:sp>
        <p:nvSpPr>
          <p:cNvPr id="33" name="Text 30"/>
          <p:cNvSpPr/>
          <p:nvPr/>
        </p:nvSpPr>
        <p:spPr>
          <a:xfrm>
            <a:off x="3402449" y="5112663"/>
            <a:ext cx="7825502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 renewable farms, HMI data was destroyed and firmware corrupted — causing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total loss of view and control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However, physical generation continued autonomously via local PLC logic. At the CHP plant, the DynoWiper payload was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successfully intercepted and blocked by EDR software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completely preventing catastrophic heating disruption for 500K citizens. Financial impact was contained to incident response costs, forensic investigations, and capital-intensive replacement of permanently bricked edge devices.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402449" y="554390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Lessons Learned</a:t>
            </a:r>
            <a:endParaRPr lang="en-US" sz="155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9597" y="5869365"/>
            <a:ext cx="148828" cy="14882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724870" y="5866328"/>
            <a:ext cx="1585555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Retire Vulnerable Edge Devices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3724870" y="6051113"/>
            <a:ext cx="355937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Internet-facing, end-of-support hardware that cannot support modern cryptographic standards must be aggressively identified and retired.</a:t>
            </a:r>
            <a:endParaRPr lang="en-US" sz="75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83304" y="5869365"/>
            <a:ext cx="148828" cy="14882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7668578" y="5866328"/>
            <a:ext cx="1615916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Hardware-Based Backup for OT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7668578" y="6051113"/>
            <a:ext cx="355937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Devices lacking firmware verification are subject to permanent physical destruction via software — offline recovery strategies are mandatory.</a:t>
            </a:r>
            <a:endParaRPr lang="en-US" sz="750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39597" y="6391215"/>
            <a:ext cx="148828" cy="14882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3724870" y="6388179"/>
            <a:ext cx="1402794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EDR at the IT/OT Boundary</a:t>
            </a:r>
            <a:endParaRPr lang="en-US" sz="950" dirty="0"/>
          </a:p>
        </p:txBody>
      </p:sp>
      <p:sp>
        <p:nvSpPr>
          <p:cNvPr id="43" name="Text 37"/>
          <p:cNvSpPr/>
          <p:nvPr/>
        </p:nvSpPr>
        <p:spPr>
          <a:xfrm>
            <a:off x="3724870" y="6572964"/>
            <a:ext cx="355937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CHP plant's survival was entirely dependent on properly configured EDR — deep network visibility and behavioral analysis are mandatory controls.</a:t>
            </a:r>
            <a:endParaRPr lang="en-US" sz="75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83304" y="6391215"/>
            <a:ext cx="148828" cy="148828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7668578" y="6388179"/>
            <a:ext cx="1301115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Proactive Threat Hunting</a:t>
            </a:r>
            <a:endParaRPr lang="en-US" sz="950" dirty="0"/>
          </a:p>
        </p:txBody>
      </p:sp>
      <p:sp>
        <p:nvSpPr>
          <p:cNvPr id="46" name="Text 39"/>
          <p:cNvSpPr/>
          <p:nvPr/>
        </p:nvSpPr>
        <p:spPr>
          <a:xfrm>
            <a:off x="7668578" y="6572964"/>
            <a:ext cx="355937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Adversaries dwelled for 9 months undetected. Organizations must shift from reactive perimeter defense to continuous exposure management.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2449" y="1233726"/>
            <a:ext cx="654248" cy="154781"/>
          </a:xfrm>
          <a:prstGeom prst="roundRect">
            <a:avLst>
              <a:gd name="adj" fmla="val 7694"/>
            </a:avLst>
          </a:prstGeom>
          <a:solidFill>
            <a:srgbClr val="CCFF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61980" y="1271468"/>
            <a:ext cx="79296" cy="792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80924" y="1263491"/>
            <a:ext cx="416243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CHAPTER 5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106227" y="1263491"/>
            <a:ext cx="91118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MITIGATION STRATEGIES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3402449" y="1408271"/>
            <a:ext cx="64683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Evidence-Based Cybersecurity Strategies for the Utilities Sector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3402449" y="1792843"/>
            <a:ext cx="7825502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Utilities must abandon legacy compliance-based approaches and adopt fundamentally aggressive, evidence-based mitigation strategies. Cybersecurity is now a core pillar of operational resilience, capital preservation, and regulatory adherence.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402449" y="2105144"/>
            <a:ext cx="351627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NIS2 Directive: The Regulatory Foundation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3402449" y="2472214"/>
            <a:ext cx="4598432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NIS2 Directive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(mandatory since October 2024) classifies energy, water, wastewater, and digital infrastructure as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"Sectors of High Criticality"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It mandates all-hazards cyber risk management including incident handling, supply chain security, cryptography, and continuous vulnerability auditing.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402449" y="2873693"/>
            <a:ext cx="4598432" cy="3913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Personal liability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C-level executives and boards for gross negligence</a:t>
            </a:r>
            <a:endParaRPr lang="en-US" sz="750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Penalties up to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€10M or 2% of global annual revenue</a:t>
            </a:r>
            <a:endParaRPr lang="en-US" sz="750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IT/OT gap bridging consumes up to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70%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first-year compliance budget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8178998" y="2427565"/>
            <a:ext cx="3127891" cy="854750"/>
          </a:xfrm>
          <a:prstGeom prst="roundRect">
            <a:avLst>
              <a:gd name="adj" fmla="val 1742"/>
            </a:avLst>
          </a:prstGeom>
          <a:solidFill>
            <a:srgbClr val="00674F"/>
          </a:solidFill>
          <a:ln/>
        </p:spPr>
      </p:sp>
      <p:sp>
        <p:nvSpPr>
          <p:cNvPr id="12" name="Text 9"/>
          <p:cNvSpPr/>
          <p:nvPr/>
        </p:nvSpPr>
        <p:spPr>
          <a:xfrm>
            <a:off x="8278178" y="2477095"/>
            <a:ext cx="1240393" cy="155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Critical Insight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278178" y="2681645"/>
            <a:ext cx="2929533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Regulatory compliance does </a:t>
            </a:r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equal active security. True cyber resilience demands evidence-based controls yielding quantifiable, verifiable risk reduction beyond minimum compliance thresholds.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402449" y="3356729"/>
            <a:ext cx="394430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Implementation Metrics: Core Security Controls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3402449" y="3679150"/>
            <a:ext cx="7825502" cy="2054304"/>
          </a:xfrm>
          <a:prstGeom prst="roundRect">
            <a:avLst>
              <a:gd name="adj" fmla="val 72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10069" y="3686770"/>
            <a:ext cx="7810262" cy="1937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3509486" y="3724156"/>
            <a:ext cx="151602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Strategy / Control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231487" y="3724156"/>
            <a:ext cx="198084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Effectiveness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418308" y="3724156"/>
            <a:ext cx="151221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Implementation Cost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9136499" y="3724156"/>
            <a:ext cx="1984653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Expected ROI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410069" y="3880485"/>
            <a:ext cx="7810262" cy="4316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509486" y="3917871"/>
            <a:ext cx="151602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Micro-Segmentation &amp; Purdue Model Architecture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231487" y="3917871"/>
            <a:ext cx="1980843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Cryptographically isolates PLCs/SCADA from corporate IT. Prevents lateral ransomware movement into physical plant.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418308" y="3917871"/>
            <a:ext cx="1512213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upfront CAPEX. Full architecture redesign, industrial firewalls, planned OT downtime.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9136499" y="3917871"/>
            <a:ext cx="198465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4x–10x return.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Modeled $850K ransomware incident averted by $200K investment.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410069" y="4312087"/>
            <a:ext cx="7810262" cy="5505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3509486" y="4349472"/>
            <a:ext cx="151602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Multi-Factor Authentication &amp; Secure Remote Access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231487" y="4349472"/>
            <a:ext cx="1980843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Neutralizes credential harvesting and unauthorized vendor access. Top insurer-ranked control.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418308" y="4349472"/>
            <a:ext cx="1512213" cy="475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Low-to-Medium. Identity management licensing, hardware tokens for restricted environments.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9136499" y="4349472"/>
            <a:ext cx="198465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Very High.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Closes primary vector for ~90% of identity-driven intrusions.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3410069" y="4862632"/>
            <a:ext cx="7810262" cy="43160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3509486" y="4900017"/>
            <a:ext cx="151602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Passive OT Network Monitoring &amp; Asset Inventory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5231487" y="4900017"/>
            <a:ext cx="1980843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100% real-time visibility into edge devices. Detects anomalous Modbus/DNP3 traffic without disrupting operations.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7418308" y="4900017"/>
            <a:ext cx="1512213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Medium. Ruggedized OT sensors, traffic mirroring, continuous SOC analyst engagement.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9136499" y="4900017"/>
            <a:ext cx="198465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Medium-High.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Slashes MTTD — contains threats in minutes vs. months.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3410069" y="5294233"/>
            <a:ext cx="7810262" cy="43160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3509486" y="5331619"/>
            <a:ext cx="1516023" cy="2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Continuous Exposure Management (CEM) &amp; EDR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5231487" y="5331619"/>
            <a:ext cx="1980843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Predicts attack paths, neutralizes malware at endpoints before reaching control logic. Proven in Poland CHP case.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7418308" y="5331619"/>
            <a:ext cx="1512213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Medium-High. AI-driven platforms, skilled threat hunters for tuning and false positive management.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9136499" y="5331619"/>
            <a:ext cx="1984653" cy="35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High.</a:t>
            </a:r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3x less likely to suffer breaches. Avoids NIS2 penalties, preserves credit ratings.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402449" y="5807869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Security ROI Formula</a:t>
            </a:r>
            <a:endParaRPr lang="en-US" sz="1550" dirty="0"/>
          </a:p>
        </p:txBody>
      </p:sp>
      <p:sp>
        <p:nvSpPr>
          <p:cNvPr id="42" name="Text 39"/>
          <p:cNvSpPr/>
          <p:nvPr/>
        </p:nvSpPr>
        <p:spPr>
          <a:xfrm>
            <a:off x="3551277" y="6186011"/>
            <a:ext cx="7676674" cy="1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Cybersecurity ROI translates risk into financial language for executive boards and financial stakeholders:</a:t>
            </a:r>
            <a:endParaRPr lang="en-US" sz="750" dirty="0"/>
          </a:p>
        </p:txBody>
      </p:sp>
      <p:sp>
        <p:nvSpPr>
          <p:cNvPr id="43" name="Shape 40"/>
          <p:cNvSpPr/>
          <p:nvPr/>
        </p:nvSpPr>
        <p:spPr>
          <a:xfrm>
            <a:off x="3402449" y="6130290"/>
            <a:ext cx="15240" cy="230386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44" name="Text 41"/>
          <p:cNvSpPr/>
          <p:nvPr/>
        </p:nvSpPr>
        <p:spPr>
          <a:xfrm>
            <a:off x="3402449" y="6423422"/>
            <a:ext cx="7825502" cy="31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endParaRPr lang="en-US" sz="850" dirty="0"/>
          </a:p>
        </p:txBody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449" y="6423422"/>
            <a:ext cx="7825502" cy="319207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3402449" y="6805374"/>
            <a:ext cx="782550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 Reduction Value</a:t>
            </a:r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= Probability of incident × Total estimated financial damage (regulatory fines + operational downtime + asset replacement + reputational loss). Organizations with extensive AI-driven automated defenses save an average of </a:t>
            </a:r>
            <a:pPr algn="l" indent="0" marL="0">
              <a:lnSpc>
                <a:spcPts val="75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$1.9M per breach</a:t>
            </a:r>
            <a:pPr algn="l" indent="0" marL="0">
              <a:lnSpc>
                <a:spcPts val="75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2026-02-25T11:30:45Z</dcterms:created>
  <dcterms:modified xsi:type="dcterms:W3CDTF">2026-02-25T11:30:45Z</dcterms:modified>
</cp:coreProperties>
</file>