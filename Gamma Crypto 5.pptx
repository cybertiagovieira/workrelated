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embeddedFontLst>
    <p:embeddedFont>
      <p:font typeface="Crimson Pro Medium"/>
      <p:regular r:id="rId201314"/>
    </p:embeddedFont>
    <p:embeddedFont>
      <p:font typeface="Crimson Pro ExtraBold"/>
      <p:regular r:id="rId201315"/>
    </p:embeddedFont>
    <p:embeddedFont>
      <p:font typeface="Crimson Pro Black"/>
      <p:regular r:id="rId201316"/>
    </p:embeddedFont>
    <p:embeddedFont>
      <p:font typeface="Crimson Pro ExtraLight"/>
      <p:regular r:id="rId201317"/>
    </p:embeddedFont>
    <p:embeddedFont>
      <p:font typeface="Crimson Pro Light"/>
      <p:regular r:id="rId201318"/>
    </p:embeddedFont>
    <p:embeddedFont>
      <p:font typeface="Crimson Pro"/>
      <p:regular r:id="rId201319"/>
    </p:embeddedFont>
    <p:embeddedFont>
      <p:font typeface="Crimson Pro SemiBold"/>
      <p:regular r:id="rId201320"/>
    </p:embeddedFont>
    <p:embeddedFont>
      <p:font typeface="Crimson Pro Bold"/>
      <p:regular r:id="rId201321"/>
    </p:embeddedFont>
    <p:embeddedFont>
      <p:font typeface="Heebo Thin"/>
      <p:regular r:id="rId201322"/>
    </p:embeddedFont>
    <p:embeddedFont>
      <p:font typeface="Heebo ExtraLight"/>
      <p:regular r:id="rId201323"/>
    </p:embeddedFont>
    <p:embeddedFont>
      <p:font typeface="Heebo Light"/>
      <p:regular r:id="rId201324"/>
    </p:embeddedFont>
    <p:embeddedFont>
      <p:font typeface="Heebo"/>
      <p:regular r:id="rId201325"/>
    </p:embeddedFont>
    <p:embeddedFont>
      <p:font typeface="Heebo Medium"/>
      <p:regular r:id="rId201326"/>
    </p:embeddedFont>
    <p:embeddedFont>
      <p:font typeface="Heebo SemiBold"/>
      <p:regular r:id="rId201327"/>
    </p:embeddedFont>
    <p:embeddedFont>
      <p:font typeface="Heebo Bold"/>
      <p:regular r:id="rId201328"/>
    </p:embeddedFont>
    <p:embeddedFont>
      <p:font typeface="Heebo ExtraBold"/>
      <p:regular r:id="rId201329"/>
    </p:embeddedFont>
    <p:embeddedFont>
      <p:font typeface="Heebo Black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1.png"/><Relationship Id="rId4" Type="http://schemas.openxmlformats.org/officeDocument/2006/relationships/image" Target="../media/image-1-2.svg"/><Relationship Id="rId5" Type="http://schemas.openxmlformats.org/officeDocument/2006/relationships/image" Target="../media/image-1-1.png"/><Relationship Id="rId6" Type="http://schemas.openxmlformats.org/officeDocument/2006/relationships/image" Target="../media/image-1-2.svg"/><Relationship Id="rId7" Type="http://schemas.openxmlformats.org/officeDocument/2006/relationships/image" Target="../media/image-1-1.png"/><Relationship Id="rId8" Type="http://schemas.openxmlformats.org/officeDocument/2006/relationships/image" Target="../media/image-1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9180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Crypto &amp; Digital Assets Risk Outlook — June 2026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312863"/>
            <a:ext cx="11478330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June 2026 saw severe crypto volatility, stablecoin disruption, sophisticated security threats, and landmark regulatory enforcement.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72180" y="1591072"/>
            <a:ext cx="4344482" cy="2105124"/>
          </a:xfrm>
          <a:prstGeom prst="roundRect">
            <a:avLst>
              <a:gd name="adj" fmla="val 884"/>
            </a:avLst>
          </a:prstGeom>
          <a:solidFill>
            <a:srgbClr val="00674F"/>
          </a:solidFill>
          <a:ln/>
        </p:spPr>
      </p:sp>
      <p:sp>
        <p:nvSpPr>
          <p:cNvPr id="5" name="Text 3"/>
          <p:cNvSpPr/>
          <p:nvPr/>
        </p:nvSpPr>
        <p:spPr>
          <a:xfrm>
            <a:off x="696201" y="1684040"/>
            <a:ext cx="409644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Market Vital Signs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6201" y="1970782"/>
            <a:ext cx="4096441" cy="169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BTC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ended at 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$58,494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(−24% monthly, −34% Q2), worst quarter since 2022</a:t>
            </a:r>
            <a:endParaRPr lang="en-US" sz="950" dirty="0"/>
          </a:p>
          <a:p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ETH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closed at 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$1,572.07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(−25.4% Q2); ETH/BTC ratio hit 10-month low of 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0.027</a:t>
            </a:r>
            <a:endParaRPr lang="en-US" sz="950" dirty="0"/>
          </a:p>
          <a:p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Total market cap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contracted to 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$2.05–$2.08T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down from late-2025 peak of $3.5T</a:t>
            </a:r>
            <a:endParaRPr lang="en-US" sz="950" dirty="0"/>
          </a:p>
          <a:p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U.S. Spot 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Bitcoin ETFs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saw 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$4.51B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net outflows; 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Ethereum ETFs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saw 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$471M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redemptions</a:t>
            </a:r>
            <a:endParaRPr lang="en-US" sz="950" dirty="0"/>
          </a:p>
          <a:p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Circle burned 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$250M USDC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on Ethereum, minted 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$910M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on Solana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136327" y="1684040"/>
            <a:ext cx="6400144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Threat &amp; Policy Vectors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36327" y="1970782"/>
            <a:ext cx="6400144" cy="1313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OUSD Consortium (June 30):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140+ partners (Visa, Stripe, BlackRock) launched reserve-revenue sharing stablecoin</a:t>
            </a:r>
            <a:endParaRPr lang="en-US" sz="950" dirty="0"/>
          </a:p>
          <a:p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UK FCA Final Rules (June 30):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Licensing gateway opens Sept 30, 2026; full enforcement Oct 2027</a:t>
            </a:r>
            <a:endParaRPr lang="en-US" sz="950" dirty="0"/>
          </a:p>
          <a:p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Web3 Losses: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$75.87M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across 40 hacks; Humanity Protocol lost 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$36M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via compromised keys; JaredFromSubway.eth bot drained 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$7.5M</a:t>
            </a:r>
            <a:endParaRPr lang="en-US" sz="950" dirty="0"/>
          </a:p>
          <a:p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OFAC Iran Sanctions (June 2):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Designated Nobitex (50%+ domestic volume), Wallex, Bitpin, Ramzinex under SDGT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61475" y="3835698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Strategic Implications</a:t>
            </a:r>
            <a:endParaRPr lang="en-US" sz="19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4285258"/>
            <a:ext cx="5387840" cy="8702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48994" y="4421981"/>
            <a:ext cx="506360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Stablecoin Revenue-Sharing Threatens Deposit Bases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48994" y="4671516"/>
            <a:ext cx="5063601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OUSD industrializes yield-bearing corporate payment rails, driving deposit disintermediation and margin compression.</a:t>
            </a:r>
            <a:endParaRPr lang="en-US" sz="9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2281" y="4285258"/>
            <a:ext cx="5387939" cy="8702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29799" y="4421981"/>
            <a:ext cx="506370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UK Licensing Tightens Correspondent Banking Standards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329799" y="4671516"/>
            <a:ext cx="5063701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Non-FCA-licensed counterparties will represent immediate regulatory and financial crime exposure by 2027.</a:t>
            </a:r>
            <a:endParaRPr lang="en-US" sz="9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5248473"/>
            <a:ext cx="5387840" cy="8702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8994" y="5385197"/>
            <a:ext cx="506360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Custody Risk Migrates to Operational Gaps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48994" y="5634732"/>
            <a:ext cx="5063601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Endpoint security failures and unrevoked approvals—not code flaws—are the primary custody threat. Enforce hardware-level key isolation.</a:t>
            </a:r>
            <a:endParaRPr lang="en-US" sz="9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42281" y="5248473"/>
            <a:ext cx="5387939" cy="8702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29799" y="5385197"/>
            <a:ext cx="506370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Secondary Sanctions Trigger Clearing Liability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329799" y="5634732"/>
            <a:ext cx="5063701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OFAC's Nobitex designations carry secondary sanctions risk. Update screening to block multi-hop flows or face loss of U.S. system access.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2026-07-16T12:57:33Z</dcterms:created>
  <dcterms:modified xsi:type="dcterms:W3CDTF">2026-07-16T12:57:33Z</dcterms:modified>
</cp:coreProperties>
</file>