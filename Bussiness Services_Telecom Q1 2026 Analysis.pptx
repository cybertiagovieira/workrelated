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439"/>
            <a:ext cx="2509378" cy="226219"/>
          </a:xfrm>
          <a:prstGeom prst="roundRect">
            <a:avLst>
              <a:gd name="adj" fmla="val 7896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573088"/>
            <a:ext cx="294037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SERVICES SECTOR RISK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08236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Threats &amp; Top 5 Cyber Attacks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474291"/>
            <a:ext cx="10868745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Services firms aggregate sensitive client data on legacy servers, creating systemic exposure. Vulnerability exploitation now leads initial access at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31%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breaches, with mean time to exploit collapsing to negative seven days. AI has industrialized phishing — a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14-fold increase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while Shadow AI creates untracked data exposure across multi-cloud environments.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2303661"/>
            <a:ext cx="10868745" cy="4025900"/>
          </a:xfrm>
          <a:prstGeom prst="roundRect">
            <a:avLst>
              <a:gd name="adj" fmla="val 55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2712839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345061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977283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835723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5694164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056357" y="2303661"/>
            <a:ext cx="9303" cy="40259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44592" y="2303661"/>
            <a:ext cx="9303" cy="40259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26994" y="2303661"/>
            <a:ext cx="9303" cy="40259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16947" y="2396728"/>
            <a:ext cx="269699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Threat Class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8356" y="2396728"/>
            <a:ext cx="269382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Dwell &amp; Vector Metrics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96591" y="2396728"/>
            <a:ext cx="388798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Core Systemic Vulnerability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78993" y="2396728"/>
            <a:ext cx="280563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Primary Sector Exposure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6947" y="2802731"/>
            <a:ext cx="269699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Vulnerability Exploitation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8356" y="2802731"/>
            <a:ext cx="208423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31%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initial access; up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34% YoY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96591" y="2802731"/>
            <a:ext cx="327840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Legacy infrastructure, unpatched remote access, slow patch cycles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78993" y="2802731"/>
            <a:ext cx="21960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perimeter bypass of external firewalls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6947" y="3434953"/>
            <a:ext cx="269699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Credential Abuse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8356" y="3434953"/>
            <a:ext cx="269382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22%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enterprise breaches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96591" y="3434953"/>
            <a:ext cx="327840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employee password reuse across personal and corporate platforms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78993" y="3434953"/>
            <a:ext cx="21960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Infostealer-harvested credentials reused for lateral movement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6947" y="4067175"/>
            <a:ext cx="269699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Ransomware &amp; Extortion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08356" y="4067175"/>
            <a:ext cx="208423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Present in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44%–48%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breaches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96591" y="4067175"/>
            <a:ext cx="327840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Fragmented networks, weak endpoint detection, unsegmented back-office systems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78993" y="4067175"/>
            <a:ext cx="219605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Severe operational disruption, systemic downtime, double extortion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16947" y="4925616"/>
            <a:ext cx="269699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Social Engineering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208356" y="4925616"/>
            <a:ext cx="208423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16%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initial vectors;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14x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AI-phishing spike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596591" y="4925616"/>
            <a:ext cx="327840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Susceptibility to voice phishing, real-time impersonation, fraudulent QR codes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78993" y="4925616"/>
            <a:ext cx="219605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Wire-transfer redirection, credential harvesting, help-desk manipulation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6947" y="5784056"/>
            <a:ext cx="269699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Supply Chain &amp; Third Party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08356" y="5784056"/>
            <a:ext cx="269382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30%–48%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breaches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596591" y="5784056"/>
            <a:ext cx="327840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High-privilege access granted to billing, printing, and document-processing associates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178993" y="5784056"/>
            <a:ext cx="21960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Cascading compromise from trusted external utility partners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1341"/>
            <a:ext cx="957933" cy="176014"/>
          </a:xfrm>
          <a:prstGeom prst="roundRect">
            <a:avLst>
              <a:gd name="adj" fmla="val 7893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30926" y="766068"/>
            <a:ext cx="142861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939701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78133" y="1422995"/>
            <a:ext cx="4344680" cy="1494730"/>
          </a:xfrm>
          <a:prstGeom prst="roundRect">
            <a:avLst>
              <a:gd name="adj" fmla="val 1162"/>
            </a:avLst>
          </a:prstGeom>
          <a:solidFill>
            <a:srgbClr val="00674F"/>
          </a:solidFill>
          <a:ln/>
        </p:spPr>
      </p:sp>
      <p:sp>
        <p:nvSpPr>
          <p:cNvPr id="6" name="Text 4"/>
          <p:cNvSpPr/>
          <p:nvPr/>
        </p:nvSpPr>
        <p:spPr>
          <a:xfrm>
            <a:off x="693819" y="1503958"/>
            <a:ext cx="411330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Breach Cost Metrics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3819" y="1765796"/>
            <a:ext cx="4113308" cy="107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breach cost (Professional Services): 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$4.62M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U.S. average breach cost: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$10.22M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(all-time high)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Multi-cloud environments: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$5.05M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average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AI &amp; automation savings: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$1.90M–$2.20M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breach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Dwell cost: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~$18,400/day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or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~$1,000/hour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28191" y="1503958"/>
            <a:ext cx="640828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Cost Drivers &amp; Lifecycle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8191" y="1765796"/>
            <a:ext cx="64082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U.S. breach costs are driven by stringent regulatory enforcement, high forensic labor, and complex IT infrastructures. Multi-cloud configurations add over $1M in costs due to fragmented visibility. Breaches exceeding 200 days to contain cost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$5.01M–$5.49M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versus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$3.61M–$3.87M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those resolved faster. The average breach lifecycle extends to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245 days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(185 days to identify, 60 to contain).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1475" y="3039269"/>
            <a:ext cx="108687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&amp; Operational Metrics Comparison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1475" y="3341688"/>
            <a:ext cx="10868745" cy="2784971"/>
          </a:xfrm>
          <a:prstGeom prst="roundRect">
            <a:avLst>
              <a:gd name="adj" fmla="val 62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1475" y="3618607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3892352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1475" y="4166096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1475" y="4439841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1475" y="4713585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61475" y="5144790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1475" y="5418534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1475" y="5849739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83809" y="3403005"/>
            <a:ext cx="363498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Financial / Operational Metric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40583" y="3403005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Business Services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28817" y="3403005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Global Average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17052" y="3403005"/>
            <a:ext cx="320071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Primary Cost Amplifiers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3809" y="3676749"/>
            <a:ext cx="363498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Data Breach Cost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40583" y="3676749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$4.62M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28817" y="3676749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$4.44M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17052" y="3676749"/>
            <a:ext cx="320071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Multi-cloud complexity increases to $5.05M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3809" y="3950494"/>
            <a:ext cx="363498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Detection &amp; Escalation Cost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40583" y="3950494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$1.50M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28817" y="3950494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$1.47M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817052" y="3950494"/>
            <a:ext cx="320071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forensic fees and compliance audits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3809" y="4224238"/>
            <a:ext cx="363498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Lost Business Impact Cost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40583" y="4224238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$1.41M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28817" y="4224238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$1.38M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817052" y="4224238"/>
            <a:ext cx="320071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Client attrition and deferred revenue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3809" y="4497983"/>
            <a:ext cx="363498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Post-Breach Response Cost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40583" y="4497983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$1.23M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28817" y="4497983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$1.20M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817052" y="4497983"/>
            <a:ext cx="320071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Class-action lawsuits and regulatory transactions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3809" y="4771727"/>
            <a:ext cx="363498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Notification Activities Cost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40583" y="4771727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$0.41M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28817" y="4771727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$0.39M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817052" y="4771727"/>
            <a:ext cx="259113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Multi-state notification laws and call-center hosting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3809" y="5202932"/>
            <a:ext cx="363498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Breach Lifecycle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040583" y="5202932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245 days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28817" y="5202932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241 days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817052" y="5202932"/>
            <a:ext cx="320071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Dwell &gt;200 days adds $1.14M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3809" y="5476677"/>
            <a:ext cx="363498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Mean Time to Identify (MTTI)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40583" y="5476677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185 days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28817" y="5476677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181 days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817052" y="5476677"/>
            <a:ext cx="259113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Compromised credentials take ~300 days to identify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83809" y="5907881"/>
            <a:ext cx="363498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Mean Time to Contain (MTTC)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40583" y="5907881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60 days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28817" y="5907881"/>
            <a:ext cx="27664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60 days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817052" y="5907881"/>
            <a:ext cx="320071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Lack of automated orchestration workflows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33140"/>
            <a:ext cx="2976488" cy="251420"/>
          </a:xfrm>
          <a:prstGeom prst="roundRect">
            <a:avLst>
              <a:gd name="adj" fmla="val 7894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882749"/>
            <a:ext cx="338764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IMPACT: WORST CASE SCENARIOS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506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Impact: Worst Case Scenarios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915418"/>
            <a:ext cx="108687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Catastrophic scenarios in Business Services cascade beyond direct data loss. Third-party vendor compromises can halt operations across multiple states. M&amp;A-targeted ransomware collapses deal completion from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72% to 49%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Courts have eroded attorney-client privilege over post-breach forensic reports. GDPR fines reach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€20 million or 4% of global revenue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; NIS2 introduces personal C-suite liability.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895302"/>
            <a:ext cx="5351725" cy="1482130"/>
          </a:xfrm>
          <a:prstGeom prst="roundRect">
            <a:avLst>
              <a:gd name="adj" fmla="val 1674"/>
            </a:avLst>
          </a:prstGeom>
          <a:solidFill>
            <a:srgbClr val="00674F"/>
          </a:solidFill>
          <a:ln/>
        </p:spPr>
      </p:sp>
      <p:sp>
        <p:nvSpPr>
          <p:cNvPr id="7" name="Text 5"/>
          <p:cNvSpPr/>
          <p:nvPr/>
        </p:nvSpPr>
        <p:spPr>
          <a:xfrm>
            <a:off x="826769" y="3060601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Systemic Utility Halt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3418284"/>
            <a:ext cx="50211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Outsourced billing and payment vendors compromised. Ransomware lockout triggers multi-state operational shutdowns and direct supply chain disruption.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495" y="2895302"/>
            <a:ext cx="5351725" cy="1482130"/>
          </a:xfrm>
          <a:prstGeom prst="roundRect">
            <a:avLst>
              <a:gd name="adj" fmla="val 1674"/>
            </a:avLst>
          </a:prstGeom>
          <a:solidFill>
            <a:srgbClr val="00674F"/>
          </a:solidFill>
          <a:ln/>
        </p:spPr>
      </p:sp>
      <p:sp>
        <p:nvSpPr>
          <p:cNvPr id="10" name="Text 8"/>
          <p:cNvSpPr/>
          <p:nvPr/>
        </p:nvSpPr>
        <p:spPr>
          <a:xfrm>
            <a:off x="6343789" y="3060601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M&amp;A Deal Manipulation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43789" y="3418284"/>
            <a:ext cx="50211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Double-extortion theft of active M&amp;A data. Deal completion drops from 72% to 49%, destroying transaction premiums and triggering contractual liability.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542730"/>
            <a:ext cx="5351725" cy="1482130"/>
          </a:xfrm>
          <a:prstGeom prst="roundRect">
            <a:avLst>
              <a:gd name="adj" fmla="val 1674"/>
            </a:avLst>
          </a:prstGeom>
          <a:solidFill>
            <a:srgbClr val="00674F"/>
          </a:solidFill>
          <a:ln/>
        </p:spPr>
      </p:sp>
      <p:sp>
        <p:nvSpPr>
          <p:cNvPr id="13" name="Text 11"/>
          <p:cNvSpPr/>
          <p:nvPr/>
        </p:nvSpPr>
        <p:spPr>
          <a:xfrm>
            <a:off x="826769" y="4708029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Privilege Evacuation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769" y="5065713"/>
            <a:ext cx="50211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Regulatory subpoena of forensic reports triggers subject-matter waiver, forcing disclosure of internal security vulnerabilities to adversaries during discovery.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8495" y="4542730"/>
            <a:ext cx="5351725" cy="1482130"/>
          </a:xfrm>
          <a:prstGeom prst="roundRect">
            <a:avLst>
              <a:gd name="adj" fmla="val 1674"/>
            </a:avLst>
          </a:prstGeom>
          <a:solidFill>
            <a:srgbClr val="00674F"/>
          </a:solidFill>
          <a:ln/>
        </p:spPr>
      </p:sp>
      <p:sp>
        <p:nvSpPr>
          <p:cNvPr id="16" name="Text 14"/>
          <p:cNvSpPr/>
          <p:nvPr/>
        </p:nvSpPr>
        <p:spPr>
          <a:xfrm>
            <a:off x="6343789" y="4708029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Identity Density Abuse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43789" y="5065713"/>
            <a:ext cx="50211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Plaintext credential harvesting combined with exfiltrated claims data enables agentic AI-driven hyper-convincing social engineering and medical identity fraud.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0773"/>
            <a:ext cx="676754" cy="176014"/>
          </a:xfrm>
          <a:prstGeom prst="roundRect">
            <a:avLst>
              <a:gd name="adj" fmla="val 7893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30926" y="825500"/>
            <a:ext cx="1147436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999133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Case Study: Conduent Business Services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78133" y="1482427"/>
            <a:ext cx="4902276" cy="4584700"/>
          </a:xfrm>
          <a:prstGeom prst="roundRect">
            <a:avLst>
              <a:gd name="adj" fmla="val 379"/>
            </a:avLst>
          </a:prstGeom>
          <a:solidFill>
            <a:srgbClr val="00674F"/>
          </a:solidFill>
          <a:ln/>
        </p:spPr>
      </p:sp>
      <p:sp>
        <p:nvSpPr>
          <p:cNvPr id="6" name="Text 4"/>
          <p:cNvSpPr/>
          <p:nvPr/>
        </p:nvSpPr>
        <p:spPr>
          <a:xfrm>
            <a:off x="693819" y="1563390"/>
            <a:ext cx="467090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Incident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3819" y="1825228"/>
            <a:ext cx="4670903" cy="1332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January 2025, Conduent detected SafePay ransomware after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84 days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undetected access (Oct 21, 2024 – Jan 13, 2025). Attackers exfiltrated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8.5 terabytes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ePHI and PII — names, SSNs, medical diagnoses, and claim amounts — affecting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62,224,658 individuals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globally, the third-largest healthcare breach in U.S. history.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Immediate response costs reached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$25 million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($9M notifications by Sept 2025, $16M projected through 2026). Texas AG Ken Paxton launched a major investigation; dozens of federal class-action lawsuits followed. Blue Cross Blue Shield and Medicaid offices scrambled to notify customers.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85787" y="1563390"/>
            <a:ext cx="585068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Conduent Incident Matrix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85787" y="1835348"/>
            <a:ext cx="5850684" cy="3531096"/>
          </a:xfrm>
          <a:prstGeom prst="roundRect">
            <a:avLst>
              <a:gd name="adj" fmla="val 49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5787" y="2112268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85787" y="2543473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685787" y="2974677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85787" y="3248422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685787" y="3679627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685787" y="4110831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685787" y="4384576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685787" y="4658320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685787" y="4932065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10612" y="1835348"/>
            <a:ext cx="7236" cy="353109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807922" y="1896666"/>
            <a:ext cx="25934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Incident Attribute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29473" y="1896666"/>
            <a:ext cx="39945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Value / Chronology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07922" y="2170410"/>
            <a:ext cx="25934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Breach Target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29473" y="2170410"/>
            <a:ext cx="33849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Conduent Business Services — back-office printing, document processing, and payment integrity vendor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07922" y="2601615"/>
            <a:ext cx="25934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Actor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29473" y="2601615"/>
            <a:ext cx="33849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SafePay Ransomware Group (double-extortion cybercriminal syndicate)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7922" y="3032820"/>
            <a:ext cx="25934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 Dwell Time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29473" y="3032820"/>
            <a:ext cx="39945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84 Days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(October 21, 2024 to January 13, 2025)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07922" y="3306564"/>
            <a:ext cx="25934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Volume Stolen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29473" y="3306564"/>
            <a:ext cx="33849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8.5 Terabytes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Names, SSNs, Medical Diagnoses, Claim Amounts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07922" y="3737769"/>
            <a:ext cx="25934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Impact Scope (Texas)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29473" y="3737769"/>
            <a:ext cx="33849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15,494,592 residents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affected (roughly half the state's population)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7922" y="4168973"/>
            <a:ext cx="25934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Impact Scope (Oregon)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29473" y="4168973"/>
            <a:ext cx="39945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10,500,000 residents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affected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07922" y="4442718"/>
            <a:ext cx="25934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Confirmed Victims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29473" y="4442718"/>
            <a:ext cx="39945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62,224,658 individuals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globally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07922" y="4716463"/>
            <a:ext cx="25934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Immediate Response Costs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29473" y="4716463"/>
            <a:ext cx="399454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$25 Million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allocated across notifications and identity protection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07922" y="4990207"/>
            <a:ext cx="25934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Active Legal Liabilities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29473" y="4990207"/>
            <a:ext cx="33849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Texas AG Paxton Investigation, Missouri Regulators probe, and multiple federal class-action lawsuits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85787" y="5457527"/>
            <a:ext cx="5850684" cy="518517"/>
          </a:xfrm>
          <a:prstGeom prst="roundRect">
            <a:avLst>
              <a:gd name="adj" fmla="val 3349"/>
            </a:avLst>
          </a:prstGeom>
          <a:solidFill>
            <a:srgbClr val="CCFFF3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73" y="5608737"/>
            <a:ext cx="144657" cy="115689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061816" y="5559326"/>
            <a:ext cx="535896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breach exemplifies the "identity density gap" — attackers use exfiltrated claim amounts to build automated, hyper-convincing phishing templates that bypass traditional enterprise controls.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89000"/>
            <a:ext cx="1374145" cy="201116"/>
          </a:xfrm>
          <a:prstGeom prst="roundRect">
            <a:avLst>
              <a:gd name="adj" fmla="val 7895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928687"/>
            <a:ext cx="1824984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 STRATEGIES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13238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Mitigation Strategies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704578"/>
            <a:ext cx="1086874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Robust cyber resilience requires integrated controls targeting systemic vulnerabilities. Security AI saves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$1.90M–$2.20M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breach and accelerates containment by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80 days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Tested IR plans save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$2.66M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Zero Trust saves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$1.76M–$1.90M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Continuous behavior training reduces malicious clicks by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87%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a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145x–436x ROI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Regulatory mandates now require role-based human risk scoring (PCI DSS v4.0.1), formal vendor certifications (OCR/HIPAA, May 2026), and data governance command centers (GDPR, NIS2, DORA).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434828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Proactive Control Metrics &amp; Regulatory Framework Integration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2800251"/>
            <a:ext cx="10868745" cy="3168650"/>
          </a:xfrm>
          <a:prstGeom prst="roundRect">
            <a:avLst>
              <a:gd name="adj" fmla="val 62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1475" y="3330476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857526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384576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4911626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5438676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73542" y="2800251"/>
            <a:ext cx="8270" cy="31686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661776" y="2800251"/>
            <a:ext cx="8270" cy="31686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32926" y="2800251"/>
            <a:ext cx="8270" cy="31686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86990" y="2800251"/>
            <a:ext cx="8270" cy="31686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00378" y="2876451"/>
            <a:ext cx="29473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Mitigation Strategy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8972" y="2876451"/>
            <a:ext cx="27269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Operational Effectiveness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97207" y="2876451"/>
            <a:ext cx="250987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Implementation Cost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68356" y="2876451"/>
            <a:ext cx="16832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Return on Security Investment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22421" y="2876451"/>
            <a:ext cx="20787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Framework Integration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0378" y="3403501"/>
            <a:ext cx="29473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Security AI &amp; Automation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8972" y="3403501"/>
            <a:ext cx="21173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containment times by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80 days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97207" y="3403501"/>
            <a:ext cx="19002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Moderate to High ($20K–$100K)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68356" y="3403501"/>
            <a:ext cx="16832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$1.90M–$2.20M saved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breach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22421" y="3403501"/>
            <a:ext cx="14691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NIST CSF 2.0 / MITRE ATT&amp;CK (AssureMAP)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0378" y="3930551"/>
            <a:ext cx="29473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Tested Incident Response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08972" y="3930551"/>
            <a:ext cx="21173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Rapid playbook execution during critical early windows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97207" y="3930551"/>
            <a:ext cx="19002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 to Moderate (tabletop exercises)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68356" y="3930551"/>
            <a:ext cx="22927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$2.66M saved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breach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922421" y="3930551"/>
            <a:ext cx="14691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NIS2 / DORA (mandatory response exercises)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0378" y="4457601"/>
            <a:ext cx="29473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Zero Trust &amp; MFA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08972" y="4457601"/>
            <a:ext cx="21173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Eliminates service account and SaaS blindspots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97207" y="4457601"/>
            <a:ext cx="19002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Moderate (multi-environment setup)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68356" y="4457601"/>
            <a:ext cx="16832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$1.76M–$1.90M saved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breach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922421" y="4457601"/>
            <a:ext cx="14691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PCI DSS v4.0.1 Requirement 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0378" y="4984651"/>
            <a:ext cx="29473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Continuous Security Behavior Training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08972" y="4984651"/>
            <a:ext cx="21173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malicious email clicks by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87%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97207" y="4984651"/>
            <a:ext cx="250987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 ($5K–$15K annually)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68356" y="4984651"/>
            <a:ext cx="22927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145x–436x ROI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922421" y="4984651"/>
            <a:ext cx="14691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HIPAA / OCR Business Associate compliance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0378" y="5511701"/>
            <a:ext cx="29473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Proactive Penetration Testing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08972" y="5511701"/>
            <a:ext cx="21173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Maps reachable attack paths from outside-in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97207" y="5511701"/>
            <a:ext cx="250987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 to Moderate ($10K–$50K)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68356" y="5511701"/>
            <a:ext cx="22927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97x–488x ROI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922421" y="5511701"/>
            <a:ext cx="14691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SRA / GDPR client audit readiness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2026-07-13T13:05:08Z</dcterms:created>
  <dcterms:modified xsi:type="dcterms:W3CDTF">2026-07-13T13:05:08Z</dcterms:modified>
</cp:coreProperties>
</file>