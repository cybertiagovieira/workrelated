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26212800" cy="14630400"/>
  <p:notesSz cx="6858000" cy="9144000"/>
  <p:embeddedFontLst>
    <p:embeddedFont>
      <p:font typeface="Arial MT Pro Bold" charset="1" panose="020B0802020202020204"/>
      <p:regular r:id="rId7"/>
    </p:embeddedFont>
    <p:embeddedFont>
      <p:font typeface="Arial MT Pro" charset="1" panose="020B050202020202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26184161" cy="14630400"/>
          </a:xfrm>
          <a:custGeom>
            <a:avLst/>
            <a:gdLst/>
            <a:ahLst/>
            <a:cxnLst/>
            <a:rect r="r" b="b" t="t" l="l"/>
            <a:pathLst>
              <a:path h="14630400" w="26184161">
                <a:moveTo>
                  <a:pt x="0" y="0"/>
                </a:moveTo>
                <a:lnTo>
                  <a:pt x="26184161" y="0"/>
                </a:lnTo>
                <a:lnTo>
                  <a:pt x="26184161" y="14630400"/>
                </a:lnTo>
                <a:lnTo>
                  <a:pt x="0" y="14630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1384" y="530272"/>
            <a:ext cx="24221361" cy="118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75"/>
              </a:lnSpc>
            </a:pPr>
            <a:r>
              <a:rPr lang="en-US" b="true" sz="6196" spc="43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 New Insider Threat: State-Sponsored Infiltration Operations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79489" y="2159222"/>
            <a:ext cx="157055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 spc="87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Stage 1: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6690" y="2731785"/>
            <a:ext cx="3288863" cy="94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8"/>
              </a:lnSpc>
            </a:pPr>
            <a:r>
              <a:rPr lang="en-US" b="true" sz="3000" spc="65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Persona Creation</a:t>
            </a:r>
          </a:p>
          <a:p>
            <a:pPr algn="just">
              <a:lnSpc>
                <a:spcPts val="3419"/>
              </a:lnSpc>
            </a:pPr>
            <a:r>
              <a:rPr lang="en-US" sz="2907" spc="63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(Synthetic Identity)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1142" y="12495667"/>
            <a:ext cx="5942925" cy="149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20"/>
              </a:lnSpc>
            </a:pPr>
            <a:r>
              <a:rPr lang="en-US" sz="2400" spc="1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State-sponsored operatives use Generative</a:t>
            </a:r>
          </a:p>
          <a:p>
            <a:pPr algn="just">
              <a:lnSpc>
                <a:spcPts val="2920"/>
              </a:lnSpc>
            </a:pPr>
            <a:r>
              <a:rPr lang="en-US" sz="2400" spc="1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Al tools to create entirely fabricated, yet</a:t>
            </a:r>
          </a:p>
          <a:p>
            <a:pPr algn="just">
              <a:lnSpc>
                <a:spcPts val="2920"/>
              </a:lnSpc>
            </a:pPr>
            <a:r>
              <a:rPr lang="en-US" sz="2400" spc="1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plausible, professional personas, complete</a:t>
            </a:r>
          </a:p>
          <a:p>
            <a:pPr algn="just">
              <a:lnSpc>
                <a:spcPts val="2920"/>
              </a:lnSpc>
            </a:pPr>
            <a:r>
              <a:rPr lang="en-US" sz="2400" spc="1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with automated resume generation.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68730" y="12505192"/>
            <a:ext cx="5393830" cy="181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7"/>
              </a:lnSpc>
            </a:pPr>
            <a:r>
              <a:rPr lang="en-US" sz="2400" spc="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 Al-generated personas are used in</a:t>
            </a:r>
          </a:p>
          <a:p>
            <a:pPr algn="just">
              <a:lnSpc>
                <a:spcPts val="2817"/>
              </a:lnSpc>
            </a:pPr>
            <a:r>
              <a:rPr lang="en-US" sz="2400" spc="2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large-scale application campaigns, with Al bots also completing technical and coding assessments to pass initial screening phases.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79905" y="3958857"/>
            <a:ext cx="5380077" cy="239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9"/>
              </a:lnSpc>
            </a:pPr>
            <a:r>
              <a:rPr lang="en-US" b="true" sz="3000" spc="15">
                <a:solidFill>
                  <a:srgbClr val="1762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1,000+ Fake Job Applications</a:t>
            </a:r>
          </a:p>
          <a:p>
            <a:pPr algn="l">
              <a:lnSpc>
                <a:spcPts val="2931"/>
              </a:lnSpc>
            </a:pPr>
            <a:r>
              <a:rPr lang="en-US" sz="2339" spc="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SentinelLabs research uncovered over</a:t>
            </a:r>
          </a:p>
          <a:p>
            <a:pPr algn="l">
              <a:lnSpc>
                <a:spcPts val="2931"/>
              </a:lnSpc>
            </a:pPr>
            <a:r>
              <a:rPr lang="en-US" sz="2339" spc="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1,000 job applications from fake DPRK-</a:t>
            </a:r>
          </a:p>
          <a:p>
            <a:pPr algn="l">
              <a:lnSpc>
                <a:spcPts val="2931"/>
              </a:lnSpc>
            </a:pPr>
            <a:r>
              <a:rPr lang="en-US" sz="2339" spc="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linked personas attempting to infiltrate</a:t>
            </a:r>
          </a:p>
          <a:p>
            <a:pPr algn="l">
              <a:lnSpc>
                <a:spcPts val="2931"/>
              </a:lnSpc>
            </a:pPr>
            <a:r>
              <a:rPr lang="en-US" sz="2339" spc="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Western firms, including major</a:t>
            </a:r>
          </a:p>
          <a:p>
            <a:pPr algn="l">
              <a:lnSpc>
                <a:spcPts val="2931"/>
              </a:lnSpc>
            </a:pPr>
            <a:r>
              <a:rPr lang="en-US" sz="2339" spc="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cybersecurity companies.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95837" y="2224803"/>
            <a:ext cx="4539615" cy="1438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1"/>
              </a:lnSpc>
            </a:pPr>
            <a:r>
              <a:rPr lang="en-US" b="true" sz="3003" spc="45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Stage 2:</a:t>
            </a:r>
          </a:p>
          <a:p>
            <a:pPr algn="ctr">
              <a:lnSpc>
                <a:spcPts val="3601"/>
              </a:lnSpc>
            </a:pPr>
            <a:r>
              <a:rPr lang="en-US" b="true" sz="3003" spc="45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Application &amp; Screening</a:t>
            </a:r>
          </a:p>
          <a:p>
            <a:pPr algn="ctr">
              <a:lnSpc>
                <a:spcPts val="3601"/>
              </a:lnSpc>
            </a:pPr>
            <a:r>
              <a:rPr lang="en-US" sz="3003" spc="45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(Bypassing HR)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010865" y="2169490"/>
            <a:ext cx="1464707" cy="58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2"/>
              </a:lnSpc>
            </a:pPr>
            <a:r>
              <a:rPr lang="en-US" b="true" sz="3001" spc="-18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Stage 3: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91173" y="2678697"/>
            <a:ext cx="4116348" cy="991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4"/>
              </a:lnSpc>
            </a:pPr>
            <a:r>
              <a:rPr lang="en-US" b="true" sz="3000" spc="51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Interview &amp; Deception</a:t>
            </a:r>
          </a:p>
          <a:p>
            <a:pPr algn="just">
              <a:lnSpc>
                <a:spcPts val="3744"/>
              </a:lnSpc>
            </a:pPr>
            <a:r>
              <a:rPr lang="en-US" sz="3000" spc="51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(Deepfake Assistance)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89625" y="2247330"/>
            <a:ext cx="5632014" cy="1408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1"/>
              </a:lnSpc>
            </a:pPr>
            <a:r>
              <a:rPr lang="en-US" b="true" sz="3000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Stage 4:</a:t>
            </a:r>
          </a:p>
          <a:p>
            <a:pPr algn="ctr">
              <a:lnSpc>
                <a:spcPts val="3531"/>
              </a:lnSpc>
            </a:pPr>
            <a:r>
              <a:rPr lang="en-US" b="true" sz="3000">
                <a:solidFill>
                  <a:srgbClr val="282825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Legitimate Access &amp; Operation</a:t>
            </a:r>
          </a:p>
          <a:p>
            <a:pPr algn="ctr">
              <a:lnSpc>
                <a:spcPts val="3531"/>
              </a:lnSpc>
            </a:pPr>
            <a:r>
              <a:rPr lang="en-US" sz="30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(The Trusted Insider)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18067" y="8683533"/>
            <a:ext cx="7366094" cy="110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400" spc="-1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Once hired, the operative gains legitimats, trusted</a:t>
            </a:r>
          </a:p>
          <a:p>
            <a:pPr algn="l">
              <a:lnSpc>
                <a:spcPts val="2788"/>
              </a:lnSpc>
            </a:pPr>
            <a:r>
              <a:rPr lang="en-US" sz="2400" spc="-1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access to internal networks, sensitive data, and</a:t>
            </a:r>
          </a:p>
          <a:p>
            <a:pPr algn="l">
              <a:lnSpc>
                <a:spcPts val="2788"/>
              </a:lnSpc>
            </a:pPr>
            <a:r>
              <a:rPr lang="en-US" sz="2400" spc="-14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financial systems, becoming a state-controlled insider.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565825" y="10314366"/>
            <a:ext cx="5756196" cy="171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6"/>
              </a:lnSpc>
            </a:pPr>
            <a:r>
              <a:rPr lang="en-US" sz="2180" spc="-5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"The next 'insider threat' may not be an employee</a:t>
            </a:r>
          </a:p>
          <a:p>
            <a:pPr algn="l">
              <a:lnSpc>
                <a:spcPts val="2706"/>
              </a:lnSpc>
            </a:pPr>
            <a:r>
              <a:rPr lang="en-US" sz="2180" spc="-5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gone rogue, but a foreign government's operative</a:t>
            </a:r>
          </a:p>
          <a:p>
            <a:pPr algn="l">
              <a:lnSpc>
                <a:spcPts val="2706"/>
              </a:lnSpc>
            </a:pPr>
            <a:r>
              <a:rPr lang="en-US" sz="2180" spc="-5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disguised as your next remote hire."</a:t>
            </a:r>
          </a:p>
          <a:p>
            <a:pPr algn="l">
              <a:lnSpc>
                <a:spcPts val="2482"/>
              </a:lnSpc>
            </a:pPr>
            <a:r>
              <a:rPr lang="en-US" sz="2000" spc="-46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- Patrick Sullivan, CTO of Security Strategy at</a:t>
            </a:r>
          </a:p>
          <a:p>
            <a:pPr algn="l">
              <a:lnSpc>
                <a:spcPts val="2482"/>
              </a:lnSpc>
            </a:pPr>
            <a:r>
              <a:rPr lang="en-US" sz="2000" spc="-46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Akamai Technologies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442000" y="12293427"/>
            <a:ext cx="6694536" cy="221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4"/>
              </a:lnSpc>
            </a:pPr>
            <a:r>
              <a:rPr lang="en-US" b="true" sz="2280" spc="-6">
                <a:solidFill>
                  <a:srgbClr val="2F4C42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Dual-Purpose Mission: Revenue and Espionage</a:t>
            </a:r>
          </a:p>
          <a:p>
            <a:pPr algn="l">
              <a:lnSpc>
                <a:spcPts val="2864"/>
              </a:lnSpc>
            </a:pPr>
            <a:r>
              <a:rPr lang="en-US" sz="2280" spc="-6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This insider access is leveraged for two primary goals: funneling salaries and other funds to the North Korean regime and conducting strategic expionage, such as stealing sensitive data from defense contractors.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71967" y="10066716"/>
            <a:ext cx="5742504" cy="248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7"/>
              </a:lnSpc>
            </a:pPr>
            <a:r>
              <a:rPr lang="en-US" b="true" sz="2700" spc="8">
                <a:solidFill>
                  <a:srgbClr val="1762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 in 4 North Korean IT</a:t>
            </a:r>
          </a:p>
          <a:p>
            <a:pPr algn="just">
              <a:lnSpc>
                <a:spcPts val="3477"/>
              </a:lnSpc>
            </a:pPr>
            <a:r>
              <a:rPr lang="en-US" b="true" sz="2700">
                <a:solidFill>
                  <a:srgbClr val="17624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Applicants Use Deepfakes</a:t>
            </a:r>
          </a:p>
          <a:p>
            <a:pPr algn="just">
              <a:lnSpc>
                <a:spcPts val="3091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Approximately 25% of North Korean IT</a:t>
            </a:r>
          </a:p>
          <a:p>
            <a:pPr algn="just">
              <a:lnSpc>
                <a:spcPts val="3091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workers applying for remote jobs are using</a:t>
            </a:r>
          </a:p>
          <a:p>
            <a:pPr algn="just">
              <a:lnSpc>
                <a:spcPts val="3091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deepfakes to conceal their identity during</a:t>
            </a:r>
          </a:p>
          <a:p>
            <a:pPr algn="just">
              <a:lnSpc>
                <a:spcPts val="3091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the hiring process.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71967" y="12680490"/>
            <a:ext cx="5946100" cy="146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3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Operatives use deepfake audio and video</a:t>
            </a:r>
          </a:p>
          <a:p>
            <a:pPr algn="just">
              <a:lnSpc>
                <a:spcPts val="2803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technology to pass remote interviews, either</a:t>
            </a:r>
          </a:p>
          <a:p>
            <a:pPr algn="just">
              <a:lnSpc>
                <a:spcPts val="2803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by obscuring their true identity or</a:t>
            </a:r>
          </a:p>
          <a:p>
            <a:pPr algn="just">
              <a:lnSpc>
                <a:spcPts val="2803"/>
              </a:lnSpc>
            </a:pPr>
            <a:r>
              <a:rPr lang="en-US" sz="2400">
                <a:solidFill>
                  <a:srgbClr val="282825"/>
                </a:solidFill>
                <a:latin typeface="Arial MT Pro"/>
                <a:ea typeface="Arial MT Pro"/>
                <a:cs typeface="Arial MT Pro"/>
                <a:sym typeface="Arial MT Pro"/>
              </a:rPr>
              <a:t>impersonating a qualified individual.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DAG90k9mLsE</dc:identifier>
  <dcterms:modified xsi:type="dcterms:W3CDTF">2011-08-01T06:04:30Z</dcterms:modified>
  <cp:revision>1</cp:revision>
  <dc:title>FY2025 Executive Intelligence Summary: From Elevated Risk to Direct Confrontation The New Battlefield: Blurring Lines Between Crime &amp; Conflict</dc:title>
</cp:coreProperties>
</file>