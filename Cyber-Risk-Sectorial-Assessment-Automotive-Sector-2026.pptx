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Crimson Pro Semi Bold"/>
      <p:regular r:id="rId16"/>
    </p:embeddedFont>
    <p:embeddedFont>
      <p:font typeface="Crimson Pro Semi Bold"/>
      <p:regular r:id="rId17"/>
    </p:embeddedFont>
    <p:embeddedFont>
      <p:font typeface="Heebo"/>
      <p:regular r:id="rId18"/>
    </p:embeddedFont>
    <p:embeddedFont>
      <p:font typeface="Heeb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slideLayout" Target="../slideLayouts/slideLayout8.xml"/><Relationship Id="rId1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484596"/>
            <a:ext cx="2796183" cy="373142"/>
          </a:xfrm>
          <a:prstGeom prst="roundRect">
            <a:avLst>
              <a:gd name="adj" fmla="val 6383"/>
            </a:avLst>
          </a:prstGeom>
          <a:solidFill>
            <a:srgbClr val="CCFFF3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9252" y="2591753"/>
            <a:ext cx="158710" cy="1587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37258" y="2544128"/>
            <a:ext cx="232005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CONFIDENTIAL — RISK DIVISION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9175552" y="2476976"/>
            <a:ext cx="1418392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00674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302234" y="2544128"/>
            <a:ext cx="11650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FEBRUARY 2026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280190" y="294465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Cyber Risk Sectorial Assessment: Automotive Sector 2026</a:t>
            </a:r>
            <a:endParaRPr lang="en-US" sz="3900" dirty="0"/>
          </a:p>
        </p:txBody>
      </p:sp>
      <p:sp>
        <p:nvSpPr>
          <p:cNvPr id="9" name="Text 5"/>
          <p:cNvSpPr/>
          <p:nvPr/>
        </p:nvSpPr>
        <p:spPr>
          <a:xfrm>
            <a:off x="6280190" y="4482465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comprehensive threat intelligence briefing for Risk Executives on the evolving cybersecurity landscape across the global automotive and smart mobility ecosystem — informed by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494 publicly reported incidents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2025 and the landmark Jaguar Land Rover systemic event.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54" y="770930"/>
            <a:ext cx="510183" cy="146090"/>
          </a:xfrm>
          <a:prstGeom prst="roundRect">
            <a:avLst>
              <a:gd name="adj" fmla="val 7775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639127" y="799267"/>
            <a:ext cx="396835" cy="89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1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139904" y="799267"/>
            <a:ext cx="723781" cy="89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LANDSCAPE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82454" y="934998"/>
            <a:ext cx="3353753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Threats &amp; Top 5 Cyber Attacks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82454" y="1298258"/>
            <a:ext cx="13465493" cy="2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automotive cybersecurity landscape underwent a fundamental transformation in 2025. The convergence of software-defined vehicles, AI integration, and API-driven connectivity has created an attack surface extending far beyond traditional vehicle boundaries into manufacturing ecosystems, supply chains, and critical infrastructure.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82454" y="1572578"/>
            <a:ext cx="4458414" cy="916543"/>
          </a:xfrm>
          <a:prstGeom prst="roundRect">
            <a:avLst>
              <a:gd name="adj" fmla="val 1549"/>
            </a:avLst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676989" y="1667113"/>
            <a:ext cx="283845" cy="283845"/>
          </a:xfrm>
          <a:prstGeom prst="roundRect">
            <a:avLst>
              <a:gd name="adj" fmla="val 32211544"/>
            </a:avLst>
          </a:prstGeom>
          <a:solidFill>
            <a:srgbClr val="00674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975" y="1745099"/>
            <a:ext cx="127754" cy="1277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989" y="1996083"/>
            <a:ext cx="1227773" cy="14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Ransomware Dominance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6989" y="2170986"/>
            <a:ext cx="4269343" cy="2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44% of all incidents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2025 — more than doubling from 2024. 108 ransom attacks accompanied by 214 data breaches. Average demand: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$5.08M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Vehicle-level ransomware demonstrated mid-2025.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5085993" y="1572578"/>
            <a:ext cx="4458414" cy="916543"/>
          </a:xfrm>
          <a:prstGeom prst="roundRect">
            <a:avLst>
              <a:gd name="adj" fmla="val 1549"/>
            </a:avLst>
          </a:prstGeom>
          <a:solidFill>
            <a:srgbClr val="F2EEEE"/>
          </a:solidFill>
          <a:ln/>
        </p:spPr>
      </p:sp>
      <p:sp>
        <p:nvSpPr>
          <p:cNvPr id="13" name="Shape 10"/>
          <p:cNvSpPr/>
          <p:nvPr/>
        </p:nvSpPr>
        <p:spPr>
          <a:xfrm>
            <a:off x="5180528" y="1667113"/>
            <a:ext cx="283845" cy="283845"/>
          </a:xfrm>
          <a:prstGeom prst="roundRect">
            <a:avLst>
              <a:gd name="adj" fmla="val 32211544"/>
            </a:avLst>
          </a:prstGeom>
          <a:solidFill>
            <a:srgbClr val="00674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8514" y="1745099"/>
            <a:ext cx="127754" cy="12775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0528" y="1996083"/>
            <a:ext cx="1183124" cy="14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API-Centric Attacks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180528" y="2170986"/>
            <a:ext cx="4269343" cy="2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67% of incidents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involved telematics and cloud systems. CDK Global attack hit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15,000 dealerships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$1.02B losses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LLM prompt injection emerging as new vector.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9589532" y="1572578"/>
            <a:ext cx="4458414" cy="916543"/>
          </a:xfrm>
          <a:prstGeom prst="roundRect">
            <a:avLst>
              <a:gd name="adj" fmla="val 1549"/>
            </a:avLst>
          </a:prstGeom>
          <a:solidFill>
            <a:srgbClr val="F2EEEE"/>
          </a:solidFill>
          <a:ln/>
        </p:spPr>
      </p:sp>
      <p:sp>
        <p:nvSpPr>
          <p:cNvPr id="18" name="Shape 14"/>
          <p:cNvSpPr/>
          <p:nvPr/>
        </p:nvSpPr>
        <p:spPr>
          <a:xfrm>
            <a:off x="9684068" y="1667113"/>
            <a:ext cx="283845" cy="283845"/>
          </a:xfrm>
          <a:prstGeom prst="roundRect">
            <a:avLst>
              <a:gd name="adj" fmla="val 32211544"/>
            </a:avLst>
          </a:prstGeom>
          <a:solidFill>
            <a:srgbClr val="0067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62053" y="1745099"/>
            <a:ext cx="127754" cy="12775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84068" y="1996083"/>
            <a:ext cx="1306354" cy="14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Compromise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9684068" y="2170986"/>
            <a:ext cx="4269343" cy="2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involvement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nearly doubled to 30%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incidents. Vehicles contain 30,000–50,000 components from thousands of suppliers. Tier 2–3 suppliers remain structurally vulnerable.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582454" y="2534245"/>
            <a:ext cx="6710124" cy="916543"/>
          </a:xfrm>
          <a:prstGeom prst="roundRect">
            <a:avLst>
              <a:gd name="adj" fmla="val 1549"/>
            </a:avLst>
          </a:prstGeom>
          <a:solidFill>
            <a:srgbClr val="F2EEEE"/>
          </a:solidFill>
          <a:ln/>
        </p:spPr>
      </p:sp>
      <p:sp>
        <p:nvSpPr>
          <p:cNvPr id="23" name="Shape 18"/>
          <p:cNvSpPr/>
          <p:nvPr/>
        </p:nvSpPr>
        <p:spPr>
          <a:xfrm>
            <a:off x="676989" y="2628781"/>
            <a:ext cx="283845" cy="283845"/>
          </a:xfrm>
          <a:prstGeom prst="roundRect">
            <a:avLst>
              <a:gd name="adj" fmla="val 32211544"/>
            </a:avLst>
          </a:prstGeom>
          <a:solidFill>
            <a:srgbClr val="0067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975" y="2706767"/>
            <a:ext cx="127754" cy="12775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6989" y="2957751"/>
            <a:ext cx="1183124" cy="14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Exfiltration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76989" y="3132653"/>
            <a:ext cx="6521053" cy="2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68% of incidents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involved data theft.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530 vulnerabilities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identified in 2024, including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174 zero-days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Pwn2Own Automotive. Location, ADAS, and firmware data at critical risk.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7337703" y="2534245"/>
            <a:ext cx="6710243" cy="916543"/>
          </a:xfrm>
          <a:prstGeom prst="roundRect">
            <a:avLst>
              <a:gd name="adj" fmla="val 1549"/>
            </a:avLst>
          </a:prstGeom>
          <a:solidFill>
            <a:srgbClr val="F2EEEE"/>
          </a:solidFill>
          <a:ln/>
        </p:spPr>
      </p:sp>
      <p:sp>
        <p:nvSpPr>
          <p:cNvPr id="28" name="Shape 22"/>
          <p:cNvSpPr/>
          <p:nvPr/>
        </p:nvSpPr>
        <p:spPr>
          <a:xfrm>
            <a:off x="7432238" y="2628781"/>
            <a:ext cx="283845" cy="283845"/>
          </a:xfrm>
          <a:prstGeom prst="roundRect">
            <a:avLst>
              <a:gd name="adj" fmla="val 32211544"/>
            </a:avLst>
          </a:prstGeom>
          <a:solidFill>
            <a:srgbClr val="00674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10224" y="2706767"/>
            <a:ext cx="127754" cy="12775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32238" y="2957751"/>
            <a:ext cx="1327190" cy="14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 Charging Infrastructure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7432238" y="3132653"/>
            <a:ext cx="6521172" cy="2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Cross-sector threat combining energy and vehicle systems. Demonstrated attacks via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V2G Evil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tool. Botnet-driven grid destabilization carries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national security implications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582454" y="3518416"/>
            <a:ext cx="3010853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Ransomware Escalation: 2024 → 2025</a:t>
            </a:r>
            <a:endParaRPr lang="en-US" sz="1450" dirty="0"/>
          </a:p>
        </p:txBody>
      </p:sp>
      <p:sp>
        <p:nvSpPr>
          <p:cNvPr id="33" name="Shape 26"/>
          <p:cNvSpPr/>
          <p:nvPr/>
        </p:nvSpPr>
        <p:spPr>
          <a:xfrm>
            <a:off x="582454" y="3822621"/>
            <a:ext cx="13465493" cy="1282898"/>
          </a:xfrm>
          <a:prstGeom prst="roundRect">
            <a:avLst>
              <a:gd name="adj" fmla="val 110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90074" y="3830241"/>
            <a:ext cx="13450253" cy="1810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684728" y="3864888"/>
            <a:ext cx="3842147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Metric</a:t>
            </a:r>
            <a:endParaRPr lang="en-US" sz="700" dirty="0"/>
          </a:p>
        </p:txBody>
      </p:sp>
      <p:sp>
        <p:nvSpPr>
          <p:cNvPr id="36" name="Text 29"/>
          <p:cNvSpPr/>
          <p:nvPr/>
        </p:nvSpPr>
        <p:spPr>
          <a:xfrm>
            <a:off x="4723567" y="3864888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2024 Baseline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8086130" y="3864888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2025 Actual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11448693" y="3864888"/>
            <a:ext cx="2497098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Change</a:t>
            </a:r>
            <a:endParaRPr lang="en-US" sz="700" dirty="0"/>
          </a:p>
        </p:txBody>
      </p:sp>
      <p:sp>
        <p:nvSpPr>
          <p:cNvPr id="39" name="Shape 32"/>
          <p:cNvSpPr/>
          <p:nvPr/>
        </p:nvSpPr>
        <p:spPr>
          <a:xfrm>
            <a:off x="590074" y="4011335"/>
            <a:ext cx="13450253" cy="1810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684728" y="4045982"/>
            <a:ext cx="3842147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Share of automotive incidents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4723567" y="4045982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~20%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8086130" y="4045982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44%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11448693" y="4045982"/>
            <a:ext cx="2497098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+120%</a:t>
            </a:r>
            <a:endParaRPr lang="en-US" sz="700" dirty="0"/>
          </a:p>
        </p:txBody>
      </p:sp>
      <p:sp>
        <p:nvSpPr>
          <p:cNvPr id="44" name="Shape 37"/>
          <p:cNvSpPr/>
          <p:nvPr/>
        </p:nvSpPr>
        <p:spPr>
          <a:xfrm>
            <a:off x="590074" y="4192429"/>
            <a:ext cx="13450253" cy="1810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38"/>
          <p:cNvSpPr/>
          <p:nvPr/>
        </p:nvSpPr>
        <p:spPr>
          <a:xfrm>
            <a:off x="684728" y="4227076"/>
            <a:ext cx="3842147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Reported ransom attacks</a:t>
            </a:r>
            <a:endParaRPr lang="en-US" sz="700" dirty="0"/>
          </a:p>
        </p:txBody>
      </p:sp>
      <p:sp>
        <p:nvSpPr>
          <p:cNvPr id="46" name="Text 39"/>
          <p:cNvSpPr/>
          <p:nvPr/>
        </p:nvSpPr>
        <p:spPr>
          <a:xfrm>
            <a:off x="4723567" y="4227076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~50</a:t>
            </a:r>
            <a:endParaRPr lang="en-US" sz="700" dirty="0"/>
          </a:p>
        </p:txBody>
      </p:sp>
      <p:sp>
        <p:nvSpPr>
          <p:cNvPr id="47" name="Text 40"/>
          <p:cNvSpPr/>
          <p:nvPr/>
        </p:nvSpPr>
        <p:spPr>
          <a:xfrm>
            <a:off x="8086130" y="4227076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108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11448693" y="4227076"/>
            <a:ext cx="2497098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+116%</a:t>
            </a:r>
            <a:endParaRPr lang="en-US" sz="700" dirty="0"/>
          </a:p>
        </p:txBody>
      </p:sp>
      <p:sp>
        <p:nvSpPr>
          <p:cNvPr id="49" name="Shape 42"/>
          <p:cNvSpPr/>
          <p:nvPr/>
        </p:nvSpPr>
        <p:spPr>
          <a:xfrm>
            <a:off x="590074" y="4373523"/>
            <a:ext cx="13450253" cy="1810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684728" y="4408170"/>
            <a:ext cx="3842147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Associated data breaches</a:t>
            </a:r>
            <a:endParaRPr lang="en-US" sz="700" dirty="0"/>
          </a:p>
        </p:txBody>
      </p:sp>
      <p:sp>
        <p:nvSpPr>
          <p:cNvPr id="51" name="Text 44"/>
          <p:cNvSpPr/>
          <p:nvPr/>
        </p:nvSpPr>
        <p:spPr>
          <a:xfrm>
            <a:off x="4723567" y="4408170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~90</a:t>
            </a:r>
            <a:endParaRPr lang="en-US" sz="700" dirty="0"/>
          </a:p>
        </p:txBody>
      </p:sp>
      <p:sp>
        <p:nvSpPr>
          <p:cNvPr id="52" name="Text 45"/>
          <p:cNvSpPr/>
          <p:nvPr/>
        </p:nvSpPr>
        <p:spPr>
          <a:xfrm>
            <a:off x="8086130" y="4408170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214</a:t>
            </a:r>
            <a:endParaRPr lang="en-US" sz="700" dirty="0"/>
          </a:p>
        </p:txBody>
      </p:sp>
      <p:sp>
        <p:nvSpPr>
          <p:cNvPr id="53" name="Text 46"/>
          <p:cNvSpPr/>
          <p:nvPr/>
        </p:nvSpPr>
        <p:spPr>
          <a:xfrm>
            <a:off x="11448693" y="4408170"/>
            <a:ext cx="2497098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+138%</a:t>
            </a:r>
            <a:endParaRPr lang="en-US" sz="700" dirty="0"/>
          </a:p>
        </p:txBody>
      </p:sp>
      <p:sp>
        <p:nvSpPr>
          <p:cNvPr id="54" name="Shape 47"/>
          <p:cNvSpPr/>
          <p:nvPr/>
        </p:nvSpPr>
        <p:spPr>
          <a:xfrm>
            <a:off x="590074" y="4554617"/>
            <a:ext cx="13450253" cy="1810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48"/>
          <p:cNvSpPr/>
          <p:nvPr/>
        </p:nvSpPr>
        <p:spPr>
          <a:xfrm>
            <a:off x="684728" y="4589264"/>
            <a:ext cx="3842147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ransom demand</a:t>
            </a:r>
            <a:endParaRPr lang="en-US" sz="700" dirty="0"/>
          </a:p>
        </p:txBody>
      </p:sp>
      <p:sp>
        <p:nvSpPr>
          <p:cNvPr id="56" name="Text 49"/>
          <p:cNvSpPr/>
          <p:nvPr/>
        </p:nvSpPr>
        <p:spPr>
          <a:xfrm>
            <a:off x="4723567" y="4589264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$5.08M</a:t>
            </a:r>
            <a:endParaRPr lang="en-US" sz="700" dirty="0"/>
          </a:p>
        </p:txBody>
      </p:sp>
      <p:sp>
        <p:nvSpPr>
          <p:cNvPr id="57" name="Text 50"/>
          <p:cNvSpPr/>
          <p:nvPr/>
        </p:nvSpPr>
        <p:spPr>
          <a:xfrm>
            <a:off x="8086130" y="4589264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$5.08M</a:t>
            </a:r>
            <a:endParaRPr lang="en-US" sz="700" dirty="0"/>
          </a:p>
        </p:txBody>
      </p:sp>
      <p:sp>
        <p:nvSpPr>
          <p:cNvPr id="58" name="Text 51"/>
          <p:cNvSpPr/>
          <p:nvPr/>
        </p:nvSpPr>
        <p:spPr>
          <a:xfrm>
            <a:off x="11448693" y="4589264"/>
            <a:ext cx="2497098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Flat</a:t>
            </a:r>
            <a:endParaRPr lang="en-US" sz="700" dirty="0"/>
          </a:p>
        </p:txBody>
      </p:sp>
      <p:sp>
        <p:nvSpPr>
          <p:cNvPr id="59" name="Shape 52"/>
          <p:cNvSpPr/>
          <p:nvPr/>
        </p:nvSpPr>
        <p:spPr>
          <a:xfrm>
            <a:off x="590074" y="4735711"/>
            <a:ext cx="13450253" cy="1810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0" name="Text 53"/>
          <p:cNvSpPr/>
          <p:nvPr/>
        </p:nvSpPr>
        <p:spPr>
          <a:xfrm>
            <a:off x="684728" y="4770358"/>
            <a:ext cx="3842147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OT/manufacturing targeting</a:t>
            </a:r>
            <a:endParaRPr lang="en-US" sz="700" dirty="0"/>
          </a:p>
        </p:txBody>
      </p:sp>
      <p:sp>
        <p:nvSpPr>
          <p:cNvPr id="61" name="Text 54"/>
          <p:cNvSpPr/>
          <p:nvPr/>
        </p:nvSpPr>
        <p:spPr>
          <a:xfrm>
            <a:off x="4723567" y="4770358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Limited</a:t>
            </a:r>
            <a:endParaRPr lang="en-US" sz="700" dirty="0"/>
          </a:p>
        </p:txBody>
      </p:sp>
      <p:sp>
        <p:nvSpPr>
          <p:cNvPr id="62" name="Text 55"/>
          <p:cNvSpPr/>
          <p:nvPr/>
        </p:nvSpPr>
        <p:spPr>
          <a:xfrm>
            <a:off x="8086130" y="4770358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Widespread</a:t>
            </a:r>
            <a:endParaRPr lang="en-US" sz="700" dirty="0"/>
          </a:p>
        </p:txBody>
      </p:sp>
      <p:sp>
        <p:nvSpPr>
          <p:cNvPr id="63" name="Text 56"/>
          <p:cNvSpPr/>
          <p:nvPr/>
        </p:nvSpPr>
        <p:spPr>
          <a:xfrm>
            <a:off x="11448693" y="4770358"/>
            <a:ext cx="2497098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 shift</a:t>
            </a:r>
            <a:endParaRPr lang="en-US" sz="700" dirty="0"/>
          </a:p>
        </p:txBody>
      </p:sp>
      <p:sp>
        <p:nvSpPr>
          <p:cNvPr id="64" name="Shape 57"/>
          <p:cNvSpPr/>
          <p:nvPr/>
        </p:nvSpPr>
        <p:spPr>
          <a:xfrm>
            <a:off x="590074" y="4916805"/>
            <a:ext cx="13450253" cy="1810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5" name="Text 58"/>
          <p:cNvSpPr/>
          <p:nvPr/>
        </p:nvSpPr>
        <p:spPr>
          <a:xfrm>
            <a:off x="684728" y="4951452"/>
            <a:ext cx="3842147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vehicle compromise</a:t>
            </a:r>
            <a:endParaRPr lang="en-US" sz="700" dirty="0"/>
          </a:p>
        </p:txBody>
      </p:sp>
      <p:sp>
        <p:nvSpPr>
          <p:cNvPr id="66" name="Text 59"/>
          <p:cNvSpPr/>
          <p:nvPr/>
        </p:nvSpPr>
        <p:spPr>
          <a:xfrm>
            <a:off x="4723567" y="4951452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None reported</a:t>
            </a:r>
            <a:endParaRPr lang="en-US" sz="700" dirty="0"/>
          </a:p>
        </p:txBody>
      </p:sp>
      <p:sp>
        <p:nvSpPr>
          <p:cNvPr id="67" name="Text 60"/>
          <p:cNvSpPr/>
          <p:nvPr/>
        </p:nvSpPr>
        <p:spPr>
          <a:xfrm>
            <a:off x="8086130" y="4951452"/>
            <a:ext cx="316587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Documented cases</a:t>
            </a:r>
            <a:endParaRPr lang="en-US" sz="700" dirty="0"/>
          </a:p>
        </p:txBody>
      </p:sp>
      <p:sp>
        <p:nvSpPr>
          <p:cNvPr id="68" name="Text 61"/>
          <p:cNvSpPr/>
          <p:nvPr/>
        </p:nvSpPr>
        <p:spPr>
          <a:xfrm>
            <a:off x="11448693" y="4951452"/>
            <a:ext cx="2497098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New vector</a:t>
            </a:r>
            <a:endParaRPr lang="en-US" sz="700" dirty="0"/>
          </a:p>
        </p:txBody>
      </p:sp>
      <p:sp>
        <p:nvSpPr>
          <p:cNvPr id="69" name="Text 62"/>
          <p:cNvSpPr/>
          <p:nvPr/>
        </p:nvSpPr>
        <p:spPr>
          <a:xfrm>
            <a:off x="582454" y="5173147"/>
            <a:ext cx="2797612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Automotive-Specific Vulnerabilities</a:t>
            </a:r>
            <a:endParaRPr lang="en-US" sz="1450" dirty="0"/>
          </a:p>
        </p:txBody>
      </p:sp>
      <p:sp>
        <p:nvSpPr>
          <p:cNvPr id="70" name="Text 63"/>
          <p:cNvSpPr/>
          <p:nvPr/>
        </p:nvSpPr>
        <p:spPr>
          <a:xfrm>
            <a:off x="582454" y="5477351"/>
            <a:ext cx="13465493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Beyond threat categories, the sector exhibits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structural vulnerabilities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amplify risk and complicate mitigation.</a:t>
            </a:r>
            <a:endParaRPr lang="en-US" sz="700" dirty="0"/>
          </a:p>
        </p:txBody>
      </p:sp>
      <p:sp>
        <p:nvSpPr>
          <p:cNvPr id="71" name="Shape 64"/>
          <p:cNvSpPr/>
          <p:nvPr/>
        </p:nvSpPr>
        <p:spPr>
          <a:xfrm>
            <a:off x="582454" y="5781794"/>
            <a:ext cx="6710124" cy="744855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</p:spPr>
      </p:sp>
      <p:sp>
        <p:nvSpPr>
          <p:cNvPr id="72" name="Shape 65"/>
          <p:cNvSpPr/>
          <p:nvPr/>
        </p:nvSpPr>
        <p:spPr>
          <a:xfrm>
            <a:off x="582454" y="5766554"/>
            <a:ext cx="6710124" cy="60960"/>
          </a:xfrm>
          <a:prstGeom prst="roundRect">
            <a:avLst>
              <a:gd name="adj" fmla="val 23291"/>
            </a:avLst>
          </a:prstGeom>
          <a:solidFill>
            <a:srgbClr val="00674F"/>
          </a:solidFill>
          <a:ln/>
        </p:spPr>
      </p:sp>
      <p:sp>
        <p:nvSpPr>
          <p:cNvPr id="73" name="Shape 66"/>
          <p:cNvSpPr/>
          <p:nvPr/>
        </p:nvSpPr>
        <p:spPr>
          <a:xfrm>
            <a:off x="3795593" y="5639872"/>
            <a:ext cx="283845" cy="283845"/>
          </a:xfrm>
          <a:prstGeom prst="roundRect">
            <a:avLst>
              <a:gd name="adj" fmla="val 322148"/>
            </a:avLst>
          </a:prstGeom>
          <a:solidFill>
            <a:srgbClr val="00674F"/>
          </a:solidFill>
          <a:ln/>
        </p:spPr>
      </p:sp>
      <p:sp>
        <p:nvSpPr>
          <p:cNvPr id="74" name="Text 67"/>
          <p:cNvSpPr/>
          <p:nvPr/>
        </p:nvSpPr>
        <p:spPr>
          <a:xfrm>
            <a:off x="3880723" y="5710833"/>
            <a:ext cx="113467" cy="141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850" dirty="0"/>
          </a:p>
        </p:txBody>
      </p:sp>
      <p:sp>
        <p:nvSpPr>
          <p:cNvPr id="75" name="Text 68"/>
          <p:cNvSpPr/>
          <p:nvPr/>
        </p:nvSpPr>
        <p:spPr>
          <a:xfrm>
            <a:off x="692229" y="6018371"/>
            <a:ext cx="1183124" cy="14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SDV Architecture Risks</a:t>
            </a:r>
            <a:endParaRPr lang="en-US" sz="900" dirty="0"/>
          </a:p>
        </p:txBody>
      </p:sp>
      <p:sp>
        <p:nvSpPr>
          <p:cNvPr id="76" name="Text 69"/>
          <p:cNvSpPr/>
          <p:nvPr/>
        </p:nvSpPr>
        <p:spPr>
          <a:xfrm>
            <a:off x="692229" y="6193274"/>
            <a:ext cx="6490573" cy="2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OTA update mechanisms create persistent attack vectors. Inverse relationship between innovation velocity and security maturity at higher abstraction layers.</a:t>
            </a:r>
            <a:endParaRPr lang="en-US" sz="700" dirty="0"/>
          </a:p>
        </p:txBody>
      </p:sp>
      <p:sp>
        <p:nvSpPr>
          <p:cNvPr id="77" name="Shape 70"/>
          <p:cNvSpPr/>
          <p:nvPr/>
        </p:nvSpPr>
        <p:spPr>
          <a:xfrm>
            <a:off x="7337703" y="5781794"/>
            <a:ext cx="6710243" cy="744855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</p:spPr>
      </p:sp>
      <p:sp>
        <p:nvSpPr>
          <p:cNvPr id="78" name="Shape 71"/>
          <p:cNvSpPr/>
          <p:nvPr/>
        </p:nvSpPr>
        <p:spPr>
          <a:xfrm>
            <a:off x="7337703" y="5766554"/>
            <a:ext cx="6710243" cy="60960"/>
          </a:xfrm>
          <a:prstGeom prst="roundRect">
            <a:avLst>
              <a:gd name="adj" fmla="val 23291"/>
            </a:avLst>
          </a:prstGeom>
          <a:solidFill>
            <a:srgbClr val="00674F"/>
          </a:solidFill>
          <a:ln/>
        </p:spPr>
      </p:sp>
      <p:sp>
        <p:nvSpPr>
          <p:cNvPr id="79" name="Shape 72"/>
          <p:cNvSpPr/>
          <p:nvPr/>
        </p:nvSpPr>
        <p:spPr>
          <a:xfrm>
            <a:off x="10550843" y="5639872"/>
            <a:ext cx="283845" cy="283845"/>
          </a:xfrm>
          <a:prstGeom prst="roundRect">
            <a:avLst>
              <a:gd name="adj" fmla="val 322148"/>
            </a:avLst>
          </a:prstGeom>
          <a:solidFill>
            <a:srgbClr val="00674F"/>
          </a:solidFill>
          <a:ln/>
        </p:spPr>
      </p:sp>
      <p:sp>
        <p:nvSpPr>
          <p:cNvPr id="80" name="Text 73"/>
          <p:cNvSpPr/>
          <p:nvPr/>
        </p:nvSpPr>
        <p:spPr>
          <a:xfrm>
            <a:off x="10635972" y="5710833"/>
            <a:ext cx="113467" cy="141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850" dirty="0"/>
          </a:p>
        </p:txBody>
      </p:sp>
      <p:sp>
        <p:nvSpPr>
          <p:cNvPr id="81" name="Text 74"/>
          <p:cNvSpPr/>
          <p:nvPr/>
        </p:nvSpPr>
        <p:spPr>
          <a:xfrm>
            <a:off x="7447478" y="6018371"/>
            <a:ext cx="1210389" cy="14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IT/OT Convergence Gaps</a:t>
            </a:r>
            <a:endParaRPr lang="en-US" sz="900" dirty="0"/>
          </a:p>
        </p:txBody>
      </p:sp>
      <p:sp>
        <p:nvSpPr>
          <p:cNvPr id="82" name="Text 75"/>
          <p:cNvSpPr/>
          <p:nvPr/>
        </p:nvSpPr>
        <p:spPr>
          <a:xfrm>
            <a:off x="7447478" y="6193274"/>
            <a:ext cx="6490692" cy="2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 security incidents automatically become OT incidents. JLR's IT shutdown halted manufacturing — reflecting insufficient segmentation across the industry.</a:t>
            </a:r>
            <a:endParaRPr lang="en-US" sz="700" dirty="0"/>
          </a:p>
        </p:txBody>
      </p:sp>
      <p:sp>
        <p:nvSpPr>
          <p:cNvPr id="83" name="Shape 76"/>
          <p:cNvSpPr/>
          <p:nvPr/>
        </p:nvSpPr>
        <p:spPr>
          <a:xfrm>
            <a:off x="582454" y="6713696"/>
            <a:ext cx="6710124" cy="744855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</p:spPr>
      </p:sp>
      <p:sp>
        <p:nvSpPr>
          <p:cNvPr id="84" name="Shape 77"/>
          <p:cNvSpPr/>
          <p:nvPr/>
        </p:nvSpPr>
        <p:spPr>
          <a:xfrm>
            <a:off x="582454" y="6698456"/>
            <a:ext cx="6710124" cy="60960"/>
          </a:xfrm>
          <a:prstGeom prst="roundRect">
            <a:avLst>
              <a:gd name="adj" fmla="val 23291"/>
            </a:avLst>
          </a:prstGeom>
          <a:solidFill>
            <a:srgbClr val="00674F"/>
          </a:solidFill>
          <a:ln/>
        </p:spPr>
      </p:sp>
      <p:sp>
        <p:nvSpPr>
          <p:cNvPr id="85" name="Shape 78"/>
          <p:cNvSpPr/>
          <p:nvPr/>
        </p:nvSpPr>
        <p:spPr>
          <a:xfrm>
            <a:off x="3795593" y="6571774"/>
            <a:ext cx="283845" cy="283845"/>
          </a:xfrm>
          <a:prstGeom prst="roundRect">
            <a:avLst>
              <a:gd name="adj" fmla="val 322148"/>
            </a:avLst>
          </a:prstGeom>
          <a:solidFill>
            <a:srgbClr val="00674F"/>
          </a:solidFill>
          <a:ln/>
        </p:spPr>
      </p:sp>
      <p:sp>
        <p:nvSpPr>
          <p:cNvPr id="86" name="Text 79"/>
          <p:cNvSpPr/>
          <p:nvPr/>
        </p:nvSpPr>
        <p:spPr>
          <a:xfrm>
            <a:off x="3880723" y="6642735"/>
            <a:ext cx="113467" cy="141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850" dirty="0"/>
          </a:p>
        </p:txBody>
      </p:sp>
      <p:sp>
        <p:nvSpPr>
          <p:cNvPr id="87" name="Text 80"/>
          <p:cNvSpPr/>
          <p:nvPr/>
        </p:nvSpPr>
        <p:spPr>
          <a:xfrm>
            <a:off x="692229" y="6950273"/>
            <a:ext cx="1583888" cy="14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Third-Party &amp; Open-Source Risk</a:t>
            </a:r>
            <a:endParaRPr lang="en-US" sz="900" dirty="0"/>
          </a:p>
        </p:txBody>
      </p:sp>
      <p:sp>
        <p:nvSpPr>
          <p:cNvPr id="88" name="Text 81"/>
          <p:cNvSpPr/>
          <p:nvPr/>
        </p:nvSpPr>
        <p:spPr>
          <a:xfrm>
            <a:off x="692229" y="7125176"/>
            <a:ext cx="6490573" cy="2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Modern vehicles incorporate </a:t>
            </a:r>
            <a:pPr algn="l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100M+ lines of code</a:t>
            </a:r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mostly from third parties. SBOM adoption remains inconsistent; transitive dependencies create hidden exposure.</a:t>
            </a:r>
            <a:endParaRPr lang="en-US" sz="700" dirty="0"/>
          </a:p>
        </p:txBody>
      </p:sp>
      <p:sp>
        <p:nvSpPr>
          <p:cNvPr id="89" name="Shape 82"/>
          <p:cNvSpPr/>
          <p:nvPr/>
        </p:nvSpPr>
        <p:spPr>
          <a:xfrm>
            <a:off x="7337703" y="6713696"/>
            <a:ext cx="6710243" cy="744855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</p:spPr>
      </p:sp>
      <p:sp>
        <p:nvSpPr>
          <p:cNvPr id="90" name="Shape 83"/>
          <p:cNvSpPr/>
          <p:nvPr/>
        </p:nvSpPr>
        <p:spPr>
          <a:xfrm>
            <a:off x="7337703" y="6698456"/>
            <a:ext cx="6710243" cy="60960"/>
          </a:xfrm>
          <a:prstGeom prst="roundRect">
            <a:avLst>
              <a:gd name="adj" fmla="val 23291"/>
            </a:avLst>
          </a:prstGeom>
          <a:solidFill>
            <a:srgbClr val="00674F"/>
          </a:solidFill>
          <a:ln/>
        </p:spPr>
      </p:sp>
      <p:sp>
        <p:nvSpPr>
          <p:cNvPr id="91" name="Shape 84"/>
          <p:cNvSpPr/>
          <p:nvPr/>
        </p:nvSpPr>
        <p:spPr>
          <a:xfrm>
            <a:off x="10550843" y="6571774"/>
            <a:ext cx="283845" cy="283845"/>
          </a:xfrm>
          <a:prstGeom prst="roundRect">
            <a:avLst>
              <a:gd name="adj" fmla="val 322148"/>
            </a:avLst>
          </a:prstGeom>
          <a:solidFill>
            <a:srgbClr val="00674F"/>
          </a:solidFill>
          <a:ln/>
        </p:spPr>
      </p:sp>
      <p:sp>
        <p:nvSpPr>
          <p:cNvPr id="92" name="Text 85"/>
          <p:cNvSpPr/>
          <p:nvPr/>
        </p:nvSpPr>
        <p:spPr>
          <a:xfrm>
            <a:off x="10635972" y="6642735"/>
            <a:ext cx="113467" cy="141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850" dirty="0"/>
          </a:p>
        </p:txBody>
      </p:sp>
      <p:sp>
        <p:nvSpPr>
          <p:cNvPr id="93" name="Text 86"/>
          <p:cNvSpPr/>
          <p:nvPr/>
        </p:nvSpPr>
        <p:spPr>
          <a:xfrm>
            <a:off x="7447478" y="6950273"/>
            <a:ext cx="1429464" cy="14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AI/ML System Vulnerabilities</a:t>
            </a:r>
            <a:endParaRPr lang="en-US" sz="900" dirty="0"/>
          </a:p>
        </p:txBody>
      </p:sp>
      <p:sp>
        <p:nvSpPr>
          <p:cNvPr id="94" name="Text 87"/>
          <p:cNvSpPr/>
          <p:nvPr/>
        </p:nvSpPr>
        <p:spPr>
          <a:xfrm>
            <a:off x="7447478" y="7125176"/>
            <a:ext cx="6490692" cy="1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Adversarial examples, prompt injection, data poisoning, and model extraction introduce novel failure modes in safety-critical autonomous driving systems.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7092" y="876895"/>
            <a:ext cx="479822" cy="135612"/>
          </a:xfrm>
          <a:prstGeom prst="roundRect">
            <a:avLst>
              <a:gd name="adj" fmla="val 7868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600432" y="903565"/>
            <a:ext cx="373142" cy="82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2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71324" y="903565"/>
            <a:ext cx="629007" cy="82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47092" y="1028343"/>
            <a:ext cx="3272314" cy="27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of Cyber Incidents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47092" y="1365766"/>
            <a:ext cx="13536216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automotive ecosystem experienced a dramatic cost escalation in 2024, with total estimated impact reaching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$22.5 billion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76% year-over-year increase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This growth substantially exceeds general cyber risk trends, driven by connected vehicle proliferation, manufacturing digitization, and supply chain complexity.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7092" y="1528405"/>
            <a:ext cx="306800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Industry-Wide Impact Breakdown (2024)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7092" y="1855113"/>
            <a:ext cx="458340" cy="133411"/>
          </a:xfrm>
          <a:prstGeom prst="roundRect">
            <a:avLst>
              <a:gd name="adj" fmla="val 9595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04" y="1888466"/>
            <a:ext cx="66706" cy="667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4944" y="1871789"/>
            <a:ext cx="291576" cy="10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2023 ($B)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1049902" y="1855113"/>
            <a:ext cx="458340" cy="133411"/>
          </a:xfrm>
          <a:prstGeom prst="roundRect">
            <a:avLst>
              <a:gd name="adj" fmla="val 9595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14" y="1888466"/>
            <a:ext cx="66706" cy="667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7754" y="1871789"/>
            <a:ext cx="291576" cy="10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2024 ($B)</a:t>
            </a:r>
            <a:endParaRPr lang="en-US" sz="7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2" y="2044112"/>
            <a:ext cx="4739564" cy="23891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64003" y="1899523"/>
            <a:ext cx="3881676" cy="351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$22.5B</a:t>
            </a:r>
            <a:endParaRPr lang="en-US" sz="2750" dirty="0"/>
          </a:p>
        </p:txBody>
      </p:sp>
      <p:sp>
        <p:nvSpPr>
          <p:cNvPr id="16" name="Text 11"/>
          <p:cNvSpPr/>
          <p:nvPr/>
        </p:nvSpPr>
        <p:spPr>
          <a:xfrm>
            <a:off x="10549176" y="2324814"/>
            <a:ext cx="1111329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Total 2024 Impact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8118872" y="2503408"/>
            <a:ext cx="597193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+76% year-over-year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9164003" y="2730460"/>
            <a:ext cx="3881676" cy="351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89%</a:t>
            </a:r>
            <a:endParaRPr lang="en-US" sz="2750" dirty="0"/>
          </a:p>
        </p:txBody>
      </p:sp>
      <p:sp>
        <p:nvSpPr>
          <p:cNvPr id="19" name="Text 14"/>
          <p:cNvSpPr/>
          <p:nvPr/>
        </p:nvSpPr>
        <p:spPr>
          <a:xfrm>
            <a:off x="10549176" y="3155752"/>
            <a:ext cx="1111329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Leakage Share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8118872" y="3334345"/>
            <a:ext cx="597193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Dominant cost driver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9164003" y="3561398"/>
            <a:ext cx="3881676" cy="351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+111%</a:t>
            </a:r>
            <a:endParaRPr lang="en-US" sz="2750" dirty="0"/>
          </a:p>
        </p:txBody>
      </p:sp>
      <p:sp>
        <p:nvSpPr>
          <p:cNvPr id="22" name="Text 17"/>
          <p:cNvSpPr/>
          <p:nvPr/>
        </p:nvSpPr>
        <p:spPr>
          <a:xfrm>
            <a:off x="10549176" y="3986689"/>
            <a:ext cx="1111329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Downtime Cost Growth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118872" y="4165283"/>
            <a:ext cx="597193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Operational targeting surge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547092" y="4536043"/>
            <a:ext cx="211978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Breakdown by Category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47092" y="4817983"/>
            <a:ext cx="13536216" cy="546259"/>
          </a:xfrm>
          <a:prstGeom prst="roundRect">
            <a:avLst>
              <a:gd name="adj" fmla="val 2442"/>
            </a:avLst>
          </a:prstGeom>
          <a:solidFill>
            <a:srgbClr val="F2EEEE"/>
          </a:solidFill>
          <a:ln/>
        </p:spPr>
      </p:sp>
      <p:sp>
        <p:nvSpPr>
          <p:cNvPr id="26" name="Shape 21"/>
          <p:cNvSpPr/>
          <p:nvPr/>
        </p:nvSpPr>
        <p:spPr>
          <a:xfrm>
            <a:off x="547092" y="4817983"/>
            <a:ext cx="4511993" cy="546259"/>
          </a:xfrm>
          <a:prstGeom prst="roundRect">
            <a:avLst>
              <a:gd name="adj" fmla="val 2442"/>
            </a:avLst>
          </a:prstGeom>
          <a:solidFill>
            <a:srgbClr val="F2EEEE"/>
          </a:solidFill>
          <a:ln/>
        </p:spPr>
      </p:sp>
      <p:sp>
        <p:nvSpPr>
          <p:cNvPr id="27" name="Text 22"/>
          <p:cNvSpPr/>
          <p:nvPr/>
        </p:nvSpPr>
        <p:spPr>
          <a:xfrm>
            <a:off x="635913" y="4906804"/>
            <a:ext cx="1111329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Direct Costs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35913" y="5069443"/>
            <a:ext cx="4334351" cy="205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disruption: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$3.26M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(59%). Detection &amp; response: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$1.44M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(28%). Regulatory fines: ~$0.53M. Ransom payments: $5.08M avg when paid.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5059085" y="4817983"/>
            <a:ext cx="4512112" cy="54625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0" name="Shape 25"/>
          <p:cNvSpPr/>
          <p:nvPr/>
        </p:nvSpPr>
        <p:spPr>
          <a:xfrm>
            <a:off x="5059085" y="4817983"/>
            <a:ext cx="7620" cy="546259"/>
          </a:xfrm>
          <a:prstGeom prst="roundRect">
            <a:avLst>
              <a:gd name="adj" fmla="val 175028"/>
            </a:avLst>
          </a:prstGeom>
          <a:solidFill>
            <a:srgbClr val="D8D4D4"/>
          </a:solidFill>
          <a:ln/>
        </p:spPr>
      </p:sp>
      <p:sp>
        <p:nvSpPr>
          <p:cNvPr id="31" name="Text 26"/>
          <p:cNvSpPr/>
          <p:nvPr/>
        </p:nvSpPr>
        <p:spPr>
          <a:xfrm>
            <a:off x="5147905" y="4906804"/>
            <a:ext cx="1111329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Indirect Costs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147905" y="5069443"/>
            <a:ext cx="4334470" cy="205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Supply chain penalties: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£127M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(JLR). Supplier financing: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£156M + £1.5B guarantee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Customer compensation, insurance premium increases, long-term market share loss.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9571196" y="4817983"/>
            <a:ext cx="4512112" cy="54625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4" name="Shape 29"/>
          <p:cNvSpPr/>
          <p:nvPr/>
        </p:nvSpPr>
        <p:spPr>
          <a:xfrm>
            <a:off x="9571196" y="4817983"/>
            <a:ext cx="7620" cy="546259"/>
          </a:xfrm>
          <a:prstGeom prst="roundRect">
            <a:avLst>
              <a:gd name="adj" fmla="val 175028"/>
            </a:avLst>
          </a:prstGeom>
          <a:solidFill>
            <a:srgbClr val="D8D4D4"/>
          </a:solidFill>
          <a:ln/>
        </p:spPr>
      </p:sp>
      <p:sp>
        <p:nvSpPr>
          <p:cNvPr id="35" name="Text 30"/>
          <p:cNvSpPr/>
          <p:nvPr/>
        </p:nvSpPr>
        <p:spPr>
          <a:xfrm>
            <a:off x="9660017" y="4906804"/>
            <a:ext cx="1300639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Automotive-Specific Drivers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9660017" y="5069443"/>
            <a:ext cx="4334470" cy="205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shutdown: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~£50M/week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Vehicle recall: $500M–$1B per campaign. Engineering security overhead: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10–15%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No substitution for fixed-cost manufacturing.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547092" y="5423892"/>
            <a:ext cx="421993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Average Breach Cost: Automotive vs. All Industries (2025)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547092" y="5705832"/>
            <a:ext cx="13536216" cy="1342073"/>
          </a:xfrm>
          <a:prstGeom prst="roundRect">
            <a:avLst>
              <a:gd name="adj" fmla="val 9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54712" y="5713452"/>
            <a:ext cx="13520976" cy="1658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643771" y="5744885"/>
            <a:ext cx="3604379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/ Region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4433411" y="5744885"/>
            <a:ext cx="278927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Cost</a:t>
            </a:r>
            <a:endParaRPr lang="en-US" sz="700" dirty="0"/>
          </a:p>
        </p:txBody>
      </p:sp>
      <p:sp>
        <p:nvSpPr>
          <p:cNvPr id="42" name="Text 37"/>
          <p:cNvSpPr/>
          <p:nvPr/>
        </p:nvSpPr>
        <p:spPr>
          <a:xfrm>
            <a:off x="7407950" y="5744885"/>
            <a:ext cx="3870960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vs. Global Average</a:t>
            </a:r>
            <a:endParaRPr lang="en-US" sz="700" dirty="0"/>
          </a:p>
        </p:txBody>
      </p:sp>
      <p:sp>
        <p:nvSpPr>
          <p:cNvPr id="43" name="Text 38"/>
          <p:cNvSpPr/>
          <p:nvPr/>
        </p:nvSpPr>
        <p:spPr>
          <a:xfrm>
            <a:off x="11464171" y="5744885"/>
            <a:ext cx="2522696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</a:t>
            </a:r>
            <a:endParaRPr lang="en-US" sz="700" dirty="0"/>
          </a:p>
        </p:txBody>
      </p:sp>
      <p:sp>
        <p:nvSpPr>
          <p:cNvPr id="44" name="Shape 39"/>
          <p:cNvSpPr/>
          <p:nvPr/>
        </p:nvSpPr>
        <p:spPr>
          <a:xfrm>
            <a:off x="554712" y="5879306"/>
            <a:ext cx="13520976" cy="1658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40"/>
          <p:cNvSpPr/>
          <p:nvPr/>
        </p:nvSpPr>
        <p:spPr>
          <a:xfrm>
            <a:off x="643771" y="5910739"/>
            <a:ext cx="3604379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Average</a:t>
            </a:r>
            <a:endParaRPr lang="en-US" sz="700" dirty="0"/>
          </a:p>
        </p:txBody>
      </p:sp>
      <p:sp>
        <p:nvSpPr>
          <p:cNvPr id="46" name="Text 41"/>
          <p:cNvSpPr/>
          <p:nvPr/>
        </p:nvSpPr>
        <p:spPr>
          <a:xfrm>
            <a:off x="4433411" y="5910739"/>
            <a:ext cx="278927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$4.44M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7407950" y="5910739"/>
            <a:ext cx="3870960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Baseline (−9% YoY)</a:t>
            </a:r>
            <a:endParaRPr lang="en-US" sz="700" dirty="0"/>
          </a:p>
        </p:txBody>
      </p:sp>
      <p:sp>
        <p:nvSpPr>
          <p:cNvPr id="48" name="Text 43"/>
          <p:cNvSpPr/>
          <p:nvPr/>
        </p:nvSpPr>
        <p:spPr>
          <a:xfrm>
            <a:off x="11464171" y="5910739"/>
            <a:ext cx="2522696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IBM 2025</a:t>
            </a:r>
            <a:endParaRPr lang="en-US" sz="700" dirty="0"/>
          </a:p>
        </p:txBody>
      </p:sp>
      <p:sp>
        <p:nvSpPr>
          <p:cNvPr id="49" name="Shape 44"/>
          <p:cNvSpPr/>
          <p:nvPr/>
        </p:nvSpPr>
        <p:spPr>
          <a:xfrm>
            <a:off x="554712" y="6045160"/>
            <a:ext cx="13520976" cy="1658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0" name="Text 45"/>
          <p:cNvSpPr/>
          <p:nvPr/>
        </p:nvSpPr>
        <p:spPr>
          <a:xfrm>
            <a:off x="643771" y="6076593"/>
            <a:ext cx="3604379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Manufacturing / Automotive</a:t>
            </a:r>
            <a:endParaRPr lang="en-US" sz="700" dirty="0"/>
          </a:p>
        </p:txBody>
      </p:sp>
      <p:sp>
        <p:nvSpPr>
          <p:cNvPr id="51" name="Text 46"/>
          <p:cNvSpPr/>
          <p:nvPr/>
        </p:nvSpPr>
        <p:spPr>
          <a:xfrm>
            <a:off x="4433411" y="6076593"/>
            <a:ext cx="278927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~$5.00M</a:t>
            </a:r>
            <a:endParaRPr lang="en-US" sz="700" dirty="0"/>
          </a:p>
        </p:txBody>
      </p:sp>
      <p:sp>
        <p:nvSpPr>
          <p:cNvPr id="52" name="Text 47"/>
          <p:cNvSpPr/>
          <p:nvPr/>
        </p:nvSpPr>
        <p:spPr>
          <a:xfrm>
            <a:off x="7407950" y="6076593"/>
            <a:ext cx="3870960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+12.6%</a:t>
            </a:r>
            <a:endParaRPr lang="en-US" sz="700" dirty="0"/>
          </a:p>
        </p:txBody>
      </p:sp>
      <p:sp>
        <p:nvSpPr>
          <p:cNvPr id="53" name="Text 48"/>
          <p:cNvSpPr/>
          <p:nvPr/>
        </p:nvSpPr>
        <p:spPr>
          <a:xfrm>
            <a:off x="11464171" y="6076593"/>
            <a:ext cx="2522696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Industry est.</a:t>
            </a:r>
            <a:endParaRPr lang="en-US" sz="700" dirty="0"/>
          </a:p>
        </p:txBody>
      </p:sp>
      <p:sp>
        <p:nvSpPr>
          <p:cNvPr id="54" name="Shape 49"/>
          <p:cNvSpPr/>
          <p:nvPr/>
        </p:nvSpPr>
        <p:spPr>
          <a:xfrm>
            <a:off x="554712" y="6211014"/>
            <a:ext cx="13520976" cy="1658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5" name="Text 50"/>
          <p:cNvSpPr/>
          <p:nvPr/>
        </p:nvSpPr>
        <p:spPr>
          <a:xfrm>
            <a:off x="643771" y="6242447"/>
            <a:ext cx="3604379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United States</a:t>
            </a:r>
            <a:endParaRPr lang="en-US" sz="700" dirty="0"/>
          </a:p>
        </p:txBody>
      </p:sp>
      <p:sp>
        <p:nvSpPr>
          <p:cNvPr id="56" name="Text 51"/>
          <p:cNvSpPr/>
          <p:nvPr/>
        </p:nvSpPr>
        <p:spPr>
          <a:xfrm>
            <a:off x="4433411" y="6242447"/>
            <a:ext cx="278927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$10.22M</a:t>
            </a:r>
            <a:endParaRPr lang="en-US" sz="700" dirty="0"/>
          </a:p>
        </p:txBody>
      </p:sp>
      <p:sp>
        <p:nvSpPr>
          <p:cNvPr id="57" name="Text 52"/>
          <p:cNvSpPr/>
          <p:nvPr/>
        </p:nvSpPr>
        <p:spPr>
          <a:xfrm>
            <a:off x="7407950" y="6242447"/>
            <a:ext cx="3870960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+130%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11464171" y="6242447"/>
            <a:ext cx="2522696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IBM 2025</a:t>
            </a:r>
            <a:endParaRPr lang="en-US" sz="700" dirty="0"/>
          </a:p>
        </p:txBody>
      </p:sp>
      <p:sp>
        <p:nvSpPr>
          <p:cNvPr id="59" name="Shape 54"/>
          <p:cNvSpPr/>
          <p:nvPr/>
        </p:nvSpPr>
        <p:spPr>
          <a:xfrm>
            <a:off x="554712" y="6376868"/>
            <a:ext cx="13520976" cy="1658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0" name="Text 55"/>
          <p:cNvSpPr/>
          <p:nvPr/>
        </p:nvSpPr>
        <p:spPr>
          <a:xfrm>
            <a:off x="643771" y="6408301"/>
            <a:ext cx="3604379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Healthcare</a:t>
            </a:r>
            <a:endParaRPr lang="en-US" sz="700" dirty="0"/>
          </a:p>
        </p:txBody>
      </p:sp>
      <p:sp>
        <p:nvSpPr>
          <p:cNvPr id="61" name="Text 56"/>
          <p:cNvSpPr/>
          <p:nvPr/>
        </p:nvSpPr>
        <p:spPr>
          <a:xfrm>
            <a:off x="4433411" y="6408301"/>
            <a:ext cx="278927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$7.42M</a:t>
            </a:r>
            <a:endParaRPr lang="en-US" sz="700" dirty="0"/>
          </a:p>
        </p:txBody>
      </p:sp>
      <p:sp>
        <p:nvSpPr>
          <p:cNvPr id="62" name="Text 57"/>
          <p:cNvSpPr/>
          <p:nvPr/>
        </p:nvSpPr>
        <p:spPr>
          <a:xfrm>
            <a:off x="7407950" y="6408301"/>
            <a:ext cx="3870960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+67%</a:t>
            </a:r>
            <a:endParaRPr lang="en-US" sz="700" dirty="0"/>
          </a:p>
        </p:txBody>
      </p:sp>
      <p:sp>
        <p:nvSpPr>
          <p:cNvPr id="63" name="Text 58"/>
          <p:cNvSpPr/>
          <p:nvPr/>
        </p:nvSpPr>
        <p:spPr>
          <a:xfrm>
            <a:off x="11464171" y="6408301"/>
            <a:ext cx="2522696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IBM 2025</a:t>
            </a:r>
            <a:endParaRPr lang="en-US" sz="700" dirty="0"/>
          </a:p>
        </p:txBody>
      </p:sp>
      <p:sp>
        <p:nvSpPr>
          <p:cNvPr id="64" name="Shape 59"/>
          <p:cNvSpPr/>
          <p:nvPr/>
        </p:nvSpPr>
        <p:spPr>
          <a:xfrm>
            <a:off x="554712" y="6542723"/>
            <a:ext cx="13520976" cy="1658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5" name="Text 60"/>
          <p:cNvSpPr/>
          <p:nvPr/>
        </p:nvSpPr>
        <p:spPr>
          <a:xfrm>
            <a:off x="643771" y="6574155"/>
            <a:ext cx="3604379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Services</a:t>
            </a:r>
            <a:endParaRPr lang="en-US" sz="700" dirty="0"/>
          </a:p>
        </p:txBody>
      </p:sp>
      <p:sp>
        <p:nvSpPr>
          <p:cNvPr id="66" name="Text 61"/>
          <p:cNvSpPr/>
          <p:nvPr/>
        </p:nvSpPr>
        <p:spPr>
          <a:xfrm>
            <a:off x="4433411" y="6574155"/>
            <a:ext cx="278927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$6.08M</a:t>
            </a:r>
            <a:endParaRPr lang="en-US" sz="700" dirty="0"/>
          </a:p>
        </p:txBody>
      </p:sp>
      <p:sp>
        <p:nvSpPr>
          <p:cNvPr id="67" name="Text 62"/>
          <p:cNvSpPr/>
          <p:nvPr/>
        </p:nvSpPr>
        <p:spPr>
          <a:xfrm>
            <a:off x="7407950" y="6574155"/>
            <a:ext cx="3870960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+37%</a:t>
            </a:r>
            <a:endParaRPr lang="en-US" sz="700" dirty="0"/>
          </a:p>
        </p:txBody>
      </p:sp>
      <p:sp>
        <p:nvSpPr>
          <p:cNvPr id="68" name="Text 63"/>
          <p:cNvSpPr/>
          <p:nvPr/>
        </p:nvSpPr>
        <p:spPr>
          <a:xfrm>
            <a:off x="11464171" y="6574155"/>
            <a:ext cx="2522696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IBM 2025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554712" y="6708577"/>
            <a:ext cx="13520976" cy="1658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0" name="Text 65"/>
          <p:cNvSpPr/>
          <p:nvPr/>
        </p:nvSpPr>
        <p:spPr>
          <a:xfrm>
            <a:off x="643771" y="6740009"/>
            <a:ext cx="3604379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Germany</a:t>
            </a:r>
            <a:endParaRPr lang="en-US" sz="700" dirty="0"/>
          </a:p>
        </p:txBody>
      </p:sp>
      <p:sp>
        <p:nvSpPr>
          <p:cNvPr id="71" name="Text 66"/>
          <p:cNvSpPr/>
          <p:nvPr/>
        </p:nvSpPr>
        <p:spPr>
          <a:xfrm>
            <a:off x="4433411" y="6740009"/>
            <a:ext cx="278927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$4.03M</a:t>
            </a:r>
            <a:endParaRPr lang="en-US" sz="700" dirty="0"/>
          </a:p>
        </p:txBody>
      </p:sp>
      <p:sp>
        <p:nvSpPr>
          <p:cNvPr id="72" name="Text 67"/>
          <p:cNvSpPr/>
          <p:nvPr/>
        </p:nvSpPr>
        <p:spPr>
          <a:xfrm>
            <a:off x="7407950" y="6740009"/>
            <a:ext cx="3870960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−9%</a:t>
            </a:r>
            <a:endParaRPr lang="en-US" sz="700" dirty="0"/>
          </a:p>
        </p:txBody>
      </p:sp>
      <p:sp>
        <p:nvSpPr>
          <p:cNvPr id="73" name="Text 68"/>
          <p:cNvSpPr/>
          <p:nvPr/>
        </p:nvSpPr>
        <p:spPr>
          <a:xfrm>
            <a:off x="11464171" y="6740009"/>
            <a:ext cx="2522696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IBM 2025</a:t>
            </a:r>
            <a:endParaRPr lang="en-US" sz="700" dirty="0"/>
          </a:p>
        </p:txBody>
      </p:sp>
      <p:sp>
        <p:nvSpPr>
          <p:cNvPr id="74" name="Shape 69"/>
          <p:cNvSpPr/>
          <p:nvPr/>
        </p:nvSpPr>
        <p:spPr>
          <a:xfrm>
            <a:off x="554712" y="6874431"/>
            <a:ext cx="13520976" cy="1658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5" name="Text 70"/>
          <p:cNvSpPr/>
          <p:nvPr/>
        </p:nvSpPr>
        <p:spPr>
          <a:xfrm>
            <a:off x="643771" y="6905863"/>
            <a:ext cx="3604379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United Kingdom</a:t>
            </a:r>
            <a:endParaRPr lang="en-US" sz="700" dirty="0"/>
          </a:p>
        </p:txBody>
      </p:sp>
      <p:sp>
        <p:nvSpPr>
          <p:cNvPr id="76" name="Text 71"/>
          <p:cNvSpPr/>
          <p:nvPr/>
        </p:nvSpPr>
        <p:spPr>
          <a:xfrm>
            <a:off x="4433411" y="6905863"/>
            <a:ext cx="2789277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$4.14M</a:t>
            </a:r>
            <a:endParaRPr lang="en-US" sz="700" dirty="0"/>
          </a:p>
        </p:txBody>
      </p:sp>
      <p:sp>
        <p:nvSpPr>
          <p:cNvPr id="77" name="Text 72"/>
          <p:cNvSpPr/>
          <p:nvPr/>
        </p:nvSpPr>
        <p:spPr>
          <a:xfrm>
            <a:off x="7407950" y="6905863"/>
            <a:ext cx="3870960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−7%</a:t>
            </a:r>
            <a:endParaRPr lang="en-US" sz="700" dirty="0"/>
          </a:p>
        </p:txBody>
      </p:sp>
      <p:sp>
        <p:nvSpPr>
          <p:cNvPr id="78" name="Text 73"/>
          <p:cNvSpPr/>
          <p:nvPr/>
        </p:nvSpPr>
        <p:spPr>
          <a:xfrm>
            <a:off x="11464171" y="6905863"/>
            <a:ext cx="2522696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IBM 2025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547092" y="7092672"/>
            <a:ext cx="13536216" cy="259913"/>
          </a:xfrm>
          <a:prstGeom prst="roundRect">
            <a:avLst>
              <a:gd name="adj" fmla="val 5131"/>
            </a:avLst>
          </a:prstGeom>
          <a:solidFill>
            <a:srgbClr val="B3FFED"/>
          </a:solidFill>
          <a:ln/>
        </p:spPr>
      </p:sp>
      <p:pic>
        <p:nvPicPr>
          <p:cNvPr id="8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13" y="7203638"/>
            <a:ext cx="111085" cy="88821"/>
          </a:xfrm>
          <a:prstGeom prst="rect">
            <a:avLst/>
          </a:prstGeom>
        </p:spPr>
      </p:pic>
      <p:sp>
        <p:nvSpPr>
          <p:cNvPr id="81" name="Text 75"/>
          <p:cNvSpPr/>
          <p:nvPr/>
        </p:nvSpPr>
        <p:spPr>
          <a:xfrm>
            <a:off x="835819" y="7154585"/>
            <a:ext cx="13158668" cy="102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automotive sector's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12.6% premium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reflects structural factors unlikely to diminish: OT integration, IP value, and supply chain complexity. JLR's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£882M ($1.17B)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company-specific losses demonstrates that tail risk can be extreme — far exceeding any average. Composite automotive premium estimated at </a:t>
            </a:r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+75–120% vs. pure IT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257" y="784265"/>
            <a:ext cx="630912" cy="188714"/>
          </a:xfrm>
          <a:prstGeom prst="roundRect">
            <a:avLst>
              <a:gd name="adj" fmla="val 7433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89384" y="819269"/>
            <a:ext cx="490657" cy="11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08509" y="819269"/>
            <a:ext cx="1083469" cy="11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WORST-CASE SCENARIOS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9257" y="1000482"/>
            <a:ext cx="4805363" cy="365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Impact: Worst-Case Scenarios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19257" y="1468874"/>
            <a:ext cx="1319188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While historical data provides essential baselines, evolving threats and increasing connectivity create potential for incidents that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substantially exceed historical experience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Scenario analysis enables risk executives to evaluate tail risk exposure.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9257" y="1720691"/>
            <a:ext cx="3828455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CMC Severity Classification Framework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9257" y="2115979"/>
            <a:ext cx="13191887" cy="1492567"/>
          </a:xfrm>
          <a:prstGeom prst="roundRect">
            <a:avLst>
              <a:gd name="adj" fmla="val 117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877" y="2123599"/>
            <a:ext cx="13176647" cy="2462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43915" y="2172414"/>
            <a:ext cx="134373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Category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8875" y="2172414"/>
            <a:ext cx="21305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Impact Range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2172414"/>
            <a:ext cx="437054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Characteristics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12367" y="2172414"/>
            <a:ext cx="437435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Automotive Relevance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6877" y="2369820"/>
            <a:ext cx="13176647" cy="2462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43915" y="2418636"/>
            <a:ext cx="134373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8875" y="2418636"/>
            <a:ext cx="21305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&lt;£10M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418636"/>
            <a:ext cx="437054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Limited organizational impact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12367" y="2418636"/>
            <a:ext cx="437435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Routine incidents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6877" y="2616041"/>
            <a:ext cx="13176647" cy="2462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3915" y="2664857"/>
            <a:ext cx="134373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28875" y="2664857"/>
            <a:ext cx="21305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£10M–£1B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664857"/>
            <a:ext cx="437054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Significant organizational impact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12367" y="2664857"/>
            <a:ext cx="437435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Major OEM, limited cascade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6877" y="2862263"/>
            <a:ext cx="13176647" cy="2462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43915" y="2911078"/>
            <a:ext cx="134373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28875" y="2911078"/>
            <a:ext cx="21305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£1B–£5B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911078"/>
            <a:ext cx="437054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Severe, lasting economic effects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412367" y="2911078"/>
            <a:ext cx="437435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JLR demonstrated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877" y="3108484"/>
            <a:ext cx="13176647" cy="2462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43915" y="3157299"/>
            <a:ext cx="134373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28875" y="3157299"/>
            <a:ext cx="21305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£5B–£25B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3157299"/>
            <a:ext cx="437054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National economic impact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12367" y="3157299"/>
            <a:ext cx="437435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Plausible near-term; multi-OEM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6877" y="3354705"/>
            <a:ext cx="13176647" cy="2462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43915" y="3403521"/>
            <a:ext cx="134373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28875" y="3403521"/>
            <a:ext cx="21305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&gt;£25B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403521"/>
            <a:ext cx="437054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International systemic impact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412367" y="3403521"/>
            <a:ext cx="437435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National transportation paralysis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9257" y="3711773"/>
            <a:ext cx="3165991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Catastrophic Scenario Modelling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19257" y="4107061"/>
            <a:ext cx="4351377" cy="1236226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4497" y="4122301"/>
            <a:ext cx="4320897" cy="35063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42" name="Text 40"/>
          <p:cNvSpPr/>
          <p:nvPr/>
        </p:nvSpPr>
        <p:spPr>
          <a:xfrm>
            <a:off x="2807256" y="4188023"/>
            <a:ext cx="1752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51297" y="4541758"/>
            <a:ext cx="1613892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Mass Fleet Immobilization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51297" y="4765477"/>
            <a:ext cx="4087297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100,000+ connected vehicles compromised simultaneously.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Estimated impact: $40–115 billion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61% of 2025 incidents had potential to impact thousands to millions of assets. Vehicle-level ransomware demonstrated mid-2025.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139452" y="4107061"/>
            <a:ext cx="4351377" cy="1236226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54692" y="4122301"/>
            <a:ext cx="4320897" cy="35063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47" name="Text 45"/>
          <p:cNvSpPr/>
          <p:nvPr/>
        </p:nvSpPr>
        <p:spPr>
          <a:xfrm>
            <a:off x="7227451" y="4188023"/>
            <a:ext cx="1752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271492" y="4541758"/>
            <a:ext cx="2501979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Infrastructure Integration Failure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271492" y="4765477"/>
            <a:ext cx="4087297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Coordinated EV charging attack exploiting grid integration.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Estimated impact: $5–15 billion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Tens of millions of V2G-capable vehicles by 2030 create sufficient aggregate power for grid destabilization.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559647" y="4107061"/>
            <a:ext cx="4351496" cy="1236226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74887" y="4122301"/>
            <a:ext cx="4321016" cy="35063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2" name="Text 50"/>
          <p:cNvSpPr/>
          <p:nvPr/>
        </p:nvSpPr>
        <p:spPr>
          <a:xfrm>
            <a:off x="11647765" y="4188023"/>
            <a:ext cx="1752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691687" y="4541758"/>
            <a:ext cx="2448758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Autonomous Vehicle Safety Compromise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9691687" y="4765477"/>
            <a:ext cx="40874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Adversarial manipulation of AV perception and decision systems.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Estimated impact: $60–210 billion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Potential for permanent AV deployment halt. Adversarial examples demonstrated across all major perception modalities.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9257" y="5446514"/>
            <a:ext cx="3451384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Long-Term Financial Consequences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35079" y="5841802"/>
            <a:ext cx="6621780" cy="1010722"/>
          </a:xfrm>
          <a:prstGeom prst="roundRect">
            <a:avLst>
              <a:gd name="adj" fmla="val 1735"/>
            </a:avLst>
          </a:prstGeom>
          <a:solidFill>
            <a:srgbClr val="00674F"/>
          </a:solidFill>
          <a:ln/>
        </p:spPr>
      </p:sp>
      <p:sp>
        <p:nvSpPr>
          <p:cNvPr id="57" name="Text 55"/>
          <p:cNvSpPr/>
          <p:nvPr/>
        </p:nvSpPr>
        <p:spPr>
          <a:xfrm>
            <a:off x="751880" y="5910620"/>
            <a:ext cx="2300407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Organizational Impact (JLR Evidence)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751880" y="6161961"/>
            <a:ext cx="6388179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Q2 FY26: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£485M pre-tax loss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£398M profit prior year</a:t>
            </a:r>
            <a:endParaRPr lang="en-US" sz="9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Q3 FY26: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43.3% wholesale volume decline</a:t>
            </a:r>
            <a:endParaRPr lang="en-US" sz="9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YTD FY26: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£444M cumulative loss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£1.6B profit prior year</a:t>
            </a:r>
            <a:endParaRPr lang="en-US" sz="9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financial recovery extends well beyond operational recovery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65338" y="5910620"/>
            <a:ext cx="2110978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Systemic &amp; Macroeconomic Effects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7465338" y="6161961"/>
            <a:ext cx="6453426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GDP impact: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−0.17 percentage points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(Bank of England)</a:t>
            </a:r>
            <a:endParaRPr lang="en-US" sz="9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104,000+ supply chain jobs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at risk</a:t>
            </a:r>
            <a:endParaRPr lang="en-US" sz="9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Government intervention: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£1.5B loan guarantee</a:t>
            </a:r>
            <a:endParaRPr lang="en-US" sz="9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Insurance market: JLR reportedly underinsured; capacity contraction sector-wide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9257" y="6929914"/>
            <a:ext cx="13191887" cy="515422"/>
          </a:xfrm>
          <a:prstGeom prst="roundRect">
            <a:avLst>
              <a:gd name="adj" fmla="val 3402"/>
            </a:avLst>
          </a:prstGeom>
          <a:solidFill>
            <a:srgbClr val="B3FFED"/>
          </a:solidFill>
          <a:ln/>
        </p:spPr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057" y="7080290"/>
            <a:ext cx="146090" cy="116800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1098947" y="7027902"/>
            <a:ext cx="1269539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 &amp; Legal Exposure: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Product liability for cyber-physical incidents is expanding. Class action litigation increasing in volume and settlement size. SEC/FCA disclosure requirements intensifying. Criminal executive liability emerging as a possibility for severe future incidents.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4106" y="955834"/>
            <a:ext cx="406718" cy="111800"/>
          </a:xfrm>
          <a:prstGeom prst="roundRect">
            <a:avLst>
              <a:gd name="adj" fmla="val 8097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509349" y="978456"/>
            <a:ext cx="316230" cy="6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4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908447" y="978456"/>
            <a:ext cx="350044" cy="6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4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450" dirty="0"/>
          </a:p>
        </p:txBody>
      </p:sp>
      <p:sp>
        <p:nvSpPr>
          <p:cNvPr id="5" name="Text 3"/>
          <p:cNvSpPr/>
          <p:nvPr/>
        </p:nvSpPr>
        <p:spPr>
          <a:xfrm>
            <a:off x="464106" y="1079063"/>
            <a:ext cx="33435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Case Study: Jaguar Land Rover Cyberattack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64106" y="1357789"/>
            <a:ext cx="13702189" cy="10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August – November 2025</a:t>
            </a:r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The most financially damaging cyber event in UK history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64106" y="1504831"/>
            <a:ext cx="1508641" cy="188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Attack Profile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4106" y="1762006"/>
            <a:ext cx="6064806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6720364" y="1768435"/>
            <a:ext cx="7453432" cy="1077278"/>
          </a:xfrm>
          <a:prstGeom prst="roundRect">
            <a:avLst>
              <a:gd name="adj" fmla="val 105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7984" y="1776055"/>
            <a:ext cx="7438192" cy="1327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03469" y="1800820"/>
            <a:ext cx="244875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Detection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9410581" y="1800820"/>
            <a:ext cx="468022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Late August 2025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6727984" y="1908810"/>
            <a:ext cx="7438192" cy="1327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03469" y="1933575"/>
            <a:ext cx="244875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Disclosure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9410581" y="1933575"/>
            <a:ext cx="468022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September 2, 2025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6727984" y="2041565"/>
            <a:ext cx="7438192" cy="1327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03469" y="2066330"/>
            <a:ext cx="244875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Vector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9410581" y="2066330"/>
            <a:ext cx="468022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Social engineering → IT network intrusion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6727984" y="2174319"/>
            <a:ext cx="7438192" cy="1327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03469" y="2199084"/>
            <a:ext cx="244875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Actor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9410581" y="2199084"/>
            <a:ext cx="468022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"Scattered Lapsus$ Hunters"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6727984" y="2307074"/>
            <a:ext cx="7438192" cy="1327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03469" y="2331839"/>
            <a:ext cx="244875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Response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9410581" y="2331839"/>
            <a:ext cx="468022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Proactive global IT shutdown (Sep 1)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6727984" y="2439829"/>
            <a:ext cx="7438192" cy="1327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03469" y="2464594"/>
            <a:ext cx="244875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Shutdown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9410581" y="2464594"/>
            <a:ext cx="468022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 weeks complete production halt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6727984" y="2572583"/>
            <a:ext cx="7438192" cy="1327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03469" y="2597348"/>
            <a:ext cx="244875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Recovery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9410581" y="2597348"/>
            <a:ext cx="468022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Mid-November 2025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6727984" y="2705338"/>
            <a:ext cx="7438192" cy="1327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803469" y="2730103"/>
            <a:ext cx="244875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CMC Rating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9410581" y="2730103"/>
            <a:ext cx="468022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Category 3 — highest ever assigned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6720364" y="2877860"/>
            <a:ext cx="7453432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scope: UK (Solihull, Halewood, Wolverhampton), Slovakia, China, India, Brazil all simultaneously affected. Forensic investigation revealed extensive system contamination with multiple restart setbacks in October.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464106" y="3029783"/>
            <a:ext cx="1508641" cy="188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58823" y="3298865"/>
            <a:ext cx="220908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£882M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691997" y="3606760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Total Company Impact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4106" y="3741777"/>
            <a:ext cx="3398639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$1.17B — excludes long-term effects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4493300" y="3298865"/>
            <a:ext cx="220908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£1.9B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5126474" y="3606760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UK Economic Impact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898583" y="3741777"/>
            <a:ext cx="3398639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$2.5B — CMC estimate; 5,000+ businesses affected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7927777" y="3298865"/>
            <a:ext cx="220908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27%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8510230" y="3606760"/>
            <a:ext cx="104429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UK Car Production Decline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333059" y="3741777"/>
            <a:ext cx="3398639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September 2025 — worst since 1952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11362373" y="3298865"/>
            <a:ext cx="220908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£1.5B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903035" y="3606760"/>
            <a:ext cx="112776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Government Loan Guarantee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0767536" y="3741777"/>
            <a:ext cx="3398758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UK Export Finance — supply chain stabilization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577215" y="3889296"/>
            <a:ext cx="13589079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"With a cost of nearly £2 billion, this incident looks to have been by some distance, the single most financially damaging cyber event ever to hit the UK."</a:t>
            </a:r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</a:t>
            </a:r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Ciaran Martin</a:t>
            </a:r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former CEO, National Cyber Security Centre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464106" y="3857149"/>
            <a:ext cx="7620" cy="147518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50" name="Text 48"/>
          <p:cNvSpPr/>
          <p:nvPr/>
        </p:nvSpPr>
        <p:spPr>
          <a:xfrm>
            <a:off x="464106" y="4047649"/>
            <a:ext cx="1813679" cy="188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Impact Timeline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311390" y="4279106"/>
            <a:ext cx="7620" cy="1953578"/>
          </a:xfrm>
          <a:prstGeom prst="roundRect">
            <a:avLst>
              <a:gd name="adj" fmla="val 148495"/>
            </a:avLst>
          </a:prstGeom>
          <a:solidFill>
            <a:srgbClr val="D8D4D4"/>
          </a:solidFill>
          <a:ln/>
        </p:spPr>
      </p:sp>
      <p:sp>
        <p:nvSpPr>
          <p:cNvPr id="52" name="Shape 50"/>
          <p:cNvSpPr/>
          <p:nvPr/>
        </p:nvSpPr>
        <p:spPr>
          <a:xfrm>
            <a:off x="7096601" y="4577001"/>
            <a:ext cx="226219" cy="7620"/>
          </a:xfrm>
          <a:prstGeom prst="roundRect">
            <a:avLst>
              <a:gd name="adj" fmla="val 148495"/>
            </a:avLst>
          </a:prstGeom>
          <a:solidFill>
            <a:srgbClr val="D8D4D4"/>
          </a:solidFill>
          <a:ln/>
        </p:spPr>
      </p:sp>
      <p:sp>
        <p:nvSpPr>
          <p:cNvPr id="53" name="Shape 51"/>
          <p:cNvSpPr/>
          <p:nvPr/>
        </p:nvSpPr>
        <p:spPr>
          <a:xfrm>
            <a:off x="7286923" y="4552533"/>
            <a:ext cx="56555" cy="56555"/>
          </a:xfrm>
          <a:prstGeom prst="roundRect">
            <a:avLst>
              <a:gd name="adj" fmla="val 808417"/>
            </a:avLst>
          </a:prstGeom>
          <a:solidFill>
            <a:srgbClr val="00674F"/>
          </a:solidFill>
          <a:ln/>
        </p:spPr>
      </p:sp>
      <p:sp>
        <p:nvSpPr>
          <p:cNvPr id="54" name="Shape 52"/>
          <p:cNvSpPr/>
          <p:nvPr/>
        </p:nvSpPr>
        <p:spPr>
          <a:xfrm>
            <a:off x="464106" y="4279106"/>
            <a:ext cx="6624876" cy="603409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</p:sp>
      <p:sp>
        <p:nvSpPr>
          <p:cNvPr id="55" name="Text 53"/>
          <p:cNvSpPr/>
          <p:nvPr/>
        </p:nvSpPr>
        <p:spPr>
          <a:xfrm>
            <a:off x="6070759" y="4354473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Late Aug 2025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39472" y="4489490"/>
            <a:ext cx="6474143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Intrusion detected. Anomalous activity and reconnaissance observed.</a:t>
            </a:r>
            <a:endParaRPr lang="en-US" sz="550" dirty="0"/>
          </a:p>
        </p:txBody>
      </p:sp>
      <p:sp>
        <p:nvSpPr>
          <p:cNvPr id="57" name="Shape 55"/>
          <p:cNvSpPr/>
          <p:nvPr/>
        </p:nvSpPr>
        <p:spPr>
          <a:xfrm>
            <a:off x="7307580" y="4935974"/>
            <a:ext cx="226219" cy="7620"/>
          </a:xfrm>
          <a:prstGeom prst="roundRect">
            <a:avLst>
              <a:gd name="adj" fmla="val 148495"/>
            </a:avLst>
          </a:prstGeom>
          <a:solidFill>
            <a:srgbClr val="D8D4D4"/>
          </a:solidFill>
          <a:ln/>
        </p:spPr>
      </p:sp>
      <p:sp>
        <p:nvSpPr>
          <p:cNvPr id="58" name="Shape 56"/>
          <p:cNvSpPr/>
          <p:nvPr/>
        </p:nvSpPr>
        <p:spPr>
          <a:xfrm>
            <a:off x="7286923" y="4911507"/>
            <a:ext cx="56555" cy="56555"/>
          </a:xfrm>
          <a:prstGeom prst="roundRect">
            <a:avLst>
              <a:gd name="adj" fmla="val 808417"/>
            </a:avLst>
          </a:prstGeom>
          <a:solidFill>
            <a:srgbClr val="00674F"/>
          </a:solidFill>
          <a:ln/>
        </p:spPr>
      </p:sp>
      <p:sp>
        <p:nvSpPr>
          <p:cNvPr id="59" name="Shape 57"/>
          <p:cNvSpPr/>
          <p:nvPr/>
        </p:nvSpPr>
        <p:spPr>
          <a:xfrm>
            <a:off x="7541419" y="4638080"/>
            <a:ext cx="6624876" cy="603409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</p:sp>
      <p:sp>
        <p:nvSpPr>
          <p:cNvPr id="60" name="Text 58"/>
          <p:cNvSpPr/>
          <p:nvPr/>
        </p:nvSpPr>
        <p:spPr>
          <a:xfrm>
            <a:off x="7616785" y="4713446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Sep 1, 2025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616785" y="4848463"/>
            <a:ext cx="6474143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IT shutdown.</a:t>
            </a:r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All production halted. ~5,000 vehicles/week lost.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7096601" y="5266253"/>
            <a:ext cx="226219" cy="7620"/>
          </a:xfrm>
          <a:prstGeom prst="roundRect">
            <a:avLst>
              <a:gd name="adj" fmla="val 148495"/>
            </a:avLst>
          </a:prstGeom>
          <a:solidFill>
            <a:srgbClr val="D8D4D4"/>
          </a:solidFill>
          <a:ln/>
        </p:spPr>
      </p:sp>
      <p:sp>
        <p:nvSpPr>
          <p:cNvPr id="63" name="Shape 61"/>
          <p:cNvSpPr/>
          <p:nvPr/>
        </p:nvSpPr>
        <p:spPr>
          <a:xfrm>
            <a:off x="7286923" y="5241786"/>
            <a:ext cx="56555" cy="56555"/>
          </a:xfrm>
          <a:prstGeom prst="roundRect">
            <a:avLst>
              <a:gd name="adj" fmla="val 808417"/>
            </a:avLst>
          </a:prstGeom>
          <a:solidFill>
            <a:srgbClr val="00674F"/>
          </a:solidFill>
          <a:ln/>
        </p:spPr>
      </p:sp>
      <p:sp>
        <p:nvSpPr>
          <p:cNvPr id="64" name="Shape 62"/>
          <p:cNvSpPr/>
          <p:nvPr/>
        </p:nvSpPr>
        <p:spPr>
          <a:xfrm>
            <a:off x="464106" y="4968359"/>
            <a:ext cx="6624876" cy="603409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</p:sp>
      <p:sp>
        <p:nvSpPr>
          <p:cNvPr id="65" name="Text 63"/>
          <p:cNvSpPr/>
          <p:nvPr/>
        </p:nvSpPr>
        <p:spPr>
          <a:xfrm>
            <a:off x="6070759" y="5043726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Sep 28, 2025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39472" y="5178743"/>
            <a:ext cx="6474143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Government announces </a:t>
            </a:r>
            <a:pPr algn="r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£1.5B loan guarantee</a:t>
            </a:r>
            <a:pPr algn="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supplier financing.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7307580" y="5596652"/>
            <a:ext cx="226219" cy="7620"/>
          </a:xfrm>
          <a:prstGeom prst="roundRect">
            <a:avLst>
              <a:gd name="adj" fmla="val 148495"/>
            </a:avLst>
          </a:prstGeom>
          <a:solidFill>
            <a:srgbClr val="D8D4D4"/>
          </a:solidFill>
          <a:ln/>
        </p:spPr>
      </p:sp>
      <p:sp>
        <p:nvSpPr>
          <p:cNvPr id="68" name="Shape 66"/>
          <p:cNvSpPr/>
          <p:nvPr/>
        </p:nvSpPr>
        <p:spPr>
          <a:xfrm>
            <a:off x="7286923" y="5572185"/>
            <a:ext cx="56555" cy="56555"/>
          </a:xfrm>
          <a:prstGeom prst="roundRect">
            <a:avLst>
              <a:gd name="adj" fmla="val 808417"/>
            </a:avLst>
          </a:prstGeom>
          <a:solidFill>
            <a:srgbClr val="00674F"/>
          </a:solidFill>
          <a:ln/>
        </p:spPr>
      </p:sp>
      <p:sp>
        <p:nvSpPr>
          <p:cNvPr id="69" name="Shape 67"/>
          <p:cNvSpPr/>
          <p:nvPr/>
        </p:nvSpPr>
        <p:spPr>
          <a:xfrm>
            <a:off x="7541419" y="5298758"/>
            <a:ext cx="6624876" cy="603409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</p:sp>
      <p:sp>
        <p:nvSpPr>
          <p:cNvPr id="70" name="Text 68"/>
          <p:cNvSpPr/>
          <p:nvPr/>
        </p:nvSpPr>
        <p:spPr>
          <a:xfrm>
            <a:off x="7616785" y="5374124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Oct 1–14, 2025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616785" y="5509141"/>
            <a:ext cx="6474143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Phased restart attempts. </a:t>
            </a:r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Multiple setbacks</a:t>
            </a:r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system contamination.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096601" y="5927050"/>
            <a:ext cx="226219" cy="7620"/>
          </a:xfrm>
          <a:prstGeom prst="roundRect">
            <a:avLst>
              <a:gd name="adj" fmla="val 148495"/>
            </a:avLst>
          </a:prstGeom>
          <a:solidFill>
            <a:srgbClr val="D8D4D4"/>
          </a:solidFill>
          <a:ln/>
        </p:spPr>
      </p:sp>
      <p:sp>
        <p:nvSpPr>
          <p:cNvPr id="73" name="Shape 71"/>
          <p:cNvSpPr/>
          <p:nvPr/>
        </p:nvSpPr>
        <p:spPr>
          <a:xfrm>
            <a:off x="7286923" y="5902583"/>
            <a:ext cx="56555" cy="56555"/>
          </a:xfrm>
          <a:prstGeom prst="roundRect">
            <a:avLst>
              <a:gd name="adj" fmla="val 808417"/>
            </a:avLst>
          </a:prstGeom>
          <a:solidFill>
            <a:srgbClr val="00674F"/>
          </a:solidFill>
          <a:ln/>
        </p:spPr>
      </p:sp>
      <p:sp>
        <p:nvSpPr>
          <p:cNvPr id="74" name="Shape 72"/>
          <p:cNvSpPr/>
          <p:nvPr/>
        </p:nvSpPr>
        <p:spPr>
          <a:xfrm>
            <a:off x="464106" y="5629156"/>
            <a:ext cx="6624876" cy="603409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6070759" y="5704523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Mid-Nov 2025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39472" y="5839539"/>
            <a:ext cx="6474143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 production restored.</a:t>
            </a:r>
            <a:pPr algn="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Total duration: ~11 weeks detection to full restoration.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464106" y="6275665"/>
            <a:ext cx="1508641" cy="188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Lessons Learned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464106" y="6507123"/>
            <a:ext cx="6836807" cy="368975"/>
          </a:xfrm>
          <a:prstGeom prst="roundRect">
            <a:avLst>
              <a:gd name="adj" fmla="val 49067"/>
            </a:avLst>
          </a:prstGeom>
          <a:solidFill>
            <a:srgbClr val="F2EEEE"/>
          </a:solidFill>
          <a:ln/>
        </p:spPr>
      </p:sp>
      <p:sp>
        <p:nvSpPr>
          <p:cNvPr id="79" name="Text 77"/>
          <p:cNvSpPr/>
          <p:nvPr/>
        </p:nvSpPr>
        <p:spPr>
          <a:xfrm>
            <a:off x="539472" y="6582489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IT/OT Convergence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39472" y="6717506"/>
            <a:ext cx="6686074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Manufacturing dependent on IT for core functions — </a:t>
            </a:r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single point of failure with no graceful degradation</a:t>
            </a:r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Binary shutdown decision required.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7329488" y="6507123"/>
            <a:ext cx="6836807" cy="368975"/>
          </a:xfrm>
          <a:prstGeom prst="roundRect">
            <a:avLst>
              <a:gd name="adj" fmla="val 49067"/>
            </a:avLst>
          </a:prstGeom>
          <a:solidFill>
            <a:srgbClr val="F2EEEE"/>
          </a:solidFill>
          <a:ln/>
        </p:spPr>
      </p:sp>
      <p:sp>
        <p:nvSpPr>
          <p:cNvPr id="82" name="Text 80"/>
          <p:cNvSpPr/>
          <p:nvPr/>
        </p:nvSpPr>
        <p:spPr>
          <a:xfrm>
            <a:off x="7404854" y="6582489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Cascade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404854" y="6717506"/>
            <a:ext cx="6686074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5,000+ organizations affected. </a:t>
            </a:r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£156M supplier support + £1.5B government guarantee</a:t>
            </a:r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required to prevent broader economic contagion.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464106" y="6904673"/>
            <a:ext cx="6836807" cy="368975"/>
          </a:xfrm>
          <a:prstGeom prst="roundRect">
            <a:avLst>
              <a:gd name="adj" fmla="val 49067"/>
            </a:avLst>
          </a:prstGeom>
          <a:solidFill>
            <a:srgbClr val="F2EEEE"/>
          </a:solidFill>
          <a:ln/>
        </p:spPr>
      </p:sp>
      <p:sp>
        <p:nvSpPr>
          <p:cNvPr id="85" name="Text 83"/>
          <p:cNvSpPr/>
          <p:nvPr/>
        </p:nvSpPr>
        <p:spPr>
          <a:xfrm>
            <a:off x="539472" y="6980039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Resilience Absence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39472" y="7115056"/>
            <a:ext cx="6686074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manual fallback or parallel production capacity. Extended recovery with no operational alternatives. </a:t>
            </a:r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Insurance coverage gap</a:t>
            </a:r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at time of attack.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7329488" y="6904673"/>
            <a:ext cx="6836807" cy="368975"/>
          </a:xfrm>
          <a:prstGeom prst="roundRect">
            <a:avLst>
              <a:gd name="adj" fmla="val 49067"/>
            </a:avLst>
          </a:prstGeom>
          <a:solidFill>
            <a:srgbClr val="F2EEEE"/>
          </a:solidFill>
          <a:ln/>
        </p:spPr>
      </p:sp>
      <p:sp>
        <p:nvSpPr>
          <p:cNvPr id="88" name="Text 86"/>
          <p:cNvSpPr/>
          <p:nvPr/>
        </p:nvSpPr>
        <p:spPr>
          <a:xfrm>
            <a:off x="7404854" y="6980039"/>
            <a:ext cx="9428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Imperatives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404854" y="7115056"/>
            <a:ext cx="6686074" cy="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Board-level cyber governance. Zero-trust OT segmentation. Pre-negotiated government intervention frameworks. Structured supplier notification protocols.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9371" y="714137"/>
            <a:ext cx="595551" cy="176093"/>
          </a:xfrm>
          <a:prstGeom prst="roundRect">
            <a:avLst>
              <a:gd name="adj" fmla="val 7524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45569" y="747236"/>
            <a:ext cx="463153" cy="109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5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30047" y="747236"/>
            <a:ext cx="1442323" cy="109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&amp; RECOMMENDATIONS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9371" y="914757"/>
            <a:ext cx="275998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Mitigation Strategies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679371" y="1351717"/>
            <a:ext cx="13271659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Evidence-based cybersecurity approaches for the automotive sector, with implementation metrics benchmarked against demonstrated incident costs — including the JLR reference case of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£50M/week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production downtime.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79371" y="1581150"/>
            <a:ext cx="3174921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Metrics Summary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9371" y="1949172"/>
            <a:ext cx="13271659" cy="1372553"/>
          </a:xfrm>
          <a:prstGeom prst="roundRect">
            <a:avLst>
              <a:gd name="adj" fmla="val 120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6991" y="1956792"/>
            <a:ext cx="13256419" cy="2262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97600" y="2001203"/>
            <a:ext cx="242673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52693" y="2001203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Effectiveness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38825" y="2001203"/>
            <a:ext cx="242292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Implementation Cost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90109" y="2001203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ROI Timeline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876240" y="2001203"/>
            <a:ext cx="136231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466915" y="2001203"/>
            <a:ext cx="136612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6991" y="2183011"/>
            <a:ext cx="13256419" cy="2262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97600" y="2227421"/>
            <a:ext cx="242673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IT/OT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52693" y="2227421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60% risk reduction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38825" y="2227421"/>
            <a:ext cx="242292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$2–5M (mid-size OEM)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90109" y="2227421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 months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876240" y="2227421"/>
            <a:ext cx="136231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3:1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466915" y="2227421"/>
            <a:ext cx="136612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6991" y="2409230"/>
            <a:ext cx="13256419" cy="2262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97600" y="2453640"/>
            <a:ext cx="242673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Threat Detection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52693" y="2453640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25% incident reduction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38825" y="2453640"/>
            <a:ext cx="242292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$1–3M + $500K/yr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90109" y="2453640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18 months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876240" y="2453640"/>
            <a:ext cx="136231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4:1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2466915" y="2453640"/>
            <a:ext cx="136612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6991" y="2635448"/>
            <a:ext cx="13256419" cy="2262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97600" y="2679859"/>
            <a:ext cx="242673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Supply Chain Security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52693" y="2679859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40% supply chain risk reduction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38825" y="2679859"/>
            <a:ext cx="242292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$500K–1.5M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490109" y="2679859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 months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876240" y="2679859"/>
            <a:ext cx="136231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5:1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466915" y="2679859"/>
            <a:ext cx="136612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6991" y="2861667"/>
            <a:ext cx="13256419" cy="2262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97600" y="2906078"/>
            <a:ext cx="242673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SSDLC / ISO 21434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52693" y="2906078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50% vulnerability reduction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38825" y="2906078"/>
            <a:ext cx="242292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10–15% dev overhead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490109" y="2906078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 months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876240" y="2906078"/>
            <a:ext cx="136231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6:1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2466915" y="2906078"/>
            <a:ext cx="136612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6991" y="3087886"/>
            <a:ext cx="13256419" cy="2262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97600" y="3132296"/>
            <a:ext cx="242673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 Resilience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452693" y="3132296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70% downtime reduction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38825" y="3132296"/>
            <a:ext cx="2422922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$5–15M (major facilities)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490109" y="3132296"/>
            <a:ext cx="2157770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 months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876240" y="3132296"/>
            <a:ext cx="136231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2:1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2466915" y="3132296"/>
            <a:ext cx="1366123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79371" y="3390781"/>
            <a:ext cx="13271659" cy="13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Organizations with extensive AI-driven security achieved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80-day reduction in breach lifecycle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$1.9M average cost savings per incident (34% reduction)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compared to organizations without automation.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9371" y="3620214"/>
            <a:ext cx="3767138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Automotive-Specific Security Framework</a:t>
            </a:r>
            <a:endParaRPr lang="en-US" sz="17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71" y="3988237"/>
            <a:ext cx="6635829" cy="441603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789742" y="4491157"/>
            <a:ext cx="1379934" cy="17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Foundation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789742" y="4700349"/>
            <a:ext cx="6415088" cy="274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 R155/R156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mandatory for new vehicles.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ISO/SAE 21434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becoming procurement prerequisite.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EU Cyber Resilience Act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phased 2024–2027.</a:t>
            </a:r>
            <a:endParaRPr lang="en-US" sz="850" dirty="0"/>
          </a:p>
        </p:txBody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988237"/>
            <a:ext cx="6635829" cy="441603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7425571" y="4491157"/>
            <a:ext cx="1429464" cy="17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Organizational Structure</a:t>
            </a:r>
            <a:endParaRPr lang="en-US" sz="1050" dirty="0"/>
          </a:p>
        </p:txBody>
      </p:sp>
      <p:sp>
        <p:nvSpPr>
          <p:cNvPr id="58" name="Text 54"/>
          <p:cNvSpPr/>
          <p:nvPr/>
        </p:nvSpPr>
        <p:spPr>
          <a:xfrm>
            <a:off x="7425571" y="4700349"/>
            <a:ext cx="6415088" cy="274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CISO reporting to CEO. Vehicle Cybersecurity Director under CTO. Manufacturing Security Manager. Supply Chain Security Coordinator.</a:t>
            </a:r>
            <a:endParaRPr lang="en-US" sz="850" dirty="0"/>
          </a:p>
        </p:txBody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71" y="5085517"/>
            <a:ext cx="6635829" cy="441603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789742" y="5588437"/>
            <a:ext cx="1379934" cy="17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Technical Controls</a:t>
            </a:r>
            <a:endParaRPr lang="en-US" sz="1050" dirty="0"/>
          </a:p>
        </p:txBody>
      </p:sp>
      <p:sp>
        <p:nvSpPr>
          <p:cNvPr id="61" name="Text 56"/>
          <p:cNvSpPr/>
          <p:nvPr/>
        </p:nvSpPr>
        <p:spPr>
          <a:xfrm>
            <a:off x="789742" y="5797629"/>
            <a:ext cx="6415088" cy="274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Vehicle: secure boot, HSMs, signed firmware, IDS. Manufacturing: IT/OT micro-segmentation, air-gapped backups. Enterprise: zero trust, EDR/XDR, SOAR.</a:t>
            </a:r>
            <a:endParaRPr lang="en-US" sz="850" dirty="0"/>
          </a:p>
        </p:txBody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085517"/>
            <a:ext cx="6635829" cy="441603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7425571" y="5588437"/>
            <a:ext cx="1379934" cy="17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Processes</a:t>
            </a:r>
            <a:endParaRPr lang="en-US" sz="1050" dirty="0"/>
          </a:p>
        </p:txBody>
      </p:sp>
      <p:sp>
        <p:nvSpPr>
          <p:cNvPr id="64" name="Text 58"/>
          <p:cNvSpPr/>
          <p:nvPr/>
        </p:nvSpPr>
        <p:spPr>
          <a:xfrm>
            <a:off x="7425571" y="5797629"/>
            <a:ext cx="6415088" cy="274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OT-specific incident playbooks. Annual business continuity testing. Continuous pen testing &amp; bug bounty. Auto-ISAC membership &amp; threat intelligence.</a:t>
            </a:r>
            <a:endParaRPr lang="en-US" sz="850" dirty="0"/>
          </a:p>
        </p:txBody>
      </p:sp>
      <p:sp>
        <p:nvSpPr>
          <p:cNvPr id="65" name="Text 59"/>
          <p:cNvSpPr/>
          <p:nvPr/>
        </p:nvSpPr>
        <p:spPr>
          <a:xfrm>
            <a:off x="679371" y="6274832"/>
            <a:ext cx="4478060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Bank-Specific Risk Mitigation Recommendations</a:t>
            </a:r>
            <a:endParaRPr lang="en-US" sz="1700" dirty="0"/>
          </a:p>
        </p:txBody>
      </p:sp>
      <p:sp>
        <p:nvSpPr>
          <p:cNvPr id="66" name="Shape 60"/>
          <p:cNvSpPr/>
          <p:nvPr/>
        </p:nvSpPr>
        <p:spPr>
          <a:xfrm>
            <a:off x="679371" y="6642854"/>
            <a:ext cx="4382929" cy="872609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664131" y="6642854"/>
            <a:ext cx="60960" cy="872609"/>
          </a:xfrm>
          <a:prstGeom prst="roundRect">
            <a:avLst>
              <a:gd name="adj" fmla="val 27166"/>
            </a:avLst>
          </a:prstGeom>
          <a:solidFill>
            <a:srgbClr val="00674F"/>
          </a:solidFill>
          <a:ln/>
        </p:spPr>
      </p:sp>
      <p:sp>
        <p:nvSpPr>
          <p:cNvPr id="68" name="Text 62"/>
          <p:cNvSpPr/>
          <p:nvPr/>
        </p:nvSpPr>
        <p:spPr>
          <a:xfrm>
            <a:off x="850702" y="6768465"/>
            <a:ext cx="1379934" cy="17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Client Due Diligence</a:t>
            </a:r>
            <a:endParaRPr lang="en-US" sz="1050" dirty="0"/>
          </a:p>
        </p:txBody>
      </p:sp>
      <p:sp>
        <p:nvSpPr>
          <p:cNvPr id="69" name="Text 63"/>
          <p:cNvSpPr/>
          <p:nvPr/>
        </p:nvSpPr>
        <p:spPr>
          <a:xfrm>
            <a:off x="850702" y="6977658"/>
            <a:ext cx="4085987" cy="412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 ISO/SAE 21434 compliance, IT/OT segmentation maturity, cyber insurance adequacy, and supply chain risk management.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 finding from JLR: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 active cyber insurance policy at time of attack.</a:t>
            </a:r>
            <a:endParaRPr lang="en-US" sz="850" dirty="0"/>
          </a:p>
        </p:txBody>
      </p:sp>
      <p:sp>
        <p:nvSpPr>
          <p:cNvPr id="70" name="Shape 64"/>
          <p:cNvSpPr/>
          <p:nvPr/>
        </p:nvSpPr>
        <p:spPr>
          <a:xfrm>
            <a:off x="5123617" y="6642854"/>
            <a:ext cx="4383048" cy="872609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5108377" y="6642854"/>
            <a:ext cx="60960" cy="872609"/>
          </a:xfrm>
          <a:prstGeom prst="roundRect">
            <a:avLst>
              <a:gd name="adj" fmla="val 27166"/>
            </a:avLst>
          </a:prstGeom>
          <a:solidFill>
            <a:srgbClr val="00674F"/>
          </a:solidFill>
          <a:ln/>
        </p:spPr>
      </p:sp>
      <p:sp>
        <p:nvSpPr>
          <p:cNvPr id="72" name="Text 66"/>
          <p:cNvSpPr/>
          <p:nvPr/>
        </p:nvSpPr>
        <p:spPr>
          <a:xfrm>
            <a:off x="5294948" y="6768465"/>
            <a:ext cx="1379934" cy="17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Loan &amp; Credit Risk</a:t>
            </a:r>
            <a:endParaRPr lang="en-US" sz="1050" dirty="0"/>
          </a:p>
        </p:txBody>
      </p:sp>
      <p:sp>
        <p:nvSpPr>
          <p:cNvPr id="73" name="Text 67"/>
          <p:cNvSpPr/>
          <p:nvPr/>
        </p:nvSpPr>
        <p:spPr>
          <a:xfrm>
            <a:off x="5294948" y="6977658"/>
            <a:ext cx="4086106" cy="412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 risk covenants with incident reporting requirements. Supply chain financing concentration limits.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Stress testing for Category 3+ scenarios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cascade multiplier effects and extended recovery timelines.</a:t>
            </a:r>
            <a:endParaRPr lang="en-US" sz="850" dirty="0"/>
          </a:p>
        </p:txBody>
      </p:sp>
      <p:sp>
        <p:nvSpPr>
          <p:cNvPr id="74" name="Shape 68"/>
          <p:cNvSpPr/>
          <p:nvPr/>
        </p:nvSpPr>
        <p:spPr>
          <a:xfrm>
            <a:off x="9567982" y="6642854"/>
            <a:ext cx="4383048" cy="872609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9552742" y="6642854"/>
            <a:ext cx="60960" cy="872609"/>
          </a:xfrm>
          <a:prstGeom prst="roundRect">
            <a:avLst>
              <a:gd name="adj" fmla="val 27166"/>
            </a:avLst>
          </a:prstGeom>
          <a:solidFill>
            <a:srgbClr val="00674F"/>
          </a:solidFill>
          <a:ln/>
        </p:spPr>
      </p:sp>
      <p:sp>
        <p:nvSpPr>
          <p:cNvPr id="76" name="Text 70"/>
          <p:cNvSpPr/>
          <p:nvPr/>
        </p:nvSpPr>
        <p:spPr>
          <a:xfrm>
            <a:off x="9739313" y="6768465"/>
            <a:ext cx="1379934" cy="17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Investment &amp; Portfolio</a:t>
            </a:r>
            <a:endParaRPr lang="en-US" sz="1050" dirty="0"/>
          </a:p>
        </p:txBody>
      </p:sp>
      <p:sp>
        <p:nvSpPr>
          <p:cNvPr id="77" name="Text 71"/>
          <p:cNvSpPr/>
          <p:nvPr/>
        </p:nvSpPr>
        <p:spPr>
          <a:xfrm>
            <a:off x="9739313" y="6977658"/>
            <a:ext cx="4086106" cy="412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Cybersecurity as ESG governance factor. Valuation adjustments for cyber risk in DCF models.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Active engagement on board-level cyber accountability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Supply chain tier diversification in portfolio construction.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73286"/>
            <a:ext cx="1363385" cy="213598"/>
          </a:xfrm>
          <a:prstGeom prst="roundRect">
            <a:avLst>
              <a:gd name="adj" fmla="val 7248"/>
            </a:avLst>
          </a:prstGeom>
          <a:solidFill>
            <a:srgbClr val="CCFF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1180" y="628531"/>
            <a:ext cx="103108" cy="103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843" y="611981"/>
            <a:ext cx="1053941" cy="13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93790" y="820341"/>
            <a:ext cx="4590455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Takeaways for Risk Executives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93790" y="1349216"/>
            <a:ext cx="130428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automotive sector's cybersecurity risk profile has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fundamentally transformed in 2025–2026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with four critical developments demanding immediate attention from EU-based financial institutions.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3790" y="1613773"/>
            <a:ext cx="290155" cy="290155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42070" y="1637883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67765" y="1658064"/>
            <a:ext cx="2129790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Ransomware with OT Targeting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67765" y="1909763"/>
            <a:ext cx="6095048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44% of incidents.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Direct vehicle compromise now demonstrated. Attackers optimized for disruption leverage — JLR lost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£50M/week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production.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67587" y="1613773"/>
            <a:ext cx="290155" cy="290155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7415867" y="1637883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41563" y="1658064"/>
            <a:ext cx="2476619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API-Centric Attack Surface Explosion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41563" y="1909763"/>
            <a:ext cx="6095048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67% of incidents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involve telematics/cloud. AI integration expands vulnerability exponentially. Backend infrastructure now the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"primary weak points."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3790" y="2417921"/>
            <a:ext cx="290155" cy="290155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842070" y="2442031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67765" y="2462213"/>
            <a:ext cx="2469118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as Systemic Risk Vector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67765" y="2713911"/>
            <a:ext cx="6095048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JLR's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£1.9B national economic impact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a single-company incident. Cascade through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5,000+ organizations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Government intervention now precedent.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67587" y="2417921"/>
            <a:ext cx="290155" cy="290155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7415867" y="2442031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741563" y="2462213"/>
            <a:ext cx="2102287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Cyber Insurance Market Failure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41563" y="2713911"/>
            <a:ext cx="6095048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JLR's coverage gap illustrates sector-specific capacity constraints.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transfer increasingly inadequate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operational technology exposure.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337" y="3148727"/>
            <a:ext cx="8477726" cy="424303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114515" y="4972764"/>
            <a:ext cx="1592195" cy="476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Low Regulatory Scrutiny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64277" y="7030496"/>
            <a:ext cx="1905552" cy="238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Low Risk Exposure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9915220" y="4972764"/>
            <a:ext cx="1592196" cy="476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High Regulatory Scrutiny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359512" y="3322873"/>
            <a:ext cx="1905553" cy="238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High Risk Exposure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451993" y="6042255"/>
            <a:ext cx="1634541" cy="47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Stress testing Category 3+ scenarios with supply chain multipliers</a:t>
            </a:r>
            <a:endParaRPr lang="en-US" sz="12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0939" y="5574336"/>
            <a:ext cx="237136" cy="23713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696311" y="6050725"/>
            <a:ext cx="1634540" cy="47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Board-level cyber accountability as an ESG governance priority</a:t>
            </a:r>
            <a:endParaRPr lang="en-US" sz="12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5013" y="5579365"/>
            <a:ext cx="237135" cy="23713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696311" y="4483937"/>
            <a:ext cx="1634540" cy="47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Sectoral concentration limits to curb systemic risk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95013" y="4012577"/>
            <a:ext cx="237135" cy="23713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01178" y="4326729"/>
            <a:ext cx="1634541" cy="78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cybersecurity due diligence (IT/OT segmentation, insurance, supply chain)</a:t>
            </a:r>
            <a:endParaRPr lang="en-US" sz="12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9881" y="4012577"/>
            <a:ext cx="237136" cy="23713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93790" y="7486055"/>
            <a:ext cx="130428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Investment priority: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Zero-trust IT/OT segmentation and supply chain security programs demonstrate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3–5:1 ROI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payback periods under 24 months when benchmarked against demonstrated incident costs.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2026-02-26T16:40:04Z</dcterms:created>
  <dcterms:modified xsi:type="dcterms:W3CDTF">2026-02-26T16:40:04Z</dcterms:modified>
</cp:coreProperties>
</file>