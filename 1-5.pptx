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26212800" cy="14630400"/>
  <p:notesSz cx="6858000" cy="9144000"/>
  <p:embeddedFontLst>
    <p:embeddedFont>
      <p:font typeface="Arial MT Pro" charset="1" panose="020B0502020202020204"/>
      <p:regular r:id="rId11"/>
    </p:embeddedFont>
    <p:embeddedFont>
      <p:font typeface="Arial MT Pro Bold" charset="1" panose="020B0802020202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12800" cy="14624558"/>
          </a:xfrm>
          <a:custGeom>
            <a:avLst/>
            <a:gdLst/>
            <a:ahLst/>
            <a:cxnLst/>
            <a:rect r="r" b="b" t="t" l="l"/>
            <a:pathLst>
              <a:path h="14624558" w="26212800">
                <a:moveTo>
                  <a:pt x="0" y="0"/>
                </a:moveTo>
                <a:lnTo>
                  <a:pt x="26212800" y="0"/>
                </a:lnTo>
                <a:lnTo>
                  <a:pt x="26212800" y="14624558"/>
                </a:lnTo>
                <a:lnTo>
                  <a:pt x="0" y="1462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0328" y="449290"/>
            <a:ext cx="21695122" cy="90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5"/>
              </a:lnSpc>
            </a:pPr>
            <a:r>
              <a:rPr lang="en-US" sz="4775" spc="33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Executive Risk Summary: From Opportunistic Attacks to Industrialized Extortion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05081" y="1668107"/>
            <a:ext cx="11398597" cy="63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8"/>
              </a:lnSpc>
            </a:pPr>
            <a:r>
              <a:rPr lang="en-US" b="true" sz="3270">
                <a:solidFill>
                  <a:srgbClr val="2E4D4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PRESENT: Industrialized &amp; Confrontational Extortion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52187" y="2706628"/>
            <a:ext cx="7720310" cy="231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b="true" sz="3167" spc="-12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Cybercrime-as-a-Service Ecosystem</a:t>
            </a:r>
          </a:p>
          <a:p>
            <a:pPr algn="l">
              <a:lnSpc>
                <a:spcPts val="2803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The threat is now a professional industry with</a:t>
            </a:r>
          </a:p>
          <a:p>
            <a:pPr algn="l">
              <a:lnSpc>
                <a:spcPts val="2803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specialized roles like Initial Access Brokers,</a:t>
            </a:r>
          </a:p>
          <a:p>
            <a:pPr algn="l">
              <a:lnSpc>
                <a:spcPts val="2803"/>
              </a:lnSpc>
            </a:pPr>
            <a:r>
              <a:rPr lang="en-US" sz="2300" spc="41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Ransomware-as-a-Service (RaaS) platforms,</a:t>
            </a:r>
          </a:p>
          <a:p>
            <a:pPr algn="l">
              <a:lnSpc>
                <a:spcPts val="2803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and shared "smart router" infrastructure that</a:t>
            </a:r>
          </a:p>
          <a:p>
            <a:pPr algn="l">
              <a:lnSpc>
                <a:spcPts val="2803"/>
              </a:lnSpc>
            </a:pPr>
            <a:r>
              <a:rPr lang="en-US" sz="2300" spc="9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directs attacks.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53628" y="5952049"/>
            <a:ext cx="9170938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b="true" sz="3091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New Vector: Automated Supply Chain Poisoning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Modern worm-like malware now automatically compromises developer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accounts and injects malicious code into software packages, spreading</a:t>
            </a:r>
          </a:p>
          <a:p>
            <a:pPr algn="l">
              <a:lnSpc>
                <a:spcPts val="2760"/>
              </a:lnSpc>
            </a:pPr>
            <a:r>
              <a:rPr lang="en-US" sz="2300" spc="25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exponentially without direct human intervention.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34718" y="8306061"/>
            <a:ext cx="6803231" cy="37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9"/>
              </a:lnSpc>
            </a:pPr>
            <a:r>
              <a:rPr lang="en-US" sz="6194" spc="204">
                <a:solidFill>
                  <a:srgbClr val="17624B"/>
                </a:solidFill>
                <a:latin typeface="Arial MT Pro"/>
                <a:ea typeface="Arial MT Pro"/>
                <a:cs typeface="Arial MT Pro"/>
                <a:sym typeface="Arial MT Pro"/>
              </a:rPr>
              <a:t>25,000+ Malicious</a:t>
            </a:r>
          </a:p>
          <a:p>
            <a:pPr algn="l">
              <a:lnSpc>
                <a:spcPts val="5642"/>
              </a:lnSpc>
            </a:pPr>
            <a:r>
              <a:rPr lang="en-US" sz="4408" spc="136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Repositories Exposed</a:t>
            </a:r>
          </a:p>
          <a:p>
            <a:pPr algn="l">
              <a:lnSpc>
                <a:spcPts val="2944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Demonstrating massive industrial scale, a</a:t>
            </a:r>
          </a:p>
          <a:p>
            <a:pPr algn="l">
              <a:lnSpc>
                <a:spcPts val="2944"/>
              </a:lnSpc>
            </a:pPr>
            <a:r>
              <a:rPr lang="en-US" sz="2300" spc="13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single automated supply chain campsign</a:t>
            </a:r>
          </a:p>
          <a:p>
            <a:pPr algn="l">
              <a:lnSpc>
                <a:spcPts val="2944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(Sha1-Hulud 2.0) led to the creation of over</a:t>
            </a:r>
          </a:p>
          <a:p>
            <a:pPr algn="l">
              <a:lnSpc>
                <a:spcPts val="2944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25,000 malicious code repositories</a:t>
            </a:r>
          </a:p>
          <a:p>
            <a:pPr algn="l">
              <a:lnSpc>
                <a:spcPts val="2944"/>
              </a:lnSpc>
            </a:pPr>
            <a:r>
              <a:rPr lang="en-US" sz="2300" spc="36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across hundreds of user accounts.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33749" y="8527229"/>
            <a:ext cx="6412409" cy="189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b="true" sz="3028" spc="36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New Goal: Multi-Faceted Extortion</a:t>
            </a:r>
          </a:p>
          <a:p>
            <a:pPr algn="l">
              <a:lnSpc>
                <a:spcPts val="2750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The model has shifted from pure encryption to</a:t>
            </a:r>
          </a:p>
          <a:p>
            <a:pPr algn="l">
              <a:lnSpc>
                <a:spcPts val="2750"/>
              </a:lnSpc>
            </a:pPr>
            <a:r>
              <a:rPr lang="en-US" sz="2300" spc="-4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"double extortion," where attackers first steal</a:t>
            </a:r>
          </a:p>
          <a:p>
            <a:pPr algn="l">
              <a:lnSpc>
                <a:spcPts val="2750"/>
              </a:lnSpc>
            </a:pPr>
            <a:r>
              <a:rPr lang="en-US" sz="2300" spc="13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sensitive data and then threaten public leaks</a:t>
            </a:r>
          </a:p>
          <a:p>
            <a:pPr algn="l">
              <a:lnSpc>
                <a:spcPts val="2750"/>
              </a:lnSpc>
            </a:pPr>
            <a:r>
              <a:rPr lang="en-US" sz="2300" spc="2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to maximize pressure on the victim.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4914" y="11151947"/>
            <a:ext cx="3455640" cy="280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b="true" sz="2983" spc="59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Primary Goal:</a:t>
            </a:r>
          </a:p>
          <a:p>
            <a:pPr algn="l">
              <a:lnSpc>
                <a:spcPts val="3738"/>
              </a:lnSpc>
            </a:pPr>
            <a:r>
              <a:rPr lang="en-US" b="true" sz="2983" spc="59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Simple Encryption</a:t>
            </a:r>
          </a:p>
          <a:p>
            <a:pPr algn="l">
              <a:lnSpc>
                <a:spcPts val="2881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The main objective</a:t>
            </a:r>
          </a:p>
          <a:p>
            <a:pPr algn="l">
              <a:lnSpc>
                <a:spcPts val="2881"/>
              </a:lnSpc>
            </a:pPr>
            <a:r>
              <a:rPr lang="en-US" sz="2300" spc="-2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was often to encrypt</a:t>
            </a:r>
          </a:p>
          <a:p>
            <a:pPr algn="l">
              <a:lnSpc>
                <a:spcPts val="2881"/>
              </a:lnSpc>
            </a:pPr>
            <a:r>
              <a:rPr lang="en-US" sz="2300" spc="-2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systems and demand a</a:t>
            </a:r>
          </a:p>
          <a:p>
            <a:pPr algn="l">
              <a:lnSpc>
                <a:spcPts val="2881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ransom solely for the</a:t>
            </a:r>
          </a:p>
          <a:p>
            <a:pPr algn="l">
              <a:lnSpc>
                <a:spcPts val="2881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decryption key.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9821" y="6120125"/>
            <a:ext cx="3334494" cy="398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b="true" sz="2952" spc="103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Dominant Vector:</a:t>
            </a:r>
          </a:p>
          <a:p>
            <a:pPr algn="l">
              <a:lnSpc>
                <a:spcPts val="3699"/>
              </a:lnSpc>
            </a:pPr>
            <a:r>
              <a:rPr lang="en-US" b="true" sz="2952" spc="103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Broad-Spectrum</a:t>
            </a:r>
          </a:p>
          <a:p>
            <a:pPr algn="l">
              <a:lnSpc>
                <a:spcPts val="3699"/>
              </a:lnSpc>
            </a:pPr>
            <a:r>
              <a:rPr lang="en-US" b="true" sz="2952" spc="103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Phishing</a:t>
            </a:r>
          </a:p>
          <a:p>
            <a:pPr algn="l">
              <a:lnSpc>
                <a:spcPts val="2881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Initial access was</a:t>
            </a:r>
          </a:p>
          <a:p>
            <a:pPr algn="l">
              <a:lnSpc>
                <a:spcPts val="2881"/>
              </a:lnSpc>
            </a:pPr>
            <a:r>
              <a:rPr lang="en-US" sz="2300" spc="87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primarily achieved</a:t>
            </a:r>
          </a:p>
          <a:p>
            <a:pPr algn="l">
              <a:lnSpc>
                <a:spcPts val="2881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through high-volume,</a:t>
            </a:r>
          </a:p>
          <a:p>
            <a:pPr algn="l">
              <a:lnSpc>
                <a:spcPts val="2881"/>
              </a:lnSpc>
            </a:pPr>
            <a:r>
              <a:rPr lang="en-US" sz="2300" spc="-4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generic phishing</a:t>
            </a:r>
          </a:p>
          <a:p>
            <a:pPr algn="l">
              <a:lnSpc>
                <a:spcPts val="2881"/>
              </a:lnSpc>
            </a:pPr>
            <a:r>
              <a:rPr lang="en-US" sz="2300" spc="-4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campaigns hoping</a:t>
            </a:r>
          </a:p>
          <a:p>
            <a:pPr algn="l">
              <a:lnSpc>
                <a:spcPts val="2881"/>
              </a:lnSpc>
            </a:pPr>
            <a:r>
              <a:rPr lang="en-US" sz="2300" spc="-4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to catch an unwary</a:t>
            </a:r>
          </a:p>
          <a:p>
            <a:pPr algn="l">
              <a:lnSpc>
                <a:spcPts val="2881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employee.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1514" y="2670802"/>
            <a:ext cx="3443734" cy="237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b="true" sz="3129" spc="40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Monolithic Actors</a:t>
            </a:r>
          </a:p>
          <a:p>
            <a:pPr algn="l">
              <a:lnSpc>
                <a:spcPts val="2888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Attacks were typically</a:t>
            </a:r>
          </a:p>
          <a:p>
            <a:pPr algn="l">
              <a:lnSpc>
                <a:spcPts val="2888"/>
              </a:lnSpc>
            </a:pPr>
            <a:r>
              <a:rPr lang="en-US" sz="2300" spc="16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conducted by single,</a:t>
            </a:r>
          </a:p>
          <a:p>
            <a:pPr algn="l">
              <a:lnSpc>
                <a:spcPts val="2888"/>
              </a:lnSpc>
            </a:pPr>
            <a:r>
              <a:rPr lang="en-US" sz="2300" spc="16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self-contained groups or</a:t>
            </a:r>
          </a:p>
          <a:p>
            <a:pPr algn="l">
              <a:lnSpc>
                <a:spcPts val="2888"/>
              </a:lnSpc>
            </a:pPr>
            <a:r>
              <a:rPr lang="en-US" sz="2300" spc="16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individuals responsible for</a:t>
            </a:r>
          </a:p>
          <a:p>
            <a:pPr algn="l">
              <a:lnSpc>
                <a:spcPts val="2888"/>
              </a:lnSpc>
            </a:pPr>
            <a:r>
              <a:rPr lang="en-US" sz="2300">
                <a:solidFill>
                  <a:srgbClr val="2E2C29"/>
                </a:solidFill>
                <a:latin typeface="Arial MT Pro"/>
                <a:ea typeface="Arial MT Pro"/>
                <a:cs typeface="Arial MT Pro"/>
                <a:sym typeface="Arial MT Pro"/>
              </a:rPr>
              <a:t>all stages of the operation.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9026" y="1665487"/>
            <a:ext cx="6621959" cy="62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3265" spc="-3">
                <a:solidFill>
                  <a:srgbClr val="2E2C2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PAST: Opportunistic Attacks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23271" cy="14630400"/>
          </a:xfrm>
          <a:custGeom>
            <a:avLst/>
            <a:gdLst/>
            <a:ahLst/>
            <a:cxnLst/>
            <a:rect r="r" b="b" t="t" l="l"/>
            <a:pathLst>
              <a:path h="14630400" w="26223271">
                <a:moveTo>
                  <a:pt x="0" y="0"/>
                </a:moveTo>
                <a:lnTo>
                  <a:pt x="26223271" y="0"/>
                </a:lnTo>
                <a:lnTo>
                  <a:pt x="26223271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6160" y="778873"/>
            <a:ext cx="14171116" cy="183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5"/>
              </a:lnSpc>
            </a:pPr>
            <a:r>
              <a:rPr lang="en-US" b="true" sz="6097" spc="30">
                <a:solidFill>
                  <a:srgbClr val="11121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Major Cyber Events Timeline:</a:t>
            </a:r>
          </a:p>
          <a:p>
            <a:pPr algn="l">
              <a:lnSpc>
                <a:spcPts val="6725"/>
              </a:lnSpc>
            </a:pPr>
            <a:r>
              <a:rPr lang="en-US" b="true" sz="6097" spc="30">
                <a:solidFill>
                  <a:srgbClr val="11121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Rise of Kinetic and Systemic Risk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4228" y="3402582"/>
            <a:ext cx="10173295" cy="22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6"/>
              </a:lnSpc>
            </a:pPr>
            <a:r>
              <a:rPr lang="en-US" b="true" sz="3570" spc="32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Digital-Physical Divide Has Collapsed</a:t>
            </a:r>
          </a:p>
          <a:p>
            <a:pPr algn="l">
              <a:lnSpc>
                <a:spcPts val="3224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Recent cyber attacks demonstrate a clear evolution from data theft to</a:t>
            </a:r>
          </a:p>
          <a:p>
            <a:pPr algn="l">
              <a:lnSpc>
                <a:spcPts val="3224"/>
              </a:lnSpc>
            </a:pPr>
            <a:r>
              <a:rPr lang="en-US" sz="2499" spc="32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tangible disruption. Adversaries now possess the capability to inflict</a:t>
            </a:r>
          </a:p>
          <a:p>
            <a:pPr algn="l">
              <a:lnSpc>
                <a:spcPts val="3224"/>
              </a:lnSpc>
            </a:pPr>
            <a:r>
              <a:rPr lang="en-US" sz="2499" spc="32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physical (kinetic) damage on industrial operations and trigger systemic</a:t>
            </a:r>
          </a:p>
          <a:p>
            <a:pPr algn="l">
              <a:lnSpc>
                <a:spcPts val="3224"/>
              </a:lnSpc>
            </a:pPr>
            <a:r>
              <a:rPr lang="en-US" sz="2499" spc="32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shocks across financial markets and global supply chains.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27243" y="2435847"/>
            <a:ext cx="5326559" cy="428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6"/>
              </a:lnSpc>
            </a:pPr>
            <a:r>
              <a:rPr lang="en-US" b="true" sz="3000" spc="39">
                <a:solidFill>
                  <a:srgbClr val="377C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H2 2025: </a:t>
            </a:r>
            <a:r>
              <a:rPr lang="en-US" b="true" sz="3000" spc="39">
                <a:solidFill>
                  <a:srgbClr val="377C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Automotive Supply</a:t>
            </a:r>
          </a:p>
          <a:p>
            <a:pPr algn="l">
              <a:lnSpc>
                <a:spcPts val="3786"/>
              </a:lnSpc>
            </a:pPr>
            <a:r>
              <a:rPr lang="en-US" b="true" sz="3000" spc="39">
                <a:solidFill>
                  <a:srgbClr val="377C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Chain Paralyzed, Triggering</a:t>
            </a:r>
          </a:p>
          <a:p>
            <a:pPr algn="l">
              <a:lnSpc>
                <a:spcPts val="3786"/>
              </a:lnSpc>
            </a:pPr>
            <a:r>
              <a:rPr lang="en-US" b="true" sz="3000" spc="39">
                <a:solidFill>
                  <a:srgbClr val="377C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Systemic Financial Shock</a:t>
            </a:r>
          </a:p>
          <a:p>
            <a:pPr algn="l">
              <a:lnSpc>
                <a:spcPts val="3154"/>
              </a:lnSpc>
            </a:pPr>
            <a:r>
              <a:rPr lang="en-US" sz="2499" spc="-32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A major cyber attack on Jaguar Land</a:t>
            </a:r>
          </a:p>
          <a:p>
            <a:pPr algn="l">
              <a:lnSpc>
                <a:spcPts val="3154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Rover (JLR) completely disrupted</a:t>
            </a:r>
          </a:p>
          <a:p>
            <a:pPr algn="l">
              <a:lnSpc>
                <a:spcPts val="3154"/>
              </a:lnSpc>
            </a:pPr>
            <a:r>
              <a:rPr lang="en-US" sz="2499" spc="17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its "just-in-time" manufacturing and</a:t>
            </a:r>
          </a:p>
          <a:p>
            <a:pPr algn="l">
              <a:lnSpc>
                <a:spcPts val="3154"/>
              </a:lnSpc>
            </a:pPr>
            <a:r>
              <a:rPr lang="en-US" sz="2499" spc="17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logistics, causing a systemic financial</a:t>
            </a:r>
          </a:p>
          <a:p>
            <a:pPr algn="l">
              <a:lnSpc>
                <a:spcPts val="3154"/>
              </a:lnSpc>
            </a:pPr>
            <a:r>
              <a:rPr lang="en-US" sz="2499" spc="17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impact estimated at $1.9 billion and</a:t>
            </a:r>
          </a:p>
          <a:p>
            <a:pPr algn="l">
              <a:lnSpc>
                <a:spcPts val="3154"/>
              </a:lnSpc>
            </a:pPr>
            <a:r>
              <a:rPr lang="en-US" sz="2499" spc="17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affecting over 5,000 organizations</a:t>
            </a:r>
          </a:p>
          <a:p>
            <a:pPr algn="l">
              <a:lnSpc>
                <a:spcPts val="3154"/>
              </a:lnSpc>
            </a:pPr>
            <a:r>
              <a:rPr lang="en-US" sz="2499" spc="17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in its supply chain.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4836" y="6793105"/>
            <a:ext cx="2730996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spc="37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February 2025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87646" y="6829859"/>
            <a:ext cx="1912590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spc="477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H1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2669" y="8753085"/>
            <a:ext cx="5723781" cy="441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b="true" sz="3000" spc="48">
                <a:solidFill>
                  <a:srgbClr val="377C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February 2025: $1.5B Crypto</a:t>
            </a:r>
          </a:p>
          <a:p>
            <a:pPr algn="l">
              <a:lnSpc>
                <a:spcPts val="3926"/>
              </a:lnSpc>
            </a:pPr>
            <a:r>
              <a:rPr lang="en-US" b="true" sz="3000" spc="48">
                <a:solidFill>
                  <a:srgbClr val="377C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Heist Signals State-Sponsored</a:t>
            </a:r>
          </a:p>
          <a:p>
            <a:pPr algn="l">
              <a:lnSpc>
                <a:spcPts val="3926"/>
              </a:lnSpc>
            </a:pPr>
            <a:r>
              <a:rPr lang="en-US" b="true" sz="3000" spc="48">
                <a:solidFill>
                  <a:srgbClr val="377C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Revenue Generation</a:t>
            </a:r>
          </a:p>
          <a:p>
            <a:pPr algn="l">
              <a:lnSpc>
                <a:spcPts val="3272"/>
              </a:lnSpc>
            </a:pPr>
            <a:r>
              <a:rPr lang="en-US" sz="2499" spc="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The North Korean state-sponsored</a:t>
            </a:r>
          </a:p>
          <a:p>
            <a:pPr algn="l">
              <a:lnSpc>
                <a:spcPts val="3272"/>
              </a:lnSpc>
            </a:pPr>
            <a:r>
              <a:rPr lang="en-US" sz="2499" spc="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Lazarus Group executed a sophisticated</a:t>
            </a:r>
          </a:p>
          <a:p>
            <a:pPr algn="l">
              <a:lnSpc>
                <a:spcPts val="3272"/>
              </a:lnSpc>
            </a:pPr>
            <a:r>
              <a:rPr lang="en-US" sz="2499" spc="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supply chain attack to compromise</a:t>
            </a:r>
          </a:p>
          <a:p>
            <a:pPr algn="l">
              <a:lnSpc>
                <a:spcPts val="3272"/>
              </a:lnSpc>
            </a:pPr>
            <a:r>
              <a:rPr lang="en-US" sz="2499" spc="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the Safe(Wallet) interface used by</a:t>
            </a:r>
          </a:p>
          <a:p>
            <a:pPr algn="l">
              <a:lnSpc>
                <a:spcPts val="3272"/>
              </a:lnSpc>
            </a:pPr>
            <a:r>
              <a:rPr lang="en-US" sz="2499" spc="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the Bybit exchange, stealing</a:t>
            </a:r>
          </a:p>
          <a:p>
            <a:pPr algn="l">
              <a:lnSpc>
                <a:spcPts val="3272"/>
              </a:lnSpc>
            </a:pPr>
            <a:r>
              <a:rPr lang="en-US" sz="2499" spc="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approximately $1.5 billion in assets</a:t>
            </a:r>
          </a:p>
          <a:p>
            <a:pPr algn="l">
              <a:lnSpc>
                <a:spcPts val="327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to fond state objectives.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4443" y="8735674"/>
            <a:ext cx="5165378" cy="47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b="true" sz="3000" spc="51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H1 2025: Critical Telecom</a:t>
            </a:r>
          </a:p>
          <a:p>
            <a:pPr algn="l">
              <a:lnSpc>
                <a:spcPts val="3848"/>
              </a:lnSpc>
            </a:pPr>
            <a:r>
              <a:rPr lang="en-US" b="true" sz="3000" spc="51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Infrastructure Breached for</a:t>
            </a:r>
          </a:p>
          <a:p>
            <a:pPr algn="l">
              <a:lnSpc>
                <a:spcPts val="3848"/>
              </a:lnSpc>
            </a:pPr>
            <a:r>
              <a:rPr lang="en-US" b="true" sz="3000" spc="117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Strategic Pre-positioning</a:t>
            </a:r>
          </a:p>
          <a:p>
            <a:pPr algn="l">
              <a:lnSpc>
                <a:spcPts val="3207"/>
              </a:lnSpc>
            </a:pPr>
            <a:r>
              <a:rPr lang="en-US" sz="2499" spc="7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The China-aligned APT group </a:t>
            </a:r>
            <a:r>
              <a:rPr lang="en-US" b="true" sz="2499" spc="7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Salt</a:t>
            </a:r>
          </a:p>
          <a:p>
            <a:pPr algn="l">
              <a:lnSpc>
                <a:spcPts val="3207"/>
              </a:lnSpc>
            </a:pPr>
            <a:r>
              <a:rPr lang="en-US" b="true" sz="2499" spc="7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Typhoon </a:t>
            </a:r>
            <a:r>
              <a:rPr lang="en-US" sz="2499" spc="7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compromised at least nine</a:t>
            </a:r>
          </a:p>
          <a:p>
            <a:pPr algn="l">
              <a:lnSpc>
                <a:spcPts val="3207"/>
              </a:lnSpc>
            </a:pPr>
            <a:r>
              <a:rPr lang="en-US" sz="2499" spc="17">
                <a:solidFill>
                  <a:srgbClr val="3C6A57"/>
                </a:solidFill>
                <a:latin typeface="Arial MT Pro"/>
                <a:ea typeface="Arial MT Pro"/>
                <a:cs typeface="Arial MT Pro"/>
                <a:sym typeface="Arial MT Pro"/>
              </a:rPr>
              <a:t>major U.S. telecommunications</a:t>
            </a:r>
          </a:p>
          <a:p>
            <a:pPr algn="l">
              <a:lnSpc>
                <a:spcPts val="3207"/>
              </a:lnSpc>
            </a:pPr>
            <a:r>
              <a:rPr lang="en-US" sz="2499" spc="2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providers, demonstrating a strategic</a:t>
            </a:r>
          </a:p>
          <a:p>
            <a:pPr algn="l">
              <a:lnSpc>
                <a:spcPts val="3207"/>
              </a:lnSpc>
            </a:pPr>
            <a:r>
              <a:rPr lang="en-US" sz="2499" spc="2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focus on infiltrating critical</a:t>
            </a:r>
          </a:p>
          <a:p>
            <a:pPr algn="l">
              <a:lnSpc>
                <a:spcPts val="3207"/>
              </a:lnSpc>
            </a:pPr>
            <a:r>
              <a:rPr lang="en-US" sz="2499" spc="2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infrastructure for espionage and</a:t>
            </a:r>
          </a:p>
          <a:p>
            <a:pPr algn="l">
              <a:lnSpc>
                <a:spcPts val="3207"/>
              </a:lnSpc>
            </a:pPr>
            <a:r>
              <a:rPr lang="en-US" sz="2499" spc="2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establishing access for potential</a:t>
            </a:r>
          </a:p>
          <a:p>
            <a:pPr algn="l">
              <a:lnSpc>
                <a:spcPts val="3207"/>
              </a:lnSpc>
            </a:pPr>
            <a:r>
              <a:rPr lang="en-US" sz="2499" spc="24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future disruption.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86928" y="7871287"/>
            <a:ext cx="1488132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H2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18363" y="6797248"/>
            <a:ext cx="3048298" cy="5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 spc="83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November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25862" y="8709378"/>
            <a:ext cx="5406628" cy="482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b="true" sz="3000" spc="39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November 2025: Software</a:t>
            </a:r>
          </a:p>
          <a:p>
            <a:pPr algn="l">
              <a:lnSpc>
                <a:spcPts val="3903"/>
              </a:lnSpc>
            </a:pPr>
            <a:r>
              <a:rPr lang="en-US" b="true" sz="3000" spc="39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Supply Chain Worm Deploys</a:t>
            </a:r>
          </a:p>
          <a:p>
            <a:pPr algn="l">
              <a:lnSpc>
                <a:spcPts val="3903"/>
              </a:lnSpc>
            </a:pPr>
            <a:r>
              <a:rPr lang="en-US" b="true" sz="3000" spc="39">
                <a:solidFill>
                  <a:srgbClr val="2827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"Sabotage" Fallback</a:t>
            </a:r>
          </a:p>
          <a:p>
            <a:pPr algn="l">
              <a:lnSpc>
                <a:spcPts val="3252"/>
              </a:lnSpc>
            </a:pPr>
            <a:r>
              <a:rPr lang="en-US" sz="2499" spc="-4">
                <a:solidFill>
                  <a:srgbClr val="3C6050"/>
                </a:solidFill>
                <a:latin typeface="Arial MT Pro"/>
                <a:ea typeface="Arial MT Pro"/>
                <a:cs typeface="Arial MT Pro"/>
                <a:sym typeface="Arial MT Pro"/>
              </a:rPr>
              <a:t>The </a:t>
            </a:r>
            <a:r>
              <a:rPr lang="en-US" b="true" sz="2499" spc="-4">
                <a:solidFill>
                  <a:srgbClr val="3C605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"Shai-Hulud 2.0"</a:t>
            </a:r>
            <a:r>
              <a:rPr lang="en-US" sz="2499" spc="-4">
                <a:solidFill>
                  <a:srgbClr val="3C605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99" spc="-4">
                <a:solidFill>
                  <a:srgbClr val="111211"/>
                </a:solidFill>
                <a:latin typeface="Arial MT Pro"/>
                <a:ea typeface="Arial MT Pro"/>
                <a:cs typeface="Arial MT Pro"/>
                <a:sym typeface="Arial MT Pro"/>
              </a:rPr>
              <a:t>worm</a:t>
            </a:r>
          </a:p>
          <a:p>
            <a:pPr algn="l">
              <a:lnSpc>
                <a:spcPts val="325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propagated through the npm software</a:t>
            </a:r>
          </a:p>
          <a:p>
            <a:pPr algn="l">
              <a:lnSpc>
                <a:spcPts val="325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registry, stealing developer</a:t>
            </a:r>
          </a:p>
          <a:p>
            <a:pPr algn="l">
              <a:lnSpc>
                <a:spcPts val="325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credentials and introducing a</a:t>
            </a:r>
          </a:p>
          <a:p>
            <a:pPr algn="l">
              <a:lnSpc>
                <a:spcPts val="325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destructive feature: if data theft fails,</a:t>
            </a:r>
          </a:p>
          <a:p>
            <a:pPr algn="l">
              <a:lnSpc>
                <a:spcPts val="325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the maiware is designed to</a:t>
            </a:r>
          </a:p>
          <a:p>
            <a:pPr algn="l">
              <a:lnSpc>
                <a:spcPts val="325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permanently destroy the victim's entire</a:t>
            </a:r>
          </a:p>
          <a:p>
            <a:pPr algn="l">
              <a:lnSpc>
                <a:spcPts val="3252"/>
              </a:lnSpc>
            </a:pPr>
            <a:r>
              <a:rPr lang="en-US" sz="2499">
                <a:solidFill>
                  <a:srgbClr val="282725"/>
                </a:solidFill>
                <a:latin typeface="Arial MT Pro"/>
                <a:ea typeface="Arial MT Pro"/>
                <a:cs typeface="Arial MT Pro"/>
                <a:sym typeface="Arial MT Pro"/>
              </a:rPr>
              <a:t>home directory.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12800" cy="14624558"/>
          </a:xfrm>
          <a:custGeom>
            <a:avLst/>
            <a:gdLst/>
            <a:ahLst/>
            <a:cxnLst/>
            <a:rect r="r" b="b" t="t" l="l"/>
            <a:pathLst>
              <a:path h="14624558" w="26212800">
                <a:moveTo>
                  <a:pt x="0" y="0"/>
                </a:moveTo>
                <a:lnTo>
                  <a:pt x="26212800" y="0"/>
                </a:lnTo>
                <a:lnTo>
                  <a:pt x="26212800" y="14624558"/>
                </a:lnTo>
                <a:lnTo>
                  <a:pt x="0" y="1462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80220" y="4441636"/>
            <a:ext cx="1213708" cy="1154017"/>
          </a:xfrm>
          <a:custGeom>
            <a:avLst/>
            <a:gdLst/>
            <a:ahLst/>
            <a:cxnLst/>
            <a:rect r="r" b="b" t="t" l="l"/>
            <a:pathLst>
              <a:path h="1154017" w="1213708">
                <a:moveTo>
                  <a:pt x="0" y="0"/>
                </a:moveTo>
                <a:lnTo>
                  <a:pt x="1213708" y="0"/>
                </a:lnTo>
                <a:lnTo>
                  <a:pt x="1213708" y="1154017"/>
                </a:lnTo>
                <a:lnTo>
                  <a:pt x="0" y="1154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2473" y="591286"/>
            <a:ext cx="23825299" cy="119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3"/>
              </a:lnSpc>
            </a:pPr>
            <a:r>
              <a:rPr lang="en-US" b="true" sz="6281" spc="207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2025 Attack Chain:</a:t>
            </a:r>
            <a:r>
              <a:rPr lang="en-US" sz="6281" spc="207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 Accelerated, Automated, and Evasive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40" y="6159773"/>
            <a:ext cx="4358962" cy="165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b="true" sz="3700" spc="15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Al-Enhanced</a:t>
            </a:r>
          </a:p>
          <a:p>
            <a:pPr algn="l">
              <a:lnSpc>
                <a:spcPts val="4140"/>
              </a:lnSpc>
            </a:pPr>
            <a:r>
              <a:rPr lang="en-US" b="true" sz="3700" spc="15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Phishing &amp; Social</a:t>
            </a:r>
          </a:p>
          <a:p>
            <a:pPr algn="l">
              <a:lnSpc>
                <a:spcPts val="4140"/>
              </a:lnSpc>
            </a:pPr>
            <a:r>
              <a:rPr lang="en-US" b="true" sz="3700" spc="15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21197" y="5169640"/>
            <a:ext cx="3553718" cy="152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b="true" sz="3699" spc="8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"Living-off-the-</a:t>
            </a:r>
          </a:p>
          <a:p>
            <a:pPr algn="l">
              <a:lnSpc>
                <a:spcPts val="3818"/>
              </a:lnSpc>
            </a:pPr>
            <a:r>
              <a:rPr lang="en-US" b="true" sz="3699" spc="8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Land"</a:t>
            </a:r>
          </a:p>
          <a:p>
            <a:pPr algn="l">
              <a:lnSpc>
                <a:spcPts val="3818"/>
              </a:lnSpc>
            </a:pPr>
            <a:r>
              <a:rPr lang="en-US" b="true" sz="3699" spc="8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Execution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40586" y="3840746"/>
            <a:ext cx="4203502" cy="160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b="true" sz="3699" spc="2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Automated Supply</a:t>
            </a:r>
          </a:p>
          <a:p>
            <a:pPr algn="l">
              <a:lnSpc>
                <a:spcPts val="4010"/>
              </a:lnSpc>
            </a:pPr>
            <a:r>
              <a:rPr lang="en-US" b="true" sz="3699" spc="2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Chain &amp; N-Day</a:t>
            </a:r>
          </a:p>
          <a:p>
            <a:pPr algn="l">
              <a:lnSpc>
                <a:spcPts val="4010"/>
              </a:lnSpc>
            </a:pPr>
            <a:r>
              <a:rPr lang="en-US" b="true" sz="3699" spc="25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Exploitation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40148" y="2829499"/>
            <a:ext cx="3434804" cy="15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b="true" sz="3699" spc="81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Al-Accelerated</a:t>
            </a:r>
          </a:p>
          <a:p>
            <a:pPr algn="l">
              <a:lnSpc>
                <a:spcPts val="3825"/>
              </a:lnSpc>
            </a:pPr>
            <a:r>
              <a:rPr lang="en-US" b="true" sz="3699" spc="81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Intrusion to</a:t>
            </a:r>
          </a:p>
          <a:p>
            <a:pPr algn="l">
              <a:lnSpc>
                <a:spcPts val="3825"/>
              </a:lnSpc>
            </a:pPr>
            <a:r>
              <a:rPr lang="en-US" b="true" sz="3699" spc="81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Exfiltration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06655" y="5444952"/>
            <a:ext cx="5086648" cy="36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700" spc="-5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Al agents are deployed</a:t>
            </a:r>
          </a:p>
          <a:p>
            <a:pPr algn="l">
              <a:lnSpc>
                <a:spcPts val="3177"/>
              </a:lnSpc>
            </a:pPr>
            <a:r>
              <a:rPr lang="en-US" sz="270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post-compromise to</a:t>
            </a:r>
          </a:p>
          <a:p>
            <a:pPr algn="l">
              <a:lnSpc>
                <a:spcPts val="3177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autonomously execute multi-step</a:t>
            </a:r>
          </a:p>
          <a:p>
            <a:pPr algn="l">
              <a:lnSpc>
                <a:spcPts val="3177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operations, rapidly identify the</a:t>
            </a:r>
          </a:p>
          <a:p>
            <a:pPr algn="l">
              <a:lnSpc>
                <a:spcPts val="3177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most sensitive data for</a:t>
            </a:r>
          </a:p>
          <a:p>
            <a:pPr algn="l">
              <a:lnSpc>
                <a:spcPts val="3177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exfiltration, and orchestrate the</a:t>
            </a:r>
          </a:p>
          <a:p>
            <a:pPr algn="l">
              <a:lnSpc>
                <a:spcPts val="3177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attack's final stage, drastically</a:t>
            </a:r>
          </a:p>
          <a:p>
            <a:pPr algn="l">
              <a:lnSpc>
                <a:spcPts val="3177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reducing the time from initial</a:t>
            </a:r>
          </a:p>
          <a:p>
            <a:pPr algn="l">
              <a:lnSpc>
                <a:spcPts val="3177"/>
              </a:lnSpc>
            </a:pPr>
            <a:r>
              <a:rPr lang="en-US" sz="270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breach to impact.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66636" y="6555368"/>
            <a:ext cx="5243066" cy="406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700" spc="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Attacks propagate automatically</a:t>
            </a:r>
          </a:p>
          <a:p>
            <a:pPr algn="l">
              <a:lnSpc>
                <a:spcPts val="3212"/>
              </a:lnSpc>
            </a:pPr>
            <a:r>
              <a:rPr lang="en-US" sz="2700" spc="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through software ecosystems,</a:t>
            </a:r>
          </a:p>
          <a:p>
            <a:pPr algn="l">
              <a:lnSpc>
                <a:spcPts val="3212"/>
              </a:lnSpc>
            </a:pPr>
            <a:r>
              <a:rPr lang="en-US" sz="270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as seen with the Shai-Hulud</a:t>
            </a:r>
          </a:p>
          <a:p>
            <a:pPr algn="l">
              <a:lnSpc>
                <a:spcPts val="3212"/>
              </a:lnSpc>
            </a:pPr>
            <a:r>
              <a:rPr lang="en-US" sz="270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worm compromising npm</a:t>
            </a:r>
          </a:p>
          <a:p>
            <a:pPr algn="l">
              <a:lnSpc>
                <a:spcPts val="3212"/>
              </a:lnSpc>
            </a:pPr>
            <a:r>
              <a:rPr lang="en-US" sz="2700" spc="4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packages. This is compounded</a:t>
            </a:r>
          </a:p>
          <a:p>
            <a:pPr algn="l">
              <a:lnSpc>
                <a:spcPts val="3212"/>
              </a:lnSpc>
            </a:pPr>
            <a:r>
              <a:rPr lang="en-US" sz="2700" spc="4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compounded by the rapid</a:t>
            </a:r>
          </a:p>
          <a:p>
            <a:pPr algn="l">
              <a:lnSpc>
                <a:spcPts val="3212"/>
              </a:lnSpc>
            </a:pPr>
            <a:r>
              <a:rPr lang="en-US" sz="2700" spc="4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weaponization of newly</a:t>
            </a:r>
          </a:p>
          <a:p>
            <a:pPr algn="l">
              <a:lnSpc>
                <a:spcPts val="3212"/>
              </a:lnSpc>
            </a:pPr>
            <a:r>
              <a:rPr lang="en-US" sz="2700" spc="4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disclosed vulnerabilities (N-Days)</a:t>
            </a:r>
          </a:p>
          <a:p>
            <a:pPr algn="l">
              <a:lnSpc>
                <a:spcPts val="3212"/>
              </a:lnSpc>
            </a:pPr>
            <a:r>
              <a:rPr lang="en-US" sz="2700" spc="4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in edge systems and critical</a:t>
            </a:r>
          </a:p>
          <a:p>
            <a:pPr algn="l">
              <a:lnSpc>
                <a:spcPts val="3212"/>
              </a:lnSpc>
            </a:pPr>
            <a:r>
              <a:rPr lang="en-US" sz="2700" spc="4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enterprise software.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47426" y="7717582"/>
            <a:ext cx="5260181" cy="325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700" spc="4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Once inside, attackers use</a:t>
            </a:r>
          </a:p>
          <a:p>
            <a:pPr algn="l">
              <a:lnSpc>
                <a:spcPts val="3172"/>
              </a:lnSpc>
            </a:pPr>
            <a:r>
              <a:rPr lang="en-US" sz="2700" spc="4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legitimate, built-in system tools</a:t>
            </a:r>
          </a:p>
          <a:p>
            <a:pPr algn="l">
              <a:lnSpc>
                <a:spcPts val="3172"/>
              </a:lnSpc>
            </a:pPr>
            <a:r>
              <a:rPr lang="en-US" sz="2700" spc="4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and scripts (like npm, GitHub</a:t>
            </a:r>
          </a:p>
          <a:p>
            <a:pPr algn="l">
              <a:lnSpc>
                <a:spcPts val="3172"/>
              </a:lnSpc>
            </a:pPr>
            <a:r>
              <a:rPr lang="en-US" sz="270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Actions, or AppleScript) to execute</a:t>
            </a:r>
          </a:p>
          <a:p>
            <a:pPr algn="l">
              <a:lnSpc>
                <a:spcPts val="3172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commands, discover secrets, and</a:t>
            </a:r>
          </a:p>
          <a:p>
            <a:pPr algn="l">
              <a:lnSpc>
                <a:spcPts val="3172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move laterally, blending their</a:t>
            </a:r>
          </a:p>
          <a:p>
            <a:pPr algn="l">
              <a:lnSpc>
                <a:spcPts val="3172"/>
              </a:lnSpc>
            </a:pPr>
            <a:r>
              <a:rPr lang="en-US" sz="2700" spc="18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activity with normal enterprise</a:t>
            </a:r>
          </a:p>
          <a:p>
            <a:pPr algn="l">
              <a:lnSpc>
                <a:spcPts val="3172"/>
              </a:lnSpc>
            </a:pPr>
            <a:r>
              <a:rPr lang="en-US" sz="270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traffic to evade detection.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3739" y="8819096"/>
            <a:ext cx="5092750" cy="286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700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Threat actors now use Large</a:t>
            </a:r>
          </a:p>
          <a:p>
            <a:pPr algn="l">
              <a:lnSpc>
                <a:spcPts val="3204"/>
              </a:lnSpc>
            </a:pPr>
            <a:r>
              <a:rPr lang="en-US" sz="2700" spc="1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Language Models (LLMs) to</a:t>
            </a:r>
          </a:p>
          <a:p>
            <a:pPr algn="l">
              <a:lnSpc>
                <a:spcPts val="3204"/>
              </a:lnSpc>
            </a:pPr>
            <a:r>
              <a:rPr lang="en-US" sz="2700" spc="1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generate hyper-personalized and</a:t>
            </a:r>
          </a:p>
          <a:p>
            <a:pPr algn="l">
              <a:lnSpc>
                <a:spcPts val="3204"/>
              </a:lnSpc>
            </a:pPr>
            <a:r>
              <a:rPr lang="en-US" sz="2700" spc="1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context-aware phishing lures at</a:t>
            </a:r>
          </a:p>
          <a:p>
            <a:pPr algn="l">
              <a:lnSpc>
                <a:spcPts val="3204"/>
              </a:lnSpc>
            </a:pPr>
            <a:r>
              <a:rPr lang="en-US" sz="2700" spc="1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scale, bypassing traditional filters</a:t>
            </a:r>
          </a:p>
          <a:p>
            <a:pPr algn="l">
              <a:lnSpc>
                <a:spcPts val="3204"/>
              </a:lnSpc>
            </a:pPr>
            <a:r>
              <a:rPr lang="en-US" sz="2700" spc="1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and exploiting human trust with</a:t>
            </a:r>
          </a:p>
          <a:p>
            <a:pPr algn="l">
              <a:lnSpc>
                <a:spcPts val="3204"/>
              </a:lnSpc>
            </a:pPr>
            <a:r>
              <a:rPr lang="en-US" sz="2700" spc="13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unprecedented effectiveness.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06764" y="12004454"/>
            <a:ext cx="15599271" cy="84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5"/>
              </a:lnSpc>
            </a:pPr>
            <a:r>
              <a:rPr lang="en-US" b="true" sz="4368">
                <a:solidFill>
                  <a:srgbClr val="25232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Risk Implication for Defenders: The "Time-to-Detect" Crisis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7915" y="12920580"/>
            <a:ext cx="23047821" cy="88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sz="3000" spc="44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The convergence of Al automation and evasive tradecraft has collapsed the response window for security teams. Attacks that once</a:t>
            </a:r>
          </a:p>
          <a:p>
            <a:pPr algn="ctr">
              <a:lnSpc>
                <a:spcPts val="3290"/>
              </a:lnSpc>
            </a:pPr>
            <a:r>
              <a:rPr lang="en-US" sz="3000" spc="44">
                <a:solidFill>
                  <a:srgbClr val="252322"/>
                </a:solidFill>
                <a:latin typeface="Arial MT Pro"/>
                <a:ea typeface="Arial MT Pro"/>
                <a:cs typeface="Arial MT Pro"/>
                <a:sym typeface="Arial MT Pro"/>
              </a:rPr>
              <a:t>took days or weeks to unfold now achieve their objectives in hours or minutes, demanding a shift to predictive, autonomous defense.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12800" cy="14624558"/>
          </a:xfrm>
          <a:custGeom>
            <a:avLst/>
            <a:gdLst/>
            <a:ahLst/>
            <a:cxnLst/>
            <a:rect r="r" b="b" t="t" l="l"/>
            <a:pathLst>
              <a:path h="14624558" w="26212800">
                <a:moveTo>
                  <a:pt x="0" y="0"/>
                </a:moveTo>
                <a:lnTo>
                  <a:pt x="26212800" y="0"/>
                </a:lnTo>
                <a:lnTo>
                  <a:pt x="26212800" y="14624558"/>
                </a:lnTo>
                <a:lnTo>
                  <a:pt x="0" y="1462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916" y="504145"/>
            <a:ext cx="14377243" cy="190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2"/>
              </a:lnSpc>
            </a:pPr>
            <a:r>
              <a:rPr lang="en-US" sz="5282" spc="5">
                <a:solidFill>
                  <a:srgbClr val="0E0E0F"/>
                </a:solidFill>
                <a:latin typeface="Arial MT Pro"/>
                <a:ea typeface="Arial MT Pro"/>
                <a:cs typeface="Arial MT Pro"/>
                <a:sym typeface="Arial MT Pro"/>
              </a:rPr>
              <a:t>GEOPOLITICS: THE "AXIS OF DISRUPTION"</a:t>
            </a:r>
          </a:p>
          <a:p>
            <a:pPr algn="l">
              <a:lnSpc>
                <a:spcPts val="4056"/>
              </a:lnSpc>
            </a:pPr>
            <a:r>
              <a:rPr lang="en-US" sz="3500" spc="77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MAPPING STATE-SPONSORED CYBER ACTORS &amp; THEIR DIRECT</a:t>
            </a:r>
          </a:p>
          <a:p>
            <a:pPr algn="l">
              <a:lnSpc>
                <a:spcPts val="4056"/>
              </a:lnSpc>
            </a:pPr>
            <a:r>
              <a:rPr lang="en-US" sz="3500" spc="157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THREAT TO GLOBAL FINANCE &amp; CRITICAL INFRASTRUCTURE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918" y="3761031"/>
            <a:ext cx="7382782" cy="719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b="true" sz="2700" spc="45">
                <a:solidFill>
                  <a:srgbClr val="3A262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STRATEGIC INTENT: Long-Term Espionage</a:t>
            </a:r>
          </a:p>
          <a:p>
            <a:pPr algn="l">
              <a:lnSpc>
                <a:spcPts val="3453"/>
              </a:lnSpc>
            </a:pPr>
            <a:r>
              <a:rPr lang="en-US" b="true" sz="2700" spc="45">
                <a:solidFill>
                  <a:srgbClr val="3A262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&amp; Pre-positioning</a:t>
            </a:r>
          </a:p>
          <a:p>
            <a:pPr algn="l">
              <a:lnSpc>
                <a:spcPts val="3069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To gain persistent access to critical infrastructure</a:t>
            </a:r>
          </a:p>
          <a:p>
            <a:pPr algn="l">
              <a:lnSpc>
                <a:spcPts val="3069"/>
              </a:lnSpc>
            </a:pPr>
            <a:r>
              <a:rPr lang="en-US" sz="2400" spc="12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and steal intellectual property, supporting national</a:t>
            </a:r>
          </a:p>
          <a:p>
            <a:pPr algn="l">
              <a:lnSpc>
                <a:spcPts val="3069"/>
              </a:lnSpc>
            </a:pPr>
            <a:r>
              <a:rPr lang="en-US" sz="2400" spc="12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development goals outlined in pians like the "15th</a:t>
            </a:r>
          </a:p>
          <a:p>
            <a:pPr algn="l">
              <a:lnSpc>
                <a:spcPts val="3069"/>
              </a:lnSpc>
            </a:pPr>
            <a:r>
              <a:rPr lang="en-US" sz="2400" spc="-48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Five-Year Plan.</a:t>
            </a:r>
          </a:p>
          <a:p>
            <a:pPr algn="l">
              <a:lnSpc>
                <a:spcPts val="3453"/>
              </a:lnSpc>
            </a:pPr>
            <a:r>
              <a:rPr lang="en-US" b="true" sz="2700" spc="-8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PRIMARY TARGETS: Critical</a:t>
            </a:r>
          </a:p>
          <a:p>
            <a:pPr algn="l">
              <a:lnSpc>
                <a:spcPts val="3453"/>
              </a:lnSpc>
            </a:pPr>
            <a:r>
              <a:rPr lang="en-US" b="true" sz="2700" spc="-8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Infrastructure &amp; IT Supply Chains</a:t>
            </a:r>
          </a:p>
          <a:p>
            <a:pPr algn="l">
              <a:lnSpc>
                <a:spcPts val="3069"/>
              </a:lnSpc>
            </a:pPr>
            <a:r>
              <a:rPr lang="en-US" sz="2400" spc="-7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China-aligned APTs (e.g., Salt Typhoon, Silk</a:t>
            </a:r>
          </a:p>
          <a:p>
            <a:pPr algn="l">
              <a:lnSpc>
                <a:spcPts val="3069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Typhoon) are actively compromising</a:t>
            </a:r>
          </a:p>
          <a:p>
            <a:pPr algn="l">
              <a:lnSpc>
                <a:spcPts val="3069"/>
              </a:lnSpc>
            </a:pPr>
            <a:r>
              <a:rPr lang="en-US" sz="2400" spc="2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telecommunications providers and IT services to</a:t>
            </a:r>
          </a:p>
          <a:p>
            <a:pPr algn="l">
              <a:lnSpc>
                <a:spcPts val="3069"/>
              </a:lnSpc>
            </a:pPr>
            <a:r>
              <a:rPr lang="en-US" sz="2400" spc="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establish future operational capability and access</a:t>
            </a:r>
          </a:p>
          <a:p>
            <a:pPr algn="l">
              <a:lnSpc>
                <a:spcPts val="3069"/>
              </a:lnSpc>
            </a:pPr>
            <a:r>
              <a:rPr lang="en-US" sz="2400" spc="28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downstream victims.</a:t>
            </a:r>
          </a:p>
          <a:p>
            <a:pPr algn="l">
              <a:lnSpc>
                <a:spcPts val="3453"/>
              </a:lnSpc>
            </a:pPr>
            <a:r>
              <a:rPr lang="en-US" b="true" sz="2700" spc="-13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TACTIC: Exploiting Trusted Relationships</a:t>
            </a:r>
          </a:p>
          <a:p>
            <a:pPr algn="l">
              <a:lnSpc>
                <a:spcPts val="3069"/>
              </a:lnSpc>
            </a:pPr>
            <a:r>
              <a:rPr lang="en-US" sz="2400" spc="-12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Operators focus on compromising trusted third-party</a:t>
            </a:r>
          </a:p>
          <a:p>
            <a:pPr algn="l">
              <a:lnSpc>
                <a:spcPts val="3069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vendors and exploiting software vulnerabilities to</a:t>
            </a:r>
          </a:p>
          <a:p>
            <a:pPr algn="l">
              <a:lnSpc>
                <a:spcPts val="3069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gain initial sccess, making their activities dificult to</a:t>
            </a:r>
          </a:p>
          <a:p>
            <a:pPr algn="l">
              <a:lnSpc>
                <a:spcPts val="3069"/>
              </a:lnSpc>
            </a:pPr>
            <a:r>
              <a:rPr lang="en-US" sz="2400" spc="-26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distinguish from legitimate network traffic.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3165" y="11818303"/>
            <a:ext cx="12143235" cy="248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1"/>
              </a:lnSpc>
            </a:pPr>
            <a:r>
              <a:rPr lang="en-US" b="true" sz="3500" spc="28">
                <a:solidFill>
                  <a:srgbClr val="14141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RISK INSIGHT: THE NEW REALITY</a:t>
            </a:r>
          </a:p>
          <a:p>
            <a:pPr algn="l">
              <a:lnSpc>
                <a:spcPts val="3642"/>
              </a:lnSpc>
            </a:pPr>
            <a:r>
              <a:rPr lang="en-US" sz="2700" spc="21">
                <a:solidFill>
                  <a:srgbClr val="141415"/>
                </a:solidFill>
                <a:latin typeface="Arial MT Pro"/>
                <a:ea typeface="Arial MT Pro"/>
                <a:cs typeface="Arial MT Pro"/>
                <a:sym typeface="Arial MT Pro"/>
              </a:rPr>
              <a:t>Geopolitical Conflict is a Direct Driver of Cyber Risk State-sponsored attacks, guided by national interests, create a volatile threat landscape where financial institutions can become targets or collateral damage through supply chain and critical infrastructure disruption.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64485" y="1102952"/>
            <a:ext cx="9981754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69">
                <a:solidFill>
                  <a:srgbClr val="6E387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NORTH KOREA:</a:t>
            </a:r>
            <a:r>
              <a:rPr lang="en-US" sz="3499" spc="69">
                <a:solidFill>
                  <a:srgbClr val="332435"/>
                </a:solidFill>
                <a:latin typeface="Arial MT Pro"/>
                <a:ea typeface="Arial MT Pro"/>
                <a:cs typeface="Arial MT Pro"/>
                <a:sym typeface="Arial MT Pro"/>
              </a:rPr>
              <a:t> THE REVENUE GENERATOR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11881" y="1903412"/>
            <a:ext cx="793435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699" spc="16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STRATEGIC INTENT: Illicit Revenue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649423" y="2354262"/>
            <a:ext cx="7345815" cy="105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To fund the regime by stealing vast sume of</a:t>
            </a:r>
          </a:p>
          <a:p>
            <a:pPr algn="l">
              <a:lnSpc>
                <a:spcPts val="2668"/>
              </a:lnSpc>
            </a:pPr>
            <a:r>
              <a:rPr lang="en-US" sz="2400" spc="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cryptocurrency, thereby bypassing international</a:t>
            </a:r>
          </a:p>
          <a:p>
            <a:pPr algn="l">
              <a:lnSpc>
                <a:spcPts val="2668"/>
              </a:lnSpc>
            </a:pPr>
            <a:r>
              <a:rPr lang="en-US" sz="2400" spc="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sanctions and financing national objectives.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49423" y="3361303"/>
            <a:ext cx="7345815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-8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PRIMARY TARGETS: Cryptocurrency</a:t>
            </a:r>
          </a:p>
          <a:p>
            <a:pPr algn="l">
              <a:lnSpc>
                <a:spcPts val="3779"/>
              </a:lnSpc>
            </a:pPr>
            <a:r>
              <a:rPr lang="en-US" b="true" sz="2699" spc="-8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Exchanges &amp; DeFi Platforms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49423" y="4330948"/>
            <a:ext cx="7345815" cy="131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The Lazarus Group (UNC4899) is attributed with</a:t>
            </a:r>
          </a:p>
          <a:p>
            <a:pPr algn="l">
              <a:lnSpc>
                <a:spcPts val="2536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multiple large-scale helsts targeting crypto exchanges,</a:t>
            </a:r>
          </a:p>
          <a:p>
            <a:pPr algn="l">
              <a:lnSpc>
                <a:spcPts val="2536"/>
              </a:lnSpc>
            </a:pPr>
            <a:r>
              <a:rPr lang="en-US" sz="2400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including the $1.5B Bybit hack, by compromising wallet infrastructure.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49423" y="5660410"/>
            <a:ext cx="7345815" cy="2268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699" spc="10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TACTIC: Sophisticated Supply Chain Attacks</a:t>
            </a:r>
          </a:p>
          <a:p>
            <a:pPr algn="l">
              <a:lnSpc>
                <a:spcPts val="2800"/>
              </a:lnSpc>
            </a:pPr>
            <a:r>
              <a:rPr lang="en-US" sz="2400" spc="9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Attackers compromise developers and inject malicious code into trusted software to authorize fraudulent transactions, as seen in the manipulation of the Safe (Wallet) interface </a:t>
            </a:r>
            <a:r>
              <a:rPr lang="en-US" sz="2400" spc="9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used by Bybit.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49423" y="8395247"/>
            <a:ext cx="7096816" cy="168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b="true" sz="3500" spc="49">
                <a:solidFill>
                  <a:srgbClr val="455E7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RUSSIA: </a:t>
            </a:r>
            <a:r>
              <a:rPr lang="en-US" b="true" sz="3500" spc="49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DISRUPTOR</a:t>
            </a:r>
          </a:p>
          <a:p>
            <a:pPr algn="l">
              <a:lnSpc>
                <a:spcPts val="3931"/>
              </a:lnSpc>
            </a:pPr>
            <a:r>
              <a:rPr lang="en-US" b="true" sz="2700" spc="72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STRATEGIC INTENT: Disruption &amp; Destabilization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49423" y="10113234"/>
            <a:ext cx="7175599" cy="160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400" spc="-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To exert geopolitical influence through hybrid warfare, which combines information operations with cyberattacks </a:t>
            </a:r>
            <a:r>
              <a:rPr lang="en-US" sz="2400" spc="-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against key infrastructure sectors of adversaries.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918" y="3137423"/>
            <a:ext cx="6716464" cy="66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69">
                <a:solidFill>
                  <a:srgbClr val="B84A3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CHINA:</a:t>
            </a:r>
            <a:r>
              <a:rPr lang="en-US" sz="3499" spc="69">
                <a:solidFill>
                  <a:srgbClr val="332435"/>
                </a:solidFill>
                <a:latin typeface="Arial MT Pro"/>
                <a:ea typeface="Arial MT Pro"/>
                <a:cs typeface="Arial MT Pro"/>
                <a:sym typeface="Arial MT Pro"/>
              </a:rPr>
              <a:t> THE PRE-POSITIONER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85183" y="11923325"/>
            <a:ext cx="12639839" cy="249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b="true" sz="2700" spc="-24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PRIMARY </a:t>
            </a:r>
            <a:r>
              <a:rPr lang="en-US" b="true" sz="2700" spc="-24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TARGETS: Energy, Maritime, &amp; Telecommunications</a:t>
            </a:r>
          </a:p>
          <a:p>
            <a:pPr algn="l">
              <a:lnSpc>
                <a:spcPts val="3117"/>
              </a:lnSpc>
            </a:pPr>
            <a:r>
              <a:rPr lang="en-US" sz="2400" spc="-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Operations are often tied to geopolitical flashpoints, aiming to disrupt services critical to logistics and supply chains while creating political and social discord.</a:t>
            </a:r>
          </a:p>
          <a:p>
            <a:pPr algn="l">
              <a:lnSpc>
                <a:spcPts val="3507"/>
              </a:lnSpc>
            </a:pPr>
            <a:r>
              <a:rPr lang="en-US" b="true" sz="2699" spc="-24">
                <a:solidFill>
                  <a:srgbClr val="302F2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TACTIC: Coordinated Information Warfare</a:t>
            </a:r>
          </a:p>
          <a:p>
            <a:pPr algn="l">
              <a:lnSpc>
                <a:spcPts val="3117"/>
              </a:lnSpc>
            </a:pPr>
            <a:r>
              <a:rPr lang="en-US" sz="2400" spc="-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Russia runs well-funded, multi-lingual disinformation and propaganda c</a:t>
            </a:r>
            <a:r>
              <a:rPr lang="en-US" sz="2400" spc="-21">
                <a:solidFill>
                  <a:srgbClr val="302F2C"/>
                </a:solidFill>
                <a:latin typeface="Arial MT Pro"/>
                <a:ea typeface="Arial MT Pro"/>
                <a:cs typeface="Arial MT Pro"/>
                <a:sym typeface="Arial MT Pro"/>
              </a:rPr>
              <a:t>ampaigns to amplify narratives, undermine the standing of adversaries, and shape public opinion during crises.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23271" cy="14630400"/>
          </a:xfrm>
          <a:custGeom>
            <a:avLst/>
            <a:gdLst/>
            <a:ahLst/>
            <a:cxnLst/>
            <a:rect r="r" b="b" t="t" l="l"/>
            <a:pathLst>
              <a:path h="14630400" w="26223271">
                <a:moveTo>
                  <a:pt x="0" y="0"/>
                </a:moveTo>
                <a:lnTo>
                  <a:pt x="26223271" y="0"/>
                </a:lnTo>
                <a:lnTo>
                  <a:pt x="26223271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34476" y="1698430"/>
            <a:ext cx="525538" cy="662412"/>
          </a:xfrm>
          <a:custGeom>
            <a:avLst/>
            <a:gdLst/>
            <a:ahLst/>
            <a:cxnLst/>
            <a:rect r="r" b="b" t="t" l="l"/>
            <a:pathLst>
              <a:path h="662412" w="525538">
                <a:moveTo>
                  <a:pt x="0" y="0"/>
                </a:moveTo>
                <a:lnTo>
                  <a:pt x="525538" y="0"/>
                </a:lnTo>
                <a:lnTo>
                  <a:pt x="525538" y="662412"/>
                </a:lnTo>
                <a:lnTo>
                  <a:pt x="0" y="662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59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8443" y="280570"/>
            <a:ext cx="25165645" cy="108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0"/>
              </a:lnSpc>
            </a:pPr>
            <a:r>
              <a:rPr lang="en-US" b="true" sz="5678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Splinternet &amp; Sovereign Targeting:</a:t>
            </a:r>
            <a:r>
              <a:rPr lang="en-US" sz="5678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 Navigating a Fractured Digital World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7429" y="1507930"/>
            <a:ext cx="8687395" cy="94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3"/>
              </a:lnSpc>
            </a:pPr>
            <a:r>
              <a:rPr lang="en-US" sz="4987" spc="-2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The Strategic Shift: Emergence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651" y="2214603"/>
            <a:ext cx="5654278" cy="96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6"/>
              </a:lnSpc>
            </a:pPr>
            <a:r>
              <a:rPr lang="en-US" sz="5061" spc="-1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of the Hybrid Threat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13536" y="1752395"/>
            <a:ext cx="3803303" cy="195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b="true" sz="2400" spc="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Lines Between Threat</a:t>
            </a:r>
          </a:p>
          <a:p>
            <a:pPr algn="l">
              <a:lnSpc>
                <a:spcPts val="2500"/>
              </a:lnSpc>
            </a:pPr>
            <a:r>
              <a:rPr lang="en-US" b="true" sz="2400" spc="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Actor Types are Blurring:</a:t>
            </a:r>
          </a:p>
          <a:p>
            <a:pPr algn="l">
              <a:lnSpc>
                <a:spcPts val="2500"/>
              </a:lnSpc>
            </a:pPr>
            <a:r>
              <a:rPr lang="en-US" sz="2400" spc="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Nation-state actors (APTS),</a:t>
            </a:r>
          </a:p>
          <a:p>
            <a:pPr algn="l">
              <a:lnSpc>
                <a:spcPts val="2500"/>
              </a:lnSpc>
            </a:pPr>
            <a:r>
              <a:rPr lang="en-US" sz="2400" spc="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cybercriminals, and</a:t>
            </a:r>
          </a:p>
          <a:p>
            <a:pPr algn="l">
              <a:lnSpc>
                <a:spcPts val="2500"/>
              </a:lnSpc>
            </a:pPr>
            <a:r>
              <a:rPr lang="en-US" sz="2400" spc="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hacktivists share tactics and</a:t>
            </a:r>
          </a:p>
          <a:p>
            <a:pPr algn="l">
              <a:lnSpc>
                <a:spcPts val="2500"/>
              </a:lnSpc>
            </a:pPr>
            <a:r>
              <a:rPr lang="en-US" sz="2400" spc="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infrastructure.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52345" y="1743866"/>
            <a:ext cx="3707011" cy="200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5"/>
              </a:lnSpc>
            </a:pPr>
            <a:r>
              <a:rPr lang="en-US" b="true" sz="2400" spc="9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Political and Financial</a:t>
            </a:r>
          </a:p>
          <a:p>
            <a:pPr algn="just">
              <a:lnSpc>
                <a:spcPts val="2565"/>
              </a:lnSpc>
            </a:pPr>
            <a:r>
              <a:rPr lang="en-US" b="true" sz="2400" spc="9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Motives are Overlapping:</a:t>
            </a:r>
          </a:p>
          <a:p>
            <a:pPr algn="just">
              <a:lnSpc>
                <a:spcPts val="2565"/>
              </a:lnSpc>
            </a:pPr>
            <a:r>
              <a:rPr lang="en-US" sz="2400" spc="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Threat actors combine</a:t>
            </a:r>
          </a:p>
          <a:p>
            <a:pPr algn="just">
              <a:lnSpc>
                <a:spcPts val="2565"/>
              </a:lnSpc>
            </a:pPr>
            <a:r>
              <a:rPr lang="en-US" sz="2400" spc="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state-sponsored espionage</a:t>
            </a:r>
          </a:p>
          <a:p>
            <a:pPr algn="just">
              <a:lnSpc>
                <a:spcPts val="2565"/>
              </a:lnSpc>
            </a:pPr>
            <a:r>
              <a:rPr lang="en-US" sz="2400" spc="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with broader political</a:t>
            </a:r>
          </a:p>
          <a:p>
            <a:pPr algn="just">
              <a:lnSpc>
                <a:spcPts val="2565"/>
              </a:lnSpc>
            </a:pPr>
            <a:r>
              <a:rPr lang="en-US" sz="2400" spc="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messaging and extortion.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470303" y="1736941"/>
            <a:ext cx="4269135" cy="297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b="true" sz="2400" spc="-28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 Geopolitical Crisis</a:t>
            </a:r>
          </a:p>
          <a:p>
            <a:pPr algn="l">
              <a:lnSpc>
                <a:spcPts val="2604"/>
              </a:lnSpc>
            </a:pPr>
            <a:r>
              <a:rPr lang="en-US" b="true" sz="2400" spc="-28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Becomes a Cyber Pretext:</a:t>
            </a:r>
          </a:p>
          <a:p>
            <a:pPr algn="l">
              <a:lnSpc>
                <a:spcPts val="2604"/>
              </a:lnSpc>
            </a:pPr>
            <a:r>
              <a:rPr lang="en-US" sz="2400" spc="-1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Events like the Venezuela crisis</a:t>
            </a:r>
          </a:p>
          <a:p>
            <a:pPr algn="l">
              <a:lnSpc>
                <a:spcPts val="2604"/>
              </a:lnSpc>
            </a:pP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are used to loosely synchronize</a:t>
            </a:r>
          </a:p>
          <a:p>
            <a:pPr algn="l">
              <a:lnSpc>
                <a:spcPts val="2604"/>
              </a:lnSpc>
            </a:pPr>
            <a:r>
              <a:rPr lang="en-US" sz="2400" spc="4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Russian, Iranian, and Chinese</a:t>
            </a:r>
          </a:p>
          <a:p>
            <a:pPr algn="l">
              <a:lnSpc>
                <a:spcPts val="2604"/>
              </a:lnSpc>
            </a:pPr>
            <a:r>
              <a:rPr lang="en-US" sz="2400" spc="4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operators into campaigns</a:t>
            </a:r>
          </a:p>
          <a:p>
            <a:pPr algn="l">
              <a:lnSpc>
                <a:spcPts val="2604"/>
              </a:lnSpc>
            </a:pP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targeting the U.S. and its</a:t>
            </a:r>
          </a:p>
          <a:p>
            <a:pPr algn="l">
              <a:lnSpc>
                <a:spcPts val="2604"/>
              </a:lnSpc>
            </a:pPr>
            <a:r>
              <a:rPr lang="en-US" sz="2400" spc="-4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partners with disinformation</a:t>
            </a:r>
          </a:p>
          <a:p>
            <a:pPr algn="l">
              <a:lnSpc>
                <a:spcPts val="2604"/>
              </a:lnSpc>
            </a:pPr>
            <a:r>
              <a:rPr lang="en-US" sz="2400" spc="-4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and infrastructure probing.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16568" y="5121986"/>
            <a:ext cx="5286077" cy="87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3"/>
              </a:lnSpc>
            </a:pPr>
            <a:r>
              <a:rPr lang="en-US" b="true" sz="2774" spc="7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SOVEREIGN INTERNETS</a:t>
            </a:r>
          </a:p>
          <a:p>
            <a:pPr algn="just">
              <a:lnSpc>
                <a:spcPts val="3293"/>
              </a:lnSpc>
            </a:pPr>
            <a:r>
              <a:rPr lang="en-US" b="true" sz="2774" spc="7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(Authoritarian-Aligned States)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16568" y="6288453"/>
            <a:ext cx="3041303" cy="123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797" spc="95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The Balkanization</a:t>
            </a:r>
          </a:p>
          <a:p>
            <a:pPr algn="l">
              <a:lnSpc>
                <a:spcPts val="3144"/>
              </a:lnSpc>
            </a:pPr>
            <a:r>
              <a:rPr lang="en-US" sz="2797" spc="95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of Cyberspace: A</a:t>
            </a:r>
          </a:p>
          <a:p>
            <a:pPr algn="l">
              <a:lnSpc>
                <a:spcPts val="3144"/>
              </a:lnSpc>
            </a:pPr>
            <a:r>
              <a:rPr lang="en-US" sz="2797" spc="95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Fractured Internet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699995" y="7843893"/>
            <a:ext cx="4924093" cy="167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b="true" sz="2400" spc="-1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Global Internet is Fracturing</a:t>
            </a:r>
          </a:p>
          <a:p>
            <a:pPr algn="l">
              <a:lnSpc>
                <a:spcPts val="2596"/>
              </a:lnSpc>
            </a:pPr>
            <a:r>
              <a:rPr lang="en-US" b="true" sz="2400" spc="-1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into "Digital Blocs":</a:t>
            </a:r>
            <a:r>
              <a:rPr lang="en-US" sz="2400" spc="-1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 Geopolitical</a:t>
            </a:r>
          </a:p>
          <a:p>
            <a:pPr algn="l">
              <a:lnSpc>
                <a:spcPts val="2596"/>
              </a:lnSpc>
            </a:pPr>
            <a:r>
              <a:rPr lang="en-US" sz="2400" spc="-1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tensions create separate internets</a:t>
            </a:r>
          </a:p>
          <a:p>
            <a:pPr algn="l">
              <a:lnSpc>
                <a:spcPts val="2596"/>
              </a:lnSpc>
            </a:pP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governed by national interests,</a:t>
            </a:r>
          </a:p>
          <a:p>
            <a:pPr algn="l">
              <a:lnSpc>
                <a:spcPts val="2596"/>
              </a:lnSpc>
            </a:pP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consership, and data localization.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700011" y="9709392"/>
            <a:ext cx="4924077" cy="163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b="true" sz="2400" spc="-9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 Sovereignty is Being</a:t>
            </a:r>
          </a:p>
          <a:p>
            <a:pPr algn="l">
              <a:lnSpc>
                <a:spcPts val="2529"/>
              </a:lnSpc>
            </a:pPr>
            <a:r>
              <a:rPr lang="en-US" b="true" sz="2400" spc="-9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Redefined by "Digital Tariffs":</a:t>
            </a:r>
          </a:p>
          <a:p>
            <a:pPr algn="l">
              <a:lnSpc>
                <a:spcPts val="2529"/>
              </a:lnSpc>
            </a:pPr>
            <a:r>
              <a:rPr lang="en-US" sz="2400" spc="-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Governments fax or restrict</a:t>
            </a:r>
          </a:p>
          <a:p>
            <a:pPr algn="l">
              <a:lnSpc>
                <a:spcPts val="2529"/>
              </a:lnSpc>
            </a:pPr>
            <a:r>
              <a:rPr lang="en-US" sz="2400" spc="-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cross-border services, creating</a:t>
            </a:r>
          </a:p>
          <a:p>
            <a:pPr algn="l">
              <a:lnSpc>
                <a:spcPts val="2529"/>
              </a:lnSpc>
            </a:pPr>
            <a:r>
              <a:rPr lang="en-US" sz="2400" spc="-9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economic and technical barriers.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99995" y="11526276"/>
            <a:ext cx="5039443" cy="232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b="true" sz="2400" spc="-33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 is Accelerating Divergence:</a:t>
            </a:r>
          </a:p>
          <a:p>
            <a:pPr algn="l">
              <a:lnSpc>
                <a:spcPts val="2608"/>
              </a:lnSpc>
            </a:pPr>
            <a:r>
              <a:rPr lang="en-US" sz="2400" spc="-33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As Al becomes a pillar of national</a:t>
            </a:r>
          </a:p>
          <a:p>
            <a:pPr algn="l">
              <a:lnSpc>
                <a:spcPts val="2608"/>
              </a:lnSpc>
            </a:pP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defense, model behavior will trace the </a:t>
            </a: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borders of political power, leading to region-specific censorship and </a:t>
            </a: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divergent realities that reflect</a:t>
            </a:r>
          </a:p>
          <a:p>
            <a:pPr algn="l">
              <a:lnSpc>
                <a:spcPts val="2608"/>
              </a:lnSpc>
            </a:pPr>
            <a:r>
              <a:rPr lang="en-US" sz="2400" spc="1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competing value systems.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7052" y="11178567"/>
            <a:ext cx="4532114" cy="167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b="true" sz="2400" spc="7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Attacks Can Become Collateral</a:t>
            </a:r>
          </a:p>
          <a:p>
            <a:pPr algn="l">
              <a:lnSpc>
                <a:spcPts val="2589"/>
              </a:lnSpc>
            </a:pPr>
            <a:r>
              <a:rPr lang="en-US" b="true" sz="2400" spc="7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Damage in Wider Conflicts:</a:t>
            </a:r>
          </a:p>
          <a:p>
            <a:pPr algn="l">
              <a:lnSpc>
                <a:spcPts val="2589"/>
              </a:lnSpc>
            </a:pPr>
            <a:r>
              <a:rPr lang="en-US" sz="2400" spc="7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Institutions targeted in</a:t>
            </a:r>
          </a:p>
          <a:p>
            <a:pPr algn="l">
              <a:lnSpc>
                <a:spcPts val="2589"/>
              </a:lnSpc>
            </a:pPr>
            <a:r>
              <a:rPr lang="en-US" sz="2400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widespread geopolitical attacks</a:t>
            </a:r>
          </a:p>
          <a:p>
            <a:pPr algn="l">
              <a:lnSpc>
                <a:spcPts val="2589"/>
              </a:lnSpc>
            </a:pPr>
            <a:r>
              <a:rPr lang="en-US" sz="2400" spc="-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to disrupt national infrastructure.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4958" y="9372355"/>
            <a:ext cx="4185664" cy="163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b="true" sz="2400" spc="-1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Threat Shifts from Data</a:t>
            </a:r>
          </a:p>
          <a:p>
            <a:pPr algn="l">
              <a:lnSpc>
                <a:spcPts val="2544"/>
              </a:lnSpc>
            </a:pPr>
            <a:r>
              <a:rPr lang="en-US" b="true" sz="2400" spc="-1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Theft to Cognitive Attacks:</a:t>
            </a:r>
            <a:r>
              <a:rPr lang="en-US" sz="2400" spc="-1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 Hybrid actors conduct disinformation campaigns to erode trust.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8123" y="7843893"/>
            <a:ext cx="4202054" cy="135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b="true" sz="2400" spc="1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Financial Institutions are</a:t>
            </a:r>
          </a:p>
          <a:p>
            <a:pPr algn="l">
              <a:lnSpc>
                <a:spcPts val="2556"/>
              </a:lnSpc>
            </a:pPr>
            <a:r>
              <a:rPr lang="en-US" b="true" sz="2400" spc="12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Proxies for the State:</a:t>
            </a:r>
          </a:p>
          <a:p>
            <a:pPr algn="l">
              <a:lnSpc>
                <a:spcPts val="2556"/>
              </a:lnSpc>
            </a:pPr>
            <a:r>
              <a:rPr lang="en-US" sz="2400" spc="1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Symbols of Western stability</a:t>
            </a:r>
          </a:p>
          <a:p>
            <a:pPr algn="l">
              <a:lnSpc>
                <a:spcPts val="2556"/>
              </a:lnSpc>
            </a:pPr>
            <a:r>
              <a:rPr lang="en-US" sz="2400" spc="12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and critical infrastructure.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8123" y="6536052"/>
            <a:ext cx="4202054" cy="122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b="true" sz="2700" spc="135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SOVEREIGN TARGET:</a:t>
            </a:r>
          </a:p>
          <a:p>
            <a:pPr algn="l">
              <a:lnSpc>
                <a:spcPts val="3096"/>
              </a:lnSpc>
            </a:pPr>
            <a:r>
              <a:rPr lang="en-US" sz="2700" spc="135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Western Financial</a:t>
            </a:r>
          </a:p>
          <a:p>
            <a:pPr algn="l">
              <a:lnSpc>
                <a:spcPts val="3096"/>
              </a:lnSpc>
            </a:pPr>
            <a:r>
              <a:rPr lang="en-US" sz="2700" spc="135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Institution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8443" y="5093411"/>
            <a:ext cx="4017466" cy="100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5"/>
              </a:lnSpc>
            </a:pPr>
            <a:r>
              <a:rPr lang="en-US" b="true" sz="3006" spc="195">
                <a:solidFill>
                  <a:srgbClr val="2928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OPEN INTERNET</a:t>
            </a:r>
          </a:p>
          <a:p>
            <a:pPr algn="just">
              <a:lnSpc>
                <a:spcPts val="3785"/>
              </a:lnSpc>
            </a:pPr>
            <a:r>
              <a:rPr lang="en-US" sz="3006" spc="195">
                <a:solidFill>
                  <a:srgbClr val="292826"/>
                </a:solidFill>
                <a:latin typeface="Arial MT Pro"/>
                <a:ea typeface="Arial MT Pro"/>
                <a:cs typeface="Arial MT Pro"/>
                <a:sym typeface="Arial MT Pro"/>
              </a:rPr>
              <a:t>(Allied Democracies)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DAG90k9mLsE</dc:identifier>
  <dcterms:modified xsi:type="dcterms:W3CDTF">2011-08-01T06:04:30Z</dcterms:modified>
  <cp:revision>1</cp:revision>
  <dc:title>FY2025 Executive Intelligence Summary: From Elevated Risk to Direct Confrontation The New Battlefield: Blurring Lines Between Crime &amp; Conflict</dc:title>
</cp:coreProperties>
</file>