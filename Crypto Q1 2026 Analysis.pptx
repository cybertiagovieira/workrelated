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2754"/>
            <a:ext cx="1962795" cy="213717"/>
          </a:xfrm>
          <a:prstGeom prst="roundRect">
            <a:avLst>
              <a:gd name="adj" fmla="val 78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644922"/>
            <a:ext cx="240371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2025–2026 THREAT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6419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Threats &amp; Top 5 Cyber Attacks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82626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actors have shifted from opportunistic exploits to coordinated infrastructure compromises and AI-accelerated attacks. Adversary breakout speed now averages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29 minutes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globally, demanding automated detection and real-time containment.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2033091"/>
            <a:ext cx="10868745" cy="2436713"/>
          </a:xfrm>
          <a:prstGeom prst="roundRect">
            <a:avLst>
              <a:gd name="adj" fmla="val 8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406650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777034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355479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725863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096246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81985" y="2033091"/>
            <a:ext cx="8786" cy="24367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5947" y="2033091"/>
            <a:ext cx="8786" cy="24367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09909" y="2033091"/>
            <a:ext cx="8786" cy="24367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08513" y="2117427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5650" y="2117427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9612" y="2117427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53574" y="2117427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8513" y="2487811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Bybit Exchange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5650" y="2487811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Feb 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9612" y="2487811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Private key / multi-sig bypass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53574" y="2487811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$1.46B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8513" y="2858195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Coinbase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5650" y="2858195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Mid-2025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9612" y="2858195"/>
            <a:ext cx="242663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social engineering / credential harvest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53574" y="2858195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$400M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8513" y="3436640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KelpDAO Bridge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5650" y="3436640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Apr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9612" y="3436640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LayerZero validation bypass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53574" y="3436640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$292M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8513" y="3807023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Drift Protocol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5650" y="3807023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Apr 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9612" y="3807023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signing vulnerability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53574" y="3807023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$285M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8513" y="4177407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Balancer v2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5650" y="4177407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Nov 2025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9612" y="4177407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Cross-chain rounding error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53574" y="4177407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$129M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1475" y="4648994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5 Preeminent Threats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61475" y="5047754"/>
            <a:ext cx="10868745" cy="120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State-sponsored operations: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76% of all service compromises; over $2.02B stolen in 2025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Private key / multi-sig vulnerability: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Most devastating attack vector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AI-driven "vulnerability apocalypse":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ML models scan codebases for zero-days and generate deepfakes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Advanced phishing / social engineering: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Bypasses MFA via fake IT support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Cross-chain messaging flaws: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Expanding attack surface across bridge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5108"/>
            <a:ext cx="1094554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006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584795"/>
            <a:ext cx="154539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8849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360686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H1 2026 recorded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207 hacking incidents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historic high — yet total losses fell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57%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$972M. Losses remain concentrated: just 15% of incidents drove 76% of stolen capital ($738.7M).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98334" y="1736328"/>
            <a:ext cx="4294477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207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1475" y="2318445"/>
            <a:ext cx="536819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Hacks in H1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588617"/>
            <a:ext cx="53681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Highest six-month count on record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98785" y="1736328"/>
            <a:ext cx="4294576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$972M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61926" y="2318445"/>
            <a:ext cx="536829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Losses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61926" y="2588617"/>
            <a:ext cx="53682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Down 57% from H1 2025's $2.30B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98334" y="3056830"/>
            <a:ext cx="4294477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1475" y="3638947"/>
            <a:ext cx="536819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Permanent Loss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3909120"/>
            <a:ext cx="53681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Probability of non-recovery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98785" y="3056830"/>
            <a:ext cx="4294576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$24.5M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61926" y="3638947"/>
            <a:ext cx="536829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Avg. Breach 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1926" y="3909120"/>
            <a:ext cx="53682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vs. $5.56M (finance) and $4.44M (global)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475" y="4258370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Breakdown by Category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1475" y="4623792"/>
            <a:ext cx="10868745" cy="1689100"/>
          </a:xfrm>
          <a:prstGeom prst="roundRect">
            <a:avLst>
              <a:gd name="adj" fmla="val 117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475" y="4963517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1475" y="5300067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5636617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1475" y="5973167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01271" y="46999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19192" y="46999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37113" y="46999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Mean Impact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1271" y="503654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Post-Breach Response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19192" y="503654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36%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37113" y="503654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$1.62M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1271" y="53730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Detection &amp; Escalation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19192" y="53730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37113" y="53730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$1.47M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1271" y="570964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Lost Business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19192" y="570964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29%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37113" y="570964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$1.28M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1271" y="60461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Notification Costs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19192" y="60461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37113" y="6046192"/>
            <a:ext cx="39629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$390K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818"/>
            <a:ext cx="1644510" cy="238820"/>
          </a:xfrm>
          <a:prstGeom prst="roundRect">
            <a:avLst>
              <a:gd name="adj" fmla="val 789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590947"/>
            <a:ext cx="2065583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4226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Impact: Worst Case Scenarios</a:t>
            </a:r>
            <a:endParaRPr lang="en-US" sz="3050" dirty="0"/>
          </a:p>
        </p:txBody>
      </p:sp>
      <p:sp>
        <p:nvSpPr>
          <p:cNvPr id="5" name="Shape 3"/>
          <p:cNvSpPr/>
          <p:nvPr/>
        </p:nvSpPr>
        <p:spPr>
          <a:xfrm>
            <a:off x="548269" y="1557040"/>
            <a:ext cx="5469098" cy="1904206"/>
          </a:xfrm>
          <a:prstGeom prst="roundRect">
            <a:avLst>
              <a:gd name="adj" fmla="val 1238"/>
            </a:avLst>
          </a:prstGeom>
          <a:solidFill>
            <a:srgbClr val="00674F"/>
          </a:solidFill>
          <a:ln/>
        </p:spPr>
      </p:sp>
      <p:sp>
        <p:nvSpPr>
          <p:cNvPr id="6" name="Text 4"/>
          <p:cNvSpPr/>
          <p:nvPr/>
        </p:nvSpPr>
        <p:spPr>
          <a:xfrm>
            <a:off x="705328" y="1706265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1: Oracle &amp; Bridge Exploit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5328" y="2101056"/>
            <a:ext cx="5154980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APT exploits a zero-day in cross-chain messaging, minting unbacked synthetic restaking assets. Manipulated price feeds collateralize these tokens on a lending market to drain genuine assets. Protocol detection triggers market freezes, bad debt, and a depositor run — halting trading and causing massive capital losses.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93883" y="1706265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2: State-Sponsored Infiltration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3883" y="2101056"/>
            <a:ext cx="5242687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DPRK-linked units use AI deepfakes to embed a developer within the DevOps team. Over months, the actor maps key lifecycle and HSM weaknesses, then activates a time-bombed signing-path vulnerability during a scheduled update — bypassing dual-control and multi-sig rules to drain hot and cold wallets to mixers within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629124"/>
            <a:ext cx="10868745" cy="852289"/>
          </a:xfrm>
          <a:prstGeom prst="roundRect">
            <a:avLst>
              <a:gd name="adj" fmla="val 2765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34" y="3852962"/>
            <a:ext cx="196349" cy="1570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1943" y="3817541"/>
            <a:ext cx="1020121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Physical Coercion Vector: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single "wrench attack" on credentialed personnel bypassed all multi-sig and HSM controls, adding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$24M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immediate losses.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1475" y="4705251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1475" y="5174655"/>
            <a:ext cx="3523368" cy="1139527"/>
          </a:xfrm>
          <a:prstGeom prst="roundRect">
            <a:avLst>
              <a:gd name="adj" fmla="val 2068"/>
            </a:avLst>
          </a:prstGeom>
          <a:solidFill>
            <a:srgbClr val="00915E"/>
          </a:solidFill>
          <a:ln/>
        </p:spPr>
      </p:sp>
      <p:sp>
        <p:nvSpPr>
          <p:cNvPr id="15" name="Text 12"/>
          <p:cNvSpPr/>
          <p:nvPr/>
        </p:nvSpPr>
        <p:spPr>
          <a:xfrm>
            <a:off x="818534" y="5331718"/>
            <a:ext cx="32092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61% Token Decline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8534" y="5666780"/>
            <a:ext cx="320924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Median utility token value drop within 6 months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34064" y="5174655"/>
            <a:ext cx="3523467" cy="1139527"/>
          </a:xfrm>
          <a:prstGeom prst="roundRect">
            <a:avLst>
              <a:gd name="adj" fmla="val 2068"/>
            </a:avLst>
          </a:prstGeom>
          <a:solidFill>
            <a:srgbClr val="00915E"/>
          </a:solidFill>
          <a:ln/>
        </p:spPr>
      </p:sp>
      <p:sp>
        <p:nvSpPr>
          <p:cNvPr id="18" name="Text 15"/>
          <p:cNvSpPr/>
          <p:nvPr/>
        </p:nvSpPr>
        <p:spPr>
          <a:xfrm>
            <a:off x="4491124" y="5331718"/>
            <a:ext cx="32093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3+ Months Paralysis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91124" y="5666780"/>
            <a:ext cx="320934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Lost output as engineering redirects to remediation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06753" y="5174655"/>
            <a:ext cx="3523368" cy="1139527"/>
          </a:xfrm>
          <a:prstGeom prst="roundRect">
            <a:avLst>
              <a:gd name="adj" fmla="val 2068"/>
            </a:avLst>
          </a:prstGeom>
          <a:solidFill>
            <a:srgbClr val="00915E"/>
          </a:solidFill>
          <a:ln/>
        </p:spPr>
      </p:sp>
      <p:sp>
        <p:nvSpPr>
          <p:cNvPr id="21" name="Text 18"/>
          <p:cNvSpPr/>
          <p:nvPr/>
        </p:nvSpPr>
        <p:spPr>
          <a:xfrm>
            <a:off x="8163812" y="5331718"/>
            <a:ext cx="32092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10% Global Turnover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163812" y="5666780"/>
            <a:ext cx="320924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Max DORA/MiCA administrative fines; potential CASP license revocation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966"/>
            <a:ext cx="903860" cy="23495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006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4242" y="571302"/>
            <a:ext cx="13279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7761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Case Study: KelpDAO Bridge Exploit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517948"/>
            <a:ext cx="10868745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 April 19, 2026, attackers exploited a validation flaw in KelpDAO's LayerZero-powered rsETH bridge, stealing 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116,500 rsETH (~$292M)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By bypassing confirmation protocols, they minted unbacked rETH, pledged it as collateral on Aave, and drained genuine ETH before markets paused.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213670"/>
            <a:ext cx="1086874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Lessons Learned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2672259"/>
            <a:ext cx="10868745" cy="81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Smart contract security is insufficient if cross-chain validation contains structural flaws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Multi-chain deployments amplify systemic risk: one bridge vulnerability triggers ecosystem-wide contagion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incident response is obsolete; automated circuit breakers must halt trading within minutes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3708598"/>
            <a:ext cx="1086874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Post-Exploit Laundering Timeline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1475" y="4167187"/>
            <a:ext cx="10868745" cy="2165846"/>
          </a:xfrm>
          <a:prstGeom prst="roundRect">
            <a:avLst>
              <a:gd name="adj" fmla="val 107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475" y="4602262"/>
            <a:ext cx="10868745" cy="96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034161"/>
            <a:ext cx="10868745" cy="96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5466060"/>
            <a:ext cx="10868745" cy="96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5897959"/>
            <a:ext cx="10868745" cy="966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86937" y="4167187"/>
            <a:ext cx="9667" cy="21658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4858" y="4167187"/>
            <a:ext cx="9667" cy="21658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3594" y="4266605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Window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44690" y="4266605"/>
            <a:ext cx="391199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Phase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2612" y="4266605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Movement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3594" y="4698504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0–5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44690" y="4698504"/>
            <a:ext cx="391199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Urgent Layering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62612" y="4698504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$150M+ to mixers (+135–150% volume surge)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3594" y="5130403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6–10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44690" y="5130403"/>
            <a:ext cx="391199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Multi-Chain Fragmentation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62612" y="5130403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$100M split across bridges (e.g., XMRT)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3594" y="5562302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11–20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44690" y="5562302"/>
            <a:ext cx="391199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 Runs &amp; Protocol Halts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62612" y="5562302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Aave deploys insurance reserve for bad debt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3594" y="5994202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20–45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44690" y="5994202"/>
            <a:ext cx="391199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Off-Ramping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62612" y="5994202"/>
            <a:ext cx="391517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$292M converted via weak-KYC exchanges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8412"/>
            <a:ext cx="1460364" cy="213717"/>
          </a:xfrm>
          <a:prstGeom prst="roundRect">
            <a:avLst>
              <a:gd name="adj" fmla="val 78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510580"/>
            <a:ext cx="1901281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2985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Mitigation Strategies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348284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layered, evidence-based security strategy is essential to protect assets under custody and ensure compliance with MiCA and DORA.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1690688"/>
            <a:ext cx="10868745" cy="2482453"/>
          </a:xfrm>
          <a:prstGeom prst="roundRect">
            <a:avLst>
              <a:gd name="adj" fmla="val 84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064246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642691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013075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591520"/>
            <a:ext cx="10868745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81985" y="1690688"/>
            <a:ext cx="8786" cy="24824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95947" y="1690688"/>
            <a:ext cx="8786" cy="24824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09909" y="1690688"/>
            <a:ext cx="8786" cy="24824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8513" y="1775023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5650" y="1775023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Effectiveness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9612" y="1775023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53574" y="1775023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ROM / ROI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8513" y="2145407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Bug Bounties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5650" y="2145407"/>
            <a:ext cx="242663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 bugs found in 93.9% of long-running programs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9612" y="2145407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$20K median per P1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53574" y="2145407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1,100x–4,500x ROI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8513" y="2723852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 &amp; Automation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5650" y="2723852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detection time by 80 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9612" y="2723852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$250K/year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53574" y="2723852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$1.9M–$2.22M saved per incident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8513" y="3094236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MPC &amp; HSM Key Protection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5650" y="3094236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Mitigates 76% of infrastructure losses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9612" y="3094236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$150K setup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53574" y="3094236"/>
            <a:ext cx="242980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Prevents single-point-of-failure breaches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8513" y="3672681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Post-Quantum Cryptography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5650" y="3672681"/>
            <a:ext cx="242663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Secures up to 50% of circulating supply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9612" y="3672681"/>
            <a:ext cx="303621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$100K inventory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53574" y="3672681"/>
            <a:ext cx="303939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Avoids systemic quantum collapse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0274" y="4307483"/>
            <a:ext cx="5465328" cy="2082006"/>
          </a:xfrm>
          <a:prstGeom prst="roundRect">
            <a:avLst>
              <a:gd name="adj" fmla="val 1013"/>
            </a:avLst>
          </a:prstGeom>
          <a:solidFill>
            <a:srgbClr val="00674F"/>
          </a:solidFill>
          <a:ln/>
        </p:spPr>
      </p:sp>
      <p:sp>
        <p:nvSpPr>
          <p:cNvPr id="35" name="Text 33"/>
          <p:cNvSpPr/>
          <p:nvPr/>
        </p:nvSpPr>
        <p:spPr>
          <a:xfrm>
            <a:off x="700765" y="4426942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MiCA &amp; DORA Compliance Deadlines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00765" y="4765973"/>
            <a:ext cx="5184348" cy="1581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July 1, 2026: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MiCA transitional period ends — formal CASP license required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July 28, 2026: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ESMA suitability guidelines require documented staff competence verification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DORA Articles 6–8: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Mandatory key-lifecycle controls, MPC signing, hot/cold storage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Incident Reporting: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DORA requires notification within 4 hours vs. NIS2's 24-hour window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73643" y="4426942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Regulatory Hierarchy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73643" y="4765973"/>
            <a:ext cx="5262927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DORA serves as </a:t>
            </a:r>
            <a:pPr algn="l" indent="0" marL="0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lex specialis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financial entities and authorized CASPs, taking precedence over NIS2 where cybersecurity mandates overlap. CASPs must still comply with NIS2's broader supply chain requirements for non-ICT providers, requiring an integrated compliance strategy.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2026-07-13T12:24:09Z</dcterms:created>
  <dcterms:modified xsi:type="dcterms:W3CDTF">2026-07-13T12:24:09Z</dcterms:modified>
</cp:coreProperties>
</file>