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ial MT Pro Bold" charset="1" panose="020B0802020202020204"/>
      <p:regular r:id="rId7"/>
    </p:embeddedFont>
    <p:embeddedFont>
      <p:font typeface="Arial MT Pro" charset="1" panose="020B0502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7150" y="-129586"/>
            <a:ext cx="18288000" cy="9971073"/>
          </a:xfrm>
          <a:custGeom>
            <a:avLst/>
            <a:gdLst/>
            <a:ahLst/>
            <a:cxnLst/>
            <a:rect r="r" b="b" t="t" l="l"/>
            <a:pathLst>
              <a:path h="9971073" w="18288000">
                <a:moveTo>
                  <a:pt x="0" y="0"/>
                </a:moveTo>
                <a:lnTo>
                  <a:pt x="18288000" y="0"/>
                </a:lnTo>
                <a:lnTo>
                  <a:pt x="18288000" y="9971073"/>
                </a:lnTo>
                <a:lnTo>
                  <a:pt x="0" y="9971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" r="0" b="-1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3239" y="139621"/>
            <a:ext cx="17927836" cy="82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5"/>
              </a:lnSpc>
            </a:pPr>
            <a:r>
              <a:rPr lang="en-US" b="true" sz="4015" spc="188">
                <a:solidFill>
                  <a:srgbClr val="10372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2025 ANNUAL REVIEW: THE GEOPOLITICAL &amp; CYBER LANDSCAPE</a:t>
            </a:r>
          </a:p>
          <a:p>
            <a:pPr algn="l">
              <a:lnSpc>
                <a:spcPts val="2017"/>
              </a:lnSpc>
            </a:pPr>
            <a:r>
              <a:rPr lang="en-US" sz="2017" spc="18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CONVERGENCE OF KINETIC CONFLICT, TRADE PROTECTIONISM, &amp; SYSTEMIC CYBER RISK | GLOBAL COST OF CYBERCRIME: +15% YoY.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2550" y="1254869"/>
            <a:ext cx="382345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-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APRIL 02: US 'LIBERATION DAY' TARIFFS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5547" y="1568643"/>
            <a:ext cx="384045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61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EVENT:</a:t>
            </a:r>
          </a:p>
          <a:p>
            <a:pPr algn="l">
              <a:lnSpc>
                <a:spcPts val="1500"/>
              </a:lnSpc>
            </a:pPr>
            <a:r>
              <a:rPr lang="en-US" sz="1500" spc="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90+ Country Tariffs. S&amp;P 500 Correction.</a:t>
            </a:r>
          </a:p>
          <a:p>
            <a:pPr algn="l">
              <a:lnSpc>
                <a:spcPts val="1500"/>
              </a:lnSpc>
            </a:pPr>
            <a:r>
              <a:rPr lang="en-US" sz="1500" spc="2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Shift to domestic industrial capacity.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5547" y="2225034"/>
            <a:ext cx="324350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44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RISK INSIGHT:</a:t>
            </a:r>
          </a:p>
          <a:p>
            <a:pPr algn="l">
              <a:lnSpc>
                <a:spcPts val="1500"/>
              </a:lnSpc>
            </a:pPr>
            <a:r>
              <a:rPr lang="en-US" b="true" sz="1500" spc="4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End of "Neutrality Arbitrage."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5547" y="2644134"/>
            <a:ext cx="395248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4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Friendshoring accelerates supply chain bifurcation. Organizations must align with trusted economic nodes, increasing vendor risk complexity. Heightened threat of retaliatory state-sponsored cyber espionage against US industrial targets.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7426" y="4617825"/>
            <a:ext cx="319623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b="true" sz="1500" spc="-3" strike="noStrike" u="non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OCT 17: US BANKING CONTAGION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0834" y="4939922"/>
            <a:ext cx="223123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</a:pPr>
            <a:r>
              <a:rPr lang="en-US" b="true" sz="1500" spc="21" strike="noStrike" u="none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EVENT: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0834" y="5128435"/>
            <a:ext cx="402752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13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Failures of Zions Bancorp &amp; Western Alliance. Panic triggers gold peak at $4,378/oz. Global liquidity freeze.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0834" y="5738035"/>
            <a:ext cx="217610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</a:pPr>
            <a:r>
              <a:rPr lang="en-US" b="true" sz="1500" spc="46" strike="noStrike" u="none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RISK INSIGHT: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0332" y="5943632"/>
            <a:ext cx="4216135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</a:pPr>
            <a:r>
              <a:rPr lang="en-US" b="true" sz="1500" spc="46" strike="noStrike" u="none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Systemic Fragility Exposed.</a:t>
            </a:r>
          </a:p>
          <a:p>
            <a:pPr algn="l" marL="0" indent="0" lvl="0">
              <a:lnSpc>
                <a:spcPts val="1500"/>
              </a:lnSpc>
            </a:pPr>
            <a:r>
              <a:rPr lang="en-US" sz="1500" spc="46" strike="noStrike" u="none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Basel III delays created vulnerability. The crash validated the EU's DORA approach, Cybercriminals exploit market volatility for phishing and fraud. Increased focus on "unrealized loss" traps as a contagion vector.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2403" y="1254869"/>
            <a:ext cx="333458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JAN 17: DORA ENFORCEMENT LIVE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92403" y="1511493"/>
            <a:ext cx="2292667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b="true" sz="1500" spc="46" strike="noStrike" u="none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EVENT: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92403" y="1740093"/>
            <a:ext cx="366381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sz="1500" spc="46" strike="noStrike" u="none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21,000+ entities under strict supervision.</a:t>
            </a:r>
          </a:p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sz="1500" spc="46" strike="noStrike" u="none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"Compliance Fortress" strategy.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92403" y="2110734"/>
            <a:ext cx="217610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b="true" sz="1500" spc="46" strike="noStrike" u="none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RISK INSIGHT: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63828" y="2312218"/>
            <a:ext cx="366381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32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Operational Friction vs. Resilience.</a:t>
            </a:r>
          </a:p>
          <a:p>
            <a:pPr algn="l">
              <a:lnSpc>
                <a:spcPts val="1500"/>
              </a:lnSpc>
            </a:pPr>
            <a:r>
              <a:rPr lang="en-US" sz="1500" spc="3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Compliance costs surged 15-20%. Initial operational disruption was significant, but the hardened sector weathered the US contagion with minimal direct exposure. The primary residual risk is now the opaque NBFI (shadow banking) sector.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26515" y="6469300"/>
            <a:ext cx="444388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56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EVENT:</a:t>
            </a:r>
          </a:p>
          <a:p>
            <a:pPr algn="l">
              <a:lnSpc>
                <a:spcPts val="1500"/>
              </a:lnSpc>
            </a:pPr>
            <a:r>
              <a:rPr lang="en-US" sz="1500" spc="3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Focus on Adaptation Finance. "Drex" CBDC Pilot delayed to 2026.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26515" y="7263435"/>
            <a:ext cx="4443889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1399" spc="8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Digital Currency Stalls.</a:t>
            </a:r>
          </a:p>
          <a:p>
            <a:pPr algn="l">
              <a:lnSpc>
                <a:spcPts val="1399"/>
              </a:lnSpc>
            </a:pPr>
            <a:r>
              <a:rPr lang="en-US" sz="1399" spc="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Drex delay, alongside the Digital Euro stall, indicates significant technical and regulatory hurdles for CBDCs. This creates a window for private, tokenized deposit schemes to fill the void, introducing new, unregulated risks.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67300" y="2374447"/>
            <a:ext cx="4105064" cy="204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"/>
              </a:lnSpc>
            </a:pPr>
            <a:r>
              <a:rPr lang="en-US" b="true" sz="1300" spc="6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DEC: YEN UNWIND &amp; CHINA'S MANAGED DECLINE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29618" y="2875348"/>
            <a:ext cx="388096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1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BoJ Rate Hike to 0.75% ends negative rates.</a:t>
            </a:r>
          </a:p>
          <a:p>
            <a:pPr algn="l">
              <a:lnSpc>
                <a:spcPts val="1500"/>
              </a:lnSpc>
            </a:pPr>
            <a:r>
              <a:rPr lang="en-US" sz="1500" spc="16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China's 5% growth target &amp; tech decoupling.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6852" y="3313498"/>
            <a:ext cx="223766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72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RISK INSIGHT: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94882" y="3542098"/>
            <a:ext cx="4077482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4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Financial Repatriation &amp; Asymmetric Threats.</a:t>
            </a:r>
          </a:p>
          <a:p>
            <a:pPr algn="l">
              <a:lnSpc>
                <a:spcPts val="1500"/>
              </a:lnSpc>
            </a:pPr>
            <a:r>
              <a:rPr lang="en-US" sz="1500" spc="4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The Yen unwind increased global funding costs, exposing hidden leverage. China's decoupling drives use of asymmetric cyber tools for economic leverage and retaliation (e.g., rare earth supply chain disruption).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76825" y="5380423"/>
            <a:ext cx="406765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-15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JULY: AI FRAUD &amp; SUPPLY CHAIN ATTACKS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86350" y="5684369"/>
            <a:ext cx="228552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43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EVENT: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86350" y="5932019"/>
            <a:ext cx="408601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22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India: Deutsche Bank Exec defrauded ₹1.08Cr via Deepfake. GlassWorm Outbreak (Q4).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16852" y="6427319"/>
            <a:ext cx="21869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51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RISK INSIGHT: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808320" y="6636014"/>
            <a:ext cx="232302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7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Crisis of Verification.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08320" y="6864614"/>
            <a:ext cx="4086014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3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Deepfakes prove the operational viability of real-time executive impersonation, rendering voice/video verification obsolete.</a:t>
            </a:r>
          </a:p>
          <a:p>
            <a:pPr algn="l">
              <a:lnSpc>
                <a:spcPts val="1500"/>
              </a:lnSpc>
            </a:pPr>
            <a:r>
              <a:rPr lang="en-US" sz="1500" spc="3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GlassWorm's invisible Unicode injections</a:t>
            </a:r>
          </a:p>
          <a:p>
            <a:pPr algn="l">
              <a:lnSpc>
                <a:spcPts val="1500"/>
              </a:lnSpc>
            </a:pPr>
            <a:r>
              <a:rPr lang="en-US" sz="1500" spc="3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infected 35,800+ VS Code environments,</a:t>
            </a:r>
          </a:p>
          <a:p>
            <a:pPr algn="l">
              <a:lnSpc>
                <a:spcPts val="1500"/>
              </a:lnSpc>
            </a:pPr>
            <a:r>
              <a:rPr lang="en-US" sz="1500" spc="3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confirming the "just-in-time" software supply</a:t>
            </a:r>
          </a:p>
          <a:p>
            <a:pPr algn="l">
              <a:lnSpc>
                <a:spcPts val="1500"/>
              </a:lnSpc>
            </a:pPr>
            <a:r>
              <a:rPr lang="en-US" sz="1500" spc="3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chain is poisoned.</a:t>
            </a:r>
          </a:p>
          <a:p>
            <a:pPr algn="l">
              <a:lnSpc>
                <a:spcPts val="15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340332" y="8891757"/>
            <a:ext cx="201591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4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JAN: DORA Live</a:t>
            </a:r>
          </a:p>
          <a:p>
            <a:pPr algn="l">
              <a:lnSpc>
                <a:spcPts val="1500"/>
              </a:lnSpc>
            </a:pPr>
            <a:r>
              <a:rPr lang="en-US" b="true" sz="1500" spc="4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</a:p>
          <a:p>
            <a:pPr algn="l">
              <a:lnSpc>
                <a:spcPts val="1500"/>
              </a:lnSpc>
            </a:pPr>
            <a:r>
              <a:rPr lang="en-US" sz="1500" spc="4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Compliance costs surge; resilience increases.</a:t>
            </a:r>
          </a:p>
          <a:p>
            <a:pPr algn="l">
              <a:lnSpc>
                <a:spcPts val="150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2374596" y="8891757"/>
            <a:ext cx="192022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36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FEB: German Election</a:t>
            </a:r>
          </a:p>
          <a:p>
            <a:pPr algn="l">
              <a:lnSpc>
                <a:spcPts val="1500"/>
              </a:lnSpc>
            </a:pPr>
            <a:r>
              <a:rPr lang="en-US" b="true" sz="1500" spc="6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  <a:r>
              <a:rPr lang="en-US" sz="1500" spc="6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 Political stability aids market calm.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88359" y="8891757"/>
            <a:ext cx="201644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28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APR: US Tariffs</a:t>
            </a:r>
          </a:p>
          <a:p>
            <a:pPr algn="l">
              <a:lnSpc>
                <a:spcPts val="1500"/>
              </a:lnSpc>
            </a:pPr>
            <a:r>
              <a:rPr lang="en-US" b="true" sz="1500" spc="1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</a:p>
          <a:p>
            <a:pPr algn="l">
              <a:lnSpc>
                <a:spcPts val="1500"/>
              </a:lnSpc>
            </a:pPr>
            <a:r>
              <a:rPr lang="en-US" sz="1500" spc="1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Supply chains fracture; cyber espionage risk rises.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04803" y="8891757"/>
            <a:ext cx="153245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16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JUN: G7 Summit</a:t>
            </a:r>
          </a:p>
          <a:p>
            <a:pPr algn="l">
              <a:lnSpc>
                <a:spcPts val="1500"/>
              </a:lnSpc>
            </a:pPr>
            <a:r>
              <a:rPr lang="en-US" b="true" sz="1500" spc="16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 </a:t>
            </a:r>
          </a:p>
          <a:p>
            <a:pPr algn="l">
              <a:lnSpc>
                <a:spcPts val="1500"/>
              </a:lnSpc>
            </a:pPr>
            <a:r>
              <a:rPr lang="en-US" sz="1500" spc="16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Focus on</a:t>
            </a:r>
          </a:p>
          <a:p>
            <a:pPr algn="l">
              <a:lnSpc>
                <a:spcPts val="1500"/>
              </a:lnSpc>
            </a:pPr>
            <a:r>
              <a:rPr lang="en-US" sz="1500" spc="16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economic node</a:t>
            </a:r>
          </a:p>
          <a:p>
            <a:pPr algn="l">
              <a:lnSpc>
                <a:spcPts val="1500"/>
              </a:lnSpc>
            </a:pPr>
            <a:r>
              <a:rPr lang="en-US" sz="1500" spc="16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alignment.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50191" y="8891757"/>
            <a:ext cx="199473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JULY: AI Fraud (India)</a:t>
            </a:r>
          </a:p>
          <a:p>
            <a:pPr algn="l">
              <a:lnSpc>
                <a:spcPts val="1500"/>
              </a:lnSpc>
            </a:pPr>
            <a:r>
              <a:rPr lang="en-US" b="true" sz="1500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  <a:r>
              <a:rPr lang="en-US" sz="1500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 Deepfake</a:t>
            </a:r>
          </a:p>
          <a:p>
            <a:pPr algn="l">
              <a:lnSpc>
                <a:spcPts val="1500"/>
              </a:lnSpc>
            </a:pPr>
            <a:r>
              <a:rPr lang="en-US" sz="1500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víability proven.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63974" y="8889670"/>
            <a:ext cx="199144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34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AUG: US-India Trade Rift </a:t>
            </a:r>
          </a:p>
          <a:p>
            <a:pPr algn="l">
              <a:lnSpc>
                <a:spcPts val="1500"/>
              </a:lnSpc>
            </a:pPr>
            <a:r>
              <a:rPr lang="en-US" b="true" sz="1500" spc="34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  <a:r>
              <a:rPr lang="en-US" sz="1500" spc="34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 Geopolitical tension creates cyber friction.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85495" y="8855339"/>
            <a:ext cx="188428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500" spc="18" b="true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OCT: US Bank Crash</a:t>
            </a:r>
          </a:p>
          <a:p>
            <a:pPr algn="l">
              <a:lnSpc>
                <a:spcPts val="1500"/>
              </a:lnSpc>
            </a:pPr>
            <a:r>
              <a:rPr lang="en-US" b="true" sz="1500" spc="18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  <a:r>
              <a:rPr lang="en-US" sz="1500" spc="18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 Regulatory failure exposed; global liquidity freeze.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65034" y="8848725"/>
            <a:ext cx="1987242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4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NOV: COP30</a:t>
            </a:r>
          </a:p>
          <a:p>
            <a:pPr algn="l">
              <a:lnSpc>
                <a:spcPts val="1500"/>
              </a:lnSpc>
            </a:pPr>
            <a:r>
              <a:rPr lang="en-US" b="true" sz="1500" spc="4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</a:p>
          <a:p>
            <a:pPr algn="l">
              <a:lnSpc>
                <a:spcPts val="1500"/>
              </a:lnSpc>
            </a:pPr>
            <a:r>
              <a:rPr lang="en-US" sz="1500" spc="4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Focus on climate finance cyber risks.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352276" y="8855339"/>
            <a:ext cx="181879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7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DEC: GlassWorm</a:t>
            </a:r>
          </a:p>
          <a:p>
            <a:pPr algn="l">
              <a:lnSpc>
                <a:spcPts val="1500"/>
              </a:lnSpc>
            </a:pPr>
            <a:r>
              <a:rPr lang="en-US" b="true" sz="1500" spc="7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Discovery</a:t>
            </a:r>
          </a:p>
          <a:p>
            <a:pPr algn="l">
              <a:lnSpc>
                <a:spcPts val="1500"/>
              </a:lnSpc>
            </a:pPr>
            <a:r>
              <a:rPr lang="en-US" b="true" sz="1500" spc="7">
                <a:solidFill>
                  <a:srgbClr val="36353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Insight:</a:t>
            </a:r>
          </a:p>
          <a:p>
            <a:pPr algn="l">
              <a:lnSpc>
                <a:spcPts val="1500"/>
              </a:lnSpc>
            </a:pPr>
            <a:r>
              <a:rPr lang="en-US" sz="1500" spc="7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Dev environment</a:t>
            </a:r>
          </a:p>
          <a:p>
            <a:pPr algn="l">
              <a:lnSpc>
                <a:spcPts val="1500"/>
              </a:lnSpc>
            </a:pPr>
            <a:r>
              <a:rPr lang="en-US" sz="1500" spc="7">
                <a:solidFill>
                  <a:srgbClr val="363532"/>
                </a:solidFill>
                <a:latin typeface="Arial MT Pro"/>
                <a:ea typeface="Arial MT Pro"/>
                <a:cs typeface="Arial MT Pro"/>
                <a:sym typeface="Arial MT Pro"/>
              </a:rPr>
              <a:t>compromise at scale.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829618" y="2653659"/>
            <a:ext cx="225290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30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GEOPOLITICAL EVENT: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72354" y="6216914"/>
            <a:ext cx="348734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500" spc="32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NOV: COP30 BELEM &amp; CBDC DELAY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26515" y="7055114"/>
            <a:ext cx="217610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00"/>
              </a:lnSpc>
              <a:spcBef>
                <a:spcPct val="0"/>
              </a:spcBef>
            </a:pPr>
            <a:r>
              <a:rPr lang="en-US" b="true" sz="1500" spc="46" strike="noStrike" u="none">
                <a:solidFill>
                  <a:srgbClr val="A8BEAC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CYBER RISK INSIGHT: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DAHA0UdGoE0</dc:identifier>
  <dcterms:modified xsi:type="dcterms:W3CDTF">2011-08-01T06:04:30Z</dcterms:modified>
  <cp:revision>1</cp:revision>
  <dc:title>GEOPOLITICAL EVENT: 90+ Country Tariffs. S&amp;P 500 Correction. Shift to domestic industrial capacity.</dc:title>
</cp:coreProperties>
</file>