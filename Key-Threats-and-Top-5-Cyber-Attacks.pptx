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Crimson Pro Semi Bold"/>
      <p:regular r:id="rId12"/>
    </p:embeddedFont>
    <p:embeddedFont>
      <p:font typeface="Crimson Pro Semi Bold"/>
      <p:regular r:id="rId13"/>
    </p:embeddedFont>
    <p:embeddedFont>
      <p:font typeface="Crimson Pro Semi Bold"/>
      <p:regular r:id="rId14"/>
    </p:embeddedFont>
    <p:embeddedFont>
      <p:font typeface="Crimson Pro Semi Bold"/>
      <p:regular r:id="rId15"/>
    </p:embeddedFont>
    <p:embeddedFont>
      <p:font typeface="Heebo"/>
      <p:regular r:id="rId16"/>
    </p:embeddedFont>
    <p:embeddedFont>
      <p:font typeface="Heebo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1647" y="624483"/>
            <a:ext cx="5610344" cy="494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Threats &amp; Top 5 Cyber Attacks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1647" y="1340287"/>
            <a:ext cx="13047107" cy="430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telecommunications sector is the critical backbone of the global digital economy — a high-stakes target where threat actors have transitioned from isolated incursions to </a:t>
            </a:r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continuous, automated campaigns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designed to compromise the inherent trust boundaries of modern networks.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91647" y="1894642"/>
            <a:ext cx="4275296" cy="1320879"/>
          </a:xfrm>
          <a:prstGeom prst="roundRect">
            <a:avLst>
              <a:gd name="adj" fmla="val 830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787" y="1894642"/>
            <a:ext cx="91440" cy="1320879"/>
          </a:xfrm>
          <a:prstGeom prst="roundRect">
            <a:avLst>
              <a:gd name="adj" fmla="val 25974"/>
            </a:avLst>
          </a:prstGeom>
          <a:solidFill>
            <a:srgbClr val="00674F"/>
          </a:solidFill>
          <a:ln/>
        </p:spPr>
      </p:sp>
      <p:sp>
        <p:nvSpPr>
          <p:cNvPr id="6" name="Text 4"/>
          <p:cNvSpPr/>
          <p:nvPr/>
        </p:nvSpPr>
        <p:spPr>
          <a:xfrm>
            <a:off x="1041321" y="2075736"/>
            <a:ext cx="3456622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Professionalized Ransomware &amp; Extortion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41321" y="2389346"/>
            <a:ext cx="3844528" cy="645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Multi-extortion models and RaaS platforms now implicated in </a:t>
            </a:r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44%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telecom breaches, driving up recovery timelines and median costs.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77433" y="1894642"/>
            <a:ext cx="4275415" cy="1320879"/>
          </a:xfrm>
          <a:prstGeom prst="roundRect">
            <a:avLst>
              <a:gd name="adj" fmla="val 830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54573" y="1894642"/>
            <a:ext cx="91440" cy="1320879"/>
          </a:xfrm>
          <a:prstGeom prst="roundRect">
            <a:avLst>
              <a:gd name="adj" fmla="val 25974"/>
            </a:avLst>
          </a:prstGeom>
          <a:solidFill>
            <a:srgbClr val="00674F"/>
          </a:solidFill>
          <a:ln/>
        </p:spPr>
      </p:sp>
      <p:sp>
        <p:nvSpPr>
          <p:cNvPr id="10" name="Text 8"/>
          <p:cNvSpPr/>
          <p:nvPr/>
        </p:nvSpPr>
        <p:spPr>
          <a:xfrm>
            <a:off x="5427107" y="2075736"/>
            <a:ext cx="2643664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AI-Enhanced Social Engineering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427107" y="2389346"/>
            <a:ext cx="3844647" cy="645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Generative AI has scaled targeted phishing volume by </a:t>
            </a:r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4,151%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severely compressing the attack lifecycle and overwhelming human triage.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563338" y="1894642"/>
            <a:ext cx="4275296" cy="1320879"/>
          </a:xfrm>
          <a:prstGeom prst="roundRect">
            <a:avLst>
              <a:gd name="adj" fmla="val 830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40478" y="1894642"/>
            <a:ext cx="91440" cy="1320879"/>
          </a:xfrm>
          <a:prstGeom prst="roundRect">
            <a:avLst>
              <a:gd name="adj" fmla="val 25974"/>
            </a:avLst>
          </a:prstGeom>
          <a:solidFill>
            <a:srgbClr val="00674F"/>
          </a:solidFill>
          <a:ln/>
        </p:spPr>
      </p:sp>
      <p:sp>
        <p:nvSpPr>
          <p:cNvPr id="14" name="Text 12"/>
          <p:cNvSpPr/>
          <p:nvPr/>
        </p:nvSpPr>
        <p:spPr>
          <a:xfrm>
            <a:off x="9813012" y="2075736"/>
            <a:ext cx="3155394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Edge &amp; VPN Vulnerability Exploitation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813012" y="2389346"/>
            <a:ext cx="3844528" cy="645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Systematic targeting of internet-facing gateways for initial access — exploitation of this vector has surged by </a:t>
            </a:r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800%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1647" y="3326011"/>
            <a:ext cx="4275296" cy="1320879"/>
          </a:xfrm>
          <a:prstGeom prst="roundRect">
            <a:avLst>
              <a:gd name="adj" fmla="val 830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787" y="3326011"/>
            <a:ext cx="91440" cy="1320879"/>
          </a:xfrm>
          <a:prstGeom prst="roundRect">
            <a:avLst>
              <a:gd name="adj" fmla="val 25974"/>
            </a:avLst>
          </a:prstGeom>
          <a:solidFill>
            <a:srgbClr val="00674F"/>
          </a:solidFill>
          <a:ln/>
        </p:spPr>
      </p:sp>
      <p:sp>
        <p:nvSpPr>
          <p:cNvPr id="18" name="Text 16"/>
          <p:cNvSpPr/>
          <p:nvPr/>
        </p:nvSpPr>
        <p:spPr>
          <a:xfrm>
            <a:off x="1041321" y="3507105"/>
            <a:ext cx="3374827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Third-Party &amp; Supply Chain Compromise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41321" y="3820716"/>
            <a:ext cx="3844528" cy="645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Adversaries bypass primary perimeters via trusted cloud integrations. This vector has doubled, now accounting for </a:t>
            </a:r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30%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all breaches.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77433" y="3326011"/>
            <a:ext cx="4275415" cy="1320879"/>
          </a:xfrm>
          <a:prstGeom prst="roundRect">
            <a:avLst>
              <a:gd name="adj" fmla="val 830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54573" y="3326011"/>
            <a:ext cx="91440" cy="1320879"/>
          </a:xfrm>
          <a:prstGeom prst="roundRect">
            <a:avLst>
              <a:gd name="adj" fmla="val 25974"/>
            </a:avLst>
          </a:prstGeom>
          <a:solidFill>
            <a:srgbClr val="00674F"/>
          </a:solidFill>
          <a:ln/>
        </p:spPr>
      </p:sp>
      <p:sp>
        <p:nvSpPr>
          <p:cNvPr id="22" name="Text 20"/>
          <p:cNvSpPr/>
          <p:nvPr/>
        </p:nvSpPr>
        <p:spPr>
          <a:xfrm>
            <a:off x="5427107" y="3507105"/>
            <a:ext cx="3358872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State-Sponsored Espionage &amp; Disruption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427107" y="3820716"/>
            <a:ext cx="3844647" cy="430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APTs targeting telecom for infrastructure pre-positioning and metadata theft have risen by </a:t>
            </a:r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163%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1647" y="4812625"/>
            <a:ext cx="5905143" cy="395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Telecommunications-Specific Vulnerabilities</a:t>
            </a:r>
            <a:endParaRPr lang="en-US" sz="2450" dirty="0"/>
          </a:p>
        </p:txBody>
      </p:sp>
      <p:sp>
        <p:nvSpPr>
          <p:cNvPr id="25" name="Shape 23"/>
          <p:cNvSpPr/>
          <p:nvPr/>
        </p:nvSpPr>
        <p:spPr>
          <a:xfrm>
            <a:off x="791647" y="5374243"/>
            <a:ext cx="6468308" cy="1060133"/>
          </a:xfrm>
          <a:prstGeom prst="roundRect">
            <a:avLst>
              <a:gd name="adj" fmla="val 2240"/>
            </a:avLst>
          </a:prstGeom>
          <a:solidFill>
            <a:srgbClr val="F2EEEE"/>
          </a:solidFill>
          <a:ln/>
        </p:spPr>
      </p:sp>
      <p:sp>
        <p:nvSpPr>
          <p:cNvPr id="26" name="Text 24"/>
          <p:cNvSpPr/>
          <p:nvPr/>
        </p:nvSpPr>
        <p:spPr>
          <a:xfrm>
            <a:off x="949881" y="5532477"/>
            <a:ext cx="2200870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Virtualization &amp; SDN Risks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49881" y="5846088"/>
            <a:ext cx="6151840" cy="430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5G SA cloud-native stacks and NFV expose API ecosystems and orchestration layers to centralized compromise.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70445" y="5374243"/>
            <a:ext cx="6468308" cy="1060133"/>
          </a:xfrm>
          <a:prstGeom prst="roundRect">
            <a:avLst>
              <a:gd name="adj" fmla="val 2240"/>
            </a:avLst>
          </a:prstGeom>
          <a:solidFill>
            <a:srgbClr val="F2EEEE"/>
          </a:solidFill>
          <a:ln/>
        </p:spPr>
      </p:sp>
      <p:sp>
        <p:nvSpPr>
          <p:cNvPr id="29" name="Text 27"/>
          <p:cNvSpPr/>
          <p:nvPr/>
        </p:nvSpPr>
        <p:spPr>
          <a:xfrm>
            <a:off x="7528679" y="5532477"/>
            <a:ext cx="2091690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Legacy Protocol Exposure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7528679" y="5846088"/>
            <a:ext cx="6151840" cy="430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SS7 and Diameter protocols lack built-in security, enabling location tracking, call interception, and SMS redirection.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91647" y="6544866"/>
            <a:ext cx="6468308" cy="1060133"/>
          </a:xfrm>
          <a:prstGeom prst="roundRect">
            <a:avLst>
              <a:gd name="adj" fmla="val 2240"/>
            </a:avLst>
          </a:prstGeom>
          <a:solidFill>
            <a:srgbClr val="F2EEEE"/>
          </a:solidFill>
          <a:ln/>
        </p:spPr>
      </p:sp>
      <p:sp>
        <p:nvSpPr>
          <p:cNvPr id="32" name="Text 30"/>
          <p:cNvSpPr/>
          <p:nvPr/>
        </p:nvSpPr>
        <p:spPr>
          <a:xfrm>
            <a:off x="949881" y="6703100"/>
            <a:ext cx="1979176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"Shadow AI" Epidemic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949881" y="7016710"/>
            <a:ext cx="6151840" cy="430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Unsanctioned use of public AI models by personnel is a critical data leakage vector, linked to </a:t>
            </a:r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20%</a:t>
            </a:r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recent breaches.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70445" y="6544866"/>
            <a:ext cx="6468308" cy="1060133"/>
          </a:xfrm>
          <a:prstGeom prst="roundRect">
            <a:avLst>
              <a:gd name="adj" fmla="val 2240"/>
            </a:avLst>
          </a:prstGeom>
          <a:solidFill>
            <a:srgbClr val="F2EEEE"/>
          </a:solidFill>
          <a:ln/>
        </p:spPr>
      </p:sp>
      <p:sp>
        <p:nvSpPr>
          <p:cNvPr id="35" name="Text 33"/>
          <p:cNvSpPr/>
          <p:nvPr/>
        </p:nvSpPr>
        <p:spPr>
          <a:xfrm>
            <a:off x="7528679" y="6703100"/>
            <a:ext cx="1979176" cy="247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IoT Botnet Proliferation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7528679" y="7016710"/>
            <a:ext cx="6151840" cy="430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Unsecured IoT devices act as force multipliers, enabling terabit-scale DDoS attacks against 5G SA infrastructure.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1048"/>
            <a:ext cx="7522726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Financial Impact of Telecom Breaches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691164"/>
            <a:ext cx="1304282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Cyber incidents in telecommunications have escalated from operational disruptions to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systemic threats to market stability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The average breach costs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$4.80 Million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with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51%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total costs materializing </a:t>
            </a:r>
            <a:pPr algn="l"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more than a year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after the initial event.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93790" y="2609850"/>
            <a:ext cx="287226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Cost Breakdown by Category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095387"/>
            <a:ext cx="5341620" cy="30362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97743" y="3489858"/>
            <a:ext cx="195589" cy="13354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1.47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5268220" y="4152290"/>
            <a:ext cx="195589" cy="13354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1.38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4855409" y="4814721"/>
            <a:ext cx="151441" cy="13354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1.2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2737979" y="5477152"/>
            <a:ext cx="195589" cy="13354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algn="l" indent="0" marL="0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0.39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7557968" y="2609850"/>
            <a:ext cx="250674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Comparative Metrics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7557968" y="3095387"/>
            <a:ext cx="6286262" cy="1287066"/>
          </a:xfrm>
          <a:prstGeom prst="roundRect">
            <a:avLst>
              <a:gd name="adj" fmla="val 8525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35108" y="3095387"/>
            <a:ext cx="91440" cy="1287066"/>
          </a:xfrm>
          <a:prstGeom prst="roundRect">
            <a:avLst>
              <a:gd name="adj" fmla="val 31628"/>
            </a:avLst>
          </a:prstGeom>
          <a:solidFill>
            <a:srgbClr val="00674F"/>
          </a:solidFill>
          <a:ln/>
        </p:spPr>
      </p:sp>
      <p:sp>
        <p:nvSpPr>
          <p:cNvPr id="13" name="Text 10"/>
          <p:cNvSpPr/>
          <p:nvPr/>
        </p:nvSpPr>
        <p:spPr>
          <a:xfrm>
            <a:off x="7842171" y="3311009"/>
            <a:ext cx="5786438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$4.80M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telecom average vs.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$4.44M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global cross-industry — driven by supply chain complexity and high-value metadata theft at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$168–$178 per compromised record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557968" y="4546283"/>
            <a:ext cx="6286262" cy="1287066"/>
          </a:xfrm>
          <a:prstGeom prst="roundRect">
            <a:avLst>
              <a:gd name="adj" fmla="val 8525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35108" y="4546283"/>
            <a:ext cx="91440" cy="1287066"/>
          </a:xfrm>
          <a:prstGeom prst="roundRect">
            <a:avLst>
              <a:gd name="adj" fmla="val 31628"/>
            </a:avLst>
          </a:prstGeom>
          <a:solidFill>
            <a:srgbClr val="00674F"/>
          </a:solidFill>
          <a:ln/>
        </p:spPr>
      </p:sp>
      <p:sp>
        <p:nvSpPr>
          <p:cNvPr id="16" name="Text 13"/>
          <p:cNvSpPr/>
          <p:nvPr/>
        </p:nvSpPr>
        <p:spPr>
          <a:xfrm>
            <a:off x="7842171" y="4761905"/>
            <a:ext cx="5786438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Dwell Time Penalty: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Breaches undetected beyond 200 days drive average costs to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$5.46M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far exceeding the 241-day global average detection window.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557968" y="5997178"/>
            <a:ext cx="6286262" cy="1287066"/>
          </a:xfrm>
          <a:prstGeom prst="roundRect">
            <a:avLst>
              <a:gd name="adj" fmla="val 8525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535108" y="5997178"/>
            <a:ext cx="91440" cy="1287066"/>
          </a:xfrm>
          <a:prstGeom prst="roundRect">
            <a:avLst>
              <a:gd name="adj" fmla="val 31628"/>
            </a:avLst>
          </a:prstGeom>
          <a:solidFill>
            <a:srgbClr val="00674F"/>
          </a:solidFill>
          <a:ln/>
        </p:spPr>
      </p:sp>
      <p:sp>
        <p:nvSpPr>
          <p:cNvPr id="19" name="Text 16"/>
          <p:cNvSpPr/>
          <p:nvPr/>
        </p:nvSpPr>
        <p:spPr>
          <a:xfrm>
            <a:off x="7842171" y="6212800"/>
            <a:ext cx="5786438" cy="855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 Security ROI: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Operators with heavy AI/automation integration achieve average savings of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$1.9M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per incident by accelerating time-to-contain.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9023"/>
            <a:ext cx="7929920" cy="602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Financial Impact: Worst-Case Scenarios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793790" y="1689140"/>
            <a:ext cx="13042821" cy="57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Catastrophic cyber events in telecommunications transcend immediate data loss, posing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systemic risks to interconnected sovereign economies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critical national infrastructure.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93790" y="2443996"/>
            <a:ext cx="4238387" cy="2227302"/>
          </a:xfrm>
          <a:prstGeom prst="roundRect">
            <a:avLst>
              <a:gd name="adj" fmla="val 1298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986552" y="2636758"/>
            <a:ext cx="3457575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Backbone / Undersea Cable Failure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986552" y="3036213"/>
            <a:ext cx="3852863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coordinated attack disrupting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40%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regional capacity for one week: estimated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$1.5 Billion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direct losses, with cascading failures to GPS-dependent logistics and global payment systems.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96007" y="2443996"/>
            <a:ext cx="4238387" cy="2227302"/>
          </a:xfrm>
          <a:prstGeom prst="roundRect">
            <a:avLst>
              <a:gd name="adj" fmla="val 1298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5388769" y="2636758"/>
            <a:ext cx="3203972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Strategic Cross-Sector IT Failure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5388769" y="3036213"/>
            <a:ext cx="3852863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Compromise of a shared cloud provider triggering simultaneous failures across energy, finance, and telecom. Actuarial models estimate U.S./EU losses of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$24.2B – $47.1B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598223" y="2443996"/>
            <a:ext cx="4238387" cy="2227302"/>
          </a:xfrm>
          <a:prstGeom prst="roundRect">
            <a:avLst>
              <a:gd name="adj" fmla="val 1298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9790986" y="2636758"/>
            <a:ext cx="3852863" cy="60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Satellite (NTN) Infrastructure Disruption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9790986" y="3337441"/>
            <a:ext cx="3852863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Malware injections or command-and-control hijacking of Non-Terrestrial Networks, stripping emergency service coverage and compromising military-grade backhauls.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93790" y="4917043"/>
            <a:ext cx="5695950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Long-Term Financial Consequences</a:t>
            </a:r>
            <a:endParaRPr lang="en-US" sz="30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5644753"/>
            <a:ext cx="481965" cy="48196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480542" y="5644753"/>
            <a:ext cx="2907149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Regulatory "Nuclear Option"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1480542" y="6044208"/>
            <a:ext cx="352425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Under NIS2 and emerging frameworks, operators face punitive fines up to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7%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of total worldwide annual turnover for significant failures.</a:t>
            </a:r>
            <a:endParaRPr lang="en-US" sz="15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9580" y="5644753"/>
            <a:ext cx="481965" cy="48196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896332" y="5644753"/>
            <a:ext cx="2409944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Market Share Erosion</a:t>
            </a:r>
            <a:endParaRPr lang="en-US" sz="1850" dirty="0"/>
          </a:p>
        </p:txBody>
      </p:sp>
      <p:sp>
        <p:nvSpPr>
          <p:cNvPr id="19" name="Text 15"/>
          <p:cNvSpPr/>
          <p:nvPr/>
        </p:nvSpPr>
        <p:spPr>
          <a:xfrm>
            <a:off x="5896332" y="6044208"/>
            <a:ext cx="3524369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 breaches precipitate severe subscriber attrition — operators risk a </a:t>
            </a:r>
            <a:pPr algn="l" indent="0" marL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21%</a:t>
            </a:r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permanent loss of their subscriber base following a major incident.</a:t>
            </a:r>
            <a:endParaRPr lang="en-US" sz="15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25489" y="5644753"/>
            <a:ext cx="481965" cy="48196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312241" y="5644753"/>
            <a:ext cx="2583418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Systemic Stability Threats</a:t>
            </a:r>
            <a:endParaRPr lang="en-US" sz="1850" dirty="0"/>
          </a:p>
        </p:txBody>
      </p:sp>
      <p:sp>
        <p:nvSpPr>
          <p:cNvPr id="22" name="Text 17"/>
          <p:cNvSpPr/>
          <p:nvPr/>
        </p:nvSpPr>
        <p:spPr>
          <a:xfrm>
            <a:off x="10312241" y="6044208"/>
            <a:ext cx="3524250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Major insurers are withdrawing "backbone" coverage for catastrophic events, forcing operators to absorb massive self-insurance costs and latent decryption-based extortion risks.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527" y="626983"/>
            <a:ext cx="8552974" cy="456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Case Study: AT&amp;T / Snowflake Cloud Data Breach (2024)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86527" y="1271468"/>
            <a:ext cx="13057346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 2024, AT&amp;T suffered one of the most consequential breaches in sector history — not through a direct perimeter compromise, but via a </a:t>
            </a:r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third-party cloud data warehouse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lacking enforced MFA.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86527" y="1663303"/>
            <a:ext cx="1826062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Attack Profile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86527" y="1985605"/>
            <a:ext cx="6350556" cy="576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Financially motivated threat actor </a:t>
            </a:r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UNC5537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leveraged credentials stolen via infostealer malware to access AT&amp;T's Snowflake workspace. The absence of enforced Multi-Factor Authentication allowed effortless bypass of primary defenses.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86527" y="2655808"/>
            <a:ext cx="1826062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 Compromised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86527" y="2978110"/>
            <a:ext cx="6350556" cy="38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Metadata for approximately </a:t>
            </a:r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110 Million customers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including cell site IDs, telephone numbers, and complete call/text logs spanning 2022–2023.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86527" y="3456265"/>
            <a:ext cx="1826062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Impacto Financeiro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527" y="3778568"/>
            <a:ext cx="6350556" cy="1536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total financial impact of this incident transcends immediate settlement values. In addition to the $177 million collective agreement and the $373,646 bailout, AT&amp;T faced substantial costs of technical remediation, deep forensic investigations, and mandatory safety notifications for 110 million individuals. The immediate drop of $130 million in market value reflects post-disclosure volatility, but hidden expenses include regulatory compliance fines, dramatic increases in cyber insurance premiums due to perceived systemic risk, and the long-term erosion of consumer confidence, which puts pressure on the costs of acquiring and retaining customers in a highly competitive market.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500938" y="1663303"/>
            <a:ext cx="1826062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Operational Timeline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668595" y="1997273"/>
            <a:ext cx="15240" cy="4101346"/>
          </a:xfrm>
          <a:prstGeom prst="roundRect">
            <a:avLst>
              <a:gd name="adj" fmla="val 143785"/>
            </a:avLst>
          </a:prstGeom>
          <a:solidFill>
            <a:srgbClr val="D8D4D4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99395" y="2153960"/>
            <a:ext cx="292060" cy="15240"/>
          </a:xfrm>
          <a:prstGeom prst="roundRect">
            <a:avLst>
              <a:gd name="adj" fmla="val 143785"/>
            </a:avLst>
          </a:prstGeom>
          <a:solidFill>
            <a:srgbClr val="D8D4D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21447" y="2106811"/>
            <a:ext cx="109537" cy="109538"/>
          </a:xfrm>
          <a:prstGeom prst="roundRect">
            <a:avLst>
              <a:gd name="adj" fmla="val 417393"/>
            </a:avLst>
          </a:prstGeom>
          <a:solidFill>
            <a:srgbClr val="00674F"/>
          </a:solidFill>
          <a:ln/>
        </p:spPr>
      </p:sp>
      <p:sp>
        <p:nvSpPr>
          <p:cNvPr id="14" name="Text 12"/>
          <p:cNvSpPr/>
          <p:nvPr/>
        </p:nvSpPr>
        <p:spPr>
          <a:xfrm>
            <a:off x="8265914" y="2047399"/>
            <a:ext cx="1826062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Dec 2023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00938" y="2369701"/>
            <a:ext cx="2591038" cy="576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Initial unauthorized access achieved using stolen credentials — completely undetected.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0660975" y="2926318"/>
            <a:ext cx="292060" cy="15240"/>
          </a:xfrm>
          <a:prstGeom prst="roundRect">
            <a:avLst>
              <a:gd name="adj" fmla="val 143785"/>
            </a:avLst>
          </a:prstGeom>
          <a:solidFill>
            <a:srgbClr val="D8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21447" y="2879169"/>
            <a:ext cx="109537" cy="109538"/>
          </a:xfrm>
          <a:prstGeom prst="roundRect">
            <a:avLst>
              <a:gd name="adj" fmla="val 417393"/>
            </a:avLst>
          </a:prstGeom>
          <a:solidFill>
            <a:srgbClr val="00674F"/>
          </a:solidFill>
          <a:ln/>
        </p:spPr>
      </p:sp>
      <p:sp>
        <p:nvSpPr>
          <p:cNvPr id="18" name="Text 16"/>
          <p:cNvSpPr/>
          <p:nvPr/>
        </p:nvSpPr>
        <p:spPr>
          <a:xfrm>
            <a:off x="11260455" y="2819757"/>
            <a:ext cx="1826062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Apr 14–25, 2024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260455" y="3142059"/>
            <a:ext cx="2591038" cy="38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Attackers silently exfiltrate call logs of ~110M customers over 11 days.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10399395" y="3629739"/>
            <a:ext cx="292060" cy="15240"/>
          </a:xfrm>
          <a:prstGeom prst="roundRect">
            <a:avLst>
              <a:gd name="adj" fmla="val 143785"/>
            </a:avLst>
          </a:prstGeom>
          <a:solidFill>
            <a:srgbClr val="D8D4D4"/>
          </a:solidFill>
          <a:ln/>
        </p:spPr>
      </p:sp>
      <p:sp>
        <p:nvSpPr>
          <p:cNvPr id="21" name="Shape 19"/>
          <p:cNvSpPr/>
          <p:nvPr/>
        </p:nvSpPr>
        <p:spPr>
          <a:xfrm>
            <a:off x="10621447" y="3582591"/>
            <a:ext cx="109537" cy="109538"/>
          </a:xfrm>
          <a:prstGeom prst="roundRect">
            <a:avLst>
              <a:gd name="adj" fmla="val 417393"/>
            </a:avLst>
          </a:prstGeom>
          <a:solidFill>
            <a:srgbClr val="00674F"/>
          </a:solidFill>
          <a:ln/>
        </p:spPr>
      </p:sp>
      <p:sp>
        <p:nvSpPr>
          <p:cNvPr id="22" name="Text 20"/>
          <p:cNvSpPr/>
          <p:nvPr/>
        </p:nvSpPr>
        <p:spPr>
          <a:xfrm>
            <a:off x="8265914" y="3523178"/>
            <a:ext cx="1826062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Apr 19, 2024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00938" y="3845481"/>
            <a:ext cx="2591038" cy="576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AT&amp;T detects breach only after threat actors advertise the dataset on the dark web.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0660975" y="4333161"/>
            <a:ext cx="292060" cy="15240"/>
          </a:xfrm>
          <a:prstGeom prst="roundRect">
            <a:avLst>
              <a:gd name="adj" fmla="val 143785"/>
            </a:avLst>
          </a:prstGeom>
          <a:solidFill>
            <a:srgbClr val="D8D4D4"/>
          </a:solidFill>
          <a:ln/>
        </p:spPr>
      </p:sp>
      <p:sp>
        <p:nvSpPr>
          <p:cNvPr id="25" name="Shape 23"/>
          <p:cNvSpPr/>
          <p:nvPr/>
        </p:nvSpPr>
        <p:spPr>
          <a:xfrm>
            <a:off x="10621447" y="4286012"/>
            <a:ext cx="109537" cy="109538"/>
          </a:xfrm>
          <a:prstGeom prst="roundRect">
            <a:avLst>
              <a:gd name="adj" fmla="val 417393"/>
            </a:avLst>
          </a:prstGeom>
          <a:solidFill>
            <a:srgbClr val="00674F"/>
          </a:solidFill>
          <a:ln/>
        </p:spPr>
      </p:sp>
      <p:sp>
        <p:nvSpPr>
          <p:cNvPr id="26" name="Text 24"/>
          <p:cNvSpPr/>
          <p:nvPr/>
        </p:nvSpPr>
        <p:spPr>
          <a:xfrm>
            <a:off x="11260455" y="4226600"/>
            <a:ext cx="1826062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Jul 12, 2024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260455" y="4548902"/>
            <a:ext cx="2591038" cy="576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Public disclosure following a DOJ-approved delay to protect ongoing investigation.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0399395" y="5036582"/>
            <a:ext cx="292060" cy="15240"/>
          </a:xfrm>
          <a:prstGeom prst="roundRect">
            <a:avLst>
              <a:gd name="adj" fmla="val 143785"/>
            </a:avLst>
          </a:prstGeom>
          <a:solidFill>
            <a:srgbClr val="D8D4D4"/>
          </a:solidFill>
          <a:ln/>
        </p:spPr>
      </p:sp>
      <p:sp>
        <p:nvSpPr>
          <p:cNvPr id="29" name="Shape 27"/>
          <p:cNvSpPr/>
          <p:nvPr/>
        </p:nvSpPr>
        <p:spPr>
          <a:xfrm>
            <a:off x="10621447" y="4989433"/>
            <a:ext cx="109537" cy="109538"/>
          </a:xfrm>
          <a:prstGeom prst="roundRect">
            <a:avLst>
              <a:gd name="adj" fmla="val 417393"/>
            </a:avLst>
          </a:prstGeom>
          <a:solidFill>
            <a:srgbClr val="00674F"/>
          </a:solidFill>
          <a:ln/>
        </p:spPr>
      </p:sp>
      <p:sp>
        <p:nvSpPr>
          <p:cNvPr id="30" name="Text 28"/>
          <p:cNvSpPr/>
          <p:nvPr/>
        </p:nvSpPr>
        <p:spPr>
          <a:xfrm>
            <a:off x="8265914" y="4930021"/>
            <a:ext cx="1826062" cy="228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Dec 2025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500938" y="5252323"/>
            <a:ext cx="2591038" cy="38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Settlement claims deadline — end of primary remediation phase.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86527" y="6310074"/>
            <a:ext cx="4289703" cy="514469"/>
          </a:xfrm>
          <a:prstGeom prst="roundRect">
            <a:avLst>
              <a:gd name="adj" fmla="val 4259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7737" y="6471285"/>
            <a:ext cx="3967282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$177M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consolidated class-action settlement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170289" y="6310074"/>
            <a:ext cx="4289703" cy="514469"/>
          </a:xfrm>
          <a:prstGeom prst="roundRect">
            <a:avLst>
              <a:gd name="adj" fmla="val 4259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31500" y="6471285"/>
            <a:ext cx="3967282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$130M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immediate market cap plunge on disclosure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9554051" y="6310074"/>
            <a:ext cx="4289822" cy="514469"/>
          </a:xfrm>
          <a:prstGeom prst="roundRect">
            <a:avLst>
              <a:gd name="adj" fmla="val 4259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15262" y="6471285"/>
            <a:ext cx="3967401" cy="192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$373,646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ransom paid for data deletion assurance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86527" y="6930271"/>
            <a:ext cx="13057346" cy="672227"/>
          </a:xfrm>
          <a:prstGeom prst="roundRect">
            <a:avLst>
              <a:gd name="adj" fmla="val 3260"/>
            </a:avLst>
          </a:prstGeom>
          <a:solidFill>
            <a:srgbClr val="B3FFED"/>
          </a:solidFill>
          <a:ln/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498" y="7122081"/>
            <a:ext cx="182523" cy="145971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1260991" y="7060763"/>
            <a:ext cx="12436912" cy="38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Lessons: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Absence of MFA on third-party cloud integrations is a catastrophic failure point. Metadata carries immense privacy risk even without call audio. The </a:t>
            </a:r>
            <a:pPr algn="l"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Shared Responsibility Model</a:t>
            </a:r>
            <a:pPr algn="l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demands rigorous security policy enforcement across all vendor platforms.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5576"/>
            <a:ext cx="824210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Mitigation Strategies for Telecom Resilience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1652826"/>
            <a:ext cx="13042821" cy="522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Achieving structural resilience requires pivoting from legacy perimeter defense to </a:t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automated, evidence-based security frameworks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purpose-built for the complexity of modern telecom environments.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93790" y="2501741"/>
            <a:ext cx="3077408" cy="2949297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930" y="2501741"/>
            <a:ext cx="91440" cy="2949297"/>
          </a:xfrm>
          <a:prstGeom prst="roundRect">
            <a:avLst>
              <a:gd name="adj" fmla="val 29767"/>
            </a:avLst>
          </a:prstGeom>
          <a:solidFill>
            <a:srgbClr val="00674F"/>
          </a:solidFill>
          <a:ln/>
        </p:spPr>
      </p:sp>
      <p:sp>
        <p:nvSpPr>
          <p:cNvPr id="6" name="Text 4"/>
          <p:cNvSpPr/>
          <p:nvPr/>
        </p:nvSpPr>
        <p:spPr>
          <a:xfrm>
            <a:off x="1066681" y="2706053"/>
            <a:ext cx="2600206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Zero Trust Architecture (ZTA) &amp; SASE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66681" y="3418165"/>
            <a:ext cx="2600206" cy="182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Micro-segmentation restricts lateral movement, ensuring compromised routing hardware cannot reach subscriber databases. High initial capex — but drastically limits breach "blast radius."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16335" y="2501741"/>
            <a:ext cx="3077528" cy="2949297"/>
          </a:xfrm>
          <a:prstGeom prst="roundRect">
            <a:avLst>
              <a:gd name="adj" fmla="val 372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93475" y="2501741"/>
            <a:ext cx="91440" cy="2949297"/>
          </a:xfrm>
          <a:prstGeom prst="roundRect">
            <a:avLst>
              <a:gd name="adj" fmla="val 29767"/>
            </a:avLst>
          </a:prstGeom>
          <a:solidFill>
            <a:srgbClr val="00674F"/>
          </a:solidFill>
          <a:ln/>
        </p:spPr>
      </p:sp>
      <p:sp>
        <p:nvSpPr>
          <p:cNvPr id="10" name="Text 8"/>
          <p:cNvSpPr/>
          <p:nvPr/>
        </p:nvSpPr>
        <p:spPr>
          <a:xfrm>
            <a:off x="4289227" y="2706053"/>
            <a:ext cx="2600325" cy="56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AI-Powered Autonomous Response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4289227" y="3418165"/>
            <a:ext cx="2600325" cy="1567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Counters agentic AI attacks by automating threat isolation faster than human triage. Proven savings of </a:t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$1.9M per incident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by accelerating time-to-contain.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544157" y="2483644"/>
            <a:ext cx="340090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Regulatory &amp; Standards Compliance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544157" y="2930366"/>
            <a:ext cx="3077408" cy="2620089"/>
          </a:xfrm>
          <a:prstGeom prst="roundRect">
            <a:avLst>
              <a:gd name="adj" fmla="val 1039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7725608" y="311181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NIS2 Directive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725608" y="3540443"/>
            <a:ext cx="2714506" cy="1306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Classifies telecom as "Essential Entities." Mandates supply chain risk assessments, management liability, and a strict </a:t>
            </a:r>
            <a:pPr algn="l" indent="0" marL="0">
              <a:lnSpc>
                <a:spcPts val="2050"/>
              </a:lnSpc>
              <a:buNone/>
            </a:pPr>
            <a:r>
              <a:rPr lang="en-US" sz="14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24-hour</a:t>
            </a:r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early warning for significant incidents.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766703" y="2930366"/>
            <a:ext cx="3077528" cy="2620089"/>
          </a:xfrm>
          <a:prstGeom prst="roundRect">
            <a:avLst>
              <a:gd name="adj" fmla="val 1039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10948154" y="3111818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DNA &amp; DORA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0948154" y="3540443"/>
            <a:ext cx="2714625" cy="1828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Digital Networks Act reinforces supply-chain security for network operators; DORA binds telecom providers to rigorous operational resilience testing as ICT third-party service providers.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544157" y="5695593"/>
            <a:ext cx="6300073" cy="1575197"/>
          </a:xfrm>
          <a:prstGeom prst="roundRect">
            <a:avLst>
              <a:gd name="adj" fmla="val 1728"/>
            </a:avLst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7725608" y="5877044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GSMA MoTIF &amp; NESAS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725608" y="6305669"/>
            <a:ext cx="5937171" cy="783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GSMA's Mobile Threat Intelligence Framework maps telecom-specific TTPs; NESAS validates the security posture of 5G supply chain equipment and vendors.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2026-03-23T13:18:37Z</dcterms:created>
  <dcterms:modified xsi:type="dcterms:W3CDTF">2026-03-23T13:18:37Z</dcterms:modified>
</cp:coreProperties>
</file>