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35.xml" ContentType="application/vnd.openxmlformats-officedocument.drawingml.chart+xml"/>
  <Override PartName="/ppt/charts/chart43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charts/_rels/chart4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5.xlsx"/></Relationships>
</file>

<file path=ppt/charts/_rels/chart4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6.xlsx"/></Relationships>
</file>

<file path=ppt/charts/chart4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</c:v>
                </c:pt>
              </c:strCache>
            </c:strRef>
          </c:tx>
          <c:spPr>
            <a:solidFill>
              <a:srgbClr val="00875A"/>
            </a:solidFill>
            <a:ln w="25400" cap="flat">
              <a:solidFill>
                <a:srgbClr val="0087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75A"/>
              </a:solidFill>
              <a:ln w="9525" cap="flat">
                <a:solidFill>
                  <a:srgbClr val="008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J1</c:v>
                  </c:pt>
                  <c:pt idx="1">
                    <c:v>J8</c:v>
                  </c:pt>
                  <c:pt idx="2">
                    <c:v>J15</c:v>
                  </c:pt>
                  <c:pt idx="3">
                    <c:v>J22</c:v>
                  </c:pt>
                  <c:pt idx="4">
                    <c:v>J29</c:v>
                  </c:pt>
                  <c:pt idx="5">
                    <c:v>A8</c:v>
                  </c:pt>
                  <c:pt idx="6">
                    <c:v>A15</c:v>
                  </c:pt>
                  <c:pt idx="7">
                    <c:v>A22</c:v>
                  </c:pt>
                  <c:pt idx="8">
                    <c:v>A29</c:v>
                  </c:pt>
                  <c:pt idx="9">
                    <c:v>A31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103.8</c:v>
                </c:pt>
                <c:pt idx="2">
                  <c:v>107.93</c:v>
                </c:pt>
                <c:pt idx="3">
                  <c:v>110.22</c:v>
                </c:pt>
                <c:pt idx="4">
                  <c:v>106.56</c:v>
                </c:pt>
                <c:pt idx="5">
                  <c:v>108.25</c:v>
                </c:pt>
                <c:pt idx="6">
                  <c:v>105.1</c:v>
                </c:pt>
                <c:pt idx="7">
                  <c:v>128.51</c:v>
                </c:pt>
                <c:pt idx="8">
                  <c:v>130.47</c:v>
                </c:pt>
                <c:pt idx="9">
                  <c:v>131.02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</c:v>
                </c:pt>
              </c:strCache>
            </c:strRef>
          </c:tx>
          <c:spPr>
            <a:solidFill>
              <a:srgbClr val="111111"/>
            </a:solidFill>
            <a:ln w="2540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J1</c:v>
                  </c:pt>
                  <c:pt idx="1">
                    <c:v>J8</c:v>
                  </c:pt>
                  <c:pt idx="2">
                    <c:v>J15</c:v>
                  </c:pt>
                  <c:pt idx="3">
                    <c:v>J22</c:v>
                  </c:pt>
                  <c:pt idx="4">
                    <c:v>J29</c:v>
                  </c:pt>
                  <c:pt idx="5">
                    <c:v>A8</c:v>
                  </c:pt>
                  <c:pt idx="6">
                    <c:v>A15</c:v>
                  </c:pt>
                  <c:pt idx="7">
                    <c:v>A22</c:v>
                  </c:pt>
                  <c:pt idx="8">
                    <c:v>A29</c:v>
                  </c:pt>
                  <c:pt idx="9">
                    <c:v>A31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108.35</c:v>
                </c:pt>
                <c:pt idx="2">
                  <c:v>119.23</c:v>
                </c:pt>
                <c:pt idx="3">
                  <c:v>120.27</c:v>
                </c:pt>
                <c:pt idx="4">
                  <c:v>118.71</c:v>
                </c:pt>
                <c:pt idx="5">
                  <c:v>119.14</c:v>
                </c:pt>
                <c:pt idx="6">
                  <c:v>117</c:v>
                </c:pt>
                <c:pt idx="7">
                  <c:v>150.66</c:v>
                </c:pt>
                <c:pt idx="8">
                  <c:v>152.88</c:v>
                </c:pt>
                <c:pt idx="9">
                  <c:v>153.47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087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BTC</c:v>
                  </c:pt>
                  <c:pt idx="1">
                    <c:v>ETH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31.02</c:v>
                </c:pt>
                <c:pt idx="1">
                  <c:v>53.47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35.xml"/><Relationship Id="rId3" Type="http://schemas.openxmlformats.org/officeDocument/2006/relationships/chart" Target="/ppt/charts/chart436.xm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image" Target="../media/image-1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6400" y="254000"/>
            <a:ext cx="154432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Assets &amp; Crypto Risk Outlook:</a:t>
            </a:r>
            <a:r>
              <a:rPr lang="en-US" altLang="en-US" sz="3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July-August 2026</a:t>
            </a:r>
            <a:endParaRPr lang="en-US" sz="3800" dirty="0"/>
          </a:p>
        </p:txBody>
      </p:sp>
      <p:sp>
        <p:nvSpPr>
          <p:cNvPr id="3" name="summary-rule"/>
          <p:cNvSpPr/>
          <p:nvPr/>
        </p:nvSpPr>
        <p:spPr>
          <a:xfrm>
            <a:off x="406400" y="977900"/>
            <a:ext cx="50800" cy="5461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4" name="summary"/>
          <p:cNvSpPr/>
          <p:nvPr/>
        </p:nvSpPr>
        <p:spPr>
          <a:xfrm>
            <a:off x="622300" y="952500"/>
            <a:ext cx="14986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acceleration, provider interruption, cross-border fraud enforcement and expanding settlement connectivity increased reliance on common market and service infrastructure. Recovery, fraud, custody, liquidity and product controls must operate as a single control framework.</a:t>
            </a:r>
            <a:endParaRPr lang="en-US" sz="1600" dirty="0"/>
          </a:p>
        </p:txBody>
      </p:sp>
      <p:sp>
        <p:nvSpPr>
          <p:cNvPr id="5" name="vertical-left"/>
          <p:cNvSpPr/>
          <p:nvPr/>
        </p:nvSpPr>
        <p:spPr>
          <a:xfrm>
            <a:off x="5435600" y="1752600"/>
            <a:ext cx="9144" cy="7086600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6" name="vertical-right"/>
          <p:cNvSpPr/>
          <p:nvPr/>
        </p:nvSpPr>
        <p:spPr>
          <a:xfrm>
            <a:off x="10795000" y="1752600"/>
            <a:ext cx="9144" cy="7086600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7" name="market-heading"/>
          <p:cNvSpPr/>
          <p:nvPr/>
        </p:nvSpPr>
        <p:spPr>
          <a:xfrm>
            <a:off x="406400" y="180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VITAL SIGNS</a:t>
            </a:r>
            <a:endParaRPr lang="en-US" sz="2100" dirty="0"/>
          </a:p>
        </p:txBody>
      </p:sp>
      <p:pic>
        <p:nvPicPr>
          <p:cNvPr id="8" name="market-colum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1778000"/>
            <a:ext cx="355600" cy="355600"/>
          </a:xfrm>
          <a:prstGeom prst="rect">
            <a:avLst/>
          </a:prstGeom>
        </p:spPr>
      </p:pic>
      <p:sp>
        <p:nvSpPr>
          <p:cNvPr id="9" name="market-rule"/>
          <p:cNvSpPr/>
          <p:nvPr/>
        </p:nvSpPr>
        <p:spPr>
          <a:xfrm>
            <a:off x="406400" y="2260600"/>
            <a:ext cx="4775200" cy="9144"/>
          </a:xfrm>
          <a:prstGeom prst="line">
            <a:avLst/>
          </a:prstGeom>
          <a:ln w="25400">
            <a:solidFill>
              <a:srgbClr val="00875A"/>
            </a:solidFill>
            <a:prstDash val="solid"/>
          </a:ln>
        </p:spPr>
      </p:sp>
      <p:sp>
        <p:nvSpPr>
          <p:cNvPr id="10" name="market-divider-one"/>
          <p:cNvSpPr/>
          <p:nvPr/>
        </p:nvSpPr>
        <p:spPr>
          <a:xfrm>
            <a:off x="406400" y="4572000"/>
            <a:ext cx="47752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1" name="market-divider-two"/>
          <p:cNvSpPr/>
          <p:nvPr/>
        </p:nvSpPr>
        <p:spPr>
          <a:xfrm>
            <a:off x="406400" y="6705600"/>
            <a:ext cx="47752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2" name="price-title"/>
          <p:cNvSpPr/>
          <p:nvPr/>
        </p:nvSpPr>
        <p:spPr>
          <a:xfrm>
            <a:off x="406400" y="2451100"/>
            <a:ext cx="477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BTC &amp; ETH Price Momentum</a:t>
            </a:r>
            <a:endParaRPr lang="en-US" sz="1700" dirty="0"/>
          </a:p>
        </p:txBody>
      </p:sp>
      <p:graphicFrame>
        <p:nvGraphicFramePr>
          <p:cNvPr id="13" name="price-mini-chart" descr=""/>
          <p:cNvGraphicFramePr/>
          <p:nvPr/>
        </p:nvGraphicFramePr>
        <p:xfrm>
          <a:off x="406400" y="2844800"/>
          <a:ext cx="1346200" cy="99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btc-metric"/>
          <p:cNvSpPr/>
          <p:nvPr/>
        </p:nvSpPr>
        <p:spPr>
          <a:xfrm>
            <a:off x="1955800" y="2806700"/>
            <a:ext cx="322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BTC </a:t>
            </a:r>
            <a:r>
              <a:rPr lang="en-US" altLang="en-US" sz="2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+31.02%</a:t>
            </a:r>
            <a:endParaRPr lang="en-US" sz="2500" dirty="0"/>
          </a:p>
        </p:txBody>
      </p:sp>
      <p:sp>
        <p:nvSpPr>
          <p:cNvPr id="15" name="eth-metric"/>
          <p:cNvSpPr/>
          <p:nvPr/>
        </p:nvSpPr>
        <p:spPr>
          <a:xfrm>
            <a:off x="1955800" y="3225800"/>
            <a:ext cx="3225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 </a:t>
            </a:r>
            <a:r>
              <a:rPr lang="en-US" altLang="en-US" sz="25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+53.47%</a:t>
            </a:r>
            <a:endParaRPr lang="en-US" sz="2500" dirty="0"/>
          </a:p>
        </p:txBody>
      </p:sp>
      <p:sp>
        <p:nvSpPr>
          <p:cNvPr id="16" name="price-copy"/>
          <p:cNvSpPr/>
          <p:nvPr/>
        </p:nvSpPr>
        <p:spPr>
          <a:xfrm>
            <a:off x="406400" y="3987800"/>
            <a:ext cx="47752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BTC and ETH rose sharply across the two-month window, increasing collateral, margin, valuation and intraday liquidity demands across trading, custody and client-facing activity.</a:t>
            </a:r>
            <a:endParaRPr lang="en-US" sz="1300" dirty="0"/>
          </a:p>
        </p:txBody>
      </p:sp>
      <p:sp>
        <p:nvSpPr>
          <p:cNvPr id="17" name="dispersion-title"/>
          <p:cNvSpPr/>
          <p:nvPr/>
        </p:nvSpPr>
        <p:spPr>
          <a:xfrm>
            <a:off x="406400" y="4787900"/>
            <a:ext cx="477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Dispersion &amp; Liquidity Sensitivity</a:t>
            </a:r>
            <a:endParaRPr lang="en-US" sz="1700" dirty="0"/>
          </a:p>
        </p:txBody>
      </p:sp>
      <p:graphicFrame>
        <p:nvGraphicFramePr>
          <p:cNvPr id="18" name="return-mini-chart" descr=""/>
          <p:cNvGraphicFramePr/>
          <p:nvPr/>
        </p:nvGraphicFramePr>
        <p:xfrm>
          <a:off x="406400" y="5245100"/>
          <a:ext cx="1346200" cy="1041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dispersion-headline"/>
          <p:cNvSpPr/>
          <p:nvPr/>
        </p:nvSpPr>
        <p:spPr>
          <a:xfrm>
            <a:off x="1955800" y="5283200"/>
            <a:ext cx="322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5"/>
              </a:lnSpc>
              <a:buNone/>
            </a:pPr>
            <a:r>
              <a:rPr lang="en-US" altLang="en-US" sz="2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Late-August</a:t>
            </a:r>
            <a:endParaRPr lang="en-US" sz="2100" dirty="0"/>
          </a:p>
          <a:p>
            <a:pPr algn="l" indent="0" marL="0">
              <a:lnSpc>
                <a:spcPts val="2205"/>
              </a:lnSpc>
              <a:buNone/>
            </a:pPr>
            <a:r>
              <a:rPr lang="en-US" altLang="en-US" sz="21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Acceleration</a:t>
            </a:r>
            <a:endParaRPr lang="en-US" sz="2100" dirty="0"/>
          </a:p>
        </p:txBody>
      </p:sp>
      <p:sp>
        <p:nvSpPr>
          <p:cNvPr id="20" name="dispersion-copy"/>
          <p:cNvSpPr/>
          <p:nvPr/>
        </p:nvSpPr>
        <p:spPr>
          <a:xfrm>
            <a:off x="1955800" y="5905500"/>
            <a:ext cx="322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market makers, custodians and liquidity venues can transmit operational and market pressure across listed and bilateral activity.</a:t>
            </a:r>
            <a:endParaRPr lang="en-US" sz="1300" dirty="0"/>
          </a:p>
        </p:txBody>
      </p:sp>
      <p:pic>
        <p:nvPicPr>
          <p:cNvPr id="21" name="controls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7010400"/>
            <a:ext cx="736600" cy="736600"/>
          </a:xfrm>
          <a:prstGeom prst="rect">
            <a:avLst/>
          </a:prstGeom>
        </p:spPr>
      </p:pic>
      <p:sp>
        <p:nvSpPr>
          <p:cNvPr id="22" name="controls-title"/>
          <p:cNvSpPr/>
          <p:nvPr/>
        </p:nvSpPr>
        <p:spPr>
          <a:xfrm>
            <a:off x="1371600" y="69215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0"/>
              </a:lnSpc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Collateral &amp; Valuation</a:t>
            </a:r>
            <a:endParaRPr lang="en-US" sz="1700" dirty="0"/>
          </a:p>
          <a:p>
            <a:pPr algn="l" indent="0" marL="0">
              <a:lnSpc>
                <a:spcPts val="1870"/>
              </a:lnSpc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</a:t>
            </a:r>
            <a:endParaRPr lang="en-US" sz="1700" dirty="0"/>
          </a:p>
        </p:txBody>
      </p:sp>
      <p:sp>
        <p:nvSpPr>
          <p:cNvPr id="23" name="controls-copy"/>
          <p:cNvSpPr/>
          <p:nvPr/>
        </p:nvSpPr>
        <p:spPr>
          <a:xfrm>
            <a:off x="406400" y="7899400"/>
            <a:ext cx="477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Intraday valuation, margin-call execution and collateral mobility require continuous testing as client flows change across venues and custody providers.</a:t>
            </a:r>
            <a:endParaRPr lang="en-US" sz="1300" dirty="0"/>
          </a:p>
        </p:txBody>
      </p:sp>
      <p:sp>
        <p:nvSpPr>
          <p:cNvPr id="24" name="trends-heading"/>
          <p:cNvSpPr/>
          <p:nvPr/>
        </p:nvSpPr>
        <p:spPr>
          <a:xfrm>
            <a:off x="5765800" y="18034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TRENDS</a:t>
            </a:r>
            <a:endParaRPr lang="en-US" sz="2100" dirty="0"/>
          </a:p>
        </p:txBody>
      </p:sp>
      <p:pic>
        <p:nvPicPr>
          <p:cNvPr id="25" name="trends-column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778000"/>
            <a:ext cx="355600" cy="355600"/>
          </a:xfrm>
          <a:prstGeom prst="rect">
            <a:avLst/>
          </a:prstGeom>
        </p:spPr>
      </p:pic>
      <p:sp>
        <p:nvSpPr>
          <p:cNvPr id="26" name="trends-rule"/>
          <p:cNvSpPr/>
          <p:nvPr/>
        </p:nvSpPr>
        <p:spPr>
          <a:xfrm>
            <a:off x="5765800" y="2260600"/>
            <a:ext cx="4699000" cy="9144"/>
          </a:xfrm>
          <a:prstGeom prst="line">
            <a:avLst/>
          </a:prstGeom>
          <a:ln w="25400">
            <a:solidFill>
              <a:srgbClr val="00875A"/>
            </a:solidFill>
            <a:prstDash val="solid"/>
          </a:ln>
        </p:spPr>
      </p:sp>
      <p:sp>
        <p:nvSpPr>
          <p:cNvPr id="27" name="trends-divider-one"/>
          <p:cNvSpPr/>
          <p:nvPr/>
        </p:nvSpPr>
        <p:spPr>
          <a:xfrm>
            <a:off x="5765800" y="4572000"/>
            <a:ext cx="46990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28" name="trends-divider-two"/>
          <p:cNvSpPr/>
          <p:nvPr/>
        </p:nvSpPr>
        <p:spPr>
          <a:xfrm>
            <a:off x="5765800" y="6705600"/>
            <a:ext cx="46990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29" name="recovery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2679700"/>
            <a:ext cx="990600" cy="990600"/>
          </a:xfrm>
          <a:prstGeom prst="rect">
            <a:avLst/>
          </a:prstGeom>
        </p:spPr>
      </p:pic>
      <p:sp>
        <p:nvSpPr>
          <p:cNvPr id="30" name="recovery-title"/>
          <p:cNvSpPr/>
          <p:nvPr/>
        </p:nvSpPr>
        <p:spPr>
          <a:xfrm>
            <a:off x="6985000" y="2603500"/>
            <a:ext cx="3479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Interruption</a:t>
            </a:r>
            <a:endParaRPr lang="en-US" sz="18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Recovery</a:t>
            </a:r>
            <a:endParaRPr lang="en-US" sz="1800" dirty="0"/>
          </a:p>
        </p:txBody>
      </p:sp>
      <p:sp>
        <p:nvSpPr>
          <p:cNvPr id="31" name="recovery-copy"/>
          <p:cNvSpPr/>
          <p:nvPr/>
        </p:nvSpPr>
        <p:spPr>
          <a:xfrm>
            <a:off x="5765800" y="3835400"/>
            <a:ext cx="469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configuration update interrupted transfers, cards, onchain services and institutional settlement. The standard rollback path relied on the impacted gateway, requiring manual recovery through a separate cloud workflow.</a:t>
            </a:r>
            <a:endParaRPr lang="en-US" sz="1300" dirty="0"/>
          </a:p>
        </p:txBody>
      </p:sp>
      <p:pic>
        <p:nvPicPr>
          <p:cNvPr id="32" name="fraud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800" y="5041900"/>
            <a:ext cx="914400" cy="914400"/>
          </a:xfrm>
          <a:prstGeom prst="rect">
            <a:avLst/>
          </a:prstGeom>
        </p:spPr>
      </p:pic>
      <p:sp>
        <p:nvSpPr>
          <p:cNvPr id="33" name="fraud-metric"/>
          <p:cNvSpPr/>
          <p:nvPr/>
        </p:nvSpPr>
        <p:spPr>
          <a:xfrm>
            <a:off x="6959600" y="5016500"/>
            <a:ext cx="35052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25m</a:t>
            </a:r>
            <a:endParaRPr lang="en-US" sz="2600" dirty="0"/>
          </a:p>
        </p:txBody>
      </p:sp>
      <p:sp>
        <p:nvSpPr>
          <p:cNvPr id="34" name="fraud-title"/>
          <p:cNvSpPr/>
          <p:nvPr/>
        </p:nvSpPr>
        <p:spPr>
          <a:xfrm>
            <a:off x="6959600" y="5486400"/>
            <a:ext cx="350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&amp; Laundering</a:t>
            </a:r>
            <a:endParaRPr lang="en-US" sz="1700" dirty="0"/>
          </a:p>
        </p:txBody>
      </p:sp>
      <p:sp>
        <p:nvSpPr>
          <p:cNvPr id="35" name="fraud-copy"/>
          <p:cNvSpPr/>
          <p:nvPr/>
        </p:nvSpPr>
        <p:spPr>
          <a:xfrm>
            <a:off x="5765800" y="6070600"/>
            <a:ext cx="469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civil forfeiture complaints sought more than USD 25m in cryptocurrency recovered during separate fraud investigations. Scam detection, payment holds and monitoring must operate consistently across transfer routes.</a:t>
            </a:r>
            <a:endParaRPr lang="en-US" sz="1300" dirty="0"/>
          </a:p>
        </p:txBody>
      </p:sp>
      <p:pic>
        <p:nvPicPr>
          <p:cNvPr id="36" name="settlement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800" y="7010400"/>
            <a:ext cx="914400" cy="914400"/>
          </a:xfrm>
          <a:prstGeom prst="rect">
            <a:avLst/>
          </a:prstGeom>
        </p:spPr>
      </p:pic>
      <p:sp>
        <p:nvSpPr>
          <p:cNvPr id="37" name="settlement-title"/>
          <p:cNvSpPr/>
          <p:nvPr/>
        </p:nvSpPr>
        <p:spPr>
          <a:xfrm>
            <a:off x="6959600" y="6921500"/>
            <a:ext cx="350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Tokenised Settlement</a:t>
            </a:r>
            <a:endParaRPr lang="en-US" sz="18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Networks</a:t>
            </a:r>
            <a:endParaRPr lang="en-US" sz="1800" dirty="0"/>
          </a:p>
        </p:txBody>
      </p:sp>
      <p:sp>
        <p:nvSpPr>
          <p:cNvPr id="38" name="settlement-copy"/>
          <p:cNvSpPr/>
          <p:nvPr/>
        </p:nvSpPr>
        <p:spPr>
          <a:xfrm>
            <a:off x="5765800" y="80264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tokenised-deposit settlement connectivity extends cross-border routing dependencies. Interoperability, finality, screening, liquidity and exit arrangements require testing before production.</a:t>
            </a:r>
            <a:endParaRPr lang="en-US" sz="1300" dirty="0"/>
          </a:p>
        </p:txBody>
      </p:sp>
      <p:sp>
        <p:nvSpPr>
          <p:cNvPr id="39" name="regulation-heading"/>
          <p:cNvSpPr/>
          <p:nvPr/>
        </p:nvSpPr>
        <p:spPr>
          <a:xfrm>
            <a:off x="11099800" y="18034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MANDATES</a:t>
            </a:r>
            <a:endParaRPr lang="en-US" sz="2100" dirty="0"/>
          </a:p>
        </p:txBody>
      </p:sp>
      <p:pic>
        <p:nvPicPr>
          <p:cNvPr id="40" name="regulation-column-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16200" y="1778000"/>
            <a:ext cx="355600" cy="355600"/>
          </a:xfrm>
          <a:prstGeom prst="rect">
            <a:avLst/>
          </a:prstGeom>
        </p:spPr>
      </p:pic>
      <p:sp>
        <p:nvSpPr>
          <p:cNvPr id="41" name="regulation-rule"/>
          <p:cNvSpPr/>
          <p:nvPr/>
        </p:nvSpPr>
        <p:spPr>
          <a:xfrm>
            <a:off x="11099800" y="2260600"/>
            <a:ext cx="4749800" cy="9144"/>
          </a:xfrm>
          <a:prstGeom prst="line">
            <a:avLst/>
          </a:prstGeom>
          <a:ln w="25400">
            <a:solidFill>
              <a:srgbClr val="00875A"/>
            </a:solidFill>
            <a:prstDash val="solid"/>
          </a:ln>
        </p:spPr>
      </p:sp>
      <p:sp>
        <p:nvSpPr>
          <p:cNvPr id="42" name="regulation-divider-one"/>
          <p:cNvSpPr/>
          <p:nvPr/>
        </p:nvSpPr>
        <p:spPr>
          <a:xfrm>
            <a:off x="11099800" y="4572000"/>
            <a:ext cx="47498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43" name="regulation-divider-two"/>
          <p:cNvSpPr/>
          <p:nvPr/>
        </p:nvSpPr>
        <p:spPr>
          <a:xfrm>
            <a:off x="11099800" y="6705600"/>
            <a:ext cx="4749800" cy="9144"/>
          </a:xfrm>
          <a:prstGeom prst="line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44" name="stablecoin-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99800" y="2679700"/>
            <a:ext cx="990600" cy="990600"/>
          </a:xfrm>
          <a:prstGeom prst="rect">
            <a:avLst/>
          </a:prstGeom>
        </p:spPr>
      </p:pic>
      <p:sp>
        <p:nvSpPr>
          <p:cNvPr id="45" name="stablecoin-status"/>
          <p:cNvSpPr/>
          <p:nvPr/>
        </p:nvSpPr>
        <p:spPr>
          <a:xfrm>
            <a:off x="12344400" y="2603500"/>
            <a:ext cx="3505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400" dirty="0"/>
          </a:p>
        </p:txBody>
      </p:sp>
      <p:sp>
        <p:nvSpPr>
          <p:cNvPr id="46" name="stablecoin-title"/>
          <p:cNvSpPr/>
          <p:nvPr/>
        </p:nvSpPr>
        <p:spPr>
          <a:xfrm>
            <a:off x="12344400" y="2921000"/>
            <a:ext cx="350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</a:t>
            </a:r>
            <a:endParaRPr lang="en-US" sz="18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Stablecoins</a:t>
            </a:r>
            <a:endParaRPr lang="en-US" sz="1800" dirty="0"/>
          </a:p>
        </p:txBody>
      </p:sp>
      <p:sp>
        <p:nvSpPr>
          <p:cNvPr id="47" name="stablecoin-copy"/>
          <p:cNvSpPr/>
          <p:nvPr/>
        </p:nvSpPr>
        <p:spPr>
          <a:xfrm>
            <a:off x="11099800" y="3835400"/>
            <a:ext cx="4749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Treasury proposed rules for payment-stablecoin issuance, offering and sale. Product inventory, issuers, reserve access, wallet controls, disclosures and cross-border eligibility require defined ownership.</a:t>
            </a:r>
            <a:endParaRPr lang="en-US" sz="1300" dirty="0"/>
          </a:p>
        </p:txBody>
      </p:sp>
      <p:pic>
        <p:nvPicPr>
          <p:cNvPr id="48" name="offering-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9800" y="5041900"/>
            <a:ext cx="914400" cy="914400"/>
          </a:xfrm>
          <a:prstGeom prst="rect">
            <a:avLst/>
          </a:prstGeom>
        </p:spPr>
      </p:pic>
      <p:sp>
        <p:nvSpPr>
          <p:cNvPr id="49" name="offering-status"/>
          <p:cNvSpPr/>
          <p:nvPr/>
        </p:nvSpPr>
        <p:spPr>
          <a:xfrm>
            <a:off x="12268200" y="5003800"/>
            <a:ext cx="358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400" dirty="0"/>
          </a:p>
        </p:txBody>
      </p:sp>
      <p:sp>
        <p:nvSpPr>
          <p:cNvPr id="50" name="offering-title"/>
          <p:cNvSpPr/>
          <p:nvPr/>
        </p:nvSpPr>
        <p:spPr>
          <a:xfrm>
            <a:off x="12268200" y="5321300"/>
            <a:ext cx="3581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Offerings</a:t>
            </a:r>
            <a:endParaRPr lang="en-US" sz="1700" dirty="0"/>
          </a:p>
        </p:txBody>
      </p:sp>
      <p:sp>
        <p:nvSpPr>
          <p:cNvPr id="51" name="timeline-line"/>
          <p:cNvSpPr/>
          <p:nvPr/>
        </p:nvSpPr>
        <p:spPr>
          <a:xfrm>
            <a:off x="12268200" y="5829300"/>
            <a:ext cx="3175000" cy="9144"/>
          </a:xfrm>
          <a:prstGeom prst="line">
            <a:avLst/>
          </a:prstGeom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2" name="timeline-dot-one"/>
          <p:cNvSpPr/>
          <p:nvPr/>
        </p:nvSpPr>
        <p:spPr>
          <a:xfrm>
            <a:off x="12293600" y="5727700"/>
            <a:ext cx="203200" cy="203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imeline-dot-two"/>
          <p:cNvSpPr/>
          <p:nvPr/>
        </p:nvSpPr>
        <p:spPr>
          <a:xfrm>
            <a:off x="13538200" y="5727700"/>
            <a:ext cx="203200" cy="203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imeline-dot-three"/>
          <p:cNvSpPr/>
          <p:nvPr/>
        </p:nvSpPr>
        <p:spPr>
          <a:xfrm>
            <a:off x="14782800" y="5727700"/>
            <a:ext cx="203200" cy="203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imeline-copy"/>
          <p:cNvSpPr/>
          <p:nvPr/>
        </p:nvSpPr>
        <p:spPr>
          <a:xfrm>
            <a:off x="11099800" y="6134100"/>
            <a:ext cx="4749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 proposal includes tailored offering exemptions, disclosures and specified reporting conditions. Classification and disclosure ownership require defined control gates.</a:t>
            </a:r>
            <a:endParaRPr lang="en-US" sz="1300" dirty="0"/>
          </a:p>
        </p:txBody>
      </p:sp>
      <p:pic>
        <p:nvPicPr>
          <p:cNvPr id="56" name="segregation-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99800" y="7010400"/>
            <a:ext cx="914400" cy="914400"/>
          </a:xfrm>
          <a:prstGeom prst="rect">
            <a:avLst/>
          </a:prstGeom>
        </p:spPr>
      </p:pic>
      <p:sp>
        <p:nvSpPr>
          <p:cNvPr id="57" name="segregation-status"/>
          <p:cNvSpPr/>
          <p:nvPr/>
        </p:nvSpPr>
        <p:spPr>
          <a:xfrm>
            <a:off x="12268200" y="6921500"/>
            <a:ext cx="358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58" name="segregation-title"/>
          <p:cNvSpPr/>
          <p:nvPr/>
        </p:nvSpPr>
        <p:spPr>
          <a:xfrm>
            <a:off x="12268200" y="7239000"/>
            <a:ext cx="3581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FTX / Alameda Resolution</a:t>
            </a:r>
            <a:endParaRPr lang="en-US" sz="1700" dirty="0"/>
          </a:p>
        </p:txBody>
      </p:sp>
      <p:sp>
        <p:nvSpPr>
          <p:cNvPr id="59" name="segregation-copy"/>
          <p:cNvSpPr/>
          <p:nvPr/>
        </p:nvSpPr>
        <p:spPr>
          <a:xfrm>
            <a:off x="11099800" y="8026400"/>
            <a:ext cx="4749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4"/>
              </a:lnSpc>
              <a:buNone/>
            </a:pPr>
            <a:r>
              <a:rPr lang="en-US" altLang="en-US" sz="1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CFTC supplemental consent orders resolved actions against former Alameda CEO Caroline Ellison and FTX / Alameda co-founder Gary Wang. The release cites trading and registration bans and a USD 11.020bn criminal forfeiture order.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Assets &amp; Crypto Risk Outlook: July and August 2026</dc:title>
  <dc:subject>Digital Assets &amp; Crypto Risk Outlook: July and August 2026</dc:subject>
  <dc:creator>Manus</dc:creator>
  <cp:lastModifiedBy>Manus</cp:lastModifiedBy>
  <cp:revision>1</cp:revision>
  <dcterms:created xsi:type="dcterms:W3CDTF">2026-09-02T09:54:22Z</dcterms:created>
  <dcterms:modified xsi:type="dcterms:W3CDTF">2026-09-02T09:54:22Z</dcterms:modified>
</cp:coreProperties>
</file>