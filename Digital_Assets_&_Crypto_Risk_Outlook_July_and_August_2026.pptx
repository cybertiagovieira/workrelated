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24.xml" ContentType="application/vnd.openxmlformats-officedocument.drawingml.chart+xml"/>
  <Override PartName="/ppt/charts/chart32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6256000" cy="9144000"/>
  <p:notesSz cx="9144000" cy="16256000"/>
  <p:embeddedFontLst>
    <p:embeddedFont>
      <p:font typeface="Inter" charset="-122" pitchFamily="34"/>
      <p:regular r:id="rId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font" Target="fonts/font1.fntdata"/></Relationships>
</file>

<file path=ppt/charts/_rels/chart3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4.xlsx"/></Relationships>
</file>

<file path=ppt/charts/_rels/chart3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5.xlsx"/></Relationships>
</file>

<file path=ppt/charts/chart3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</c:v>
                </c:pt>
              </c:strCache>
            </c:strRef>
          </c:tx>
          <c:spPr>
            <a:solidFill>
              <a:srgbClr val="00875A"/>
            </a:solidFill>
            <a:ln w="38100" cap="flat">
              <a:solidFill>
                <a:srgbClr val="0087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875A"/>
              </a:solidFill>
              <a:ln w="9525" cap="flat">
                <a:solidFill>
                  <a:srgbClr val="0087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Jul01</c:v>
                  </c:pt>
                  <c:pt idx="1">
                    <c:v>Jul08</c:v>
                  </c:pt>
                  <c:pt idx="2">
                    <c:v>Jul15</c:v>
                  </c:pt>
                  <c:pt idx="3">
                    <c:v>Jul22</c:v>
                  </c:pt>
                  <c:pt idx="4">
                    <c:v>Jul29</c:v>
                  </c:pt>
                  <c:pt idx="5">
                    <c:v>Aug08</c:v>
                  </c:pt>
                  <c:pt idx="6">
                    <c:v>Aug15</c:v>
                  </c:pt>
                  <c:pt idx="7">
                    <c:v>Aug22</c:v>
                  </c:pt>
                  <c:pt idx="8">
                    <c:v>Aug29</c:v>
                  </c:pt>
                  <c:pt idx="9">
                    <c:v>Aug31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103.8</c:v>
                </c:pt>
                <c:pt idx="2">
                  <c:v>107.93</c:v>
                </c:pt>
                <c:pt idx="3">
                  <c:v>110.22</c:v>
                </c:pt>
                <c:pt idx="4">
                  <c:v>106.56</c:v>
                </c:pt>
                <c:pt idx="5">
                  <c:v>108.25</c:v>
                </c:pt>
                <c:pt idx="6">
                  <c:v>105.1</c:v>
                </c:pt>
                <c:pt idx="7">
                  <c:v>128.51</c:v>
                </c:pt>
                <c:pt idx="8">
                  <c:v>130.47</c:v>
                </c:pt>
                <c:pt idx="9">
                  <c:v>131.02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ETH</c:v>
                </c:pt>
              </c:strCache>
            </c:strRef>
          </c:tx>
          <c:spPr>
            <a:solidFill>
              <a:srgbClr val="111111"/>
            </a:solidFill>
            <a:ln w="38100" cap="flat">
              <a:solidFill>
                <a:srgbClr val="1111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11111"/>
              </a:solidFill>
              <a:ln w="9525" cap="flat">
                <a:solidFill>
                  <a:srgbClr val="1111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Jul01</c:v>
                  </c:pt>
                  <c:pt idx="1">
                    <c:v>Jul08</c:v>
                  </c:pt>
                  <c:pt idx="2">
                    <c:v>Jul15</c:v>
                  </c:pt>
                  <c:pt idx="3">
                    <c:v>Jul22</c:v>
                  </c:pt>
                  <c:pt idx="4">
                    <c:v>Jul29</c:v>
                  </c:pt>
                  <c:pt idx="5">
                    <c:v>Aug08</c:v>
                  </c:pt>
                  <c:pt idx="6">
                    <c:v>Aug15</c:v>
                  </c:pt>
                  <c:pt idx="7">
                    <c:v>Aug22</c:v>
                  </c:pt>
                  <c:pt idx="8">
                    <c:v>Aug29</c:v>
                  </c:pt>
                  <c:pt idx="9">
                    <c:v>Aug31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108.35</c:v>
                </c:pt>
                <c:pt idx="2">
                  <c:v>119.23</c:v>
                </c:pt>
                <c:pt idx="3">
                  <c:v>120.27</c:v>
                </c:pt>
                <c:pt idx="4">
                  <c:v>118.71</c:v>
                </c:pt>
                <c:pt idx="5">
                  <c:v>119.14</c:v>
                </c:pt>
                <c:pt idx="6">
                  <c:v>117</c:v>
                </c:pt>
                <c:pt idx="7">
                  <c:v>150.66</c:v>
                </c:pt>
                <c:pt idx="8">
                  <c:v>152.88</c:v>
                </c:pt>
                <c:pt idx="9">
                  <c:v>153.47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In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11111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series1</c:v>
                </c:pt>
              </c:strCache>
            </c:strRef>
          </c:tx>
          <c:spPr>
            <a:solidFill>
              <a:srgbClr val="0087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1"/>
                        </a:solidFill>
                        <a:latin typeface="Inter"/>
                      </a:defRPr>
                    </a:pPr>
                    <a:r>
                      <a:rPr lang="en-US" b="0" i="0" strike="noStrike" sz="1200" u="none">
                        <a:solidFill>
                          <a:srgbClr val="111111"/>
                        </a:solidFill>
                        <a:latin typeface="Inter"/>
                      </a:rPr>
                      <a:t>+31.02%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1"/>
                        </a:solidFill>
                        <a:latin typeface="Inter"/>
                      </a:defRPr>
                    </a:pPr>
                    <a:r>
                      <a:rPr lang="en-US" b="0" i="0" strike="noStrike" sz="1200" u="none">
                        <a:solidFill>
                          <a:srgbClr val="111111"/>
                        </a:solidFill>
                        <a:latin typeface="Inter"/>
                      </a:rPr>
                      <a:t>+53.47%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BTC</c:v>
                  </c:pt>
                  <c:pt idx="1">
                    <c:v>ETH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31.02</c:v>
                </c:pt>
                <c:pt idx="1">
                  <c:v>53.47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24.xml"/><Relationship Id="rId3" Type="http://schemas.openxmlformats.org/officeDocument/2006/relationships/chart" Target="/ppt/charts/chart325.xml"/><Relationship Id="rId1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6400" y="279400"/>
            <a:ext cx="154432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60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Assets &amp; Crypto Risk Outlook: July and August 2026</a:t>
            </a:r>
            <a:endParaRPr lang="en-US" sz="3600" dirty="0"/>
          </a:p>
        </p:txBody>
      </p:sp>
      <p:sp>
        <p:nvSpPr>
          <p:cNvPr id="3" name="summary-rule"/>
          <p:cNvSpPr/>
          <p:nvPr/>
        </p:nvSpPr>
        <p:spPr>
          <a:xfrm>
            <a:off x="406400" y="1016000"/>
            <a:ext cx="63500" cy="7747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4" name="summary"/>
          <p:cNvSpPr/>
          <p:nvPr/>
        </p:nvSpPr>
        <p:spPr>
          <a:xfrm>
            <a:off x="685800" y="977900"/>
            <a:ext cx="148336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altLang="en-US" sz="18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 operational disruption and financial-crime enforcement were followed in August by price acceleration, settlement-network expansion and proposed United States rules. </a:t>
            </a:r>
            <a:r>
              <a:rPr lang="en-US" altLang="en-US" sz="18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8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proceed only where provider recovery, fraud controls, product governance and settlement assurance operate together.</a:t>
            </a:r>
            <a:endParaRPr lang="en-US" sz="1800" dirty="0"/>
          </a:p>
        </p:txBody>
      </p:sp>
      <p:sp>
        <p:nvSpPr>
          <p:cNvPr id="5" name="column-divider-left"/>
          <p:cNvSpPr/>
          <p:nvPr/>
        </p:nvSpPr>
        <p:spPr>
          <a:xfrm>
            <a:off x="5486400" y="2032000"/>
            <a:ext cx="9144" cy="6781800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6" name="column-divider-right"/>
          <p:cNvSpPr/>
          <p:nvPr/>
        </p:nvSpPr>
        <p:spPr>
          <a:xfrm>
            <a:off x="10769600" y="2032000"/>
            <a:ext cx="9144" cy="6781800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7" name="market-heading"/>
          <p:cNvSpPr/>
          <p:nvPr/>
        </p:nvSpPr>
        <p:spPr>
          <a:xfrm>
            <a:off x="406400" y="2082800"/>
            <a:ext cx="41148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VITAL SIGNS</a:t>
            </a:r>
            <a:endParaRPr lang="en-US" sz="2000" dirty="0"/>
          </a:p>
        </p:txBody>
      </p:sp>
      <p:pic>
        <p:nvPicPr>
          <p:cNvPr id="8" name="marke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200" y="2057400"/>
            <a:ext cx="330200" cy="330200"/>
          </a:xfrm>
          <a:prstGeom prst="rect">
            <a:avLst/>
          </a:prstGeom>
        </p:spPr>
      </p:pic>
      <p:sp>
        <p:nvSpPr>
          <p:cNvPr id="9" name="market-underline"/>
          <p:cNvSpPr/>
          <p:nvPr/>
        </p:nvSpPr>
        <p:spPr>
          <a:xfrm>
            <a:off x="406400" y="2514600"/>
            <a:ext cx="4775200" cy="9144"/>
          </a:xfrm>
          <a:prstGeom prst="line">
            <a:avLst/>
          </a:prstGeom>
          <a:ln w="25400">
            <a:solidFill>
              <a:srgbClr val="00875A"/>
            </a:solidFill>
            <a:prstDash val="solid"/>
          </a:ln>
        </p:spPr>
      </p:sp>
      <p:sp>
        <p:nvSpPr>
          <p:cNvPr id="10" name="market-chart-title"/>
          <p:cNvSpPr/>
          <p:nvPr/>
        </p:nvSpPr>
        <p:spPr>
          <a:xfrm>
            <a:off x="406400" y="2705100"/>
            <a:ext cx="47752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INDEXED DAILY CLOSE</a:t>
            </a:r>
            <a:r>
              <a:rPr lang="en-US" altLang="en-US" sz="12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| Relative price path</a:t>
            </a:r>
            <a:endParaRPr lang="en-US" sz="1200" dirty="0"/>
          </a:p>
        </p:txBody>
      </p:sp>
      <p:graphicFrame>
        <p:nvGraphicFramePr>
          <p:cNvPr id="11" name="market-index-chart" descr=""/>
          <p:cNvGraphicFramePr/>
          <p:nvPr/>
        </p:nvGraphicFramePr>
        <p:xfrm>
          <a:off x="406400" y="2997200"/>
          <a:ext cx="4775200" cy="2146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arket-divider-one"/>
          <p:cNvSpPr/>
          <p:nvPr/>
        </p:nvSpPr>
        <p:spPr>
          <a:xfrm>
            <a:off x="406400" y="5359400"/>
            <a:ext cx="47752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13" name="return-chart-title"/>
          <p:cNvSpPr/>
          <p:nvPr/>
        </p:nvSpPr>
        <p:spPr>
          <a:xfrm>
            <a:off x="406400" y="5549900"/>
            <a:ext cx="47752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TWO-MONTH RETURN</a:t>
            </a:r>
            <a:r>
              <a:rPr lang="en-US" altLang="en-US" sz="12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| Single venue</a:t>
            </a:r>
            <a:endParaRPr lang="en-US" sz="1200" dirty="0"/>
          </a:p>
        </p:txBody>
      </p:sp>
      <p:graphicFrame>
        <p:nvGraphicFramePr>
          <p:cNvPr id="14" name="market-return-chart" descr=""/>
          <p:cNvGraphicFramePr/>
          <p:nvPr/>
        </p:nvGraphicFramePr>
        <p:xfrm>
          <a:off x="406400" y="5816600"/>
          <a:ext cx="4775200" cy="111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market-divider-two"/>
          <p:cNvSpPr/>
          <p:nvPr/>
        </p:nvSpPr>
        <p:spPr>
          <a:xfrm>
            <a:off x="406400" y="7137400"/>
            <a:ext cx="47752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16" name="market-control-title"/>
          <p:cNvSpPr/>
          <p:nvPr/>
        </p:nvSpPr>
        <p:spPr>
          <a:xfrm>
            <a:off x="406400" y="7340600"/>
            <a:ext cx="4775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Market-risk control</a:t>
            </a:r>
            <a:endParaRPr lang="en-US" sz="1500" dirty="0"/>
          </a:p>
        </p:txBody>
      </p:sp>
      <p:sp>
        <p:nvSpPr>
          <p:cNvPr id="17" name="market-control-copy"/>
          <p:cNvSpPr/>
          <p:nvPr/>
        </p:nvSpPr>
        <p:spPr>
          <a:xfrm>
            <a:off x="406400" y="7708900"/>
            <a:ext cx="4775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altLang="en-US" sz="13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 venue data shows high price sensitivity. </a:t>
            </a:r>
            <a:r>
              <a:rPr lang="en-US" altLang="en-US" sz="13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3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sustain collateral, valuation, margin and liquidity processes through rapid client-flow changes; shared custodians and liquidity venues remain a concentration pathway.</a:t>
            </a:r>
            <a:endParaRPr lang="en-US" sz="1300" dirty="0"/>
          </a:p>
        </p:txBody>
      </p:sp>
      <p:sp>
        <p:nvSpPr>
          <p:cNvPr id="18" name="trends-heading"/>
          <p:cNvSpPr/>
          <p:nvPr/>
        </p:nvSpPr>
        <p:spPr>
          <a:xfrm>
            <a:off x="5791200" y="2082800"/>
            <a:ext cx="3810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TRENDS</a:t>
            </a:r>
            <a:endParaRPr lang="en-US" sz="2000" dirty="0"/>
          </a:p>
        </p:txBody>
      </p:sp>
      <p:pic>
        <p:nvPicPr>
          <p:cNvPr id="19" name="trends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3000" y="2057400"/>
            <a:ext cx="330200" cy="330200"/>
          </a:xfrm>
          <a:prstGeom prst="rect">
            <a:avLst/>
          </a:prstGeom>
        </p:spPr>
      </p:pic>
      <p:sp>
        <p:nvSpPr>
          <p:cNvPr id="20" name="trends-underline"/>
          <p:cNvSpPr/>
          <p:nvPr/>
        </p:nvSpPr>
        <p:spPr>
          <a:xfrm>
            <a:off x="5791200" y="2514600"/>
            <a:ext cx="4673600" cy="9144"/>
          </a:xfrm>
          <a:prstGeom prst="line">
            <a:avLst/>
          </a:prstGeom>
          <a:ln w="25400">
            <a:solidFill>
              <a:srgbClr val="00875A"/>
            </a:solidFill>
            <a:prstDash val="solid"/>
          </a:ln>
        </p:spPr>
      </p:sp>
      <p:sp>
        <p:nvSpPr>
          <p:cNvPr id="21" name="trends-divider-one"/>
          <p:cNvSpPr/>
          <p:nvPr/>
        </p:nvSpPr>
        <p:spPr>
          <a:xfrm>
            <a:off x="5791200" y="4572000"/>
            <a:ext cx="46736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22" name="trends-divider-two"/>
          <p:cNvSpPr/>
          <p:nvPr/>
        </p:nvSpPr>
        <p:spPr>
          <a:xfrm>
            <a:off x="5791200" y="6680200"/>
            <a:ext cx="46736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23" name="provider-panel-title"/>
          <p:cNvSpPr/>
          <p:nvPr/>
        </p:nvSpPr>
        <p:spPr>
          <a:xfrm>
            <a:off x="5791200" y="2705100"/>
            <a:ext cx="46736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Provider recovery</a:t>
            </a:r>
            <a:endParaRPr lang="en-US" sz="1600" dirty="0"/>
          </a:p>
        </p:txBody>
      </p:sp>
      <p:sp>
        <p:nvSpPr>
          <p:cNvPr id="24" name="provider-panel-copy"/>
          <p:cNvSpPr/>
          <p:nvPr/>
        </p:nvSpPr>
        <p:spPr>
          <a:xfrm>
            <a:off x="5791200" y="3098800"/>
            <a:ext cx="46736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configuration update interrupted transfers, cards, onchain services and institutional settlement.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routine change and recovery route shared operational infrastructure; test independent recovery and pre-authorise safe emergency access.</a:t>
            </a:r>
            <a:endParaRPr lang="en-US" sz="1400" dirty="0"/>
          </a:p>
        </p:txBody>
      </p:sp>
      <p:sp>
        <p:nvSpPr>
          <p:cNvPr id="25" name="fraud-panel-title"/>
          <p:cNvSpPr/>
          <p:nvPr/>
        </p:nvSpPr>
        <p:spPr>
          <a:xfrm>
            <a:off x="5791200" y="47879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and laundering</a:t>
            </a:r>
            <a:endParaRPr lang="en-US" sz="1600" dirty="0"/>
          </a:p>
        </p:txBody>
      </p:sp>
      <p:sp>
        <p:nvSpPr>
          <p:cNvPr id="26" name="fraud-panel-metric"/>
          <p:cNvSpPr/>
          <p:nvPr/>
        </p:nvSpPr>
        <p:spPr>
          <a:xfrm>
            <a:off x="8255000" y="4775200"/>
            <a:ext cx="2209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210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USD 25m</a:t>
            </a:r>
            <a:endParaRPr lang="en-US" sz="2100" dirty="0"/>
          </a:p>
        </p:txBody>
      </p:sp>
      <p:sp>
        <p:nvSpPr>
          <p:cNvPr id="27" name="fraud-panel-copy"/>
          <p:cNvSpPr/>
          <p:nvPr/>
        </p:nvSpPr>
        <p:spPr>
          <a:xfrm>
            <a:off x="5791200" y="5207000"/>
            <a:ext cx="46736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United States action sought funds tied to international crypto-investment fraud and laundering.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align scam detection, payment holds, transaction monitoring and client intervention from onboarding to outbound transfer.</a:t>
            </a:r>
            <a:endParaRPr lang="en-US" sz="1400" dirty="0"/>
          </a:p>
        </p:txBody>
      </p:sp>
      <p:sp>
        <p:nvSpPr>
          <p:cNvPr id="28" name="settlement-panel-title"/>
          <p:cNvSpPr/>
          <p:nvPr/>
        </p:nvSpPr>
        <p:spPr>
          <a:xfrm>
            <a:off x="5791200" y="6896100"/>
            <a:ext cx="46736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Tokenised settlement expansion</a:t>
            </a:r>
            <a:endParaRPr lang="en-US" sz="1600" dirty="0"/>
          </a:p>
        </p:txBody>
      </p:sp>
      <p:sp>
        <p:nvSpPr>
          <p:cNvPr id="29" name="settlement-panel-copy"/>
          <p:cNvSpPr/>
          <p:nvPr/>
        </p:nvSpPr>
        <p:spPr>
          <a:xfrm>
            <a:off x="5791200" y="7289800"/>
            <a:ext cx="467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planned connection extends tokenised-deposit settlement across institutions.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routing and settlement dependencies can transmit disruption; certify interoperability, screening, liquidity, finality and exit controls before production.</a:t>
            </a:r>
            <a:endParaRPr lang="en-US" sz="1400" dirty="0"/>
          </a:p>
        </p:txBody>
      </p:sp>
      <p:sp>
        <p:nvSpPr>
          <p:cNvPr id="30" name="regulation-heading"/>
          <p:cNvSpPr/>
          <p:nvPr/>
        </p:nvSpPr>
        <p:spPr>
          <a:xfrm>
            <a:off x="11074400" y="2082800"/>
            <a:ext cx="3937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REGULATORY MANDATES</a:t>
            </a:r>
            <a:endParaRPr lang="en-US" sz="2000" dirty="0"/>
          </a:p>
        </p:txBody>
      </p:sp>
      <p:pic>
        <p:nvPicPr>
          <p:cNvPr id="31" name="regulation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16200" y="2057400"/>
            <a:ext cx="330200" cy="330200"/>
          </a:xfrm>
          <a:prstGeom prst="rect">
            <a:avLst/>
          </a:prstGeom>
        </p:spPr>
      </p:pic>
      <p:sp>
        <p:nvSpPr>
          <p:cNvPr id="32" name="regulation-underline"/>
          <p:cNvSpPr/>
          <p:nvPr/>
        </p:nvSpPr>
        <p:spPr>
          <a:xfrm>
            <a:off x="11074400" y="2514600"/>
            <a:ext cx="4775200" cy="9144"/>
          </a:xfrm>
          <a:prstGeom prst="line">
            <a:avLst/>
          </a:prstGeom>
          <a:ln w="25400">
            <a:solidFill>
              <a:srgbClr val="00875A"/>
            </a:solidFill>
            <a:prstDash val="solid"/>
          </a:ln>
        </p:spPr>
      </p:sp>
      <p:sp>
        <p:nvSpPr>
          <p:cNvPr id="33" name="regulation-divider-one"/>
          <p:cNvSpPr/>
          <p:nvPr/>
        </p:nvSpPr>
        <p:spPr>
          <a:xfrm>
            <a:off x="11074400" y="4572000"/>
            <a:ext cx="47752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34" name="regulation-divider-two"/>
          <p:cNvSpPr/>
          <p:nvPr/>
        </p:nvSpPr>
        <p:spPr>
          <a:xfrm>
            <a:off x="11074400" y="6680200"/>
            <a:ext cx="4775200" cy="9144"/>
          </a:xfrm>
          <a:prstGeom prst="line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35" name="stablecoin-panel-title"/>
          <p:cNvSpPr/>
          <p:nvPr/>
        </p:nvSpPr>
        <p:spPr>
          <a:xfrm>
            <a:off x="11074400" y="2705100"/>
            <a:ext cx="4775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 | PAYMENT STABLECOINS</a:t>
            </a:r>
            <a:endParaRPr lang="en-US" sz="1500" dirty="0"/>
          </a:p>
        </p:txBody>
      </p:sp>
      <p:sp>
        <p:nvSpPr>
          <p:cNvPr id="36" name="stablecoin-panel-copy"/>
          <p:cNvSpPr/>
          <p:nvPr/>
        </p:nvSpPr>
        <p:spPr>
          <a:xfrm>
            <a:off x="11074400" y="3098800"/>
            <a:ext cx="47752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Treasury proposed payment-stablecoin issuance and distribution rules.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map products, issuers, reserve access, wallets, disclosures and cross-border eligibility. Proposal only; no binding implementation is asserted.</a:t>
            </a:r>
            <a:endParaRPr lang="en-US" sz="1400" dirty="0"/>
          </a:p>
        </p:txBody>
      </p:sp>
      <p:sp>
        <p:nvSpPr>
          <p:cNvPr id="37" name="offerings-panel-title"/>
          <p:cNvSpPr/>
          <p:nvPr/>
        </p:nvSpPr>
        <p:spPr>
          <a:xfrm>
            <a:off x="11074400" y="4787900"/>
            <a:ext cx="4775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 | TOKEN OFFERINGS</a:t>
            </a:r>
            <a:endParaRPr lang="en-US" sz="1500" dirty="0"/>
          </a:p>
        </p:txBody>
      </p:sp>
      <p:sp>
        <p:nvSpPr>
          <p:cNvPr id="38" name="offerings-panel-copy"/>
          <p:cNvSpPr/>
          <p:nvPr/>
        </p:nvSpPr>
        <p:spPr>
          <a:xfrm>
            <a:off x="11074400" y="5207000"/>
            <a:ext cx="4775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 proposed a tailored regime for specified crypto-asset investment contracts.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define classification, disclosure and distribution ownership before intermediary participation expands. Proposal only; no future requirement is assumed.</a:t>
            </a:r>
            <a:endParaRPr lang="en-US" sz="1400" dirty="0"/>
          </a:p>
        </p:txBody>
      </p:sp>
      <p:sp>
        <p:nvSpPr>
          <p:cNvPr id="39" name="segregation-panel-title"/>
          <p:cNvSpPr/>
          <p:nvPr/>
        </p:nvSpPr>
        <p:spPr>
          <a:xfrm>
            <a:off x="11074400" y="6896100"/>
            <a:ext cx="4775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ENFORCEMENT | CLIENT-ASSET SEGREGATION</a:t>
            </a:r>
            <a:endParaRPr lang="en-US" sz="1500" dirty="0"/>
          </a:p>
        </p:txBody>
      </p:sp>
      <p:sp>
        <p:nvSpPr>
          <p:cNvPr id="40" name="segregation-panel-copy"/>
          <p:cNvSpPr/>
          <p:nvPr/>
        </p:nvSpPr>
        <p:spPr>
          <a:xfrm>
            <a:off x="11074400" y="7289800"/>
            <a:ext cx="477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FTX-related enforcement resolution reinforces the governance lessons from affiliate misuse.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2LoD assessment: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independent governance, client-asset segregation and internal risk-transfer controls remain decision conditions. Bank-specific loss scenario: </a:t>
            </a:r>
            <a:r>
              <a:rPr lang="en-US" altLang="en-US" sz="1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NEEDS_REVIEW</a:t>
            </a:r>
            <a:r>
              <a:rPr lang="en-US" altLang="en-US" sz="1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Assets &amp; Crypto Risk Outlook: July and August 2026</dc:title>
  <dc:subject>Digital Assets &amp; Crypto Risk Outlook: July and August 2026</dc:subject>
  <dc:creator>Manus</dc:creator>
  <cp:lastModifiedBy>Manus</cp:lastModifiedBy>
  <cp:revision>1</cp:revision>
  <dcterms:created xsi:type="dcterms:W3CDTF">2026-09-01T15:04:33Z</dcterms:created>
  <dcterms:modified xsi:type="dcterms:W3CDTF">2026-09-01T15:04:33Z</dcterms:modified>
</cp:coreProperties>
</file>