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6212800" cy="14630400"/>
  <p:notesSz cx="6858000" cy="9144000"/>
  <p:embeddedFontLst>
    <p:embeddedFont>
      <p:font typeface="Roboto Condensed" charset="1" panose="02000000000000000000"/>
      <p:regular r:id="rId7"/>
    </p:embeddedFont>
    <p:embeddedFont>
      <p:font typeface="Clear Sans Bold" charset="1" panose="020B08030302020203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6212800" cy="14624558"/>
          </a:xfrm>
          <a:custGeom>
            <a:avLst/>
            <a:gdLst/>
            <a:ahLst/>
            <a:cxnLst/>
            <a:rect r="r" b="b" t="t" l="l"/>
            <a:pathLst>
              <a:path h="14624558" w="26212800">
                <a:moveTo>
                  <a:pt x="0" y="0"/>
                </a:moveTo>
                <a:lnTo>
                  <a:pt x="26212800" y="0"/>
                </a:lnTo>
                <a:lnTo>
                  <a:pt x="26212800" y="14624558"/>
                </a:lnTo>
                <a:lnTo>
                  <a:pt x="0" y="14624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8512" y="742484"/>
            <a:ext cx="20250150" cy="1857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37"/>
              </a:lnSpc>
            </a:pPr>
            <a:r>
              <a:rPr lang="en-US" sz="7492" spc="337">
                <a:solidFill>
                  <a:srgbClr val="11805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CYBER FRAUD LANDSCAPE 2025-2026:</a:t>
            </a:r>
          </a:p>
          <a:p>
            <a:pPr algn="l">
              <a:lnSpc>
                <a:spcPts val="7041"/>
              </a:lnSpc>
            </a:pPr>
            <a:r>
              <a:rPr lang="en-US" sz="7289" spc="400">
                <a:solidFill>
                  <a:srgbClr val="132D1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'LIAR'S DIVIDEND' IN NUMBERS &amp; STRATEGY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1432" y="2903352"/>
            <a:ext cx="6848475" cy="567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4859" spc="208">
                <a:solidFill>
                  <a:srgbClr val="11805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HUMAN ELEMENT:</a:t>
            </a:r>
          </a:p>
          <a:p>
            <a:pPr algn="l">
              <a:lnSpc>
                <a:spcPts val="4585"/>
              </a:lnSpc>
            </a:pPr>
            <a:r>
              <a:rPr lang="en-US" sz="3481">
                <a:solidFill>
                  <a:srgbClr val="132D1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VOLUME &amp; VALUE SHIFT</a:t>
            </a:r>
          </a:p>
          <a:p>
            <a:pPr algn="l">
              <a:lnSpc>
                <a:spcPts val="11283"/>
              </a:lnSpc>
            </a:pPr>
            <a:r>
              <a:rPr lang="en-US" sz="8567" spc="265">
                <a:solidFill>
                  <a:srgbClr val="11805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60% INCREASE</a:t>
            </a:r>
          </a:p>
          <a:p>
            <a:pPr algn="l">
              <a:lnSpc>
                <a:spcPts val="3912"/>
              </a:lnSpc>
            </a:pPr>
            <a:r>
              <a:rPr lang="en-US" sz="2971" spc="127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Financial Institutions Reporting Higher</a:t>
            </a:r>
          </a:p>
          <a:p>
            <a:pPr algn="l">
              <a:lnSpc>
                <a:spcPts val="3912"/>
              </a:lnSpc>
            </a:pPr>
            <a:r>
              <a:rPr lang="en-US" sz="2971" spc="127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Fraud Volume [19]</a:t>
            </a:r>
          </a:p>
          <a:p>
            <a:pPr algn="l">
              <a:lnSpc>
                <a:spcPts val="10444"/>
              </a:lnSpc>
            </a:pPr>
            <a:r>
              <a:rPr lang="en-US" sz="7930" spc="444">
                <a:solidFill>
                  <a:srgbClr val="11805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€4.2 BILLION</a:t>
            </a:r>
          </a:p>
          <a:p>
            <a:pPr algn="l">
              <a:lnSpc>
                <a:spcPts val="4267"/>
              </a:lnSpc>
            </a:pPr>
            <a:r>
              <a:rPr lang="en-US" sz="3240" spc="6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Total EU Payment Fraud (+17% YoY) [22]</a:t>
            </a:r>
          </a:p>
        </p:txBody>
      </p:sp>
      <p:sp>
        <p:nvSpPr>
          <p:cNvPr name="TextBox 5" id="5"/>
          <p:cNvSpPr txBox="true"/>
          <p:nvPr/>
        </p:nvSpPr>
        <p:spPr>
          <a:xfrm rot="316061">
            <a:off x="1044595" y="9252361"/>
            <a:ext cx="4610100" cy="1227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25"/>
              </a:lnSpc>
            </a:pPr>
            <a:r>
              <a:rPr lang="en-US" sz="7160" spc="-279">
                <a:solidFill>
                  <a:srgbClr val="155D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+12% LOSSES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09316" y="9141071"/>
            <a:ext cx="2952750" cy="77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3"/>
              </a:lnSpc>
            </a:pPr>
            <a:r>
              <a:rPr lang="en-US" sz="4538" spc="222">
                <a:solidFill>
                  <a:srgbClr val="132D1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 FRAUD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304" y="10419837"/>
            <a:ext cx="7343775" cy="54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6"/>
              </a:lnSpc>
            </a:pPr>
            <a:r>
              <a:rPr lang="en-US" sz="3119" spc="40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Authorized Push Payment (Human Layer) [29]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25228" y="11373418"/>
            <a:ext cx="2133600" cy="76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11"/>
              </a:lnSpc>
            </a:pPr>
            <a:r>
              <a:rPr lang="en-US" sz="4436" spc="257">
                <a:solidFill>
                  <a:srgbClr val="132D1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REMOTE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1629" y="11634571"/>
            <a:ext cx="7086600" cy="1500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3"/>
              </a:lnSpc>
            </a:pPr>
            <a:r>
              <a:rPr lang="en-US" sz="6278" spc="-113">
                <a:solidFill>
                  <a:srgbClr val="134B2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-24% BANKING LOSSES</a:t>
            </a:r>
          </a:p>
          <a:p>
            <a:pPr algn="l">
              <a:lnSpc>
                <a:spcPts val="4031"/>
              </a:lnSpc>
            </a:pPr>
            <a:r>
              <a:rPr lang="en-US" sz="3214" spc="3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Technical Attacks Diminishing [29]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7946" y="2881121"/>
            <a:ext cx="7191375" cy="83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3"/>
              </a:lnSpc>
            </a:pPr>
            <a:r>
              <a:rPr lang="en-US" sz="4816" spc="216">
                <a:solidFill>
                  <a:srgbClr val="132D1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INDUSTRIALIZED THREATS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9178" y="3486813"/>
            <a:ext cx="6191250" cy="83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8"/>
              </a:lnSpc>
            </a:pPr>
            <a:r>
              <a:rPr lang="en-US" sz="4820" spc="255">
                <a:solidFill>
                  <a:srgbClr val="132D1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&amp; EMERGING VECTORS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7271" y="4566349"/>
            <a:ext cx="4514850" cy="134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3"/>
              </a:lnSpc>
            </a:pPr>
            <a:r>
              <a:rPr lang="en-US" sz="7831" spc="321">
                <a:solidFill>
                  <a:srgbClr val="11805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8 MILLION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04475" y="4732679"/>
            <a:ext cx="2581275" cy="114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5"/>
              </a:lnSpc>
            </a:pPr>
            <a:r>
              <a:rPr lang="en-US" sz="4427" spc="185">
                <a:solidFill>
                  <a:srgbClr val="132D1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DEEPFAKE</a:t>
            </a:r>
          </a:p>
          <a:p>
            <a:pPr algn="l">
              <a:lnSpc>
                <a:spcPts val="4405"/>
              </a:lnSpc>
            </a:pPr>
            <a:r>
              <a:rPr lang="en-US" sz="4427" spc="185">
                <a:solidFill>
                  <a:srgbClr val="132D1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60802" y="5812675"/>
            <a:ext cx="7553325" cy="5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2"/>
              </a:lnSpc>
            </a:pPr>
            <a:r>
              <a:rPr lang="en-US" sz="3073" spc="61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Circulating in 2025 (up from 500k in 2023) [69]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21908" y="6918927"/>
            <a:ext cx="2162175" cy="72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spc="361">
                <a:solidFill>
                  <a:srgbClr val="132D1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VISHING</a:t>
            </a:r>
          </a:p>
        </p:txBody>
      </p:sp>
      <p:sp>
        <p:nvSpPr>
          <p:cNvPr name="TextBox 16" id="16"/>
          <p:cNvSpPr txBox="true"/>
          <p:nvPr/>
        </p:nvSpPr>
        <p:spPr>
          <a:xfrm rot="328284">
            <a:off x="9503425" y="7015105"/>
            <a:ext cx="4286250" cy="131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72"/>
              </a:lnSpc>
            </a:pPr>
            <a:r>
              <a:rPr lang="en-US" sz="7694" spc="-261">
                <a:solidFill>
                  <a:srgbClr val="155D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100% SPIKE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39614" y="8141812"/>
            <a:ext cx="5924550" cy="574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3"/>
              </a:lnSpc>
            </a:pPr>
            <a:r>
              <a:rPr lang="en-US" sz="3273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Global Voice Phishing Attempts [77]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64710" y="9302534"/>
            <a:ext cx="7458075" cy="113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5"/>
              </a:lnSpc>
            </a:pPr>
            <a:r>
              <a:rPr lang="en-US" sz="6510" spc="221">
                <a:solidFill>
                  <a:srgbClr val="1071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$17 BILLION STOLEN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60040" y="10426356"/>
            <a:ext cx="7505700" cy="53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3"/>
              </a:lnSpc>
            </a:pPr>
            <a:r>
              <a:rPr lang="en-US" sz="3016" spc="87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Crypto Scams (Impersonation up 1400%) [144]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39244" y="11382253"/>
            <a:ext cx="1095375" cy="748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6"/>
              </a:lnSpc>
            </a:pPr>
            <a:r>
              <a:rPr lang="en-US" sz="4297" spc="322">
                <a:solidFill>
                  <a:srgbClr val="132D1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CNP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27515" y="11483203"/>
            <a:ext cx="5781675" cy="172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9"/>
              </a:lnSpc>
            </a:pPr>
            <a:r>
              <a:rPr lang="en-US" sz="7688" spc="-369">
                <a:solidFill>
                  <a:srgbClr val="155D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+22% FRAUD</a:t>
            </a:r>
          </a:p>
          <a:p>
            <a:pPr algn="l">
              <a:lnSpc>
                <a:spcPts val="3942"/>
              </a:lnSpc>
            </a:pPr>
            <a:r>
              <a:rPr lang="en-US" sz="3141" spc="53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Card Not Present Transactions [39]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54821" y="13893359"/>
            <a:ext cx="8486775" cy="44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7"/>
              </a:lnSpc>
            </a:pPr>
            <a:r>
              <a:rPr lang="en-US" sz="2619" spc="104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SOURCE: THE INDUSTRIALIZATION OF DECEPTION REPORT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119598" y="3067002"/>
            <a:ext cx="7105650" cy="125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8"/>
              </a:lnSpc>
            </a:pPr>
            <a:r>
              <a:rPr lang="en-US" sz="4739" spc="265">
                <a:solidFill>
                  <a:srgbClr val="11805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STRATEGIC IMPERATIVES:</a:t>
            </a:r>
          </a:p>
          <a:p>
            <a:pPr algn="l">
              <a:lnSpc>
                <a:spcPts val="4858"/>
              </a:lnSpc>
            </a:pPr>
            <a:r>
              <a:rPr lang="en-US" sz="4839" spc="246">
                <a:solidFill>
                  <a:srgbClr val="132D1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ZERO-TRUST &amp; LIABILITY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177135" y="4742945"/>
            <a:ext cx="6705600" cy="224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4"/>
              </a:lnSpc>
            </a:pPr>
            <a:r>
              <a:rPr lang="en-US" sz="4118" spc="82">
                <a:solidFill>
                  <a:srgbClr val="155D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• VERIFY, DON'T JUST DETECT</a:t>
            </a:r>
          </a:p>
          <a:p>
            <a:pPr algn="l">
              <a:lnSpc>
                <a:spcPts val="4337"/>
              </a:lnSpc>
            </a:pPr>
            <a:r>
              <a:rPr lang="en-US" sz="3710" spc="63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GenAl erodes trust baseline;</a:t>
            </a:r>
          </a:p>
          <a:p>
            <a:pPr algn="l">
              <a:lnSpc>
                <a:spcPts val="4337"/>
              </a:lnSpc>
            </a:pPr>
            <a:r>
              <a:rPr lang="en-US" sz="3710" spc="63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"video confirms identity" paradigm</a:t>
            </a:r>
          </a:p>
          <a:p>
            <a:pPr algn="l">
              <a:lnSpc>
                <a:spcPts val="4337"/>
              </a:lnSpc>
            </a:pPr>
            <a:r>
              <a:rPr lang="en-US" sz="3710" spc="63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broken [6, 73].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529173" y="7729165"/>
            <a:ext cx="6553200" cy="2210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3"/>
              </a:lnSpc>
            </a:pPr>
            <a:r>
              <a:rPr lang="en-US" sz="4287" spc="8">
                <a:solidFill>
                  <a:srgbClr val="155D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TARGET THE "HUMAN LAYER"</a:t>
            </a:r>
          </a:p>
          <a:p>
            <a:pPr algn="l">
              <a:lnSpc>
                <a:spcPts val="4193"/>
              </a:lnSpc>
            </a:pPr>
            <a:r>
              <a:rPr lang="en-US" sz="3614" spc="101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 fraud is the "crown jewel",</a:t>
            </a:r>
          </a:p>
          <a:p>
            <a:pPr algn="l">
              <a:lnSpc>
                <a:spcPts val="4193"/>
              </a:lnSpc>
            </a:pPr>
            <a:r>
              <a:rPr lang="en-US" sz="3614" spc="101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bypassing technical controls by</a:t>
            </a:r>
          </a:p>
          <a:p>
            <a:pPr algn="l">
              <a:lnSpc>
                <a:spcPts val="4193"/>
              </a:lnSpc>
            </a:pPr>
            <a:r>
              <a:rPr lang="en-US" sz="3614" spc="101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exploiting customers [141, 32].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521209" y="10688332"/>
            <a:ext cx="6743700" cy="218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5"/>
              </a:lnSpc>
            </a:pPr>
            <a:r>
              <a:rPr lang="en-US" sz="4088" spc="98">
                <a:solidFill>
                  <a:srgbClr val="155D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PREPARE FOR LIABILITY SHIFT</a:t>
            </a:r>
          </a:p>
          <a:p>
            <a:pPr algn="l">
              <a:lnSpc>
                <a:spcPts val="4199"/>
              </a:lnSpc>
            </a:pPr>
            <a:r>
              <a:rPr lang="en-US" sz="3595" spc="104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New frameworks (PSD3, DORA)</a:t>
            </a:r>
          </a:p>
          <a:p>
            <a:pPr algn="l">
              <a:lnSpc>
                <a:spcPts val="4199"/>
              </a:lnSpc>
            </a:pPr>
            <a:r>
              <a:rPr lang="en-US" sz="3595" spc="104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mandate banks act as insurer of</a:t>
            </a:r>
          </a:p>
          <a:p>
            <a:pPr algn="l">
              <a:lnSpc>
                <a:spcPts val="4199"/>
              </a:lnSpc>
            </a:pPr>
            <a:r>
              <a:rPr lang="en-US" sz="3595" spc="104">
                <a:solidFill>
                  <a:srgbClr val="2525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last resort [13, 111].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DAG90k9mLsE</dc:identifier>
  <dcterms:modified xsi:type="dcterms:W3CDTF">2011-08-01T06:04:30Z</dcterms:modified>
  <cp:revision>1</cp:revision>
  <dc:title>FY2025 Executive Intelligence Summary: From Elevated Risk to Direct Confrontation The New Battlefield: Blurring Lines Between Crime &amp; Conflict</dc:title>
</cp:coreProperties>
</file>