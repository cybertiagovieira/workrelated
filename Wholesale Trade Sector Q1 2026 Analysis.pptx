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8099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5 Cybersecurity Threats in the Wholesale Trade Sector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41127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EU wholesale trade sector faces targeted, financially motivated cyber operations exploiting low downtime tolerance. Wholesalers' integrated intermediary position creates systemic single points of failure across digital supply networks.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844278"/>
            <a:ext cx="10868745" cy="3573463"/>
          </a:xfrm>
          <a:prstGeom prst="roundRect">
            <a:avLst>
              <a:gd name="adj" fmla="val 62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253456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885678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17900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50122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782344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36364" y="1844278"/>
            <a:ext cx="9303" cy="35734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6053" y="1844278"/>
            <a:ext cx="9303" cy="35734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16748" y="1937345"/>
            <a:ext cx="11772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#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88363" y="1937345"/>
            <a:ext cx="33452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Threat Vector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28052" y="1937345"/>
            <a:ext cx="725657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Operational Target &amp; Systemic Impact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6748" y="2343348"/>
            <a:ext cx="11772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88363" y="2343348"/>
            <a:ext cx="33452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MFT &amp; ERP Ransomware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28052" y="2343348"/>
            <a:ext cx="66469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Unpatched vulnerabilities (e.g., CVE-2025-61882) exploited; syndicates (ClOp, Qilin, Akira, RansomHub, Play) encrypt databases, halting WMS and transit coordination.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6748" y="2975570"/>
            <a:ext cx="11772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88363" y="2975570"/>
            <a:ext cx="33452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Infostealer Credential Hijacking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8052" y="2975570"/>
            <a:ext cx="66469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Malware extracts corporate credentials from endpoints; compromised credentials circulate in dark web Stealer Logs, bypassing perimeter security.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748" y="3607792"/>
            <a:ext cx="11772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88363" y="3607792"/>
            <a:ext cx="33452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AI-Generated BEC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28052" y="3607792"/>
            <a:ext cx="66469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bots emulate executive communications; attackers target accounts payable to inject fraudulent invoices into supplier ledgers.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748" y="4240014"/>
            <a:ext cx="11772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688363" y="4240014"/>
            <a:ext cx="33452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Third-Party &amp; MSP Exploitation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28052" y="4240014"/>
            <a:ext cx="66469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Compromised MSPs, cloud platforms, or APIs enable lateral movement from 3PL partners directly into ERP environments.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748" y="4872236"/>
            <a:ext cx="117720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688363" y="4872236"/>
            <a:ext cx="33452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C2 Botnet Persistence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28052" y="4872236"/>
            <a:ext cx="66469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CVSS 8+ vulnerabilities in edge devices recruit assets into botnets, maintaining persistent backdoor access for exfiltration or extortion.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1475" y="5568454"/>
            <a:ext cx="10868745" cy="781348"/>
          </a:xfrm>
          <a:prstGeom prst="roundRect">
            <a:avLst>
              <a:gd name="adj" fmla="val 2858"/>
            </a:avLst>
          </a:prstGeom>
          <a:solidFill>
            <a:srgbClr val="FCF2B5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99" y="5776615"/>
            <a:ext cx="186031" cy="1488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45154" y="5739606"/>
            <a:ext cx="1023624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Critical Vulnerabilities: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81%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AI-using orgs have known vulnerabilities (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99.9%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unpatched).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97%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AI-breach victims lacked basic access controls.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52%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wholesale firms have misconfigured DKIM/DMARC records.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402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 of Cyber Incidents in Wholesale Trade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96057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European wholesalers, cyber incidents are acute balance-sheet events. High volumes and tight margins mean disruptions quickly cascade into direct losses and penalties. A breach in one hub can halt the entire supply chain.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42715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Cost Distribution — Data Breach Expenses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49003"/>
            <a:ext cx="10868745" cy="1948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576141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Detection &amp; Escalation (33%) and Lost Business (33%) dominate direct costs. Post-Breach Response (25%) and Reputation Damage (9%) round out indirect costs.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1475" y="3822799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Financial Metrics — Wholesale vs. Benchmarks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4129088"/>
            <a:ext cx="10868745" cy="2208411"/>
          </a:xfrm>
          <a:prstGeom prst="roundRect">
            <a:avLst>
              <a:gd name="adj" fmla="val 73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1475" y="4376936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4621609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4866283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5110956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1475" y="5355630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5600303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5844977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61475" y="6089650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75474" y="4183658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Metric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72511" y="4183658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Wholesale Sector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51916" y="4183658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Global Benchmark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5474" y="4428331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Data Breach Cost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72511" y="4428331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$4.10M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251916" y="4428331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5474" y="4673005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Supply Chain Breach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72511" y="4673005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$4.91M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51916" y="4673005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$4.91M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75474" y="4917678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Breach (Disclosed)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72511" y="4917678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51916" y="4917678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75474" y="5162352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Lifecycle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72511" y="5162352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272 Days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251916" y="5162352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241 Days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5474" y="5407025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Unplanned OT Downtime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72511" y="5407025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 to $125K/Hour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251916" y="5407025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75474" y="5651698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Active Botnet Infection Rate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72511" y="5651698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32%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251916" y="5651698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32%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75474" y="5896372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Corporate Credential Exposure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872511" y="5896372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59.29%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251916" y="5896372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70.36% (Retail)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75474" y="6141045"/>
            <a:ext cx="449171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Shadow AI Cost Premium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872511" y="6141045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+$670K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251916" y="6141045"/>
            <a:ext cx="377408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+$670K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481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Catastrophic Cyber Incident Scenarios &amp; Long-Term Consequences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54321" y="1400870"/>
            <a:ext cx="5467114" cy="1752005"/>
          </a:xfrm>
          <a:prstGeom prst="roundRect">
            <a:avLst>
              <a:gd name="adj" fmla="val 1274"/>
            </a:avLst>
          </a:prstGeom>
          <a:solidFill>
            <a:srgbClr val="00674F"/>
          </a:solidFill>
          <a:ln/>
        </p:spPr>
      </p:sp>
      <p:sp>
        <p:nvSpPr>
          <p:cNvPr id="4" name="Text 2"/>
          <p:cNvSpPr/>
          <p:nvPr/>
        </p:nvSpPr>
        <p:spPr>
          <a:xfrm>
            <a:off x="703146" y="1534815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A: Ransomware OT Blackout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03146" y="1901230"/>
            <a:ext cx="5169465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actors exploit remote gateway vulnerabilities or Stealer Log credentials, deploying ransomware (Qilin, Play, Black Basta) across the enterprise. BYOVD tactics disable security tools; WMS, TMS, and ERP servers encrypted. Cargo delivery drops below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capacity. Operations offline ~2 weeks.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3763" y="1534815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B: AI-Driven Invoice Fraud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83763" y="1901230"/>
            <a:ext cx="5252807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harvest AP logins and establish long-term persistence in financial software. For 2+ weeks, AI scripts analyze billing cycles and approval structures, generating personalized fraudulent invoices. Fraud detected only when partners flag missing payments, causing direct capital loss and supplier contract terminations.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1475" y="3353792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787180"/>
            <a:ext cx="5367402" cy="11010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5547" y="3955058"/>
            <a:ext cx="495545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Market Capitalization Erosion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05547" y="4267895"/>
            <a:ext cx="49554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Severe breach announcements trigger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15–17%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equity value drops within 48 hours.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2818" y="3787180"/>
            <a:ext cx="5367402" cy="11010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6890" y="3955058"/>
            <a:ext cx="495545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EU Regulatory Sanctions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6890" y="4267895"/>
            <a:ext cx="49554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 fines: up to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€7M / 1.4%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turnover ("Important") or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€10M / 2%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("Essential").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22155"/>
            <a:ext cx="5367402" cy="11010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547" y="5190034"/>
            <a:ext cx="495545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Persistent Customer Churn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905547" y="5502870"/>
            <a:ext cx="49554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Shipping platform downtime over one week drives retail clients to competitors permanently.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2818" y="5022155"/>
            <a:ext cx="5367402" cy="11010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6890" y="5190034"/>
            <a:ext cx="495545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Sales Decline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406890" y="5502870"/>
            <a:ext cx="49554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Systemic interruptions force annual sales target reductions of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4–6%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up to a year.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780"/>
            <a:ext cx="10868745" cy="3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United Natural Foods Inc. (UNFI) — June 2025 Ransomware Attack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06859"/>
            <a:ext cx="10868745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UNFI, North America's largest natural/organic grocery distributor serving 30,000+ retail endpoints, was hit on June 5, 2025. Unauthorized IT access forced a proactive network shutdown, disabling WMS, TMS, and ordering portals — halting shipments across the entire distribution network.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67520"/>
            <a:ext cx="1086874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Financial Impact Breakdown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4758"/>
            <a:ext cx="10355698" cy="20017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627834"/>
            <a:ext cx="11478330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losses reached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$350M–$400M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Pre-tax cash flow fell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$65M–$75M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Stock dropped 17% in 48 hours, erasing ~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$300M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shareholder value.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1475" y="3855740"/>
            <a:ext cx="1086874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Operational Impact Timeline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1475" y="5016302"/>
            <a:ext cx="10868745" cy="12700"/>
          </a:xfrm>
          <a:prstGeom prst="roundRect">
            <a:avLst>
              <a:gd name="adj" fmla="val 121022"/>
            </a:avLst>
          </a:prstGeom>
          <a:solidFill>
            <a:srgbClr val="D8D4D4"/>
          </a:solidFill>
          <a:ln/>
        </p:spPr>
      </p:sp>
      <p:sp>
        <p:nvSpPr>
          <p:cNvPr id="9" name="Shape 6"/>
          <p:cNvSpPr/>
          <p:nvPr/>
        </p:nvSpPr>
        <p:spPr>
          <a:xfrm>
            <a:off x="2804943" y="4708971"/>
            <a:ext cx="12700" cy="307380"/>
          </a:xfrm>
          <a:prstGeom prst="roundRect">
            <a:avLst>
              <a:gd name="adj" fmla="val 121022"/>
            </a:avLst>
          </a:prstGeom>
          <a:solidFill>
            <a:srgbClr val="D8D4D4"/>
          </a:solidFill>
          <a:ln/>
        </p:spPr>
      </p:sp>
      <p:sp>
        <p:nvSpPr>
          <p:cNvPr id="10" name="Shape 7"/>
          <p:cNvSpPr/>
          <p:nvPr/>
        </p:nvSpPr>
        <p:spPr>
          <a:xfrm>
            <a:off x="2696103" y="4901059"/>
            <a:ext cx="230479" cy="23048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2734450" y="4920208"/>
            <a:ext cx="153686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866" y="4142978"/>
            <a:ext cx="4095151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 — June 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3866" y="4341019"/>
            <a:ext cx="4095151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activity detected. Core WMS/TMS databases taken offline; shipments halted.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94547" y="5016252"/>
            <a:ext cx="12700" cy="307380"/>
          </a:xfrm>
          <a:prstGeom prst="roundRect">
            <a:avLst>
              <a:gd name="adj" fmla="val 121022"/>
            </a:avLst>
          </a:prstGeom>
          <a:solidFill>
            <a:srgbClr val="D8D4D4"/>
          </a:solidFill>
          <a:ln/>
        </p:spPr>
      </p:sp>
      <p:sp>
        <p:nvSpPr>
          <p:cNvPr id="15" name="Shape 12"/>
          <p:cNvSpPr/>
          <p:nvPr/>
        </p:nvSpPr>
        <p:spPr>
          <a:xfrm>
            <a:off x="4885707" y="4901059"/>
            <a:ext cx="230479" cy="23048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4924054" y="4920208"/>
            <a:ext cx="153686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53470" y="5426075"/>
            <a:ext cx="4095151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2–4 — June 6–8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53470" y="5624116"/>
            <a:ext cx="4095151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30,000+ retail locations (incl. Whole Foods) report delays and cancelled orders; empty shelves.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184151" y="4708971"/>
            <a:ext cx="12700" cy="307380"/>
          </a:xfrm>
          <a:prstGeom prst="roundRect">
            <a:avLst>
              <a:gd name="adj" fmla="val 121022"/>
            </a:avLst>
          </a:prstGeom>
          <a:solidFill>
            <a:srgbClr val="D8D4D4"/>
          </a:solidFill>
          <a:ln/>
        </p:spPr>
      </p:sp>
      <p:sp>
        <p:nvSpPr>
          <p:cNvPr id="20" name="Shape 17"/>
          <p:cNvSpPr/>
          <p:nvPr/>
        </p:nvSpPr>
        <p:spPr>
          <a:xfrm>
            <a:off x="7075310" y="4901059"/>
            <a:ext cx="230479" cy="23048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7113658" y="4920208"/>
            <a:ext cx="153686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43074" y="4142978"/>
            <a:ext cx="4095151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5–10 — June 9–14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43074" y="4341019"/>
            <a:ext cx="4095151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Regional DCs shift to spreadsheets and paper records; associated pharmacies disrupted.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9373755" y="5016252"/>
            <a:ext cx="12700" cy="307380"/>
          </a:xfrm>
          <a:prstGeom prst="roundRect">
            <a:avLst>
              <a:gd name="adj" fmla="val 121022"/>
            </a:avLst>
          </a:prstGeom>
          <a:solidFill>
            <a:srgbClr val="D8D4D4"/>
          </a:solidFill>
          <a:ln/>
        </p:spPr>
      </p:sp>
      <p:sp>
        <p:nvSpPr>
          <p:cNvPr id="25" name="Shape 22"/>
          <p:cNvSpPr/>
          <p:nvPr/>
        </p:nvSpPr>
        <p:spPr>
          <a:xfrm>
            <a:off x="9264914" y="4901059"/>
            <a:ext cx="230479" cy="230485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6" name="Text 23"/>
          <p:cNvSpPr/>
          <p:nvPr/>
        </p:nvSpPr>
        <p:spPr>
          <a:xfrm>
            <a:off x="9303261" y="4920208"/>
            <a:ext cx="153686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32677" y="5426075"/>
            <a:ext cx="4095151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11–25 — Late June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32677" y="5624116"/>
            <a:ext cx="4095151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Phased restoration verifies database integrity; core platforms return online; normal schedules resume.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61475" y="5960963"/>
            <a:ext cx="10868745" cy="437158"/>
          </a:xfrm>
          <a:prstGeom prst="roundRect">
            <a:avLst>
              <a:gd name="adj" fmla="val 3516"/>
            </a:avLst>
          </a:prstGeom>
          <a:solidFill>
            <a:srgbClr val="CCFFF3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66" y="6088955"/>
            <a:ext cx="127989" cy="10239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94246" y="6049963"/>
            <a:ext cx="10433583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Key Lessons: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Cybersecurity is a core business continuity risk. Maintain offline, immutable backups of shipping ledgers. Design redundant, segmented network paths so business network compromise doesn't force warehouse operations offline.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3734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Cybersecurity Approaches for Wholesale Trade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79388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Defense-in-depth architecture should prioritize controls reducing incident probability and operational impact. The Gordon-Loeb model recommends security budgets not exceed 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37%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an asset's Expected Loss.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26046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Control Adoption Rates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32334"/>
            <a:ext cx="10864975" cy="2128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739158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 controls: phishing-resistant MFA, IT/OT network segmentation, automated CVSS 8+ patching (CIS Control 3), and SPF/DKIM/DMARC configuration.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1475" y="3985816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Implementation Metrics — Cost vs. ROI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4292104"/>
            <a:ext cx="10868745" cy="1513483"/>
          </a:xfrm>
          <a:prstGeom prst="roundRect">
            <a:avLst>
              <a:gd name="adj" fmla="val 1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1475" y="4539952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4784626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5029299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5415855"/>
            <a:ext cx="10868745" cy="671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5474" y="4346674"/>
            <a:ext cx="310864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89436" y="4346674"/>
            <a:ext cx="419426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Risk Mitigation Profile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89022" y="4346674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Est. Cost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460172" y="4346674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Projected ROSI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5474" y="4591348"/>
            <a:ext cx="310864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 &amp; Automated EDR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89436" y="4591348"/>
            <a:ext cx="419426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breach lifecycles by 80 days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289022" y="4591348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$400K–$900K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460172" y="4591348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costs by $1.9M–$2.2M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5474" y="4836021"/>
            <a:ext cx="310864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&amp; MFA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489436" y="4836021"/>
            <a:ext cx="419426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Prevents unauthorized credential use; isolates networks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289022" y="4836021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$150K–$400K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460172" y="4836021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~833% ROSI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5474" y="5080695"/>
            <a:ext cx="310864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Risk Management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89436" y="5080695"/>
            <a:ext cx="419426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Audits APIs, plugins, and vendor platforms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89022" y="5080695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$100K–$250K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460172" y="5080695"/>
            <a:ext cx="19562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Avoids $227K supply chain cost amplifier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75474" y="5467251"/>
            <a:ext cx="3108644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 Security &amp; DMARC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9436" y="5467251"/>
            <a:ext cx="4194269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Blocks domain spoofing and AI spear-phishing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289022" y="5467251"/>
            <a:ext cx="25658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$20K–$50K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460172" y="5467251"/>
            <a:ext cx="19562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avoids wire fraud and AP compromise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61475" y="5884168"/>
            <a:ext cx="10868745" cy="469999"/>
          </a:xfrm>
          <a:prstGeom prst="roundRect">
            <a:avLst>
              <a:gd name="adj" fmla="val 3431"/>
            </a:avLst>
          </a:prstGeom>
          <a:solidFill>
            <a:srgbClr val="FCF2B5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6025952"/>
            <a:ext cx="134339" cy="10745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10716" y="5980807"/>
            <a:ext cx="1041205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Regulatory Compliance: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Under EU NIS2, management board members can be held personally liable. Fines up to 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€10M or 2%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global turnover. DORA applies to payment/financial subsidiaries. Treat regulatory preparedness as core business continuity strategy.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2026-07-16T14:58:34Z</dcterms:created>
  <dcterms:modified xsi:type="dcterms:W3CDTF">2026-07-16T14:58:34Z</dcterms:modified>
</cp:coreProperties>
</file>