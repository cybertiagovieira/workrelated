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500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6256000" cy="9144000"/>
  <p:notesSz cx="9144000" cy="16256000"/>
  <p:embeddedFontLst>
    <p:embeddedFont>
      <p:font typeface="Merriweather" charset="-122" pitchFamily="34"/>
      <p:regular r:id="rId12"/>
    </p:embeddedFont>
    <p:embeddedFont>
      <p:font typeface="Inter" charset="-122" pitchFamily="34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/Relationships>
</file>

<file path=ppt/charts/_rels/chart150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00.xlsx"/></Relationships>
</file>

<file path=ppt/charts/chart150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00915E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pPr>
                      <a:defRPr b="0" i="0" strike="noStrike" sz="1200" u="none">
                        <a:solidFill>
                          <a:srgbClr val="333333"/>
                        </a:solidFill>
                        <a:latin typeface="Inter"/>
                      </a:defRPr>
                    </a:pPr>
                    <a:r>
                      <a:rPr lang="en-US" b="0" i="0" strike="noStrike" sz="1200" u="none">
                        <a:solidFill>
                          <a:srgbClr val="333333"/>
                        </a:solidFill>
                        <a:latin typeface="Inter"/>
                      </a:rPr>
                      <a:t>58.4%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 b="0" i="0" strike="noStrike" sz="1200" u="none">
                        <a:solidFill>
                          <a:srgbClr val="333333"/>
                        </a:solidFill>
                        <a:latin typeface="Inter"/>
                      </a:defRPr>
                    </a:pPr>
                    <a:r>
                      <a:rPr lang="en-US" b="0" i="0" strike="noStrike" sz="1200" u="none">
                        <a:solidFill>
                          <a:srgbClr val="333333"/>
                        </a:solidFill>
                        <a:latin typeface="Inter"/>
                      </a:rPr>
                      <a:t>20.8%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pPr>
                      <a:defRPr b="0" i="0" strike="noStrike" sz="1200" u="none">
                        <a:solidFill>
                          <a:srgbClr val="333333"/>
                        </a:solidFill>
                        <a:latin typeface="Inter"/>
                      </a:defRPr>
                    </a:pPr>
                    <a:r>
                      <a:rPr lang="en-US" b="0" i="0" strike="noStrike" sz="1200" u="none">
                        <a:solidFill>
                          <a:srgbClr val="333333"/>
                        </a:solidFill>
                        <a:latin typeface="Inter"/>
                      </a:rPr>
                      <a:t>20.8%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91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3B3B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3B3B3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Air</c:v>
                  </c:pt>
                  <c:pt idx="1">
                    <c:v>Logistics</c:v>
                  </c:pt>
                  <c:pt idx="2">
                    <c:v>Other Transport categories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0.584</c:v>
                </c:pt>
                <c:pt idx="1">
                  <c:v>0.208</c:v>
                </c:pt>
                <c:pt idx="2">
                  <c:v>0.208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333333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707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6E7079"/>
                    </a:solidFill>
                    <a:latin typeface="Inter"/>
                  </a:defRPr>
                </a:pPr>
                <a:r>
                  <a:rPr b="0" i="0" u="none" strike="noStrike">
                    <a:solidFill>
                      <a:srgbClr val="6E7079"/>
                    </a:solidFill>
                    <a:latin typeface="Inter"/>
                  </a:rPr>
                  <a:t>Share of recorded Transport incidents</a:t>
                </a:r>
              </a:p>
            </c:rich>
          </c:tx>
          <c:layout/>
          <c:overlay val="0"/>
        </c:title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707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0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reats-shape-1"/>
          <p:cNvSpPr/>
          <p:nvPr/>
        </p:nvSpPr>
        <p:spPr>
          <a:xfrm>
            <a:off x="508000" y="330200"/>
            <a:ext cx="15240000" cy="25400"/>
          </a:xfrm>
          <a:prstGeom prst="rect">
            <a:avLst/>
          </a:prstGeom>
          <a:solidFill>
            <a:srgbClr val="00915E"/>
          </a:solidFill>
          <a:ln/>
        </p:spPr>
      </p:sp>
      <p:sp>
        <p:nvSpPr>
          <p:cNvPr id="3" name="threats-text-2"/>
          <p:cNvSpPr/>
          <p:nvPr/>
        </p:nvSpPr>
        <p:spPr>
          <a:xfrm>
            <a:off x="508000" y="584200"/>
            <a:ext cx="1219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80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Key Threats &amp; Top 5 Cyber Attacks</a:t>
            </a:r>
            <a:endParaRPr lang="en-US" sz="2800" dirty="0"/>
          </a:p>
        </p:txBody>
      </p:sp>
      <p:sp>
        <p:nvSpPr>
          <p:cNvPr id="4" name="threats-text-3"/>
          <p:cNvSpPr/>
          <p:nvPr/>
        </p:nvSpPr>
        <p:spPr>
          <a:xfrm>
            <a:off x="12700000" y="698500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 Transport &amp; Storage - cut-off 15 Sep 2026</a:t>
            </a:r>
            <a:endParaRPr lang="en-US" sz="1200" dirty="0"/>
          </a:p>
        </p:txBody>
      </p:sp>
      <p:sp>
        <p:nvSpPr>
          <p:cNvPr id="5" name="threats-text-4"/>
          <p:cNvSpPr/>
          <p:nvPr/>
        </p:nvSpPr>
        <p:spPr>
          <a:xfrm>
            <a:off x="508000" y="1320800"/>
            <a:ext cx="609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Recorded Transport subset - curated incident corpus</a:t>
            </a:r>
            <a:endParaRPr lang="en-US" sz="1800" dirty="0"/>
          </a:p>
        </p:txBody>
      </p:sp>
      <p:sp>
        <p:nvSpPr>
          <p:cNvPr id="6" name="threats-text-5"/>
          <p:cNvSpPr/>
          <p:nvPr/>
        </p:nvSpPr>
        <p:spPr>
          <a:xfrm>
            <a:off x="508000" y="1676400"/>
            <a:ext cx="609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ENISA selected-corpus period: 01 Jul 2024 to 30 Jun 2025. Categories shown as shares of the Transport subset; data are not a complete incident census.</a:t>
            </a:r>
            <a:endParaRPr lang="en-US" sz="1300" dirty="0"/>
          </a:p>
        </p:txBody>
      </p:sp>
      <p:graphicFrame>
        <p:nvGraphicFramePr>
          <p:cNvPr id="7" name="threats-chart-6" descr=""/>
          <p:cNvGraphicFramePr/>
          <p:nvPr/>
        </p:nvGraphicFramePr>
        <p:xfrm>
          <a:off x="508000" y="2413000"/>
          <a:ext cx="6096000" cy="4191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hreats-shape-7"/>
          <p:cNvSpPr/>
          <p:nvPr/>
        </p:nvSpPr>
        <p:spPr>
          <a:xfrm>
            <a:off x="508000" y="6731000"/>
            <a:ext cx="6096000" cy="1143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hreats-text-8"/>
          <p:cNvSpPr/>
          <p:nvPr/>
        </p:nvSpPr>
        <p:spPr>
          <a:xfrm>
            <a:off x="762000" y="6959600"/>
            <a:ext cx="5588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altLang="en-US" sz="16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DDoS accounted for 87.6% of recorded Transport incidents</a:t>
            </a:r>
            <a:r>
              <a:rPr lang="en-US" altLang="en-US" sz="1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the same curated corpus.</a:t>
            </a:r>
            <a:endParaRPr lang="en-US" sz="1600" dirty="0"/>
          </a:p>
        </p:txBody>
      </p:sp>
      <p:sp>
        <p:nvSpPr>
          <p:cNvPr id="10" name="threats-shape-9"/>
          <p:cNvSpPr/>
          <p:nvPr/>
        </p:nvSpPr>
        <p:spPr>
          <a:xfrm>
            <a:off x="6985000" y="1371600"/>
            <a:ext cx="9144" cy="6527800"/>
          </a:xfrm>
          <a:prstGeom prst="line">
            <a:avLst/>
          </a:prstGeom>
          <a:ln w="12700">
            <a:solidFill>
              <a:srgbClr val="E0E0E0"/>
            </a:solidFill>
            <a:prstDash val="solid"/>
          </a:ln>
        </p:spPr>
      </p:sp>
      <p:graphicFrame>
        <p:nvGraphicFramePr>
          <p:cNvPr id="11" name="threats-table-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6000" y="1371600"/>
          <a:ext cx="8382000" cy="6070600"/>
        </p:xfrm>
        <a:graphic>
          <a:graphicData uri="http://schemas.openxmlformats.org/drawingml/2006/table">
            <a:tbl>
              <a:tblPr/>
              <a:tblGrid>
                <a:gridCol w="2394855"/>
                <a:gridCol w="5987145"/>
              </a:tblGrid>
              <a:tr h="4546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Evidence-led pattern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Operational vulnerability - concentration implication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11231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 Shared passenger-processing disruption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Common check-in and boarding dependency - disruption can transmit across provider users and airport-community processes. [C08]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31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 DDoS against rail channels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Public information and booking dependency - channel congestion and impaired customer communication. [C09]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1231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3. Freight phishing and cargo diversion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Identity and transaction-validation weakness - cross-border fraud can propagate through freight platforms. [C10]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31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 State-linked multi-vector targeting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Identity, public-service and relationship exposure - cross-modal pathway through logistics and technology dependencies. [C11]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1231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5. Supplier access and OT/IT interfaces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Incomplete mapping and third-party access - correlated restoration difficulty across connected operations. [C06]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hreats-text-11"/>
          <p:cNvSpPr/>
          <p:nvPr/>
        </p:nvSpPr>
        <p:spPr>
          <a:xfrm>
            <a:off x="508000" y="8763000"/>
            <a:ext cx="76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hreats-text-12"/>
          <p:cNvSpPr/>
          <p:nvPr/>
        </p:nvSpPr>
        <p:spPr>
          <a:xfrm>
            <a:off x="7366000" y="8686800"/>
            <a:ext cx="838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1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S03 ENISA NIS360 - S05 CERT-EU CB 26-03 - S07 Brussels Airport - S08 ENISA Threat Landscape - S10 Joint GRU advisory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nancial-shape-1"/>
          <p:cNvSpPr/>
          <p:nvPr/>
        </p:nvSpPr>
        <p:spPr>
          <a:xfrm>
            <a:off x="508000" y="330200"/>
            <a:ext cx="15240000" cy="25400"/>
          </a:xfrm>
          <a:prstGeom prst="rect">
            <a:avLst/>
          </a:prstGeom>
          <a:solidFill>
            <a:srgbClr val="00915E"/>
          </a:solidFill>
          <a:ln/>
        </p:spPr>
      </p:sp>
      <p:sp>
        <p:nvSpPr>
          <p:cNvPr id="3" name="financial-text-2"/>
          <p:cNvSpPr/>
          <p:nvPr/>
        </p:nvSpPr>
        <p:spPr>
          <a:xfrm>
            <a:off x="508000" y="584200"/>
            <a:ext cx="11684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80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Financial Impact: Transport &amp; Storage</a:t>
            </a:r>
            <a:endParaRPr lang="en-US" sz="2800" dirty="0"/>
          </a:p>
        </p:txBody>
      </p:sp>
      <p:sp>
        <p:nvSpPr>
          <p:cNvPr id="4" name="financial-text-3"/>
          <p:cNvSpPr/>
          <p:nvPr/>
        </p:nvSpPr>
        <p:spPr>
          <a:xfrm>
            <a:off x="12446000" y="6985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Pathway analysis - no EU loss total</a:t>
            </a:r>
            <a:endParaRPr lang="en-US" sz="1200" dirty="0"/>
          </a:p>
        </p:txBody>
      </p:sp>
      <p:sp>
        <p:nvSpPr>
          <p:cNvPr id="5" name="financial-text-4"/>
          <p:cNvSpPr/>
          <p:nvPr/>
        </p:nvSpPr>
        <p:spPr>
          <a:xfrm>
            <a:off x="508000" y="1320800"/>
            <a:ext cx="1524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evidence supports transmission pathways, not a current EU sector loss estimate.</a:t>
            </a:r>
            <a:endParaRPr lang="en-US" sz="1900" dirty="0"/>
          </a:p>
        </p:txBody>
      </p:sp>
      <p:sp>
        <p:nvSpPr>
          <p:cNvPr id="6" name="financial-shape-5"/>
          <p:cNvSpPr/>
          <p:nvPr/>
        </p:nvSpPr>
        <p:spPr>
          <a:xfrm>
            <a:off x="508000" y="1854200"/>
            <a:ext cx="15240000" cy="9144"/>
          </a:xfrm>
          <a:prstGeom prst="line">
            <a:avLst/>
          </a:prstGeom>
          <a:ln w="12700">
            <a:solidFill>
              <a:srgbClr val="E0E0E0"/>
            </a:solidFill>
            <a:prstDash val="solid"/>
          </a:ln>
        </p:spPr>
      </p:sp>
      <p:graphicFrame>
        <p:nvGraphicFramePr>
          <p:cNvPr id="7" name="financial-table-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2133600"/>
          <a:ext cx="15240000" cy="5080000"/>
        </p:xfrm>
        <a:graphic>
          <a:graphicData uri="http://schemas.openxmlformats.org/drawingml/2006/table">
            <a:tbl>
              <a:tblPr/>
              <a:tblGrid>
                <a:gridCol w="3810000"/>
                <a:gridCol w="3810000"/>
                <a:gridCol w="3810000"/>
                <a:gridCol w="3810000"/>
              </a:tblGrid>
              <a:tr h="584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 Operational disruption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700" marR="139700" marT="114300" marB="1143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 Financial transmission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700" marR="139700" marT="114300" marB="1143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3. Regulatory process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700" marR="139700" marT="114300" marB="1143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 Insurance and liquidity timing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700" marR="139700" marT="114300" marB="1143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149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Passenger processing, booking, cargo, freight and OT/IT dependencies can interrupt core services. [C06, C08]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700" marR="139700" marT="114300" marB="1143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Lost or delayed revenue can occur while incident response, manual operations and restoration costs rise. [C12, C13]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700" marR="139700" marT="114300" marB="1143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NIS2 staged reporting may apply where entity scope and incident thresholds are met. [C02]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700" marR="139700" marT="114300" marB="1143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Business interruption and contingent interruption depend on cover, limits, exclusions, deductibles and claim evidence. [C15]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700" marR="139700" marT="114300" marB="1143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9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Manual and alternative workarounds can preserve portions of service while reducing throughput. [C08]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700" marR="139700" marT="114300" marB="1143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Customer, shipper, airport-community and counterparty relationships can transmit loss. [C15]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700" marR="139700" marT="114300" marB="1143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GDPR assessment and the 72-hour controller notification expectation apply only where legal conditions are met. [C16]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700" marR="139700" marT="114300" marB="1143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EIOPA identifies silent-cover uncertainty and possible litigation when reimbursement is disputed. [C15]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700" marR="139700" marT="114300" marB="1143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49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Supplier outage or access compromise can slow containment and coordinated restoration. [C06]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700" marR="139700" marT="114300" marB="1143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Maersk's historical global loss categories were lost revenue, IT restoration and extraordinary operational cost. Not used as an EU benchmark. [C13]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700" marR="139700" marT="114300" marB="1143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NIS2 fine maxima are statutory ceilings, not expected outcomes. [C17]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700" marR="139700" marT="114300" marB="1143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Cash pressure depends on daily funding needs, timing of revenue and claim receipts, and committed facilities. [C15]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700" marR="139700" marT="114300" marB="1143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" name="financial-shape-7"/>
          <p:cNvSpPr/>
          <p:nvPr/>
        </p:nvSpPr>
        <p:spPr>
          <a:xfrm>
            <a:off x="508000" y="7493000"/>
            <a:ext cx="15240000" cy="812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financial-text-8"/>
          <p:cNvSpPr/>
          <p:nvPr/>
        </p:nvSpPr>
        <p:spPr>
          <a:xfrm>
            <a:off x="762000" y="7683500"/>
            <a:ext cx="1473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alt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boundary:</a:t>
            </a:r>
            <a:r>
              <a:rPr lang="en-US" alt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current public EU Transport &amp; Storage dataset links cyber events to final loss, claims, insurance recovery and liquidity. Entity quantification requires internal volumes, contracts, recovery and cash data.</a:t>
            </a:r>
            <a:endParaRPr lang="en-US" sz="1500" dirty="0"/>
          </a:p>
        </p:txBody>
      </p:sp>
      <p:sp>
        <p:nvSpPr>
          <p:cNvPr id="10" name="financial-text-9"/>
          <p:cNvSpPr/>
          <p:nvPr/>
        </p:nvSpPr>
        <p:spPr>
          <a:xfrm>
            <a:off x="508000" y="8763000"/>
            <a:ext cx="76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financial-text-10"/>
          <p:cNvSpPr/>
          <p:nvPr/>
        </p:nvSpPr>
        <p:spPr>
          <a:xfrm>
            <a:off x="7366000" y="8686800"/>
            <a:ext cx="838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1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S03 ENISA NIS360 - S04 DHL - S07 Brussels Airport - S14 EIOPA - S15 NIS2 - S17 GDPR - S18 Maersk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enarios-shape-1"/>
          <p:cNvSpPr/>
          <p:nvPr/>
        </p:nvSpPr>
        <p:spPr>
          <a:xfrm>
            <a:off x="508000" y="330200"/>
            <a:ext cx="15240000" cy="25400"/>
          </a:xfrm>
          <a:prstGeom prst="rect">
            <a:avLst/>
          </a:prstGeom>
          <a:solidFill>
            <a:srgbClr val="00915E"/>
          </a:solidFill>
          <a:ln/>
        </p:spPr>
      </p:sp>
      <p:sp>
        <p:nvSpPr>
          <p:cNvPr id="3" name="scenarios-text-2"/>
          <p:cNvSpPr/>
          <p:nvPr/>
        </p:nvSpPr>
        <p:spPr>
          <a:xfrm>
            <a:off x="508000" y="584200"/>
            <a:ext cx="11938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80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Financial Impact: Worst-Case Scenarios</a:t>
            </a:r>
            <a:endParaRPr lang="en-US" sz="2800" dirty="0"/>
          </a:p>
        </p:txBody>
      </p:sp>
      <p:sp>
        <p:nvSpPr>
          <p:cNvPr id="4" name="scenarios-text-3"/>
          <p:cNvSpPr/>
          <p:nvPr/>
        </p:nvSpPr>
        <p:spPr>
          <a:xfrm>
            <a:off x="12319000" y="698500"/>
            <a:ext cx="342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Plausible stress pathways - not observed outcomes</a:t>
            </a:r>
            <a:endParaRPr lang="en-US" sz="1200" dirty="0"/>
          </a:p>
        </p:txBody>
      </p:sp>
      <p:sp>
        <p:nvSpPr>
          <p:cNvPr id="5" name="scenarios-text-4"/>
          <p:cNvSpPr/>
          <p:nvPr/>
        </p:nvSpPr>
        <p:spPr>
          <a:xfrm>
            <a:off x="508000" y="1295400"/>
            <a:ext cx="1524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Stress testing must target correlated disruption and cash timing rather than a single assumed cyber-loss figure.</a:t>
            </a:r>
            <a:endParaRPr lang="en-US" sz="1900" dirty="0"/>
          </a:p>
        </p:txBody>
      </p:sp>
      <p:sp>
        <p:nvSpPr>
          <p:cNvPr id="6" name="scenarios-shape-5"/>
          <p:cNvSpPr/>
          <p:nvPr/>
        </p:nvSpPr>
        <p:spPr>
          <a:xfrm>
            <a:off x="508000" y="1879600"/>
            <a:ext cx="4775200" cy="571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scenarios-shape-6"/>
          <p:cNvSpPr/>
          <p:nvPr/>
        </p:nvSpPr>
        <p:spPr>
          <a:xfrm>
            <a:off x="508000" y="1879600"/>
            <a:ext cx="4775200" cy="685800"/>
          </a:xfrm>
          <a:prstGeom prst="rect">
            <a:avLst/>
          </a:prstGeom>
          <a:solidFill>
            <a:srgbClr val="00915E"/>
          </a:solidFill>
          <a:ln/>
        </p:spPr>
      </p:sp>
      <p:sp>
        <p:nvSpPr>
          <p:cNvPr id="8" name="scenarios-text-7"/>
          <p:cNvSpPr/>
          <p:nvPr/>
        </p:nvSpPr>
        <p:spPr>
          <a:xfrm>
            <a:off x="762000" y="2070100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 1 - Shared airport-service outage</a:t>
            </a:r>
            <a:endParaRPr lang="en-US" sz="1700" dirty="0"/>
          </a:p>
        </p:txBody>
      </p:sp>
      <p:sp>
        <p:nvSpPr>
          <p:cNvPr id="9" name="scenarios-text-8"/>
          <p:cNvSpPr/>
          <p:nvPr/>
        </p:nvSpPr>
        <p:spPr>
          <a:xfrm>
            <a:off x="762000" y="2844800"/>
            <a:ext cx="42672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alt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effect.</a:t>
            </a:r>
            <a:r>
              <a:rPr lang="en-US" alt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common passenger-processing provider is unavailable; manual or alternative processing is activated; airlines cancel or reschedule flights. [C08]</a:t>
            </a:r>
            <a:endParaRPr lang="en-US" sz="1500" dirty="0"/>
          </a:p>
        </p:txBody>
      </p:sp>
      <p:sp>
        <p:nvSpPr>
          <p:cNvPr id="10" name="scenarios-text-9"/>
          <p:cNvSpPr/>
          <p:nvPr/>
        </p:nvSpPr>
        <p:spPr>
          <a:xfrm>
            <a:off x="762000" y="4445000"/>
            <a:ext cx="42672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alt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pathway.</a:t>
            </a:r>
            <a:r>
              <a:rPr lang="en-US" alt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Revenue timing, operating expenditure, customer-management cost, contract exposure and conditional insurance recovery move together. [C12, C15]</a:t>
            </a:r>
            <a:endParaRPr lang="en-US" sz="1500" dirty="0"/>
          </a:p>
        </p:txBody>
      </p:sp>
      <p:sp>
        <p:nvSpPr>
          <p:cNvPr id="11" name="scenarios-text-10"/>
          <p:cNvSpPr/>
          <p:nvPr/>
        </p:nvSpPr>
        <p:spPr>
          <a:xfrm>
            <a:off x="762000" y="6350000"/>
            <a:ext cx="426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Boundary.</a:t>
            </a:r>
            <a:r>
              <a:rPr lang="en-US" altLang="en-US" sz="13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Multi-airport effect is a dependency scenario, not a full observed account.</a:t>
            </a:r>
            <a:endParaRPr lang="en-US" sz="1300" dirty="0"/>
          </a:p>
        </p:txBody>
      </p:sp>
      <p:sp>
        <p:nvSpPr>
          <p:cNvPr id="12" name="scenarios-shape-11"/>
          <p:cNvSpPr/>
          <p:nvPr/>
        </p:nvSpPr>
        <p:spPr>
          <a:xfrm>
            <a:off x="5740400" y="1879600"/>
            <a:ext cx="4775200" cy="571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scenarios-shape-12"/>
          <p:cNvSpPr/>
          <p:nvPr/>
        </p:nvSpPr>
        <p:spPr>
          <a:xfrm>
            <a:off x="5740400" y="1879600"/>
            <a:ext cx="4775200" cy="685800"/>
          </a:xfrm>
          <a:prstGeom prst="rect">
            <a:avLst/>
          </a:prstGeom>
          <a:solidFill>
            <a:srgbClr val="00915E"/>
          </a:solidFill>
          <a:ln/>
        </p:spPr>
      </p:sp>
      <p:sp>
        <p:nvSpPr>
          <p:cNvPr id="14" name="scenarios-text-13"/>
          <p:cNvSpPr/>
          <p:nvPr/>
        </p:nvSpPr>
        <p:spPr>
          <a:xfrm>
            <a:off x="5994400" y="2070100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 2 - Supplier or OT/IT interface compromise</a:t>
            </a:r>
            <a:endParaRPr lang="en-US" sz="1700" dirty="0"/>
          </a:p>
        </p:txBody>
      </p:sp>
      <p:sp>
        <p:nvSpPr>
          <p:cNvPr id="15" name="scenarios-text-14"/>
          <p:cNvSpPr/>
          <p:nvPr/>
        </p:nvSpPr>
        <p:spPr>
          <a:xfrm>
            <a:off x="5994400" y="2844800"/>
            <a:ext cx="42672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alt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effect.</a:t>
            </a:r>
            <a:r>
              <a:rPr lang="en-US" alt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Supplier access, fragmented mapping and multi-vendor dependencies delay containment, patching and restoration. [C06]</a:t>
            </a:r>
            <a:endParaRPr lang="en-US" sz="1500" dirty="0"/>
          </a:p>
        </p:txBody>
      </p:sp>
      <p:sp>
        <p:nvSpPr>
          <p:cNvPr id="16" name="scenarios-text-15"/>
          <p:cNvSpPr/>
          <p:nvPr/>
        </p:nvSpPr>
        <p:spPr>
          <a:xfrm>
            <a:off x="5994400" y="4445000"/>
            <a:ext cx="42672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alt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pathway.</a:t>
            </a:r>
            <a:r>
              <a:rPr lang="en-US" alt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Recovery cost, service degradation, customer claims, incident-reporting assessment and conditional risk transfer overlap. [C15]</a:t>
            </a:r>
            <a:endParaRPr lang="en-US" sz="1500" dirty="0"/>
          </a:p>
        </p:txBody>
      </p:sp>
      <p:sp>
        <p:nvSpPr>
          <p:cNvPr id="17" name="scenarios-text-16"/>
          <p:cNvSpPr/>
          <p:nvPr/>
        </p:nvSpPr>
        <p:spPr>
          <a:xfrm>
            <a:off x="5994400" y="6350000"/>
            <a:ext cx="426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Boundary.</a:t>
            </a:r>
            <a:r>
              <a:rPr lang="en-US" altLang="en-US" sz="13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This is an ENISA exposure assessment, not a prediction for a named operator.</a:t>
            </a:r>
            <a:endParaRPr lang="en-US" sz="1300" dirty="0"/>
          </a:p>
        </p:txBody>
      </p:sp>
      <p:sp>
        <p:nvSpPr>
          <p:cNvPr id="18" name="scenarios-shape-17"/>
          <p:cNvSpPr/>
          <p:nvPr/>
        </p:nvSpPr>
        <p:spPr>
          <a:xfrm>
            <a:off x="10972800" y="1879600"/>
            <a:ext cx="4775200" cy="571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scenarios-shape-18"/>
          <p:cNvSpPr/>
          <p:nvPr/>
        </p:nvSpPr>
        <p:spPr>
          <a:xfrm>
            <a:off x="10972800" y="1879600"/>
            <a:ext cx="4775200" cy="685800"/>
          </a:xfrm>
          <a:prstGeom prst="rect">
            <a:avLst/>
          </a:prstGeom>
          <a:solidFill>
            <a:srgbClr val="00915E"/>
          </a:solidFill>
          <a:ln/>
        </p:spPr>
      </p:sp>
      <p:sp>
        <p:nvSpPr>
          <p:cNvPr id="20" name="scenarios-text-19"/>
          <p:cNvSpPr/>
          <p:nvPr/>
        </p:nvSpPr>
        <p:spPr>
          <a:xfrm>
            <a:off x="11226800" y="2070100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 3 - Rail and maritime disruption with data exposure</a:t>
            </a:r>
            <a:endParaRPr lang="en-US" sz="1700" dirty="0"/>
          </a:p>
        </p:txBody>
      </p:sp>
      <p:sp>
        <p:nvSpPr>
          <p:cNvPr id="21" name="scenarios-text-20"/>
          <p:cNvSpPr/>
          <p:nvPr/>
        </p:nvSpPr>
        <p:spPr>
          <a:xfrm>
            <a:off x="11226800" y="2844800"/>
            <a:ext cx="42672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alt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effect.</a:t>
            </a:r>
            <a:r>
              <a:rPr lang="en-US" alt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Cargo, navigation, rail and ticketing functions are disrupted across borders while passenger or emergency data is exposed. [C14]</a:t>
            </a:r>
            <a:endParaRPr lang="en-US" sz="1500" dirty="0"/>
          </a:p>
        </p:txBody>
      </p:sp>
      <p:sp>
        <p:nvSpPr>
          <p:cNvPr id="22" name="scenarios-text-21"/>
          <p:cNvSpPr/>
          <p:nvPr/>
        </p:nvSpPr>
        <p:spPr>
          <a:xfrm>
            <a:off x="11226800" y="4445000"/>
            <a:ext cx="42672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alt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pathway.</a:t>
            </a:r>
            <a:r>
              <a:rPr lang="en-US" alt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Concurrent business interruption, restoration, data and claims processes test funding and insurer timing. [C15, C16]</a:t>
            </a:r>
            <a:endParaRPr lang="en-US" sz="1500" dirty="0"/>
          </a:p>
        </p:txBody>
      </p:sp>
      <p:sp>
        <p:nvSpPr>
          <p:cNvPr id="23" name="scenarios-text-22"/>
          <p:cNvSpPr/>
          <p:nvPr/>
        </p:nvSpPr>
        <p:spPr>
          <a:xfrm>
            <a:off x="11226800" y="6350000"/>
            <a:ext cx="426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Boundary.</a:t>
            </a:r>
            <a:r>
              <a:rPr lang="en-US" altLang="en-US" sz="13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Cyber Europe 2026 supplies the pathway. The effects are simulated.</a:t>
            </a:r>
            <a:endParaRPr lang="en-US" sz="1300" dirty="0"/>
          </a:p>
        </p:txBody>
      </p:sp>
      <p:sp>
        <p:nvSpPr>
          <p:cNvPr id="24" name="scenarios-shape-23"/>
          <p:cNvSpPr/>
          <p:nvPr/>
        </p:nvSpPr>
        <p:spPr>
          <a:xfrm>
            <a:off x="508000" y="7874000"/>
            <a:ext cx="15240000" cy="9144"/>
          </a:xfrm>
          <a:prstGeom prst="line">
            <a:avLst/>
          </a:prstGeom>
          <a:ln w="12700">
            <a:solidFill>
              <a:srgbClr val="E0E0E0"/>
            </a:solidFill>
            <a:prstDash val="solid"/>
          </a:ln>
        </p:spPr>
      </p:sp>
      <p:sp>
        <p:nvSpPr>
          <p:cNvPr id="25" name="scenarios-text-24"/>
          <p:cNvSpPr/>
          <p:nvPr/>
        </p:nvSpPr>
        <p:spPr>
          <a:xfrm>
            <a:off x="508000" y="8051800"/>
            <a:ext cx="152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Required inputs:</a:t>
            </a:r>
            <a:r>
              <a:rPr lang="en-US" alt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common-provider map - maximum tolerable outage - manual capacity - daily cash forecast - contract terms - current insurance wording.</a:t>
            </a:r>
            <a:endParaRPr lang="en-US" sz="1500" dirty="0"/>
          </a:p>
        </p:txBody>
      </p:sp>
      <p:sp>
        <p:nvSpPr>
          <p:cNvPr id="26" name="scenarios-text-25"/>
          <p:cNvSpPr/>
          <p:nvPr/>
        </p:nvSpPr>
        <p:spPr>
          <a:xfrm>
            <a:off x="508000" y="8763000"/>
            <a:ext cx="76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scenarios-text-26"/>
          <p:cNvSpPr/>
          <p:nvPr/>
        </p:nvSpPr>
        <p:spPr>
          <a:xfrm>
            <a:off x="7366000" y="8686800"/>
            <a:ext cx="838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1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S02 Cyber Europe 2026 - S03 ENISA NIS360 - S07 Brussels Airport - S14 EIOPA - S17 GDPR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-shape-1"/>
          <p:cNvSpPr/>
          <p:nvPr/>
        </p:nvSpPr>
        <p:spPr>
          <a:xfrm>
            <a:off x="508000" y="330200"/>
            <a:ext cx="15240000" cy="25400"/>
          </a:xfrm>
          <a:prstGeom prst="rect">
            <a:avLst/>
          </a:prstGeom>
          <a:solidFill>
            <a:srgbClr val="00915E"/>
          </a:solidFill>
          <a:ln/>
        </p:spPr>
      </p:sp>
      <p:sp>
        <p:nvSpPr>
          <p:cNvPr id="3" name="case-text-2"/>
          <p:cNvSpPr/>
          <p:nvPr/>
        </p:nvSpPr>
        <p:spPr>
          <a:xfrm>
            <a:off x="508000" y="5842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Case Study: Brussels Airport, Belgium: September 2025 disruption of Collins Aerospace passenger-processing services</a:t>
            </a:r>
            <a:endParaRPr lang="en-US" sz="2400" dirty="0"/>
          </a:p>
        </p:txBody>
      </p:sp>
      <p:sp>
        <p:nvSpPr>
          <p:cNvPr id="4" name="case-text-3"/>
          <p:cNvSpPr/>
          <p:nvPr/>
        </p:nvSpPr>
        <p:spPr>
          <a:xfrm>
            <a:off x="508000" y="1473200"/>
            <a:ext cx="152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provider outage caused cancellations while manual and alternative processing preserved many flights.</a:t>
            </a:r>
            <a:endParaRPr lang="en-US" sz="1800" dirty="0"/>
          </a:p>
        </p:txBody>
      </p:sp>
      <p:sp>
        <p:nvSpPr>
          <p:cNvPr id="5" name="case-text-4"/>
          <p:cNvSpPr/>
          <p:nvPr/>
        </p:nvSpPr>
        <p:spPr>
          <a:xfrm>
            <a:off x="508000" y="2057400"/>
            <a:ext cx="711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Evidence-led timeline</a:t>
            </a:r>
            <a:endParaRPr lang="en-US" sz="1800" dirty="0"/>
          </a:p>
        </p:txBody>
      </p:sp>
      <p:sp>
        <p:nvSpPr>
          <p:cNvPr id="6" name="case-shape-5"/>
          <p:cNvSpPr/>
          <p:nvPr/>
        </p:nvSpPr>
        <p:spPr>
          <a:xfrm>
            <a:off x="1016000" y="2730500"/>
            <a:ext cx="9144" cy="4445000"/>
          </a:xfrm>
          <a:prstGeom prst="line">
            <a:avLst/>
          </a:prstGeom>
          <a:ln w="38100">
            <a:solidFill>
              <a:srgbClr val="00915E"/>
            </a:solidFill>
            <a:prstDash val="solid"/>
          </a:ln>
        </p:spPr>
      </p:sp>
      <p:sp>
        <p:nvSpPr>
          <p:cNvPr id="7" name="case-shape-6"/>
          <p:cNvSpPr/>
          <p:nvPr/>
        </p:nvSpPr>
        <p:spPr>
          <a:xfrm>
            <a:off x="889000" y="2565400"/>
            <a:ext cx="254000" cy="254000"/>
          </a:xfrm>
          <a:prstGeom prst="ellipse">
            <a:avLst/>
          </a:prstGeom>
          <a:solidFill>
            <a:srgbClr val="00915E"/>
          </a:solidFill>
          <a:ln/>
        </p:spPr>
      </p:sp>
      <p:sp>
        <p:nvSpPr>
          <p:cNvPr id="8" name="case-text-7"/>
          <p:cNvSpPr/>
          <p:nvPr/>
        </p:nvSpPr>
        <p:spPr>
          <a:xfrm>
            <a:off x="1422400" y="25146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to 28 Sep 2025</a:t>
            </a:r>
            <a:r>
              <a:rPr lang="en-US" alt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flights cancelled</a:t>
            </a:r>
            <a:endParaRPr lang="en-US" sz="1500" dirty="0"/>
          </a:p>
        </p:txBody>
      </p:sp>
      <p:sp>
        <p:nvSpPr>
          <p:cNvPr id="9" name="case-text-8"/>
          <p:cNvSpPr/>
          <p:nvPr/>
        </p:nvSpPr>
        <p:spPr>
          <a:xfrm>
            <a:off x="1422400" y="2895600"/>
            <a:ext cx="5842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Brussels Airport disclosed that the cyberattack affected Collins Aerospace, its external provider for check-in and boarding systems. [C08]</a:t>
            </a:r>
            <a:endParaRPr lang="en-US" sz="1300" dirty="0"/>
          </a:p>
        </p:txBody>
      </p:sp>
      <p:sp>
        <p:nvSpPr>
          <p:cNvPr id="10" name="case-shape-9"/>
          <p:cNvSpPr/>
          <p:nvPr/>
        </p:nvSpPr>
        <p:spPr>
          <a:xfrm>
            <a:off x="889000" y="3810000"/>
            <a:ext cx="254000" cy="254000"/>
          </a:xfrm>
          <a:prstGeom prst="ellipse">
            <a:avLst/>
          </a:prstGeom>
          <a:solidFill>
            <a:srgbClr val="00915E"/>
          </a:solidFill>
          <a:ln/>
        </p:spPr>
      </p:sp>
      <p:sp>
        <p:nvSpPr>
          <p:cNvPr id="11" name="case-text-10"/>
          <p:cNvSpPr/>
          <p:nvPr/>
        </p:nvSpPr>
        <p:spPr>
          <a:xfrm>
            <a:off x="1422400" y="37592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During disruption</a:t>
            </a:r>
            <a:r>
              <a:rPr lang="en-US" alt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manual and alternative processing</a:t>
            </a:r>
            <a:endParaRPr lang="en-US" sz="1500" dirty="0"/>
          </a:p>
        </p:txBody>
      </p:sp>
      <p:sp>
        <p:nvSpPr>
          <p:cNvPr id="12" name="case-text-11"/>
          <p:cNvSpPr/>
          <p:nvPr/>
        </p:nvSpPr>
        <p:spPr>
          <a:xfrm>
            <a:off x="1422400" y="4140200"/>
            <a:ext cx="5842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airport reported alternative systems and airport-community actions that enabled the vast majority of flights to operate. [C08]</a:t>
            </a:r>
            <a:endParaRPr lang="en-US" sz="1300" dirty="0"/>
          </a:p>
        </p:txBody>
      </p:sp>
      <p:sp>
        <p:nvSpPr>
          <p:cNvPr id="13" name="case-shape-12"/>
          <p:cNvSpPr/>
          <p:nvPr/>
        </p:nvSpPr>
        <p:spPr>
          <a:xfrm>
            <a:off x="889000" y="5080000"/>
            <a:ext cx="254000" cy="254000"/>
          </a:xfrm>
          <a:prstGeom prst="ellipse">
            <a:avLst/>
          </a:prstGeom>
          <a:solidFill>
            <a:srgbClr val="00915E"/>
          </a:solidFill>
          <a:ln/>
        </p:spPr>
      </p:sp>
      <p:sp>
        <p:nvSpPr>
          <p:cNvPr id="14" name="case-text-13"/>
          <p:cNvSpPr/>
          <p:nvPr/>
        </p:nvSpPr>
        <p:spPr>
          <a:xfrm>
            <a:off x="1422400" y="50292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Oct 2025</a:t>
            </a:r>
            <a:r>
              <a:rPr lang="en-US" alt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replacement system in use</a:t>
            </a:r>
            <a:endParaRPr lang="en-US" sz="1500" dirty="0"/>
          </a:p>
        </p:txBody>
      </p:sp>
      <p:sp>
        <p:nvSpPr>
          <p:cNvPr id="15" name="case-text-14"/>
          <p:cNvSpPr/>
          <p:nvPr/>
        </p:nvSpPr>
        <p:spPr>
          <a:xfrm>
            <a:off x="1422400" y="5410200"/>
            <a:ext cx="5842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airport reported accelerated rollout of a new check-in and boarding system, then used by all airlines. [C08]</a:t>
            </a:r>
            <a:endParaRPr lang="en-US" sz="1300" dirty="0"/>
          </a:p>
        </p:txBody>
      </p:sp>
      <p:sp>
        <p:nvSpPr>
          <p:cNvPr id="16" name="case-shape-15"/>
          <p:cNvSpPr/>
          <p:nvPr/>
        </p:nvSpPr>
        <p:spPr>
          <a:xfrm>
            <a:off x="889000" y="6604000"/>
            <a:ext cx="254000" cy="254000"/>
          </a:xfrm>
          <a:prstGeom prst="ellipse">
            <a:avLst/>
          </a:prstGeom>
          <a:solidFill>
            <a:srgbClr val="00915E"/>
          </a:solidFill>
          <a:ln/>
        </p:spPr>
      </p:sp>
      <p:sp>
        <p:nvSpPr>
          <p:cNvPr id="17" name="case-text-16"/>
          <p:cNvSpPr/>
          <p:nvPr/>
        </p:nvSpPr>
        <p:spPr>
          <a:xfrm>
            <a:off x="1422400" y="65532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2LoD interpretation</a:t>
            </a:r>
            <a:endParaRPr lang="en-US" sz="1500" dirty="0"/>
          </a:p>
        </p:txBody>
      </p:sp>
      <p:sp>
        <p:nvSpPr>
          <p:cNvPr id="18" name="case-text-17"/>
          <p:cNvSpPr/>
          <p:nvPr/>
        </p:nvSpPr>
        <p:spPr>
          <a:xfrm>
            <a:off x="1422400" y="6934200"/>
            <a:ext cx="5842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altLang="en-US" sz="13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case illustrates supplier-dependency ownership, manual fallback, incident communications and recovery decision rights. It is not a control assessment of either organisation.</a:t>
            </a:r>
            <a:endParaRPr lang="en-US" sz="1300" dirty="0"/>
          </a:p>
        </p:txBody>
      </p:sp>
      <p:sp>
        <p:nvSpPr>
          <p:cNvPr id="19" name="case-shape-18"/>
          <p:cNvSpPr/>
          <p:nvPr/>
        </p:nvSpPr>
        <p:spPr>
          <a:xfrm>
            <a:off x="7874000" y="2006600"/>
            <a:ext cx="9144" cy="5892800"/>
          </a:xfrm>
          <a:prstGeom prst="line">
            <a:avLst/>
          </a:prstGeom>
          <a:ln w="12700">
            <a:solidFill>
              <a:srgbClr val="E0E0E0"/>
            </a:solidFill>
            <a:prstDash val="solid"/>
          </a:ln>
        </p:spPr>
      </p:sp>
      <p:sp>
        <p:nvSpPr>
          <p:cNvPr id="20" name="case-text-19"/>
          <p:cNvSpPr/>
          <p:nvPr/>
        </p:nvSpPr>
        <p:spPr>
          <a:xfrm>
            <a:off x="8382000" y="2057400"/>
            <a:ext cx="736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Observed facts vs not established</a:t>
            </a:r>
            <a:endParaRPr lang="en-US" sz="1800" dirty="0"/>
          </a:p>
        </p:txBody>
      </p:sp>
      <p:graphicFrame>
        <p:nvGraphicFramePr>
          <p:cNvPr id="21" name="case-table-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2540000"/>
          <a:ext cx="7366000" cy="4191000"/>
        </p:xfrm>
        <a:graphic>
          <a:graphicData uri="http://schemas.openxmlformats.org/drawingml/2006/table">
            <a:tbl>
              <a:tblPr/>
              <a:tblGrid>
                <a:gridCol w="3683000"/>
                <a:gridCol w="3683000"/>
              </a:tblGrid>
              <a:tr h="5334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Observed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Not established by public evidence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1219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Provider supported airport check-in and boarding systems. [C08]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Entry route, actor identity, data access or removal. [C08]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9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Flights were cancelled from 20 to 28 September 2025. [C08]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Incident-specific financial impact, total cancellation effect and full affected-airport list. [C08]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219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Replacement check-in and boarding system was accelerated and used by airlines. [C08]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Whether replacement addressed the cause of compromise or residual exposure. [C08]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2" name="case-shape-21"/>
          <p:cNvSpPr/>
          <p:nvPr/>
        </p:nvSpPr>
        <p:spPr>
          <a:xfrm>
            <a:off x="8382000" y="6985000"/>
            <a:ext cx="7366000" cy="939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3" name="case-text-22"/>
          <p:cNvSpPr/>
          <p:nvPr/>
        </p:nvSpPr>
        <p:spPr>
          <a:xfrm>
            <a:off x="8636000" y="7188200"/>
            <a:ext cx="6858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alt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Management lesson:</a:t>
            </a:r>
            <a:r>
              <a:rPr lang="en-US" alt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dependency ownership, tested fallback, supplier communications and recovery decision rights are the relevant control objectives.</a:t>
            </a:r>
            <a:endParaRPr lang="en-US" sz="1500" dirty="0"/>
          </a:p>
        </p:txBody>
      </p:sp>
      <p:sp>
        <p:nvSpPr>
          <p:cNvPr id="24" name="case-text-23"/>
          <p:cNvSpPr/>
          <p:nvPr/>
        </p:nvSpPr>
        <p:spPr>
          <a:xfrm>
            <a:off x="508000" y="8763000"/>
            <a:ext cx="76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case-text-24"/>
          <p:cNvSpPr/>
          <p:nvPr/>
        </p:nvSpPr>
        <p:spPr>
          <a:xfrm>
            <a:off x="7366000" y="8686800"/>
            <a:ext cx="838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1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S03 ENISA NIS360 - S07 Brussels Airport direct disclosure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itigation-shape-1"/>
          <p:cNvSpPr/>
          <p:nvPr/>
        </p:nvSpPr>
        <p:spPr>
          <a:xfrm>
            <a:off x="508000" y="330200"/>
            <a:ext cx="15240000" cy="25400"/>
          </a:xfrm>
          <a:prstGeom prst="rect">
            <a:avLst/>
          </a:prstGeom>
          <a:solidFill>
            <a:srgbClr val="00915E"/>
          </a:solidFill>
          <a:ln/>
        </p:spPr>
      </p:sp>
      <p:sp>
        <p:nvSpPr>
          <p:cNvPr id="3" name="mitigation-text-2"/>
          <p:cNvSpPr/>
          <p:nvPr/>
        </p:nvSpPr>
        <p:spPr>
          <a:xfrm>
            <a:off x="508000" y="584200"/>
            <a:ext cx="11684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800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Mitigation Strategies &amp; Security Framework</a:t>
            </a:r>
            <a:endParaRPr lang="en-US" sz="2800" dirty="0"/>
          </a:p>
        </p:txBody>
      </p:sp>
      <p:sp>
        <p:nvSpPr>
          <p:cNvPr id="4" name="mitigation-text-3"/>
          <p:cNvSpPr/>
          <p:nvPr/>
        </p:nvSpPr>
        <p:spPr>
          <a:xfrm>
            <a:off x="12700000" y="698500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2LoD control synthesis - not an entity finding</a:t>
            </a:r>
            <a:endParaRPr lang="en-US" sz="1200" dirty="0"/>
          </a:p>
        </p:txBody>
      </p:sp>
      <p:sp>
        <p:nvSpPr>
          <p:cNvPr id="5" name="mitigation-text-4"/>
          <p:cNvSpPr/>
          <p:nvPr/>
        </p:nvSpPr>
        <p:spPr>
          <a:xfrm>
            <a:off x="508000" y="1320800"/>
            <a:ext cx="1524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Resilience requires legal-perimeter clarity, common-dependency control, identity and OT governance, tested recovery and integrated financial response.</a:t>
            </a:r>
            <a:endParaRPr lang="en-US" sz="1900" dirty="0"/>
          </a:p>
        </p:txBody>
      </p:sp>
      <p:graphicFrame>
        <p:nvGraphicFramePr>
          <p:cNvPr id="6" name="mitigation-table-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930400"/>
          <a:ext cx="15240000" cy="5969000"/>
        </p:xfrm>
        <a:graphic>
          <a:graphicData uri="http://schemas.openxmlformats.org/drawingml/2006/table">
            <a:tbl>
              <a:tblPr/>
              <a:tblGrid>
                <a:gridCol w="3048000"/>
                <a:gridCol w="3048000"/>
                <a:gridCol w="3048000"/>
                <a:gridCol w="3048000"/>
                <a:gridCol w="3048000"/>
              </a:tblGrid>
              <a:tr h="6603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 Legal and accountability mapping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01600" marB="1016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 Common-dependency resilience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01600" marB="1016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3. Identity and transaction integrity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01600" marB="1016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 OT and IT recovery governance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01600" marB="1016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5. Financial and incident integration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01600" marB="1016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187960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Map NIS2, CER and aviation regime by legal entity, function, country and accountable owner. [C01 to C05]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01600" marB="1016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Map shared passenger, freight, booking, identity, cloud, remote-support and OT dependencies. Test alternatives and exit options. [C06, C08]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01600" marB="1016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Strengthen phishing resilience, privileged access, multi-factor authentication, freight-transaction validation and cargo-release controls. [C10, C11]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01600" marB="1016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Maintain asset and dependency mapping. Segment operational systems. Exercise containment, manual operations and restoration with suppliers. [C06, C14]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01600" marB="1016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Pre-agree cash, customer, legal, insurance and notification workflows. Test funding and conditional insurance assumptions. [C02, C12, C15, C16]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01600" marB="1016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960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Outcome:</a:t>
                      </a:r>
                      <a:r>
                        <a:rPr lang="en-US" altLang="en-US" sz="130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clear scope, reporting route and management-body oversight.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01600" marB="1016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Outcome:</a:t>
                      </a:r>
                      <a:r>
                        <a:rPr lang="en-US" altLang="en-US" sz="130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reduced uncertainty around provider outage and recovery ownership.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01600" marB="1016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Outcome:</a:t>
                      </a:r>
                      <a:r>
                        <a:rPr lang="en-US" altLang="en-US" sz="130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reduced credential-led fraud and supplier-access exposure.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01600" marB="1016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Outcome:</a:t>
                      </a:r>
                      <a:r>
                        <a:rPr lang="en-US" altLang="en-US" sz="130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faster isolation and recovery across connected environments.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01600" marB="1016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Outcome:</a:t>
                      </a:r>
                      <a:r>
                        <a:rPr lang="en-US" altLang="en-US" sz="130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credible response under concurrent operational, financial and regulatory pressure.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01600" marB="1016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5493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Committee challenge:</a:t>
                      </a:r>
                      <a:r>
                        <a:rPr lang="en-US" altLang="en-US" sz="130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which entity has confirmed scope and which is pending legal review?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01600" marB="1016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Committee challenge:</a:t>
                      </a:r>
                      <a:r>
                        <a:rPr lang="en-US" altLang="en-US" sz="130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which common dependency lacks a tested alternative or exit?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01600" marB="1016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Committee challenge:</a:t>
                      </a:r>
                      <a:r>
                        <a:rPr lang="en-US" altLang="en-US" sz="130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which freight release or payment path can proceed after credential compromise?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01600" marB="1016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Committee challenge:</a:t>
                      </a:r>
                      <a:r>
                        <a:rPr lang="en-US" altLang="en-US" sz="130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which OT/IT pathway has not been jointly restored with key suppliers?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01600" marB="1016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Committee challenge:</a:t>
                      </a:r>
                      <a:r>
                        <a:rPr lang="en-US" altLang="en-US" sz="130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how long can recovery spend continue before revenue and claims receipts catch up?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101600" marB="1016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mitigation-shape-6"/>
          <p:cNvSpPr/>
          <p:nvPr/>
        </p:nvSpPr>
        <p:spPr>
          <a:xfrm>
            <a:off x="508000" y="8102600"/>
            <a:ext cx="15240000" cy="431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mitigation-text-7"/>
          <p:cNvSpPr/>
          <p:nvPr/>
        </p:nvSpPr>
        <p:spPr>
          <a:xfrm>
            <a:off x="762000" y="8191500"/>
            <a:ext cx="1473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boundary:</a:t>
            </a:r>
            <a:r>
              <a:rPr lang="en-US" altLang="en-US" sz="13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framework does not assert that any named entity lacks these controls. Effectiveness requires entity-specific testing and evidence.</a:t>
            </a:r>
            <a:endParaRPr lang="en-US" sz="1300" dirty="0"/>
          </a:p>
        </p:txBody>
      </p:sp>
      <p:sp>
        <p:nvSpPr>
          <p:cNvPr id="9" name="mitigation-text-8"/>
          <p:cNvSpPr/>
          <p:nvPr/>
        </p:nvSpPr>
        <p:spPr>
          <a:xfrm>
            <a:off x="508000" y="8763000"/>
            <a:ext cx="76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00" dirty="0"/>
          </a:p>
        </p:txBody>
      </p:sp>
      <p:sp>
        <p:nvSpPr>
          <p:cNvPr id="10" name="mitigation-text-9"/>
          <p:cNvSpPr/>
          <p:nvPr/>
        </p:nvSpPr>
        <p:spPr>
          <a:xfrm>
            <a:off x="7366000" y="8686800"/>
            <a:ext cx="838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1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S01 Commission - S02 Cyber Europe - S03 NIS360 - S05 CERT-EU - S07 Brussels Airport - S13 to S17 legal and insurance framework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 Transport &amp; Storage Cyber-Risk Analysis</dc:title>
  <dc:subject>EU Transport &amp; Storage Cyber-Risk Analysis</dc:subject>
  <dc:creator>Manus</dc:creator>
  <cp:lastModifiedBy>Manus</cp:lastModifiedBy>
  <cp:revision>1</cp:revision>
  <dcterms:created xsi:type="dcterms:W3CDTF">2026-09-15T14:03:30Z</dcterms:created>
  <dcterms:modified xsi:type="dcterms:W3CDTF">2026-09-15T14:03:30Z</dcterms:modified>
</cp:coreProperties>
</file>