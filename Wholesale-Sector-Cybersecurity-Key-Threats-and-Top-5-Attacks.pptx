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Crimson Pro Semi Bold"/>
      <p:regular r:id="rId12"/>
    </p:embeddedFont>
    <p:embeddedFont>
      <p:font typeface="Crimson Pro Semi Bold"/>
      <p:regular r:id="rId13"/>
    </p:embeddedFont>
    <p:embeddedFont>
      <p:font typeface="Crimson Pro Semi Bold"/>
      <p:regular r:id="rId14"/>
    </p:embeddedFont>
    <p:embeddedFont>
      <p:font typeface="Crimson Pro Semi Bold"/>
      <p:regular r:id="rId15"/>
    </p:embeddedFont>
    <p:embeddedFont>
      <p:font typeface="Heebo"/>
      <p:regular r:id="rId16"/>
    </p:embeddedFont>
    <p:embeddedFont>
      <p:font typeface="Heebo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14.png"/><Relationship Id="rId15" Type="http://schemas.openxmlformats.org/officeDocument/2006/relationships/image" Target="../media/image-5-15.svg"/><Relationship Id="rId16" Type="http://schemas.openxmlformats.org/officeDocument/2006/relationships/slideLayout" Target="../slideLayouts/slideLayout6.xml"/><Relationship Id="rId1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26388"/>
            <a:ext cx="9060418" cy="451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Wholesale Sector Cybersecurity: Key Threats &amp; Top 5 Attacks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261110"/>
            <a:ext cx="13075920" cy="378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Digital supply chains are scaling faster than security governance. The threat landscape is now defined by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identity-centric, automated intrusions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posing systemic risks across distribution and logistics networks.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742599"/>
            <a:ext cx="13075920" cy="8661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480" y="1757839"/>
            <a:ext cx="577453" cy="835700"/>
          </a:xfrm>
          <a:prstGeom prst="roundRect">
            <a:avLst>
              <a:gd name="adj" fmla="val 583"/>
            </a:avLst>
          </a:prstGeom>
          <a:solidFill>
            <a:srgbClr val="F2EE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2979" y="2067401"/>
            <a:ext cx="216456" cy="216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1730" y="1902143"/>
            <a:ext cx="2882622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AI-Augmented Credential Exploitation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1730" y="2182892"/>
            <a:ext cx="1223188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60%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wholesalers and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52%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their vendors have active credentials exposed in Stealer Logs — granting threat actors frictionless network access.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2700576"/>
            <a:ext cx="13075920" cy="8661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2480" y="2715816"/>
            <a:ext cx="577453" cy="835700"/>
          </a:xfrm>
          <a:prstGeom prst="roundRect">
            <a:avLst>
              <a:gd name="adj" fmla="val 583"/>
            </a:avLst>
          </a:prstGeom>
          <a:solidFill>
            <a:srgbClr val="F2EE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979" y="3025378"/>
            <a:ext cx="216456" cy="216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1730" y="2860119"/>
            <a:ext cx="3787378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"Volume Games" Ransomware &amp; Double Extortion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61730" y="3140869"/>
            <a:ext cx="1223188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Extortion-only attacks have tripled, now representing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6%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incidents. Attackers threaten data release to trigger regulatory penalties — no encryption required.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77240" y="3658553"/>
            <a:ext cx="13075920" cy="8661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92480" y="3673793"/>
            <a:ext cx="577453" cy="835700"/>
          </a:xfrm>
          <a:prstGeom prst="roundRect">
            <a:avLst>
              <a:gd name="adj" fmla="val 583"/>
            </a:avLst>
          </a:prstGeom>
          <a:solidFill>
            <a:srgbClr val="F2EE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979" y="3983355"/>
            <a:ext cx="216456" cy="216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1730" y="3818096"/>
            <a:ext cx="3076337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Supply Chain &amp; Third-Party Compromise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1730" y="4098846"/>
            <a:ext cx="1223188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Third-party breaches account for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30%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incidents — a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100%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year-over-year increase driven by systematic targeting of upstream service providers.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77240" y="4616529"/>
            <a:ext cx="13075920" cy="8661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2480" y="4631769"/>
            <a:ext cx="577453" cy="835700"/>
          </a:xfrm>
          <a:prstGeom prst="roundRect">
            <a:avLst>
              <a:gd name="adj" fmla="val 583"/>
            </a:avLst>
          </a:prstGeom>
          <a:solidFill>
            <a:srgbClr val="F2EE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2979" y="4941332"/>
            <a:ext cx="216456" cy="216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1730" y="4776073"/>
            <a:ext cx="2125504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LotL &amp; Agentic AI Intrusions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61730" y="5056823"/>
            <a:ext cx="1223188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Using legitimate admin tools and autonomous AI, attackers persist undetected for an average of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80+ days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before executing secondary payloads.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77240" y="5574506"/>
            <a:ext cx="13075920" cy="8661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480" y="5589746"/>
            <a:ext cx="577453" cy="835700"/>
          </a:xfrm>
          <a:prstGeom prst="roundRect">
            <a:avLst>
              <a:gd name="adj" fmla="val 583"/>
            </a:avLst>
          </a:prstGeom>
          <a:solidFill>
            <a:srgbClr val="F2EEE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2979" y="5899309"/>
            <a:ext cx="216456" cy="216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1730" y="5734050"/>
            <a:ext cx="2225516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Weaponized API &amp; Shadow AI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461730" y="6014799"/>
            <a:ext cx="1223188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Shadow AI — unauthorized generative AI use by employees — contributed to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20%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overall breaches, compounded by poorly secured B2B portals.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73298" y="6544032"/>
            <a:ext cx="6569750" cy="1059061"/>
          </a:xfrm>
          <a:prstGeom prst="roundRect">
            <a:avLst>
              <a:gd name="adj" fmla="val 2045"/>
            </a:avLst>
          </a:prstGeom>
          <a:solidFill>
            <a:srgbClr val="00674F"/>
          </a:solidFill>
          <a:ln/>
        </p:spPr>
      </p:sp>
      <p:sp>
        <p:nvSpPr>
          <p:cNvPr id="30" name="Text 23"/>
          <p:cNvSpPr/>
          <p:nvPr/>
        </p:nvSpPr>
        <p:spPr>
          <a:xfrm>
            <a:off x="817602" y="6635829"/>
            <a:ext cx="1804511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Legacy ERP Exposure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817602" y="6953250"/>
            <a:ext cx="6281142" cy="378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Traditional ERPs bolt web modules onto aging on-premises infrastructure, exposing systems of record to the public internet — bypassing MFA and modern encryption entirely.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498913" y="6635829"/>
            <a:ext cx="1878925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Third-Party Risk Paradox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7498913" y="6953250"/>
            <a:ext cx="6361867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78%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organizations acknowledge their cybersecurity programs cover fewer than half of all vendors.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53%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wholesale enterprises harbor unpatched vulnerabilities tracked in the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CISA KEV catalog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0467"/>
            <a:ext cx="667952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 of Cyber Incidents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37717"/>
            <a:ext cx="1304282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average wholesale/retail data breach now costs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$3.54 million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an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18% year-over-year increase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For U.S.-based multinationals, that figure escalates to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$10.22 million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driven by aggressive litigation and strict notification mandates.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568535"/>
            <a:ext cx="258270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Cost Breakdown Per Breach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15258"/>
            <a:ext cx="5036820" cy="2863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29329" y="3324757"/>
            <a:ext cx="184428" cy="12592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1.47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229329" y="3824463"/>
            <a:ext cx="184428" cy="12592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1.47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852396" y="4324168"/>
            <a:ext cx="184428" cy="12592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1.31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701001" y="4823874"/>
            <a:ext cx="184428" cy="12592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1.25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301793" y="5323579"/>
            <a:ext cx="184428" cy="12592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0.67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7544157" y="256853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Benchmarks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544157" y="3015258"/>
            <a:ext cx="3077408" cy="1882140"/>
          </a:xfrm>
          <a:prstGeom prst="roundRect">
            <a:avLst>
              <a:gd name="adj" fmla="val 58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21297" y="3015258"/>
            <a:ext cx="91440" cy="1882140"/>
          </a:xfrm>
          <a:prstGeom prst="roundRect">
            <a:avLst>
              <a:gd name="adj" fmla="val 29767"/>
            </a:avLst>
          </a:prstGeom>
          <a:solidFill>
            <a:srgbClr val="00674F"/>
          </a:solidFill>
          <a:ln/>
        </p:spPr>
      </p:sp>
      <p:sp>
        <p:nvSpPr>
          <p:cNvPr id="14" name="Text 11"/>
          <p:cNvSpPr/>
          <p:nvPr/>
        </p:nvSpPr>
        <p:spPr>
          <a:xfrm>
            <a:off x="7817048" y="321956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$3.54M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817048" y="3648194"/>
            <a:ext cx="2600206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Wholesale/retail sector average — below the global cross-industry average of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$4.44M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766703" y="3015258"/>
            <a:ext cx="3077528" cy="1882140"/>
          </a:xfrm>
          <a:prstGeom prst="roundRect">
            <a:avLst>
              <a:gd name="adj" fmla="val 58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743843" y="3015258"/>
            <a:ext cx="91440" cy="1882140"/>
          </a:xfrm>
          <a:prstGeom prst="roundRect">
            <a:avLst>
              <a:gd name="adj" fmla="val 29767"/>
            </a:avLst>
          </a:prstGeom>
          <a:solidFill>
            <a:srgbClr val="00674F"/>
          </a:solidFill>
          <a:ln/>
        </p:spPr>
      </p:sp>
      <p:sp>
        <p:nvSpPr>
          <p:cNvPr id="18" name="Text 15"/>
          <p:cNvSpPr/>
          <p:nvPr/>
        </p:nvSpPr>
        <p:spPr>
          <a:xfrm>
            <a:off x="11039594" y="321956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$10.22M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1039594" y="3648194"/>
            <a:ext cx="2600325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U.S. regional average for multinational wholesalers due to litigation and notification mandates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544157" y="5042535"/>
            <a:ext cx="3077408" cy="2143363"/>
          </a:xfrm>
          <a:prstGeom prst="roundRect">
            <a:avLst>
              <a:gd name="adj" fmla="val 511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21297" y="5042535"/>
            <a:ext cx="91440" cy="2143363"/>
          </a:xfrm>
          <a:prstGeom prst="roundRect">
            <a:avLst>
              <a:gd name="adj" fmla="val 29767"/>
            </a:avLst>
          </a:prstGeom>
          <a:solidFill>
            <a:srgbClr val="00674F"/>
          </a:solidFill>
          <a:ln/>
        </p:spPr>
      </p:sp>
      <p:sp>
        <p:nvSpPr>
          <p:cNvPr id="22" name="Text 19"/>
          <p:cNvSpPr/>
          <p:nvPr/>
        </p:nvSpPr>
        <p:spPr>
          <a:xfrm>
            <a:off x="7817048" y="524684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$1.65M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7817048" y="5675471"/>
            <a:ext cx="2600206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ransomware recovery cost — </a:t>
            </a:r>
            <a:pPr algn="l" indent="0" marL="0">
              <a:lnSpc>
                <a:spcPts val="205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excluding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ransom payment itself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766703" y="5042535"/>
            <a:ext cx="3077528" cy="2143363"/>
          </a:xfrm>
          <a:prstGeom prst="roundRect">
            <a:avLst>
              <a:gd name="adj" fmla="val 511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743843" y="5042535"/>
            <a:ext cx="91440" cy="2143363"/>
          </a:xfrm>
          <a:prstGeom prst="roundRect">
            <a:avLst>
              <a:gd name="adj" fmla="val 29767"/>
            </a:avLst>
          </a:prstGeom>
          <a:solidFill>
            <a:srgbClr val="00674F"/>
          </a:solidFill>
          <a:ln/>
        </p:spPr>
      </p:sp>
      <p:sp>
        <p:nvSpPr>
          <p:cNvPr id="26" name="Text 23"/>
          <p:cNvSpPr/>
          <p:nvPr/>
        </p:nvSpPr>
        <p:spPr>
          <a:xfrm>
            <a:off x="11039594" y="524684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241 Days</a:t>
            </a:r>
            <a:endParaRPr lang="en-US" sz="1750" dirty="0"/>
          </a:p>
        </p:txBody>
      </p:sp>
      <p:sp>
        <p:nvSpPr>
          <p:cNvPr id="27" name="Text 24"/>
          <p:cNvSpPr/>
          <p:nvPr/>
        </p:nvSpPr>
        <p:spPr>
          <a:xfrm>
            <a:off x="11039594" y="5675471"/>
            <a:ext cx="2600325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average to identify and contain a breach; supply chain compromises extend to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267 days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breaches exceeding 200 days cost an average of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$5.01M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7726"/>
            <a:ext cx="10508218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Worst-Case Scenarios: Catastrophic Incident Profiles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87843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 major wholesale distributors, a catastrophic cyber event transcends internal disruption — it threatens systemic stability across the broader economic supply chain.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42699"/>
            <a:ext cx="1574840" cy="9732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20703"/>
            <a:ext cx="316587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Systemic Supply Chain Collapse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93790" y="4120158"/>
            <a:ext cx="4211003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Compromise of a central logistics API or cloud provider halts regional distribution networks, triggering cascading shortages and manual workarounds economy-wide.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580" y="2542699"/>
            <a:ext cx="1574959" cy="973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09580" y="3720822"/>
            <a:ext cx="362331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Automated Fraudulent Procurement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209580" y="4120277"/>
            <a:ext cx="4211122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Compromised ERP admin credentials override Segregation of Duties, initiating thousands of fraudulent POs — diverting funds to untraceable accounts before quarterly audits detect it.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489" y="2542699"/>
            <a:ext cx="1574840" cy="9732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25489" y="3720703"/>
            <a:ext cx="272010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Mega-Breach of Trade Data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625489" y="4120158"/>
            <a:ext cx="421100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Exfiltration of B2B algorithms, supplier contracts, and 50–60M customer records averages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$375 million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incident in global remediation costs.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93790" y="5445681"/>
            <a:ext cx="4238387" cy="1926074"/>
          </a:xfrm>
          <a:prstGeom prst="roundRect">
            <a:avLst>
              <a:gd name="adj" fmla="val 1502"/>
            </a:avLst>
          </a:prstGeom>
          <a:solidFill>
            <a:srgbClr val="F2EEEE"/>
          </a:solidFill>
          <a:ln/>
        </p:spPr>
      </p:sp>
      <p:sp>
        <p:nvSpPr>
          <p:cNvPr id="14" name="Text 9"/>
          <p:cNvSpPr/>
          <p:nvPr/>
        </p:nvSpPr>
        <p:spPr>
          <a:xfrm>
            <a:off x="986552" y="563844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75% Client Attrition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986552" y="6037898"/>
            <a:ext cx="385286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Enterprise buyers terminate relationships post-breach, permanently eroding market cap and Customer Lifetime Value.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196007" y="5445681"/>
            <a:ext cx="4238387" cy="1926074"/>
          </a:xfrm>
          <a:prstGeom prst="roundRect">
            <a:avLst>
              <a:gd name="adj" fmla="val 1502"/>
            </a:avLst>
          </a:prstGeom>
          <a:solidFill>
            <a:srgbClr val="F2EEEE"/>
          </a:solidFill>
          <a:ln/>
        </p:spPr>
      </p:sp>
      <p:sp>
        <p:nvSpPr>
          <p:cNvPr id="17" name="Text 12"/>
          <p:cNvSpPr/>
          <p:nvPr/>
        </p:nvSpPr>
        <p:spPr>
          <a:xfrm>
            <a:off x="5388769" y="563844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NIS2 Fines Up to €10M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5388769" y="6037898"/>
            <a:ext cx="385286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"Essential Entities" face fines up to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€10M or 2% of global turnover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"Important Entities" (food, chemicals) face up to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€7M or 1.4%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9598223" y="5445681"/>
            <a:ext cx="4238387" cy="1926074"/>
          </a:xfrm>
          <a:prstGeom prst="roundRect">
            <a:avLst>
              <a:gd name="adj" fmla="val 1502"/>
            </a:avLst>
          </a:prstGeom>
          <a:solidFill>
            <a:srgbClr val="F2EEEE"/>
          </a:solidFill>
          <a:ln/>
        </p:spPr>
      </p:sp>
      <p:sp>
        <p:nvSpPr>
          <p:cNvPr id="20" name="Text 15"/>
          <p:cNvSpPr/>
          <p:nvPr/>
        </p:nvSpPr>
        <p:spPr>
          <a:xfrm>
            <a:off x="9790986" y="5638443"/>
            <a:ext cx="257544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Inventory Decay &amp; Shrink</a:t>
            </a:r>
            <a:endParaRPr lang="en-US" sz="1850" dirty="0"/>
          </a:p>
        </p:txBody>
      </p:sp>
      <p:sp>
        <p:nvSpPr>
          <p:cNvPr id="21" name="Text 16"/>
          <p:cNvSpPr/>
          <p:nvPr/>
        </p:nvSpPr>
        <p:spPr>
          <a:xfrm>
            <a:off x="9790986" y="6037898"/>
            <a:ext cx="3852863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Halted FIFO logic in food and pharma wholesale triggers inventory decay and forced manual tracking — adding tens of millions in unrecoverable shrink charges.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11" y="823317"/>
            <a:ext cx="717471" cy="194786"/>
          </a:xfrm>
          <a:prstGeom prst="roundRect">
            <a:avLst>
              <a:gd name="adj" fmla="val 7569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35211" y="860108"/>
            <a:ext cx="570071" cy="121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511" y="1044654"/>
            <a:ext cx="5974318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United Natural Foods, Inc. (UNFI) — June 2025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511" y="1528405"/>
            <a:ext cx="13307378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North America's premier grocery wholesaler and primary Whole Foods distributor suffered a devastating network intrusion — forcing a </a:t>
            </a:r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complete system shutdown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that froze electronic B2B ordering and distribution nationwide.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511" y="1779627"/>
            <a:ext cx="1535787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Exact Financial Impact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2773" y="2132648"/>
            <a:ext cx="2121813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$400M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25786" y="2649260"/>
            <a:ext cx="1535787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Lost Sales Volume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511" y="2881074"/>
            <a:ext cx="3264456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Estimated $350M–$400M in unfulfilled orders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80334" y="2132648"/>
            <a:ext cx="2121932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$60M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4873466" y="2649260"/>
            <a:ext cx="1535787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Net Income Reduction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09073" y="2881074"/>
            <a:ext cx="3264575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Decreased by $50M–$60M in fiscal Q4 2025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28015" y="2132648"/>
            <a:ext cx="2121813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$25M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8221028" y="2649260"/>
            <a:ext cx="1535787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Direct Incident Costs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56753" y="2881074"/>
            <a:ext cx="3264456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$20M inventory shrink + $5M forensic/cybersecurity firms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275576" y="2132648"/>
            <a:ext cx="2121932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$425M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11568708" y="2649260"/>
            <a:ext cx="1535787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Total Gross Impact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04314" y="2881074"/>
            <a:ext cx="3264575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Initial analyst estimate before insurance offsets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1511" y="3132296"/>
            <a:ext cx="1535787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Timeline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07580" y="3423999"/>
            <a:ext cx="15240" cy="3386376"/>
          </a:xfrm>
          <a:prstGeom prst="roundRect">
            <a:avLst>
              <a:gd name="adj" fmla="val 120930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084814" y="3554492"/>
            <a:ext cx="245626" cy="15240"/>
          </a:xfrm>
          <a:prstGeom prst="roundRect">
            <a:avLst>
              <a:gd name="adj" fmla="val 120930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182" y="3516094"/>
            <a:ext cx="92035" cy="92035"/>
          </a:xfrm>
          <a:prstGeom prst="roundRect">
            <a:avLst>
              <a:gd name="adj" fmla="val 496768"/>
            </a:avLst>
          </a:prstGeom>
          <a:solidFill>
            <a:srgbClr val="00674F"/>
          </a:solidFill>
          <a:ln/>
        </p:spPr>
      </p:sp>
      <p:sp>
        <p:nvSpPr>
          <p:cNvPr id="23" name="Text 21"/>
          <p:cNvSpPr/>
          <p:nvPr/>
        </p:nvSpPr>
        <p:spPr>
          <a:xfrm>
            <a:off x="5288042" y="3466148"/>
            <a:ext cx="1535787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June 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511" y="3697962"/>
            <a:ext cx="6162318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Unauthorized activity detected on IT systems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99960" y="4178856"/>
            <a:ext cx="245626" cy="15240"/>
          </a:xfrm>
          <a:prstGeom prst="roundRect">
            <a:avLst>
              <a:gd name="adj" fmla="val 120930"/>
            </a:avLst>
          </a:prstGeom>
          <a:solidFill>
            <a:srgbClr val="D8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69182" y="4140458"/>
            <a:ext cx="92035" cy="92035"/>
          </a:xfrm>
          <a:prstGeom prst="roundRect">
            <a:avLst>
              <a:gd name="adj" fmla="val 496768"/>
            </a:avLst>
          </a:prstGeom>
          <a:solidFill>
            <a:srgbClr val="00674F"/>
          </a:solidFill>
          <a:ln/>
        </p:spPr>
      </p:sp>
      <p:sp>
        <p:nvSpPr>
          <p:cNvPr id="27" name="Text 25"/>
          <p:cNvSpPr/>
          <p:nvPr/>
        </p:nvSpPr>
        <p:spPr>
          <a:xfrm>
            <a:off x="7806571" y="4090511"/>
            <a:ext cx="1535787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June 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06571" y="4322326"/>
            <a:ext cx="6162318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Complete network shutdown initiated; nationwide out-of-stock events cascade upstream and downstream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84814" y="4757857"/>
            <a:ext cx="245626" cy="15240"/>
          </a:xfrm>
          <a:prstGeom prst="roundRect">
            <a:avLst>
              <a:gd name="adj" fmla="val 120930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7269182" y="4719459"/>
            <a:ext cx="92035" cy="92035"/>
          </a:xfrm>
          <a:prstGeom prst="roundRect">
            <a:avLst>
              <a:gd name="adj" fmla="val 496768"/>
            </a:avLst>
          </a:prstGeom>
          <a:solidFill>
            <a:srgbClr val="00674F"/>
          </a:solidFill>
          <a:ln/>
        </p:spPr>
      </p:sp>
      <p:sp>
        <p:nvSpPr>
          <p:cNvPr id="31" name="Text 29"/>
          <p:cNvSpPr/>
          <p:nvPr/>
        </p:nvSpPr>
        <p:spPr>
          <a:xfrm>
            <a:off x="5288042" y="4669512"/>
            <a:ext cx="1535787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June 16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1511" y="4901327"/>
            <a:ext cx="6162318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online ordering platforms successfully restored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99960" y="5336858"/>
            <a:ext cx="245626" cy="15240"/>
          </a:xfrm>
          <a:prstGeom prst="roundRect">
            <a:avLst>
              <a:gd name="adj" fmla="val 120930"/>
            </a:avLst>
          </a:prstGeom>
          <a:solidFill>
            <a:srgbClr val="D8D4D4"/>
          </a:solidFill>
          <a:ln/>
        </p:spPr>
      </p:sp>
      <p:sp>
        <p:nvSpPr>
          <p:cNvPr id="34" name="Shape 32"/>
          <p:cNvSpPr/>
          <p:nvPr/>
        </p:nvSpPr>
        <p:spPr>
          <a:xfrm>
            <a:off x="7269182" y="5298460"/>
            <a:ext cx="92035" cy="92035"/>
          </a:xfrm>
          <a:prstGeom prst="roundRect">
            <a:avLst>
              <a:gd name="adj" fmla="val 496768"/>
            </a:avLst>
          </a:prstGeom>
          <a:solidFill>
            <a:srgbClr val="00674F"/>
          </a:solidFill>
          <a:ln/>
        </p:spPr>
      </p:sp>
      <p:sp>
        <p:nvSpPr>
          <p:cNvPr id="35" name="Text 33"/>
          <p:cNvSpPr/>
          <p:nvPr/>
        </p:nvSpPr>
        <p:spPr>
          <a:xfrm>
            <a:off x="7806571" y="5248513"/>
            <a:ext cx="1535787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June 21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06571" y="5480328"/>
            <a:ext cx="6162318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Unauthorized activity officially contained; standard shipping resumes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084814" y="5915858"/>
            <a:ext cx="245626" cy="15240"/>
          </a:xfrm>
          <a:prstGeom prst="roundRect">
            <a:avLst>
              <a:gd name="adj" fmla="val 120930"/>
            </a:avLst>
          </a:prstGeom>
          <a:solidFill>
            <a:srgbClr val="D8D4D4"/>
          </a:solidFill>
          <a:ln/>
        </p:spPr>
      </p:sp>
      <p:sp>
        <p:nvSpPr>
          <p:cNvPr id="38" name="Shape 36"/>
          <p:cNvSpPr/>
          <p:nvPr/>
        </p:nvSpPr>
        <p:spPr>
          <a:xfrm>
            <a:off x="7269182" y="5877461"/>
            <a:ext cx="92035" cy="92035"/>
          </a:xfrm>
          <a:prstGeom prst="roundRect">
            <a:avLst>
              <a:gd name="adj" fmla="val 496768"/>
            </a:avLst>
          </a:prstGeom>
          <a:solidFill>
            <a:srgbClr val="00674F"/>
          </a:solidFill>
          <a:ln/>
        </p:spPr>
      </p:sp>
      <p:sp>
        <p:nvSpPr>
          <p:cNvPr id="39" name="Text 37"/>
          <p:cNvSpPr/>
          <p:nvPr/>
        </p:nvSpPr>
        <p:spPr>
          <a:xfrm>
            <a:off x="5288042" y="5827514"/>
            <a:ext cx="1535787" cy="19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June 26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1511" y="6059329"/>
            <a:ext cx="6162318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Broad return to normal capacity; regional service gaps persist into July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1511" y="6885146"/>
            <a:ext cx="13307378" cy="521137"/>
          </a:xfrm>
          <a:prstGeom prst="roundRect">
            <a:avLst>
              <a:gd name="adj" fmla="val 3536"/>
            </a:avLst>
          </a:prstGeom>
          <a:solidFill>
            <a:srgbClr val="B3FFED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265" y="7038499"/>
            <a:ext cx="153472" cy="122753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060490" y="6982182"/>
            <a:ext cx="12785646" cy="30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Lesson: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Proactive network shutdown is an effective containment strategy — but carries immense operational cost. Following the disruption, major independent retail partners including Key Food defected to competing wholesalers, demonstrating that cyber incidents </a:t>
            </a:r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directly cannibalize long-term market share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4512"/>
            <a:ext cx="1079634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Mitigation Strategies: From Perimeter Defense to Cyber Resilience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572935"/>
            <a:ext cx="13042821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Wholesale organizations must treat cybersecurity as a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measurable operational investment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not compliance overhead. The following evidence-based strategies deliver the highest ROI against the sector's most critical threats.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93790" y="2493050"/>
            <a:ext cx="3108365" cy="2049423"/>
          </a:xfrm>
          <a:prstGeom prst="roundRect">
            <a:avLst>
              <a:gd name="adj" fmla="val 535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470190"/>
            <a:ext cx="3108365" cy="91440"/>
          </a:xfrm>
          <a:prstGeom prst="roundRect">
            <a:avLst>
              <a:gd name="adj" fmla="val 26046"/>
            </a:avLst>
          </a:prstGeom>
          <a:solidFill>
            <a:srgbClr val="00674F"/>
          </a:solidFill>
          <a:ln/>
        </p:spPr>
      </p:sp>
      <p:sp>
        <p:nvSpPr>
          <p:cNvPr id="6" name="Shape 4"/>
          <p:cNvSpPr/>
          <p:nvPr/>
        </p:nvSpPr>
        <p:spPr>
          <a:xfrm>
            <a:off x="2109788" y="2254925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0067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663" y="2397800"/>
            <a:ext cx="190500" cy="190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5360" y="2889885"/>
            <a:ext cx="210514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Security AI &amp; Automation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75360" y="3248978"/>
            <a:ext cx="2745224" cy="1079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breach lifecycle by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80 days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average. Yields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$1.9M savings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incident. High implementation cost — typically bundled into core platform upgrades.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13240" y="2493050"/>
            <a:ext cx="3108365" cy="2049423"/>
          </a:xfrm>
          <a:prstGeom prst="roundRect">
            <a:avLst>
              <a:gd name="adj" fmla="val 5354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013240" y="2470190"/>
            <a:ext cx="3108365" cy="91440"/>
          </a:xfrm>
          <a:prstGeom prst="roundRect">
            <a:avLst>
              <a:gd name="adj" fmla="val 26046"/>
            </a:avLst>
          </a:prstGeom>
          <a:solidFill>
            <a:srgbClr val="00674F"/>
          </a:solidFill>
          <a:ln/>
        </p:spPr>
      </p:sp>
      <p:sp>
        <p:nvSpPr>
          <p:cNvPr id="12" name="Shape 9"/>
          <p:cNvSpPr/>
          <p:nvPr/>
        </p:nvSpPr>
        <p:spPr>
          <a:xfrm>
            <a:off x="5329238" y="2254925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0067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2113" y="2397800"/>
            <a:ext cx="190500" cy="1905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94810" y="2889885"/>
            <a:ext cx="2745224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Proactive Incident Response Planning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194810" y="3496985"/>
            <a:ext cx="2745224" cy="86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Enables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77% faster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operational recovery. Investment: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€15k–€75k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Mitigates damages by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$1.49M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incident on average.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3790" y="4891683"/>
            <a:ext cx="6327815" cy="1369457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793790" y="4868823"/>
            <a:ext cx="6327815" cy="91440"/>
          </a:xfrm>
          <a:prstGeom prst="roundRect">
            <a:avLst>
              <a:gd name="adj" fmla="val 26046"/>
            </a:avLst>
          </a:prstGeom>
          <a:solidFill>
            <a:srgbClr val="00674F"/>
          </a:solidFill>
          <a:ln/>
        </p:spPr>
      </p:sp>
      <p:sp>
        <p:nvSpPr>
          <p:cNvPr id="18" name="Shape 14"/>
          <p:cNvSpPr/>
          <p:nvPr/>
        </p:nvSpPr>
        <p:spPr>
          <a:xfrm>
            <a:off x="3719512" y="4653558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0067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2387" y="4796433"/>
            <a:ext cx="190500" cy="1905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75360" y="5288518"/>
            <a:ext cx="334815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Continuous Security Awareness Training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975360" y="5647611"/>
            <a:ext cx="5964674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phishing click-rates by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86%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over 12 months. Investment: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€20k–€80k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Delivers a proven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50x ROI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516416" y="2240994"/>
            <a:ext cx="210431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NIS2 Regulatory Mandate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7516416" y="2600087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Wholesale food, chemicals, and manufacturing are classified as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"Important Entities"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under the EU NIS2 Directive. Compliance mandates: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7516416" y="3157061"/>
            <a:ext cx="6327815" cy="762000"/>
          </a:xfrm>
          <a:prstGeom prst="roundRect">
            <a:avLst>
              <a:gd name="adj" fmla="val 3126"/>
            </a:avLst>
          </a:prstGeom>
          <a:solidFill>
            <a:srgbClr val="B3FFE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5126" y="3368873"/>
            <a:ext cx="198358" cy="15871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032194" y="3307794"/>
            <a:ext cx="565332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NIS2 shifts cybersecurity from a technical necessity to a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non-negotiable pillar of corporate governance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with C-suite accountability at the core.</a:t>
            </a:r>
            <a:endParaRPr lang="en-US" sz="12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321" y="6519029"/>
            <a:ext cx="238125" cy="238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09687" y="6511171"/>
            <a:ext cx="264068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 governance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accountability — leadership personally liable for framework failures</a:t>
            </a:r>
            <a:endParaRPr lang="en-US" sz="12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48733" y="6519029"/>
            <a:ext cx="238125" cy="2381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605099" y="6511171"/>
            <a:ext cx="264068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supply chain risk management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the full vendor network</a:t>
            </a:r>
            <a:endParaRPr lang="en-US" sz="125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44145" y="6519029"/>
            <a:ext cx="238125" cy="23812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900511" y="6511171"/>
            <a:ext cx="264068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Strict incident reporting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early warning within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 hours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full assessment within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72 hours</a:t>
            </a:r>
            <a:endParaRPr lang="en-US" sz="12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39557" y="6519029"/>
            <a:ext cx="238125" cy="23812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1195923" y="6511171"/>
            <a:ext cx="2640687" cy="86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First-year compliance budget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€120,000–€350,000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mid-sized entities; ongoing annual maintenance at 30–40% of initial cost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2026-03-23T13:26:44Z</dcterms:created>
  <dcterms:modified xsi:type="dcterms:W3CDTF">2026-03-23T13:26:44Z</dcterms:modified>
</cp:coreProperties>
</file>