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Crimson Pro Semi Bold"/>
      <p:regular r:id="rId13"/>
    </p:embeddedFont>
    <p:embeddedFont>
      <p:font typeface="Crimson Pro Semi Bold"/>
      <p:regular r:id="rId14"/>
    </p:embeddedFont>
    <p:embeddedFont>
      <p:font typeface="Crimson Pro Semi Bold"/>
      <p:regular r:id="rId15"/>
    </p:embeddedFont>
    <p:embeddedFont>
      <p:font typeface="Crimson Pro Semi Bold"/>
      <p:regular r:id="rId16"/>
    </p:embeddedFont>
    <p:embeddedFont>
      <p:font typeface="Heebo"/>
      <p:regular r:id="rId17"/>
    </p:embeddedFont>
    <p:embeddedFont>
      <p:font typeface="Heebo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7.xml"/><Relationship Id="rId1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2245876"/>
            <a:ext cx="3001566" cy="373142"/>
          </a:xfrm>
          <a:prstGeom prst="roundRect">
            <a:avLst>
              <a:gd name="adj" fmla="val 6383"/>
            </a:avLst>
          </a:prstGeom>
          <a:solidFill>
            <a:srgbClr val="CCFFF3"/>
          </a:solidFill>
          <a:ln/>
        </p:spPr>
      </p:sp>
      <p:sp>
        <p:nvSpPr>
          <p:cNvPr id="4" name="Text 1"/>
          <p:cNvSpPr/>
          <p:nvPr/>
        </p:nvSpPr>
        <p:spPr>
          <a:xfrm>
            <a:off x="6399252" y="2305407"/>
            <a:ext cx="276344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CYBER RISK SECTORIAL ASSESSMENT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9380934" y="2238256"/>
            <a:ext cx="2252067" cy="38838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00674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507617" y="2305407"/>
            <a:ext cx="1998702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AUTOMOTIVE SECTOR 2026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280190" y="2705933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Automotive Cybersecurity: Threat Landscape &amp; Risk Assessment</a:t>
            </a:r>
            <a:endParaRPr lang="en-US" sz="3900" dirty="0"/>
          </a:p>
        </p:txBody>
      </p:sp>
      <p:sp>
        <p:nvSpPr>
          <p:cNvPr id="8" name="Text 5"/>
          <p:cNvSpPr/>
          <p:nvPr/>
        </p:nvSpPr>
        <p:spPr>
          <a:xfrm>
            <a:off x="6280190" y="4243745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comprehensive intelligence briefing for Risk Executives on the evolving cyber threat environment targeting the automotive and smart mobility ecosystem — based on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494 publicly reported incidents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2025 and the landmark Jaguar Land Rover systemic event.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280190" y="5737146"/>
            <a:ext cx="75564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Prepared by Cyber Threat Intelligence | February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49798" y="1545312"/>
            <a:ext cx="569833" cy="166926"/>
          </a:xfrm>
          <a:prstGeom prst="roundRect">
            <a:avLst>
              <a:gd name="adj" fmla="val 7595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3213140" y="1576983"/>
            <a:ext cx="44315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CHAPTER 1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772376" y="1576983"/>
            <a:ext cx="131004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THREATS &amp; VULNERABILITIES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149798" y="1734622"/>
            <a:ext cx="7254835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Top 5 Cybersecurity Threats &amp; Automotive-Specific Vulnerabilities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3149798" y="2148959"/>
            <a:ext cx="8330803" cy="258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Analysis of 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494 incidents</a:t>
            </a:r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across the automotive ecosystem in 2025 reveals five dominant threat categories demanding immediate executive attention. The convergence of software-defined vehicles, AI integration, and API-driven connectivity has created an attack surface extending far beyond traditional vehicle boundaries.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149798" y="2471023"/>
            <a:ext cx="2739390" cy="1300639"/>
          </a:xfrm>
          <a:prstGeom prst="roundRect">
            <a:avLst>
              <a:gd name="adj" fmla="val 1218"/>
            </a:avLst>
          </a:prstGeom>
          <a:solidFill>
            <a:srgbClr val="F2EEEE"/>
          </a:solidFill>
          <a:ln/>
        </p:spPr>
      </p:sp>
      <p:sp>
        <p:nvSpPr>
          <p:cNvPr id="8" name="Shape 6"/>
          <p:cNvSpPr/>
          <p:nvPr/>
        </p:nvSpPr>
        <p:spPr>
          <a:xfrm>
            <a:off x="3255407" y="2576632"/>
            <a:ext cx="316825" cy="316825"/>
          </a:xfrm>
          <a:prstGeom prst="roundRect">
            <a:avLst>
              <a:gd name="adj" fmla="val 28858473"/>
            </a:avLst>
          </a:prstGeom>
          <a:solidFill>
            <a:srgbClr val="00674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42561" y="2663785"/>
            <a:ext cx="142518" cy="1425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55407" y="2949654"/>
            <a:ext cx="1371124" cy="165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Ransomware Dominance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55407" y="3148370"/>
            <a:ext cx="2528173" cy="517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44% of all incidents</a:t>
            </a:r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more than doubling from 2024. 108 attacks with 214 associated data breaches. Average demand: 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$5.08M</a:t>
            </a:r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Vehicle-level ransomware demonstrated mid-2025.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945386" y="2471023"/>
            <a:ext cx="2739509" cy="1300639"/>
          </a:xfrm>
          <a:prstGeom prst="roundRect">
            <a:avLst>
              <a:gd name="adj" fmla="val 1218"/>
            </a:avLst>
          </a:prstGeom>
          <a:solidFill>
            <a:srgbClr val="F2EEEE"/>
          </a:solidFill>
          <a:ln/>
        </p:spPr>
      </p:sp>
      <p:sp>
        <p:nvSpPr>
          <p:cNvPr id="13" name="Shape 10"/>
          <p:cNvSpPr/>
          <p:nvPr/>
        </p:nvSpPr>
        <p:spPr>
          <a:xfrm>
            <a:off x="6050994" y="2576632"/>
            <a:ext cx="316825" cy="316825"/>
          </a:xfrm>
          <a:prstGeom prst="roundRect">
            <a:avLst>
              <a:gd name="adj" fmla="val 28858473"/>
            </a:avLst>
          </a:prstGeom>
          <a:solidFill>
            <a:srgbClr val="00674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38148" y="2663785"/>
            <a:ext cx="142518" cy="14251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050994" y="2949654"/>
            <a:ext cx="1320522" cy="165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API-Centric Attacks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050994" y="3148370"/>
            <a:ext cx="2528292" cy="388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67% of incidents</a:t>
            </a:r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involved telematics/cloud systems. CDK Global breach hit 15,000 dealerships — 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$1.02B losses</a:t>
            </a:r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LLM prompt injection emerging as new vector.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8741093" y="2471023"/>
            <a:ext cx="2739390" cy="1300639"/>
          </a:xfrm>
          <a:prstGeom prst="roundRect">
            <a:avLst>
              <a:gd name="adj" fmla="val 1218"/>
            </a:avLst>
          </a:prstGeom>
          <a:solidFill>
            <a:srgbClr val="F2EEEE"/>
          </a:solidFill>
          <a:ln/>
        </p:spPr>
      </p:sp>
      <p:sp>
        <p:nvSpPr>
          <p:cNvPr id="18" name="Shape 14"/>
          <p:cNvSpPr/>
          <p:nvPr/>
        </p:nvSpPr>
        <p:spPr>
          <a:xfrm>
            <a:off x="8846701" y="2576632"/>
            <a:ext cx="316825" cy="316825"/>
          </a:xfrm>
          <a:prstGeom prst="roundRect">
            <a:avLst>
              <a:gd name="adj" fmla="val 28858473"/>
            </a:avLst>
          </a:prstGeom>
          <a:solidFill>
            <a:srgbClr val="00674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33855" y="2663785"/>
            <a:ext cx="142518" cy="14251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846701" y="2949654"/>
            <a:ext cx="1458992" cy="165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Supply Chain Compromise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846701" y="3148370"/>
            <a:ext cx="2528173" cy="517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Third-party involvement 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nearly doubled to 30%</a:t>
            </a:r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incidents. Inverse relationship between supply chain depth and security maturity creates structural vulnerability.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3149798" y="3827859"/>
            <a:ext cx="4137184" cy="1041797"/>
          </a:xfrm>
          <a:prstGeom prst="roundRect">
            <a:avLst>
              <a:gd name="adj" fmla="val 1521"/>
            </a:avLst>
          </a:prstGeom>
          <a:solidFill>
            <a:srgbClr val="F2EEEE"/>
          </a:solidFill>
          <a:ln/>
        </p:spPr>
      </p:sp>
      <p:sp>
        <p:nvSpPr>
          <p:cNvPr id="23" name="Shape 18"/>
          <p:cNvSpPr/>
          <p:nvPr/>
        </p:nvSpPr>
        <p:spPr>
          <a:xfrm>
            <a:off x="3255407" y="3933468"/>
            <a:ext cx="316825" cy="316825"/>
          </a:xfrm>
          <a:prstGeom prst="roundRect">
            <a:avLst>
              <a:gd name="adj" fmla="val 28858473"/>
            </a:avLst>
          </a:prstGeom>
          <a:solidFill>
            <a:srgbClr val="00674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42561" y="4020622"/>
            <a:ext cx="142518" cy="14251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255407" y="4306491"/>
            <a:ext cx="1320522" cy="165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 Exfiltration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3255407" y="4505206"/>
            <a:ext cx="3925967" cy="258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68% of incidents</a:t>
            </a:r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involved data theft. 530 vulnerabilities identified in 2024, including 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174 zero-days</a:t>
            </a:r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from Pwn2Own Automotive. Location/telemetry data at highest risk.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7343180" y="3827859"/>
            <a:ext cx="4137303" cy="1041797"/>
          </a:xfrm>
          <a:prstGeom prst="roundRect">
            <a:avLst>
              <a:gd name="adj" fmla="val 1521"/>
            </a:avLst>
          </a:prstGeom>
          <a:solidFill>
            <a:srgbClr val="F2EEEE"/>
          </a:solidFill>
          <a:ln/>
        </p:spPr>
      </p:sp>
      <p:sp>
        <p:nvSpPr>
          <p:cNvPr id="28" name="Shape 22"/>
          <p:cNvSpPr/>
          <p:nvPr/>
        </p:nvSpPr>
        <p:spPr>
          <a:xfrm>
            <a:off x="7448788" y="3933468"/>
            <a:ext cx="316825" cy="316825"/>
          </a:xfrm>
          <a:prstGeom prst="roundRect">
            <a:avLst>
              <a:gd name="adj" fmla="val 28858473"/>
            </a:avLst>
          </a:prstGeom>
          <a:solidFill>
            <a:srgbClr val="00674F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35942" y="4020622"/>
            <a:ext cx="142518" cy="14251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448788" y="4306491"/>
            <a:ext cx="1482328" cy="165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EV Charging Infrastructure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7448788" y="4505206"/>
            <a:ext cx="3926086" cy="258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Cross-sector risk: V2G Evil tool demonstrated grid manipulation. Botnet-driven grid destabilization via coordinated chargers poses 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national security implications</a:t>
            </a:r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3149798" y="4953953"/>
            <a:ext cx="4058126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Automotive-Specific Structural Vulnerabilities</a:t>
            </a:r>
            <a:endParaRPr lang="en-US" sz="1650" dirty="0"/>
          </a:p>
        </p:txBody>
      </p:sp>
      <p:sp>
        <p:nvSpPr>
          <p:cNvPr id="33" name="Shape 26"/>
          <p:cNvSpPr/>
          <p:nvPr/>
        </p:nvSpPr>
        <p:spPr>
          <a:xfrm>
            <a:off x="3073718" y="5302329"/>
            <a:ext cx="4188738" cy="1381958"/>
          </a:xfrm>
          <a:prstGeom prst="roundRect">
            <a:avLst>
              <a:gd name="adj" fmla="val 1147"/>
            </a:avLst>
          </a:prstGeom>
          <a:solidFill>
            <a:srgbClr val="00674F"/>
          </a:solidFill>
          <a:ln/>
        </p:spPr>
      </p:sp>
      <p:sp>
        <p:nvSpPr>
          <p:cNvPr id="34" name="Text 27"/>
          <p:cNvSpPr/>
          <p:nvPr/>
        </p:nvSpPr>
        <p:spPr>
          <a:xfrm>
            <a:off x="3179326" y="5358527"/>
            <a:ext cx="1708547" cy="165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Software-Defined Vehicle Risks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3179326" y="5579745"/>
            <a:ext cx="3977521" cy="388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OTA update mechanisms create persistent attack vectors. Innovation velocity inversely correlates with security maturity at higher abstraction layers — hypervisor and container runtime layers remain 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low maturity</a:t>
            </a:r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3179326" y="6024205"/>
            <a:ext cx="1351836" cy="165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IT/OT Convergence Gaps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3179326" y="6245423"/>
            <a:ext cx="3977521" cy="388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Manufacturing systems connected to enterprise networks without corresponding security evolution. IT incidents automatically become OT incidents — a 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fundamental architectural vulnerability</a:t>
            </a:r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across the industry.</a:t>
            </a:r>
            <a:endParaRPr lang="en-US" sz="800" dirty="0"/>
          </a:p>
        </p:txBody>
      </p:sp>
      <p:sp>
        <p:nvSpPr>
          <p:cNvPr id="38" name="Text 31"/>
          <p:cNvSpPr/>
          <p:nvPr/>
        </p:nvSpPr>
        <p:spPr>
          <a:xfrm>
            <a:off x="7451646" y="5358527"/>
            <a:ext cx="1821061" cy="165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Third-Party &amp; Open-Source Risks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7451646" y="5579745"/>
            <a:ext cx="4036576" cy="388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Modern vehicles incorporate 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100M+ lines of code</a:t>
            </a:r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majority from third-party and open-source sources. SBOM adoption remains inconsistent — often compliance artifacts rather than operational tools.</a:t>
            </a:r>
            <a:endParaRPr lang="en-US" sz="800" dirty="0"/>
          </a:p>
        </p:txBody>
      </p:sp>
      <p:sp>
        <p:nvSpPr>
          <p:cNvPr id="40" name="Text 33"/>
          <p:cNvSpPr/>
          <p:nvPr/>
        </p:nvSpPr>
        <p:spPr>
          <a:xfrm>
            <a:off x="7451646" y="6024205"/>
            <a:ext cx="1596390" cy="165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AI/ML System Vulnerabilities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7451646" y="6245423"/>
            <a:ext cx="4036576" cy="388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Adversarial examples against AV perception, prompt injection in voice assistants, data poisoning in predictive maintenance. Security methodologies for AI remain 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less mature</a:t>
            </a:r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than traditional software.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2449" y="272891"/>
            <a:ext cx="535305" cy="154781"/>
          </a:xfrm>
          <a:prstGeom prst="roundRect">
            <a:avLst>
              <a:gd name="adj" fmla="val 7694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3461980" y="302657"/>
            <a:ext cx="416243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CHAPTER 2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3987284" y="302657"/>
            <a:ext cx="701635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FINANCIAL IMPACT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402449" y="447437"/>
            <a:ext cx="624459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Financial Impact of Cyber Incidents in the Automotive Sector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402449" y="832009"/>
            <a:ext cx="7825502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Total estimated impact reached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$22.5 billion in 2024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a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76% year-over-year increase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from $12.8 billion. This growth substantially exceeds general cyber risk trends, indicating automotive-specific amplification factors.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402449" y="1125617"/>
            <a:ext cx="849022" cy="247129"/>
          </a:xfrm>
          <a:prstGeom prst="roundRect">
            <a:avLst>
              <a:gd name="adj" fmla="val 51801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528" y="1187399"/>
            <a:ext cx="123564" cy="1235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39281" y="1156508"/>
            <a:ext cx="540111" cy="185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2023 ($B)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4333847" y="1125617"/>
            <a:ext cx="849022" cy="247129"/>
          </a:xfrm>
          <a:prstGeom prst="roundRect">
            <a:avLst>
              <a:gd name="adj" fmla="val 51801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926" y="1187399"/>
            <a:ext cx="123565" cy="1235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0679" y="1156508"/>
            <a:ext cx="540111" cy="185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2024 ($B)</a:t>
            </a:r>
            <a:endParaRPr lang="en-US" sz="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449" y="1475716"/>
            <a:ext cx="7825740" cy="403643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02449" y="5563553"/>
            <a:ext cx="7825502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 leakage dominates at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89% of total impact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System downtime costs doubled (+111%), indicating attackers increasingly target operational systems. Ransomware damage grew modestly (+25%) despite volume doubling — operational disruption, not ransom payment, is the primary financial driver.</a:t>
            </a:r>
            <a:endParaRPr lang="en-US" sz="750" dirty="0"/>
          </a:p>
        </p:txBody>
      </p:sp>
      <p:sp>
        <p:nvSpPr>
          <p:cNvPr id="15" name="Text 10"/>
          <p:cNvSpPr/>
          <p:nvPr/>
        </p:nvSpPr>
        <p:spPr>
          <a:xfrm>
            <a:off x="3402449" y="5875853"/>
            <a:ext cx="236541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Cost Breakdown by Category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3402449" y="6198275"/>
            <a:ext cx="2575441" cy="1137404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417689" y="6213515"/>
            <a:ext cx="2544961" cy="297656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8" name="Text 13"/>
          <p:cNvSpPr/>
          <p:nvPr/>
        </p:nvSpPr>
        <p:spPr>
          <a:xfrm>
            <a:off x="4615696" y="6269355"/>
            <a:ext cx="148828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3516868" y="6560701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Direct Costs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3516868" y="6745486"/>
            <a:ext cx="2346603" cy="475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Business disruption: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$3.26M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(59%). Detection &amp; response: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$1.44M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(28%). Regulatory fines: ~$0.53M. JLR recognized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£260M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direct cyber costs vs.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£485-795M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revenue losses.</a:t>
            </a:r>
            <a:endParaRPr lang="en-US" sz="750" dirty="0"/>
          </a:p>
        </p:txBody>
      </p:sp>
      <p:sp>
        <p:nvSpPr>
          <p:cNvPr id="21" name="Shape 16"/>
          <p:cNvSpPr/>
          <p:nvPr/>
        </p:nvSpPr>
        <p:spPr>
          <a:xfrm>
            <a:off x="6027420" y="6198275"/>
            <a:ext cx="2575441" cy="1137404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042660" y="6213515"/>
            <a:ext cx="2544961" cy="297656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3" name="Text 18"/>
          <p:cNvSpPr/>
          <p:nvPr/>
        </p:nvSpPr>
        <p:spPr>
          <a:xfrm>
            <a:off x="7240667" y="6269355"/>
            <a:ext cx="148828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6141839" y="6560701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Indirect Costs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6141839" y="6745486"/>
            <a:ext cx="2346603" cy="475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Supply chain penalties: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£127M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Supplier support: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£156M + £1.5B guarantee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Customer compensation, increased insurance premiums, and multi-year market share loss with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43% wholesale decline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750" dirty="0"/>
          </a:p>
        </p:txBody>
      </p:sp>
      <p:sp>
        <p:nvSpPr>
          <p:cNvPr id="26" name="Shape 21"/>
          <p:cNvSpPr/>
          <p:nvPr/>
        </p:nvSpPr>
        <p:spPr>
          <a:xfrm>
            <a:off x="8652391" y="6198275"/>
            <a:ext cx="2575560" cy="1137404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667631" y="6213515"/>
            <a:ext cx="2545080" cy="297656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8" name="Text 23"/>
          <p:cNvSpPr/>
          <p:nvPr/>
        </p:nvSpPr>
        <p:spPr>
          <a:xfrm>
            <a:off x="9865757" y="6269355"/>
            <a:ext cx="148828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8766810" y="6560701"/>
            <a:ext cx="145125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Automotive-Specific Drivers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8766810" y="6745486"/>
            <a:ext cx="2346722" cy="475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Production shutdown: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~£50M/week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Vehicle recall: $500M-1B per campaign. Engineering security overhead: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10-15%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Fixed cost structure with no substitution amplifies losses.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3402449" y="7410093"/>
            <a:ext cx="4708922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Average Breach Cost: Automotive vs. All Industries (2025)</a:t>
            </a:r>
            <a:endParaRPr lang="en-US" sz="155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449" y="7835485"/>
            <a:ext cx="7825740" cy="4283563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3402449" y="12170450"/>
            <a:ext cx="7825502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automotive sector carries a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12.6% premium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over the global average, driven by OT integration, IP value, and supply chain complexity. The composite automotive premium is estimated at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+75-120% vs. pure IT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with tail risk unbounded — JLR's £882M company losses far exceeded any average.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71224" y="1280041"/>
            <a:ext cx="703898" cy="216456"/>
          </a:xfrm>
          <a:prstGeom prst="roundRect">
            <a:avLst>
              <a:gd name="adj" fmla="val 7233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2249448" y="1319093"/>
            <a:ext cx="547449" cy="138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CHAPTER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40248" y="1319093"/>
            <a:ext cx="2724864" cy="138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WORST-CASE SCENARIOS &amp; LONG-TERM CONSEQUENCES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171224" y="1530787"/>
            <a:ext cx="5162074" cy="40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Catastrophic Cyber Incident Scenarios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2171224" y="2066925"/>
            <a:ext cx="10287953" cy="345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JLR Category 3 event — </a:t>
            </a:r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£1.9 billion UK economic impact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established empirical foundation for scenario calibration. However, evolving connectivity creates potential for incidents that </a:t>
            </a:r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substantially exceed historical experience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71224" y="2509361"/>
            <a:ext cx="3372088" cy="1381006"/>
          </a:xfrm>
          <a:prstGeom prst="roundRect">
            <a:avLst>
              <a:gd name="adj" fmla="val 22673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2301597" y="2639735"/>
            <a:ext cx="1802130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Mass Fleet Immobilization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301597" y="2895005"/>
            <a:ext cx="3111341" cy="864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100,000+ vehicles compromised simultaneously. </a:t>
            </a:r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$40-115 billion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total estimated impact. 61% of 2025 incidents had potential to impact thousands to millions of assets. Vehicle-level ransomware is </a:t>
            </a:r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longer theoretical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29037" y="2509361"/>
            <a:ext cx="3372207" cy="1381006"/>
          </a:xfrm>
          <a:prstGeom prst="roundRect">
            <a:avLst>
              <a:gd name="adj" fmla="val 22673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5759410" y="2639735"/>
            <a:ext cx="1993940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Critical Infrastructure Failure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759410" y="2895005"/>
            <a:ext cx="3111460" cy="691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Coordinated EV charging attack exploiting grid integration. </a:t>
            </a:r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$5-15 billion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estimated impact. Tens of millions of V2G-capable vehicles by 2030 create sufficient capacity to </a:t>
            </a:r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overwhelm grid balancing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086969" y="2509361"/>
            <a:ext cx="3372088" cy="1381006"/>
          </a:xfrm>
          <a:prstGeom prst="roundRect">
            <a:avLst>
              <a:gd name="adj" fmla="val 22673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9217343" y="2639735"/>
            <a:ext cx="2042398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AV Safety System Compromise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217343" y="2895005"/>
            <a:ext cx="3111341" cy="864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Adversarial manipulation of autonomous perception systems. </a:t>
            </a:r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$60-210 billion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estimated impact. Potential for </a:t>
            </a:r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permanent AV deployment halt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Transferability across architectures creates common mode failure risk.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71224" y="4018955"/>
            <a:ext cx="5370433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Long-Term Financial Consequences: JLR Evidence</a:t>
            </a:r>
            <a:endParaRPr lang="en-US" sz="2050" dirty="0"/>
          </a:p>
        </p:txBody>
      </p:sp>
      <p:sp>
        <p:nvSpPr>
          <p:cNvPr id="17" name="Shape 15"/>
          <p:cNvSpPr/>
          <p:nvPr/>
        </p:nvSpPr>
        <p:spPr>
          <a:xfrm>
            <a:off x="2171224" y="4570214"/>
            <a:ext cx="5515213" cy="2107883"/>
          </a:xfrm>
          <a:prstGeom prst="roundRect">
            <a:avLst>
              <a:gd name="adj" fmla="val 92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78844" y="4577834"/>
            <a:ext cx="5499973" cy="29110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309336" y="4636889"/>
            <a:ext cx="1385411" cy="172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Period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63114" y="4636889"/>
            <a:ext cx="1381601" cy="172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Metric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13082" y="4636889"/>
            <a:ext cx="1935361" cy="172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Impact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78844" y="4868942"/>
            <a:ext cx="5499973" cy="46410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309336" y="4927997"/>
            <a:ext cx="1385411" cy="172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Q2 FY26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63114" y="4927997"/>
            <a:ext cx="1381601" cy="172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Pre-tax loss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13082" y="4927997"/>
            <a:ext cx="1935361" cy="345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£485M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(vs. £398M profit prior year)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178844" y="5333048"/>
            <a:ext cx="5499973" cy="29110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309336" y="5392103"/>
            <a:ext cx="1385411" cy="172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Q2 FY26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63114" y="5392103"/>
            <a:ext cx="1381601" cy="172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Revenue decline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13082" y="5392103"/>
            <a:ext cx="1935361" cy="172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24%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78844" y="5624155"/>
            <a:ext cx="5499973" cy="29110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2309336" y="5683210"/>
            <a:ext cx="1385411" cy="172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Q3 FY26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963114" y="5683210"/>
            <a:ext cx="1381601" cy="172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Wholesale decline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13082" y="5683210"/>
            <a:ext cx="1935361" cy="172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43.3%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178844" y="5915263"/>
            <a:ext cx="5499973" cy="29110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2309336" y="5974318"/>
            <a:ext cx="1385411" cy="172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Q3 FY26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963114" y="5974318"/>
            <a:ext cx="1381601" cy="172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Retail decline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13082" y="5974318"/>
            <a:ext cx="1935361" cy="172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25.1%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178844" y="6206371"/>
            <a:ext cx="5499973" cy="46410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2309336" y="6265426"/>
            <a:ext cx="1385411" cy="172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YTD FY26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963114" y="6265426"/>
            <a:ext cx="1381601" cy="172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Cumulative loss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13082" y="6265426"/>
            <a:ext cx="1935361" cy="345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£444M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(vs. £1.6B profit prior year)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012192" y="4559498"/>
            <a:ext cx="2357080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Systemic &amp; Macroeconomic Effects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012192" y="4849058"/>
            <a:ext cx="4454604" cy="112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GDP impact: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-0.17 percentage points (Bank of England attribution)</a:t>
            </a:r>
            <a:endParaRPr lang="en-US" sz="1000" dirty="0"/>
          </a:p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Employment: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104,000+ supply chain jobs at risk</a:t>
            </a:r>
            <a:endParaRPr lang="en-US" sz="1000" dirty="0"/>
          </a:p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Government intervention: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£1.5B loan guarantee — public risk absorption precedent</a:t>
            </a:r>
            <a:endParaRPr lang="en-US" sz="1000" dirty="0"/>
          </a:p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Insurance market: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JLR reportedly underinsured; sector-wide capacity contraction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012192" y="6073497"/>
            <a:ext cx="4454604" cy="779502"/>
          </a:xfrm>
          <a:prstGeom prst="roundRect">
            <a:avLst>
              <a:gd name="adj" fmla="val 2511"/>
            </a:avLst>
          </a:prstGeom>
          <a:solidFill>
            <a:srgbClr val="B3FFED"/>
          </a:solidFill>
          <a:ln/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2565" y="6244114"/>
            <a:ext cx="162997" cy="130373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8435935" y="6191726"/>
            <a:ext cx="3900488" cy="518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 financial recovery extends well beyond operational recovery. Market share erosion may be </a:t>
            </a:r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potentially permanent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customers substitute and may not return.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2449" y="987028"/>
            <a:ext cx="535305" cy="154781"/>
          </a:xfrm>
          <a:prstGeom prst="roundRect">
            <a:avLst>
              <a:gd name="adj" fmla="val 7694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3461980" y="1016794"/>
            <a:ext cx="416243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CHAPTER 4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3987284" y="1016794"/>
            <a:ext cx="460772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CASE STUDY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402449" y="1161574"/>
            <a:ext cx="709564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Case Study: Jaguar Land Rover Cyberattack (August–November 2025)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402449" y="1546146"/>
            <a:ext cx="7825502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most financially damaging cyber event in UK history. Classified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CMC Category 3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the highest severity ever assigned.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£1.9 billion ($2.5B)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total UK economic impact across 5,000+ organizations. Ciaran Martin, former NCSC CEO: </a:t>
            </a:r>
            <a:pPr algn="l" indent="0" marL="0">
              <a:lnSpc>
                <a:spcPts val="900"/>
              </a:lnSpc>
              <a:buNone/>
            </a:pPr>
            <a:r>
              <a:rPr lang="en-US" sz="750" i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"By some distance, the single most financially damaging cyber event ever to hit the UK."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07580" y="1839754"/>
            <a:ext cx="15240" cy="2714387"/>
          </a:xfrm>
          <a:prstGeom prst="roundRect">
            <a:avLst>
              <a:gd name="adj" fmla="val 97675"/>
            </a:avLst>
          </a:prstGeom>
          <a:solidFill>
            <a:srgbClr val="D8D4D4"/>
          </a:solidFill>
          <a:ln/>
        </p:spPr>
      </p:sp>
      <p:sp>
        <p:nvSpPr>
          <p:cNvPr id="8" name="Shape 6"/>
          <p:cNvSpPr/>
          <p:nvPr/>
        </p:nvSpPr>
        <p:spPr>
          <a:xfrm>
            <a:off x="6921163" y="1943695"/>
            <a:ext cx="297656" cy="15240"/>
          </a:xfrm>
          <a:prstGeom prst="roundRect">
            <a:avLst>
              <a:gd name="adj" fmla="val 97675"/>
            </a:avLst>
          </a:prstGeom>
          <a:solidFill>
            <a:srgbClr val="D8D4D4"/>
          </a:solidFill>
          <a:ln/>
        </p:spPr>
      </p:sp>
      <p:sp>
        <p:nvSpPr>
          <p:cNvPr id="9" name="Shape 7"/>
          <p:cNvSpPr/>
          <p:nvPr/>
        </p:nvSpPr>
        <p:spPr>
          <a:xfrm>
            <a:off x="7203579" y="1839754"/>
            <a:ext cx="223242" cy="223242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7240726" y="1858328"/>
            <a:ext cx="148828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578673" y="1873806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Late Aug 2025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02449" y="2058591"/>
            <a:ext cx="3416618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Intrusion detected. Social engineering vector by "Scattered Lapsus$ Hunters."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411581" y="2439710"/>
            <a:ext cx="297656" cy="15240"/>
          </a:xfrm>
          <a:prstGeom prst="roundRect">
            <a:avLst>
              <a:gd name="adj" fmla="val 97675"/>
            </a:avLst>
          </a:prstGeom>
          <a:solidFill>
            <a:srgbClr val="D8D4D4"/>
          </a:solidFill>
          <a:ln/>
        </p:spPr>
      </p:sp>
      <p:sp>
        <p:nvSpPr>
          <p:cNvPr id="14" name="Shape 12"/>
          <p:cNvSpPr/>
          <p:nvPr/>
        </p:nvSpPr>
        <p:spPr>
          <a:xfrm>
            <a:off x="7203579" y="2335768"/>
            <a:ext cx="223242" cy="223242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7240726" y="2354342"/>
            <a:ext cx="148828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811333" y="2369820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Sep 1, 2025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811333" y="2554605"/>
            <a:ext cx="3416618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Proactive global IT shutdown.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All production halted — UK, Slovakia, China, India, Brazil.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921163" y="2903220"/>
            <a:ext cx="297656" cy="15240"/>
          </a:xfrm>
          <a:prstGeom prst="roundRect">
            <a:avLst>
              <a:gd name="adj" fmla="val 97675"/>
            </a:avLst>
          </a:prstGeom>
          <a:solidFill>
            <a:srgbClr val="D8D4D4"/>
          </a:solidFill>
          <a:ln/>
        </p:spPr>
      </p:sp>
      <p:sp>
        <p:nvSpPr>
          <p:cNvPr id="19" name="Shape 17"/>
          <p:cNvSpPr/>
          <p:nvPr/>
        </p:nvSpPr>
        <p:spPr>
          <a:xfrm>
            <a:off x="7203579" y="2799278"/>
            <a:ext cx="223242" cy="223242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7240726" y="2817852"/>
            <a:ext cx="148828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578673" y="2833330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Sep 28, 2025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02449" y="3018115"/>
            <a:ext cx="3416618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Government announces </a:t>
            </a:r>
            <a:pPr algn="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£1.5B loan guarantee</a:t>
            </a:r>
            <a:pPr algn="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supplier financing.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411581" y="3366730"/>
            <a:ext cx="297656" cy="15240"/>
          </a:xfrm>
          <a:prstGeom prst="roundRect">
            <a:avLst>
              <a:gd name="adj" fmla="val 97675"/>
            </a:avLst>
          </a:prstGeom>
          <a:solidFill>
            <a:srgbClr val="D8D4D4"/>
          </a:solidFill>
          <a:ln/>
        </p:spPr>
      </p:sp>
      <p:sp>
        <p:nvSpPr>
          <p:cNvPr id="24" name="Shape 22"/>
          <p:cNvSpPr/>
          <p:nvPr/>
        </p:nvSpPr>
        <p:spPr>
          <a:xfrm>
            <a:off x="7203579" y="3262789"/>
            <a:ext cx="223242" cy="223242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5" name="Text 23"/>
          <p:cNvSpPr/>
          <p:nvPr/>
        </p:nvSpPr>
        <p:spPr>
          <a:xfrm>
            <a:off x="7240726" y="3281363"/>
            <a:ext cx="148828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811333" y="3296841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Oct 1-14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811333" y="3481626"/>
            <a:ext cx="3416618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Phased restart attempts.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Multiple setbacks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from system contamination.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921163" y="3830241"/>
            <a:ext cx="297656" cy="15240"/>
          </a:xfrm>
          <a:prstGeom prst="roundRect">
            <a:avLst>
              <a:gd name="adj" fmla="val 97675"/>
            </a:avLst>
          </a:prstGeom>
          <a:solidFill>
            <a:srgbClr val="D8D4D4"/>
          </a:solidFill>
          <a:ln/>
        </p:spPr>
      </p:sp>
      <p:sp>
        <p:nvSpPr>
          <p:cNvPr id="29" name="Shape 27"/>
          <p:cNvSpPr/>
          <p:nvPr/>
        </p:nvSpPr>
        <p:spPr>
          <a:xfrm>
            <a:off x="7203579" y="3726299"/>
            <a:ext cx="223242" cy="223242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30" name="Text 28"/>
          <p:cNvSpPr/>
          <p:nvPr/>
        </p:nvSpPr>
        <p:spPr>
          <a:xfrm>
            <a:off x="7240726" y="3744873"/>
            <a:ext cx="148828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578673" y="3760351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Mid-Nov 2025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02449" y="3945136"/>
            <a:ext cx="3416618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Normal production restored.</a:t>
            </a:r>
            <a:pPr algn="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~11 weeks total from detection to full restoration.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402449" y="4628555"/>
            <a:ext cx="222789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Financial Impact Summary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3402449" y="5000506"/>
            <a:ext cx="1909882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£882M</a:t>
            </a:r>
            <a:endParaRPr lang="en-US" sz="2550" dirty="0"/>
          </a:p>
        </p:txBody>
      </p:sp>
      <p:sp>
        <p:nvSpPr>
          <p:cNvPr id="35" name="Text 33"/>
          <p:cNvSpPr/>
          <p:nvPr/>
        </p:nvSpPr>
        <p:spPr>
          <a:xfrm>
            <a:off x="3737134" y="5414605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Total Company Impact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402449" y="5599390"/>
            <a:ext cx="1909882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Recognized costs + revenue loss + supply chain support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374243" y="5000506"/>
            <a:ext cx="191000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£1.9B</a:t>
            </a:r>
            <a:endParaRPr lang="en-US" sz="2550" dirty="0"/>
          </a:p>
        </p:txBody>
      </p:sp>
      <p:sp>
        <p:nvSpPr>
          <p:cNvPr id="38" name="Text 36"/>
          <p:cNvSpPr/>
          <p:nvPr/>
        </p:nvSpPr>
        <p:spPr>
          <a:xfrm>
            <a:off x="5709047" y="5414605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UK Economic Impact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374243" y="5599390"/>
            <a:ext cx="1910001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CMC estimate across 5,000+ affected businesses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346156" y="5000506"/>
            <a:ext cx="1909882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27%</a:t>
            </a:r>
            <a:endParaRPr lang="en-US" sz="2550" dirty="0"/>
          </a:p>
        </p:txBody>
      </p:sp>
      <p:sp>
        <p:nvSpPr>
          <p:cNvPr id="41" name="Text 39"/>
          <p:cNvSpPr/>
          <p:nvPr/>
        </p:nvSpPr>
        <p:spPr>
          <a:xfrm>
            <a:off x="7679055" y="5414605"/>
            <a:ext cx="1244084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UK Car Production Drop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346156" y="5599390"/>
            <a:ext cx="1909882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September 2025 — worst since 1952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9317950" y="5000506"/>
            <a:ext cx="191000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£1.5B</a:t>
            </a:r>
            <a:endParaRPr lang="en-US" sz="2550" dirty="0"/>
          </a:p>
        </p:txBody>
      </p:sp>
      <p:sp>
        <p:nvSpPr>
          <p:cNvPr id="44" name="Text 42"/>
          <p:cNvSpPr/>
          <p:nvPr/>
        </p:nvSpPr>
        <p:spPr>
          <a:xfrm>
            <a:off x="9652754" y="5414605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Government Guarantee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317950" y="5599390"/>
            <a:ext cx="1910001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UK Export Finance loan to stabilize supply chain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402449" y="5911691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Lessons Learned</a:t>
            </a:r>
            <a:endParaRPr lang="en-US" sz="1550" dirty="0"/>
          </a:p>
        </p:txBody>
      </p:sp>
      <p:sp>
        <p:nvSpPr>
          <p:cNvPr id="47" name="Shape 45"/>
          <p:cNvSpPr/>
          <p:nvPr/>
        </p:nvSpPr>
        <p:spPr>
          <a:xfrm>
            <a:off x="3402449" y="6234113"/>
            <a:ext cx="1919168" cy="1008340"/>
          </a:xfrm>
          <a:prstGeom prst="roundRect">
            <a:avLst>
              <a:gd name="adj" fmla="val 7255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387209" y="6234113"/>
            <a:ext cx="60960" cy="1008340"/>
          </a:xfrm>
          <a:prstGeom prst="roundRect">
            <a:avLst>
              <a:gd name="adj" fmla="val 24419"/>
            </a:avLst>
          </a:prstGeom>
          <a:solidFill>
            <a:srgbClr val="00674F"/>
          </a:solidFill>
          <a:ln/>
        </p:spPr>
      </p:sp>
      <p:sp>
        <p:nvSpPr>
          <p:cNvPr id="49" name="Text 47"/>
          <p:cNvSpPr/>
          <p:nvPr/>
        </p:nvSpPr>
        <p:spPr>
          <a:xfrm>
            <a:off x="3562588" y="6348532"/>
            <a:ext cx="1371957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IT/OT Convergence Failure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562588" y="6533317"/>
            <a:ext cx="1644610" cy="475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Manufacturing fully dependent on IT — single point of failure with no graceful degradation. Binary shutdown decision required.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371148" y="6234113"/>
            <a:ext cx="1919288" cy="1008340"/>
          </a:xfrm>
          <a:prstGeom prst="roundRect">
            <a:avLst>
              <a:gd name="adj" fmla="val 7255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55907" y="6234113"/>
            <a:ext cx="60960" cy="1008340"/>
          </a:xfrm>
          <a:prstGeom prst="roundRect">
            <a:avLst>
              <a:gd name="adj" fmla="val 24419"/>
            </a:avLst>
          </a:prstGeom>
          <a:solidFill>
            <a:srgbClr val="00674F"/>
          </a:solidFill>
          <a:ln/>
        </p:spPr>
      </p:sp>
      <p:sp>
        <p:nvSpPr>
          <p:cNvPr id="53" name="Text 51"/>
          <p:cNvSpPr/>
          <p:nvPr/>
        </p:nvSpPr>
        <p:spPr>
          <a:xfrm>
            <a:off x="5531287" y="6348532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Supply Chain Cascade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531287" y="6533317"/>
            <a:ext cx="1644729" cy="594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5,000+ organizations affected. £156M direct supplier support + £1.5B government guarantee required to prevent economic contagion.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339965" y="6234113"/>
            <a:ext cx="1919168" cy="1008340"/>
          </a:xfrm>
          <a:prstGeom prst="roundRect">
            <a:avLst>
              <a:gd name="adj" fmla="val 7255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24725" y="6234113"/>
            <a:ext cx="60960" cy="1008340"/>
          </a:xfrm>
          <a:prstGeom prst="roundRect">
            <a:avLst>
              <a:gd name="adj" fmla="val 24419"/>
            </a:avLst>
          </a:prstGeom>
          <a:solidFill>
            <a:srgbClr val="00674F"/>
          </a:solidFill>
          <a:ln/>
        </p:spPr>
      </p:sp>
      <p:sp>
        <p:nvSpPr>
          <p:cNvPr id="57" name="Text 55"/>
          <p:cNvSpPr/>
          <p:nvPr/>
        </p:nvSpPr>
        <p:spPr>
          <a:xfrm>
            <a:off x="7500104" y="6348532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Insurance Gap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500104" y="6533317"/>
            <a:ext cx="1644610" cy="594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Reportedly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active cyber insurance policy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at time of attack. Failed finalization attempts indicate market capacity constraints for automotive risk.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9308663" y="6234113"/>
            <a:ext cx="1919288" cy="1008340"/>
          </a:xfrm>
          <a:prstGeom prst="roundRect">
            <a:avLst>
              <a:gd name="adj" fmla="val 7255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293423" y="6234113"/>
            <a:ext cx="60960" cy="1008340"/>
          </a:xfrm>
          <a:prstGeom prst="roundRect">
            <a:avLst>
              <a:gd name="adj" fmla="val 24419"/>
            </a:avLst>
          </a:prstGeom>
          <a:solidFill>
            <a:srgbClr val="00674F"/>
          </a:solidFill>
          <a:ln/>
        </p:spPr>
      </p:sp>
      <p:sp>
        <p:nvSpPr>
          <p:cNvPr id="61" name="Text 59"/>
          <p:cNvSpPr/>
          <p:nvPr/>
        </p:nvSpPr>
        <p:spPr>
          <a:xfrm>
            <a:off x="9468802" y="6348532"/>
            <a:ext cx="1609368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Governance Elevation Required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9468802" y="6533317"/>
            <a:ext cx="1644729" cy="594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Board-level cyber risk committee with CEO accountability. Pre-negotiated government intervention frameworks and structured supplier notification protocols.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2449" y="1172408"/>
            <a:ext cx="535305" cy="154781"/>
          </a:xfrm>
          <a:prstGeom prst="roundRect">
            <a:avLst>
              <a:gd name="adj" fmla="val 7694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3461980" y="1202174"/>
            <a:ext cx="416243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CHAPTER 5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3987284" y="1202174"/>
            <a:ext cx="1296353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MITIGATION &amp; RECOMMENDATIONS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402449" y="1346954"/>
            <a:ext cx="536245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Mitigation Strategies &amp; Implementation Framework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402449" y="1731526"/>
            <a:ext cx="7825502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Evidence-based cybersecurity approaches for the automotive sector, with ROI benchmarked against demonstrated incident costs. JLR's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£50M/week downtime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provides compelling justification for proactive investment.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402449" y="2043827"/>
            <a:ext cx="285297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Implementation Metrics Summary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3402449" y="2366248"/>
            <a:ext cx="7825502" cy="1296472"/>
          </a:xfrm>
          <a:prstGeom prst="roundRect">
            <a:avLst>
              <a:gd name="adj" fmla="val 114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069" y="2373868"/>
            <a:ext cx="7810262" cy="1937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509605" y="2411254"/>
            <a:ext cx="151602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Strategy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231606" y="2411254"/>
            <a:ext cx="119979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Effectiveness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637377" y="2411254"/>
            <a:ext cx="135600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Cost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199358" y="2411254"/>
            <a:ext cx="119979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ROI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9605129" y="2411254"/>
            <a:ext cx="151602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Priority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410069" y="2567583"/>
            <a:ext cx="7810262" cy="1937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509605" y="2604968"/>
            <a:ext cx="151602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Zero Trust IT/OT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231606" y="2604968"/>
            <a:ext cx="119979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60% risk reduction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637377" y="2604968"/>
            <a:ext cx="135600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$2-5M (mid-size OEM)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199358" y="2604968"/>
            <a:ext cx="119979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3:1 / 24 mo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605129" y="2604968"/>
            <a:ext cx="151602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CRITICAL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410069" y="2761298"/>
            <a:ext cx="7810262" cy="1937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509605" y="2798683"/>
            <a:ext cx="151602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 Threat Detection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231606" y="2798683"/>
            <a:ext cx="119979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25% incident reduction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637377" y="2798683"/>
            <a:ext cx="135600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$1-3M + $500K/yr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199358" y="2798683"/>
            <a:ext cx="119979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4:1 / 18 mo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9605129" y="2798683"/>
            <a:ext cx="151602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410069" y="2955012"/>
            <a:ext cx="7810262" cy="31265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509605" y="2992398"/>
            <a:ext cx="151602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Supply Chain Security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231606" y="2992398"/>
            <a:ext cx="1199793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40% supply chain risk reduction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637377" y="2992398"/>
            <a:ext cx="135600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$500K-1.5M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199358" y="2992398"/>
            <a:ext cx="119979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5:1 / 12 mo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605129" y="2992398"/>
            <a:ext cx="151602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CRITICAL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410069" y="3267670"/>
            <a:ext cx="7810262" cy="1937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509605" y="3305056"/>
            <a:ext cx="151602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SSDLC / ISO 21434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231606" y="3305056"/>
            <a:ext cx="119979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50% vulnerability reduction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637377" y="3305056"/>
            <a:ext cx="135600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10-15% dev overhead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199358" y="3305056"/>
            <a:ext cx="119979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6:1 / 24 mo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9605129" y="3305056"/>
            <a:ext cx="151602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410069" y="3461385"/>
            <a:ext cx="7810262" cy="1937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3509605" y="3498771"/>
            <a:ext cx="151602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OT Resilience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231606" y="3498771"/>
            <a:ext cx="119979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70% downtime reduction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637377" y="3498771"/>
            <a:ext cx="135600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$5-15M (major facilities)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8199358" y="3498771"/>
            <a:ext cx="119979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2:1 / 12 mo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9605129" y="3498771"/>
            <a:ext cx="151602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CRITICAL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402449" y="3737134"/>
            <a:ext cx="402395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Bank-Specific Risk Mitigation Recommendations</a:t>
            </a:r>
            <a:endParaRPr lang="en-US" sz="1550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2449" y="4059555"/>
            <a:ext cx="2608421" cy="396835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3501628" y="4505920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Due Diligence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3501628" y="4690705"/>
            <a:ext cx="2410063" cy="475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Mandatory cybersecurity assessment: IT/OT segmentation, insurance adequacy, supply chain risk.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Explicitly evaluate coverage gaps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JLR had no active policy.</a:t>
            </a:r>
            <a:endParaRPr lang="en-US" sz="750" dirty="0"/>
          </a:p>
        </p:txBody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870" y="4059555"/>
            <a:ext cx="2608540" cy="396835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6110049" y="4505920"/>
            <a:ext cx="1271826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Credit Risk Management</a:t>
            </a:r>
            <a:endParaRPr lang="en-US" sz="950" dirty="0"/>
          </a:p>
        </p:txBody>
      </p:sp>
      <p:sp>
        <p:nvSpPr>
          <p:cNvPr id="51" name="Text 47"/>
          <p:cNvSpPr/>
          <p:nvPr/>
        </p:nvSpPr>
        <p:spPr>
          <a:xfrm>
            <a:off x="6110049" y="4690705"/>
            <a:ext cx="2410182" cy="35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Cyber risk covenants, supply chain financing limits,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stress testing for Category 3+ scenarios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with cascade multiplier effects and extended recovery timelines.</a:t>
            </a:r>
            <a:endParaRPr lang="en-US" sz="750" dirty="0"/>
          </a:p>
        </p:txBody>
      </p:sp>
      <p:pic>
        <p:nvPicPr>
          <p:cNvPr id="5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411" y="4059555"/>
            <a:ext cx="2608421" cy="396835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8718590" y="4505920"/>
            <a:ext cx="140803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Portfolio &amp; ESG Integration</a:t>
            </a:r>
            <a:endParaRPr lang="en-US" sz="950" dirty="0"/>
          </a:p>
        </p:txBody>
      </p:sp>
      <p:sp>
        <p:nvSpPr>
          <p:cNvPr id="54" name="Text 49"/>
          <p:cNvSpPr/>
          <p:nvPr/>
        </p:nvSpPr>
        <p:spPr>
          <a:xfrm>
            <a:off x="8718590" y="4690705"/>
            <a:ext cx="2410063" cy="475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Board-level cyber accountability as governance factor. Valuation adjustments for cyber exposure.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Active engagement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on incident preparedness and recovery investment.</a:t>
            </a:r>
            <a:endParaRPr lang="en-US" sz="750" dirty="0"/>
          </a:p>
        </p:txBody>
      </p:sp>
      <p:sp>
        <p:nvSpPr>
          <p:cNvPr id="55" name="Text 50"/>
          <p:cNvSpPr/>
          <p:nvPr/>
        </p:nvSpPr>
        <p:spPr>
          <a:xfrm>
            <a:off x="3402449" y="5340072"/>
            <a:ext cx="2948702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Regulatory &amp; Standards Foundation</a:t>
            </a:r>
            <a:endParaRPr lang="en-US" sz="1550" dirty="0"/>
          </a:p>
        </p:txBody>
      </p:sp>
      <p:pic>
        <p:nvPicPr>
          <p:cNvPr id="56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02449" y="5662493"/>
            <a:ext cx="198358" cy="198358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3662720" y="5696545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UN R155/R156</a:t>
            </a:r>
            <a:endParaRPr lang="en-US" sz="950" dirty="0"/>
          </a:p>
        </p:txBody>
      </p:sp>
      <p:sp>
        <p:nvSpPr>
          <p:cNvPr id="58" name="Text 52"/>
          <p:cNvSpPr/>
          <p:nvPr/>
        </p:nvSpPr>
        <p:spPr>
          <a:xfrm>
            <a:off x="3662720" y="5881330"/>
            <a:ext cx="2306955" cy="475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Mandatory for new vehicle types since 2024. Cybersecurity management systems and software update governance.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Market access requirement — intensifying enforcement.</a:t>
            </a:r>
            <a:endParaRPr lang="en-US" sz="750" dirty="0"/>
          </a:p>
        </p:txBody>
      </p:sp>
      <p:pic>
        <p:nvPicPr>
          <p:cNvPr id="59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31587" y="5662493"/>
            <a:ext cx="198358" cy="198358"/>
          </a:xfrm>
          <a:prstGeom prst="rect">
            <a:avLst/>
          </a:prstGeom>
        </p:spPr>
      </p:pic>
      <p:sp>
        <p:nvSpPr>
          <p:cNvPr id="60" name="Text 53"/>
          <p:cNvSpPr/>
          <p:nvPr/>
        </p:nvSpPr>
        <p:spPr>
          <a:xfrm>
            <a:off x="6291858" y="5696545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ISO/SAE 21434</a:t>
            </a:r>
            <a:endParaRPr lang="en-US" sz="950" dirty="0"/>
          </a:p>
        </p:txBody>
      </p:sp>
      <p:sp>
        <p:nvSpPr>
          <p:cNvPr id="61" name="Text 54"/>
          <p:cNvSpPr/>
          <p:nvPr/>
        </p:nvSpPr>
        <p:spPr>
          <a:xfrm>
            <a:off x="6291858" y="5881330"/>
            <a:ext cx="2306955" cy="475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Road vehicle cybersecurity engineering standard. Becoming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procurement prerequisite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across Tier 1-3 suppliers. Contractual requirement in major OEM programs.</a:t>
            </a:r>
            <a:endParaRPr lang="en-US" sz="750" dirty="0"/>
          </a:p>
        </p:txBody>
      </p:sp>
      <p:pic>
        <p:nvPicPr>
          <p:cNvPr id="62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60725" y="5662493"/>
            <a:ext cx="198358" cy="198358"/>
          </a:xfrm>
          <a:prstGeom prst="rect">
            <a:avLst/>
          </a:prstGeom>
        </p:spPr>
      </p:pic>
      <p:sp>
        <p:nvSpPr>
          <p:cNvPr id="63" name="Text 55"/>
          <p:cNvSpPr/>
          <p:nvPr/>
        </p:nvSpPr>
        <p:spPr>
          <a:xfrm>
            <a:off x="8920996" y="5696545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EU Cyber Resilience Act</a:t>
            </a:r>
            <a:endParaRPr lang="en-US" sz="950" dirty="0"/>
          </a:p>
        </p:txBody>
      </p:sp>
      <p:sp>
        <p:nvSpPr>
          <p:cNvPr id="64" name="Text 56"/>
          <p:cNvSpPr/>
          <p:nvPr/>
        </p:nvSpPr>
        <p:spPr>
          <a:xfrm>
            <a:off x="8920996" y="5881330"/>
            <a:ext cx="2306955" cy="475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Phased implementation 2024-2027. Product security requirements and mandatory vulnerability disclosure.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Expanding scope with penalty escalation.</a:t>
            </a:r>
            <a:endParaRPr lang="en-US" sz="750" dirty="0"/>
          </a:p>
        </p:txBody>
      </p:sp>
      <p:sp>
        <p:nvSpPr>
          <p:cNvPr id="65" name="Shape 57"/>
          <p:cNvSpPr/>
          <p:nvPr/>
        </p:nvSpPr>
        <p:spPr>
          <a:xfrm>
            <a:off x="3402449" y="6412825"/>
            <a:ext cx="7825502" cy="644247"/>
          </a:xfrm>
          <a:prstGeom prst="roundRect">
            <a:avLst>
              <a:gd name="adj" fmla="val 2311"/>
            </a:avLst>
          </a:prstGeom>
          <a:solidFill>
            <a:srgbClr val="B3FFED"/>
          </a:solidFill>
          <a:ln/>
        </p:spPr>
      </p:sp>
      <p:pic>
        <p:nvPicPr>
          <p:cNvPr id="66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01628" y="6541413"/>
            <a:ext cx="123944" cy="99179"/>
          </a:xfrm>
          <a:prstGeom prst="rect">
            <a:avLst/>
          </a:prstGeom>
        </p:spPr>
      </p:pic>
      <p:sp>
        <p:nvSpPr>
          <p:cNvPr id="67" name="Text 58"/>
          <p:cNvSpPr/>
          <p:nvPr/>
        </p:nvSpPr>
        <p:spPr>
          <a:xfrm>
            <a:off x="3724751" y="6487120"/>
            <a:ext cx="7404021" cy="475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Executive Summary: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The automotive sector's cyber risk profile has fundamentally transformed. Ransomware dominance (44%), API attack surface explosion (67%), supply chain systemic risk (JLR: £1.9B), and cyber insurance market failure demand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mandatory cybersecurity due diligence, sectoral concentration limits, and Category 3+ stress testing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all EU financial institution automotive exposure. Investment priority: Zero-trust and supply chain security programs deliver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3-5:1 ROI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within 24 months.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2026-02-25T11:14:40Z</dcterms:created>
  <dcterms:modified xsi:type="dcterms:W3CDTF">2026-02-25T11:14:40Z</dcterms:modified>
</cp:coreProperties>
</file>