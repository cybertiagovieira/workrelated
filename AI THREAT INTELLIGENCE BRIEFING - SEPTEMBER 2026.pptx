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256000" cy="9144000"/>
  <p:notesSz cx="9144000" cy="16256000"/>
  <p:embeddedFontLst>
    <p:embeddedFont>
      <p:font typeface="Inter" charset="-122" pitchFamily="34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8000" y="304800"/>
            <a:ext cx="152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THREAT INTELLIGENCE BRIEFING - SEPTEMBER 2026</a:t>
            </a:r>
            <a:endParaRPr lang="en-US" sz="3200" dirty="0"/>
          </a:p>
        </p:txBody>
      </p:sp>
      <p:sp>
        <p:nvSpPr>
          <p:cNvPr id="3" name="title-rule"/>
          <p:cNvSpPr/>
          <p:nvPr/>
        </p:nvSpPr>
        <p:spPr>
          <a:xfrm>
            <a:off x="508000" y="927100"/>
            <a:ext cx="15240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4" name="summary-band"/>
          <p:cNvSpPr/>
          <p:nvPr/>
        </p:nvSpPr>
        <p:spPr>
          <a:xfrm>
            <a:off x="508000" y="1117600"/>
            <a:ext cx="15240000" cy="736600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5" name="summary-text"/>
          <p:cNvSpPr/>
          <p:nvPr/>
        </p:nvSpPr>
        <p:spPr>
          <a:xfrm>
            <a:off x="762000" y="1257300"/>
            <a:ext cx="147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2LoD conclusion: risk appetite requires proof of AI-gateway containment, service-impact-led remediation capacity and tested provider recovery before additional AI-enabled cyber or external ICT concentration exposure is accepted.</a:t>
            </a:r>
            <a:endParaRPr lang="en-US" sz="1800" dirty="0"/>
          </a:p>
        </p:txBody>
      </p:sp>
      <p:sp>
        <p:nvSpPr>
          <p:cNvPr id="6" name="events-head"/>
          <p:cNvSpPr/>
          <p:nvPr/>
        </p:nvSpPr>
        <p:spPr>
          <a:xfrm>
            <a:off x="508000" y="2108200"/>
            <a:ext cx="429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OF THE MONTH</a:t>
            </a:r>
            <a:endParaRPr lang="en-US" sz="1500" dirty="0"/>
          </a:p>
        </p:txBody>
      </p:sp>
      <p:sp>
        <p:nvSpPr>
          <p:cNvPr id="7" name="vector-head"/>
          <p:cNvSpPr/>
          <p:nvPr/>
        </p:nvSpPr>
        <p:spPr>
          <a:xfrm>
            <a:off x="5232400" y="2108200"/>
            <a:ext cx="393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AI RISK VECTOR</a:t>
            </a:r>
            <a:endParaRPr lang="en-US" sz="1500" dirty="0"/>
          </a:p>
        </p:txBody>
      </p:sp>
      <p:sp>
        <p:nvSpPr>
          <p:cNvPr id="8" name="exposure-head"/>
          <p:cNvSpPr/>
          <p:nvPr/>
        </p:nvSpPr>
        <p:spPr>
          <a:xfrm>
            <a:off x="9677400" y="2108200"/>
            <a:ext cx="607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SYSTEMIC EXPOSURE &amp; MATERIAL INCIDENTS</a:t>
            </a:r>
            <a:endParaRPr lang="en-US" sz="1500" dirty="0"/>
          </a:p>
        </p:txBody>
      </p:sp>
      <p:sp>
        <p:nvSpPr>
          <p:cNvPr id="9" name="head-rule-left"/>
          <p:cNvSpPr/>
          <p:nvPr/>
        </p:nvSpPr>
        <p:spPr>
          <a:xfrm>
            <a:off x="508000" y="2489200"/>
            <a:ext cx="42926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0" name="head-rule-centre"/>
          <p:cNvSpPr/>
          <p:nvPr/>
        </p:nvSpPr>
        <p:spPr>
          <a:xfrm>
            <a:off x="5232400" y="2489200"/>
            <a:ext cx="3937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1" name="head-rule-right"/>
          <p:cNvSpPr/>
          <p:nvPr/>
        </p:nvSpPr>
        <p:spPr>
          <a:xfrm>
            <a:off x="9677400" y="2489200"/>
            <a:ext cx="60706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2" name="divide-left"/>
          <p:cNvSpPr/>
          <p:nvPr/>
        </p:nvSpPr>
        <p:spPr>
          <a:xfrm>
            <a:off x="5003800" y="2108200"/>
            <a:ext cx="9144" cy="45466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3" name="divide-right"/>
          <p:cNvSpPr/>
          <p:nvPr/>
        </p:nvSpPr>
        <p:spPr>
          <a:xfrm>
            <a:off x="9448800" y="2108200"/>
            <a:ext cx="9144" cy="45466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4" name="event-one-date"/>
          <p:cNvSpPr/>
          <p:nvPr/>
        </p:nvSpPr>
        <p:spPr>
          <a:xfrm>
            <a:off x="508000" y="27051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SEP</a:t>
            </a:r>
            <a:endParaRPr lang="en-US" sz="1300" dirty="0"/>
          </a:p>
        </p:txBody>
      </p:sp>
      <p:sp>
        <p:nvSpPr>
          <p:cNvPr id="15" name="event-one"/>
          <p:cNvSpPr/>
          <p:nvPr/>
        </p:nvSpPr>
        <p:spPr>
          <a:xfrm>
            <a:off x="508000" y="2984500"/>
            <a:ext cx="4216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8"/>
              </a:lnSpc>
              <a:buNone/>
            </a:pPr>
            <a:r>
              <a:rPr lang="en-US" alt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Routine maintenance isolated part of a cloud region for 4 hours 11 minutes, affecting compute, data, API and security services.</a:t>
            </a:r>
            <a:endParaRPr lang="en-US" sz="1600" dirty="0"/>
          </a:p>
        </p:txBody>
      </p:sp>
      <p:sp>
        <p:nvSpPr>
          <p:cNvPr id="16" name="event-one-rule"/>
          <p:cNvSpPr/>
          <p:nvPr/>
        </p:nvSpPr>
        <p:spPr>
          <a:xfrm>
            <a:off x="508000" y="3949700"/>
            <a:ext cx="42164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7" name="event-two-date"/>
          <p:cNvSpPr/>
          <p:nvPr/>
        </p:nvSpPr>
        <p:spPr>
          <a:xfrm>
            <a:off x="508000" y="41021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SEP</a:t>
            </a:r>
            <a:endParaRPr lang="en-US" sz="1300" dirty="0"/>
          </a:p>
        </p:txBody>
      </p:sp>
      <p:sp>
        <p:nvSpPr>
          <p:cNvPr id="18" name="event-two"/>
          <p:cNvSpPr/>
          <p:nvPr/>
        </p:nvSpPr>
        <p:spPr>
          <a:xfrm>
            <a:off x="508000" y="4381500"/>
            <a:ext cx="4216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8"/>
              </a:lnSpc>
              <a:buNone/>
            </a:pPr>
            <a:r>
              <a:rPr lang="en-US" alt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AI-gateway MCP authentication bypass was listed as actively exploited, requiring immediate exposure assessment and remediation.</a:t>
            </a:r>
            <a:endParaRPr lang="en-US" sz="1600" dirty="0"/>
          </a:p>
        </p:txBody>
      </p:sp>
      <p:sp>
        <p:nvSpPr>
          <p:cNvPr id="19" name="event-two-rule"/>
          <p:cNvSpPr/>
          <p:nvPr/>
        </p:nvSpPr>
        <p:spPr>
          <a:xfrm>
            <a:off x="508000" y="5346700"/>
            <a:ext cx="42164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20" name="event-three-date"/>
          <p:cNvSpPr/>
          <p:nvPr/>
        </p:nvSpPr>
        <p:spPr>
          <a:xfrm>
            <a:off x="508000" y="54991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SEP</a:t>
            </a:r>
            <a:endParaRPr lang="en-US" sz="1300" dirty="0"/>
          </a:p>
        </p:txBody>
      </p:sp>
      <p:sp>
        <p:nvSpPr>
          <p:cNvPr id="21" name="event-three"/>
          <p:cNvSpPr/>
          <p:nvPr/>
        </p:nvSpPr>
        <p:spPr>
          <a:xfrm>
            <a:off x="508000" y="5778500"/>
            <a:ext cx="4216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8"/>
              </a:lnSpc>
              <a:buNone/>
            </a:pPr>
            <a:r>
              <a:rPr lang="en-US" alt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Supervisory data showed widespread AI use and concentrated external-provider reliance; banks were asked to reassess defences and submit action plans.</a:t>
            </a:r>
            <a:endParaRPr lang="en-US" sz="1600" dirty="0"/>
          </a:p>
        </p:txBody>
      </p:sp>
      <p:sp>
        <p:nvSpPr>
          <p:cNvPr id="22" name="chain-limit"/>
          <p:cNvSpPr/>
          <p:nvPr/>
        </p:nvSpPr>
        <p:spPr>
          <a:xfrm>
            <a:off x="5359400" y="2616200"/>
            <a:ext cx="368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END-TO-END PATH ESTABLISHED</a:t>
            </a:r>
            <a:endParaRPr lang="en-US" sz="1300" dirty="0"/>
          </a:p>
        </p:txBody>
      </p:sp>
      <p:sp>
        <p:nvSpPr>
          <p:cNvPr id="23" name="block-one"/>
          <p:cNvSpPr/>
          <p:nvPr/>
        </p:nvSpPr>
        <p:spPr>
          <a:xfrm>
            <a:off x="5359400" y="2984500"/>
            <a:ext cx="36830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block-one-label"/>
          <p:cNvSpPr/>
          <p:nvPr/>
        </p:nvSpPr>
        <p:spPr>
          <a:xfrm>
            <a:off x="5511800" y="3060700"/>
            <a:ext cx="3378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 / INTENT</a:t>
            </a:r>
            <a:endParaRPr lang="en-US" sz="1200" dirty="0"/>
          </a:p>
        </p:txBody>
      </p:sp>
      <p:sp>
        <p:nvSpPr>
          <p:cNvPr id="25" name="block-one-text"/>
          <p:cNvSpPr/>
          <p:nvPr/>
        </p:nvSpPr>
        <p:spPr>
          <a:xfrm>
            <a:off x="5511800" y="3276600"/>
            <a:ext cx="337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identified in retained evidence</a:t>
            </a:r>
            <a:endParaRPr lang="en-US" sz="1400" dirty="0"/>
          </a:p>
        </p:txBody>
      </p:sp>
      <p:sp>
        <p:nvSpPr>
          <p:cNvPr id="26" name="block-one-line"/>
          <p:cNvSpPr/>
          <p:nvPr/>
        </p:nvSpPr>
        <p:spPr>
          <a:xfrm>
            <a:off x="7200900" y="3556000"/>
            <a:ext cx="9144" cy="889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27" name="block-two"/>
          <p:cNvSpPr/>
          <p:nvPr/>
        </p:nvSpPr>
        <p:spPr>
          <a:xfrm>
            <a:off x="5359400" y="3644900"/>
            <a:ext cx="36830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block-two-label"/>
          <p:cNvSpPr/>
          <p:nvPr/>
        </p:nvSpPr>
        <p:spPr>
          <a:xfrm>
            <a:off x="5511800" y="3721100"/>
            <a:ext cx="3378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ENABLER OR INITIAL ACCESS</a:t>
            </a:r>
            <a:endParaRPr lang="en-US" sz="1200" dirty="0"/>
          </a:p>
        </p:txBody>
      </p:sp>
      <p:sp>
        <p:nvSpPr>
          <p:cNvPr id="29" name="block-two-text"/>
          <p:cNvSpPr/>
          <p:nvPr/>
        </p:nvSpPr>
        <p:spPr>
          <a:xfrm>
            <a:off x="5511800" y="3937000"/>
            <a:ext cx="337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authentication bypass in AI gateway</a:t>
            </a:r>
            <a:endParaRPr lang="en-US" sz="1400" dirty="0"/>
          </a:p>
        </p:txBody>
      </p:sp>
      <p:sp>
        <p:nvSpPr>
          <p:cNvPr id="30" name="block-two-line"/>
          <p:cNvSpPr/>
          <p:nvPr/>
        </p:nvSpPr>
        <p:spPr>
          <a:xfrm>
            <a:off x="7200900" y="4216400"/>
            <a:ext cx="9144" cy="889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31" name="block-three"/>
          <p:cNvSpPr/>
          <p:nvPr/>
        </p:nvSpPr>
        <p:spPr>
          <a:xfrm>
            <a:off x="5359400" y="4305300"/>
            <a:ext cx="36830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block-three-label"/>
          <p:cNvSpPr/>
          <p:nvPr/>
        </p:nvSpPr>
        <p:spPr>
          <a:xfrm>
            <a:off x="5511800" y="4381500"/>
            <a:ext cx="3378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EXPLOITATION / PIVOT</a:t>
            </a:r>
            <a:endParaRPr lang="en-US" sz="1200" dirty="0"/>
          </a:p>
        </p:txBody>
      </p:sp>
      <p:sp>
        <p:nvSpPr>
          <p:cNvPr id="33" name="block-three-text"/>
          <p:cNvSpPr/>
          <p:nvPr/>
        </p:nvSpPr>
        <p:spPr>
          <a:xfrm>
            <a:off x="5511800" y="4597400"/>
            <a:ext cx="337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primary record links access to pivot</a:t>
            </a:r>
            <a:endParaRPr lang="en-US" sz="1400" dirty="0"/>
          </a:p>
        </p:txBody>
      </p:sp>
      <p:sp>
        <p:nvSpPr>
          <p:cNvPr id="34" name="block-three-line"/>
          <p:cNvSpPr/>
          <p:nvPr/>
        </p:nvSpPr>
        <p:spPr>
          <a:xfrm>
            <a:off x="7200900" y="4876800"/>
            <a:ext cx="9144" cy="889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35" name="block-four"/>
          <p:cNvSpPr/>
          <p:nvPr/>
        </p:nvSpPr>
        <p:spPr>
          <a:xfrm>
            <a:off x="5359400" y="4965700"/>
            <a:ext cx="36830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block-four-label"/>
          <p:cNvSpPr/>
          <p:nvPr/>
        </p:nvSpPr>
        <p:spPr>
          <a:xfrm>
            <a:off x="5511800" y="5041900"/>
            <a:ext cx="3378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COMPROMISE</a:t>
            </a:r>
            <a:endParaRPr lang="en-US" sz="1200" dirty="0"/>
          </a:p>
        </p:txBody>
      </p:sp>
      <p:sp>
        <p:nvSpPr>
          <p:cNvPr id="37" name="block-four-text"/>
          <p:cNvSpPr/>
          <p:nvPr/>
        </p:nvSpPr>
        <p:spPr>
          <a:xfrm>
            <a:off x="5511800" y="5257800"/>
            <a:ext cx="337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French or EU bank impact established</a:t>
            </a:r>
            <a:endParaRPr lang="en-US" sz="1400" dirty="0"/>
          </a:p>
        </p:txBody>
      </p:sp>
      <p:sp>
        <p:nvSpPr>
          <p:cNvPr id="38" name="block-four-line"/>
          <p:cNvSpPr/>
          <p:nvPr/>
        </p:nvSpPr>
        <p:spPr>
          <a:xfrm>
            <a:off x="7200900" y="5537200"/>
            <a:ext cx="9144" cy="889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39" name="block-five"/>
          <p:cNvSpPr/>
          <p:nvPr/>
        </p:nvSpPr>
        <p:spPr>
          <a:xfrm>
            <a:off x="5359400" y="5626100"/>
            <a:ext cx="3683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40" name="block-five-label"/>
          <p:cNvSpPr/>
          <p:nvPr/>
        </p:nvSpPr>
        <p:spPr>
          <a:xfrm>
            <a:off x="5511800" y="5702300"/>
            <a:ext cx="3378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&amp; REGULATORY IMPACT</a:t>
            </a:r>
            <a:endParaRPr lang="en-US" sz="1200" dirty="0"/>
          </a:p>
        </p:txBody>
      </p:sp>
      <p:sp>
        <p:nvSpPr>
          <p:cNvPr id="41" name="block-five-text"/>
          <p:cNvSpPr/>
          <p:nvPr/>
        </p:nvSpPr>
        <p:spPr>
          <a:xfrm>
            <a:off x="5511800" y="5918200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sector-wide loss established - prevention remains the focus</a:t>
            </a:r>
            <a:endParaRPr lang="en-US" sz="1400" dirty="0"/>
          </a:p>
        </p:txBody>
      </p:sp>
      <p:sp>
        <p:nvSpPr>
          <p:cNvPr id="42" name="dependency-head"/>
          <p:cNvSpPr/>
          <p:nvPr/>
        </p:nvSpPr>
        <p:spPr>
          <a:xfrm>
            <a:off x="9677400" y="2679700"/>
            <a:ext cx="584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DEPENDENCY</a:t>
            </a:r>
            <a:endParaRPr lang="en-US" sz="1300" dirty="0"/>
          </a:p>
        </p:txBody>
      </p:sp>
      <p:sp>
        <p:nvSpPr>
          <p:cNvPr id="43" name="dependency-text"/>
          <p:cNvSpPr/>
          <p:nvPr/>
        </p:nvSpPr>
        <p:spPr>
          <a:xfrm>
            <a:off x="9677400" y="2959100"/>
            <a:ext cx="584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8"/>
              </a:lnSpc>
              <a:buNone/>
            </a:pPr>
            <a:r>
              <a:rPr lang="en-US" alt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 and payment concentration can couple a regional disruption to bank services, limiting substitutability.</a:t>
            </a:r>
            <a:endParaRPr lang="en-US" sz="1600" dirty="0"/>
          </a:p>
        </p:txBody>
      </p:sp>
      <p:sp>
        <p:nvSpPr>
          <p:cNvPr id="44" name="dependency-rule"/>
          <p:cNvSpPr/>
          <p:nvPr/>
        </p:nvSpPr>
        <p:spPr>
          <a:xfrm>
            <a:off x="9677400" y="3784600"/>
            <a:ext cx="584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45" name="cloud-head"/>
          <p:cNvSpPr/>
          <p:nvPr/>
        </p:nvSpPr>
        <p:spPr>
          <a:xfrm>
            <a:off x="9677400" y="3949700"/>
            <a:ext cx="584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SERVICE CONTINUITY</a:t>
            </a:r>
            <a:endParaRPr lang="en-US" sz="1300" dirty="0"/>
          </a:p>
        </p:txBody>
      </p:sp>
      <p:sp>
        <p:nvSpPr>
          <p:cNvPr id="46" name="cloud-text"/>
          <p:cNvSpPr/>
          <p:nvPr/>
        </p:nvSpPr>
        <p:spPr>
          <a:xfrm>
            <a:off x="9677400" y="4229100"/>
            <a:ext cx="584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8"/>
              </a:lnSpc>
              <a:buNone/>
            </a:pPr>
            <a:r>
              <a:rPr lang="en-US" alt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provider maintenance error impaired compute, data, APIs and security operations together in a cloud region.</a:t>
            </a:r>
            <a:endParaRPr lang="en-US" sz="1600" dirty="0"/>
          </a:p>
        </p:txBody>
      </p:sp>
      <p:sp>
        <p:nvSpPr>
          <p:cNvPr id="47" name="cloud-rule"/>
          <p:cNvSpPr/>
          <p:nvPr/>
        </p:nvSpPr>
        <p:spPr>
          <a:xfrm>
            <a:off x="9677400" y="5054600"/>
            <a:ext cx="584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48" name="adoption-head"/>
          <p:cNvSpPr/>
          <p:nvPr/>
        </p:nvSpPr>
        <p:spPr>
          <a:xfrm>
            <a:off x="9677400" y="5219700"/>
            <a:ext cx="584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USE AT SCALE</a:t>
            </a:r>
            <a:endParaRPr lang="en-US" sz="1300" dirty="0"/>
          </a:p>
        </p:txBody>
      </p:sp>
      <p:sp>
        <p:nvSpPr>
          <p:cNvPr id="49" name="adoption-text"/>
          <p:cNvSpPr/>
          <p:nvPr/>
        </p:nvSpPr>
        <p:spPr>
          <a:xfrm>
            <a:off x="9677400" y="5499100"/>
            <a:ext cx="584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8"/>
              </a:lnSpc>
              <a:buNone/>
            </a:pPr>
            <a:r>
              <a:rPr lang="en-US" alt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than 90% of directly supervised banks use AI; two-thirds work with external providers in concentrated markets.</a:t>
            </a:r>
            <a:endParaRPr lang="en-US" sz="1600" dirty="0"/>
          </a:p>
        </p:txBody>
      </p:sp>
      <p:sp>
        <p:nvSpPr>
          <p:cNvPr id="50" name="adoption-rule"/>
          <p:cNvSpPr/>
          <p:nvPr/>
        </p:nvSpPr>
        <p:spPr>
          <a:xfrm>
            <a:off x="9677400" y="6235700"/>
            <a:ext cx="584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51" name="evidence-gap"/>
          <p:cNvSpPr/>
          <p:nvPr/>
        </p:nvSpPr>
        <p:spPr>
          <a:xfrm>
            <a:off x="9677400" y="636270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limit: no French bank incident, internal control failure or sector-wide loss was established.</a:t>
            </a:r>
            <a:endParaRPr lang="en-US" sz="1300" dirty="0"/>
          </a:p>
        </p:txBody>
      </p:sp>
      <p:sp>
        <p:nvSpPr>
          <p:cNvPr id="52" name="bottom-rule"/>
          <p:cNvSpPr/>
          <p:nvPr/>
        </p:nvSpPr>
        <p:spPr>
          <a:xfrm>
            <a:off x="508000" y="6908800"/>
            <a:ext cx="15240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53" name="actions-head"/>
          <p:cNvSpPr/>
          <p:nvPr/>
        </p:nvSpPr>
        <p:spPr>
          <a:xfrm>
            <a:off x="508000" y="70739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 GUIDANCE</a:t>
            </a:r>
            <a:endParaRPr lang="en-US" sz="1500" dirty="0"/>
          </a:p>
        </p:txBody>
      </p:sp>
      <p:sp>
        <p:nvSpPr>
          <p:cNvPr id="54" name="actions-top"/>
          <p:cNvSpPr/>
          <p:nvPr/>
        </p:nvSpPr>
        <p:spPr>
          <a:xfrm>
            <a:off x="508000" y="7442200"/>
            <a:ext cx="15240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55" name="actions-divide-one"/>
          <p:cNvSpPr/>
          <p:nvPr/>
        </p:nvSpPr>
        <p:spPr>
          <a:xfrm>
            <a:off x="5588000" y="7442200"/>
            <a:ext cx="9144" cy="12700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56" name="actions-divide-two"/>
          <p:cNvSpPr/>
          <p:nvPr/>
        </p:nvSpPr>
        <p:spPr>
          <a:xfrm>
            <a:off x="10668000" y="7442200"/>
            <a:ext cx="9144" cy="12700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57" name="action-one-head"/>
          <p:cNvSpPr/>
          <p:nvPr/>
        </p:nvSpPr>
        <p:spPr>
          <a:xfrm>
            <a:off x="508000" y="7607300"/>
            <a:ext cx="469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EXPOSED GATEWAYS</a:t>
            </a:r>
            <a:endParaRPr lang="en-US" sz="1300" dirty="0"/>
          </a:p>
        </p:txBody>
      </p:sp>
      <p:sp>
        <p:nvSpPr>
          <p:cNvPr id="58" name="action-one"/>
          <p:cNvSpPr/>
          <p:nvPr/>
        </p:nvSpPr>
        <p:spPr>
          <a:xfrm>
            <a:off x="508000" y="7899400"/>
            <a:ext cx="469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altLang="en-US" sz="15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internet-facing AI gateways and MCP tools; patch or block vulnerable routes; rotate exposed provider keys.</a:t>
            </a:r>
            <a:endParaRPr lang="en-US" sz="1500" dirty="0"/>
          </a:p>
        </p:txBody>
      </p:sp>
      <p:sp>
        <p:nvSpPr>
          <p:cNvPr id="59" name="action-two-head"/>
          <p:cNvSpPr/>
          <p:nvPr/>
        </p:nvSpPr>
        <p:spPr>
          <a:xfrm>
            <a:off x="5969000" y="7607300"/>
            <a:ext cx="431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CLOSURE CAPACITY</a:t>
            </a:r>
            <a:endParaRPr lang="en-US" sz="1300" dirty="0"/>
          </a:p>
        </p:txBody>
      </p:sp>
      <p:sp>
        <p:nvSpPr>
          <p:cNvPr id="60" name="action-two"/>
          <p:cNvSpPr/>
          <p:nvPr/>
        </p:nvSpPr>
        <p:spPr>
          <a:xfrm>
            <a:off x="5969000" y="7899400"/>
            <a:ext cx="431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altLang="en-US" sz="15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discovery-to-closure capacity by important service; prioritise exploitable chains; rehearse safe emergency change.</a:t>
            </a:r>
            <a:endParaRPr lang="en-US" sz="1500" dirty="0"/>
          </a:p>
        </p:txBody>
      </p:sp>
      <p:sp>
        <p:nvSpPr>
          <p:cNvPr id="61" name="action-three-head"/>
          <p:cNvSpPr/>
          <p:nvPr/>
        </p:nvSpPr>
        <p:spPr>
          <a:xfrm>
            <a:off x="11049000" y="7607300"/>
            <a:ext cx="431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DEPENDENCY RECOVERY</a:t>
            </a:r>
            <a:endParaRPr lang="en-US" sz="1300" dirty="0"/>
          </a:p>
        </p:txBody>
      </p:sp>
      <p:sp>
        <p:nvSpPr>
          <p:cNvPr id="62" name="action-three"/>
          <p:cNvSpPr/>
          <p:nvPr/>
        </p:nvSpPr>
        <p:spPr>
          <a:xfrm>
            <a:off x="11049000" y="7899400"/>
            <a:ext cx="431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altLang="en-US" sz="15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zonal and provider loss for payment, fraud and customer services; evidence fallback, manual workarounds and recovery.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THREAT INTELLIGENCE BRIEFING - SEPTEMBER 2026</dc:title>
  <dc:subject>AI THREAT INTELLIGENCE BRIEFING - SEPTEMBER 2026</dc:subject>
  <dc:creator>Manus</dc:creator>
  <cp:lastModifiedBy>Manus</cp:lastModifiedBy>
  <cp:revision>1</cp:revision>
  <dcterms:created xsi:type="dcterms:W3CDTF">2026-10-09T09:45:01Z</dcterms:created>
  <dcterms:modified xsi:type="dcterms:W3CDTF">2026-10-09T09:45:01Z</dcterms:modified>
</cp:coreProperties>
</file>