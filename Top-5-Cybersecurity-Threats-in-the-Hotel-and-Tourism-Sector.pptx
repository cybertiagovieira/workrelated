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Crimson Pro Semi Bold"/>
      <p:regular r:id="rId12"/>
    </p:embeddedFon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Heebo"/>
      <p:regular r:id="rId16"/>
    </p:embeddedFont>
    <p:embeddedFont>
      <p:font typeface="Heebo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0105"/>
            <a:ext cx="885301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Top 5 Cybersecurity Threats in the Hotel &amp; Tourism Sector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492448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hospitality industry faces an escalating threat landscape — from AI-driven social engineering to ransomware syndicates. Understanding these vectors is the first step toward resilient defense.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93790" y="1794748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030" y="1809988"/>
            <a:ext cx="589717" cy="854035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993338" y="2098834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94473" y="1957388"/>
            <a:ext cx="367164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AI-Powered Phishing &amp; Synthetic Identity Fraud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94473" y="2245162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LLMs generate hyper-personalized, multilingual phishing campaigns with voice and video deepfakes to bypass identity verification at scale.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3790" y="2774990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030" y="2790230"/>
            <a:ext cx="589717" cy="854035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93338" y="307907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94473" y="2937629"/>
            <a:ext cx="343638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Ransomware-as-a-Service &amp; Multi-Extortion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94473" y="3225403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"Triple extortion" syndicates encrypt systems, threaten guest data release, and launch DDoS attacks simultaneously to compel payment.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3790" y="3755231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030" y="3770471"/>
            <a:ext cx="589717" cy="854035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993338" y="4059317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94473" y="3917871"/>
            <a:ext cx="351805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IoT &amp; Smart Room Infrastructure Exploitation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94473" y="4205645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Smart thermostats, connected lighting, and digital signage introduce thousands of unmanaged, unpatched endpoints as lateral movement vectors.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3790" y="4735473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030" y="4750713"/>
            <a:ext cx="589717" cy="854035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993338" y="5039558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94473" y="4898112"/>
            <a:ext cx="372677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&amp; Third-Party Vendor Compromise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94473" y="5185886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Vulnerabilities in reservation platforms and payment processors now account for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30%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hospitality breaches — doubled in recent years.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3790" y="5715714"/>
            <a:ext cx="13042821" cy="88451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030" y="5730954"/>
            <a:ext cx="589717" cy="854035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993338" y="6019800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94473" y="587835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Logic Attacks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94473" y="6166128"/>
            <a:ext cx="1217949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bots manipulate booking engines and loyalty platforms, executing fraudulent reservations and exfiltrating reward points for dark web monetization.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3790" y="6707981"/>
            <a:ext cx="13042821" cy="681514"/>
          </a:xfrm>
          <a:prstGeom prst="roundRect">
            <a:avLst>
              <a:gd name="adj" fmla="val 3245"/>
            </a:avLst>
          </a:prstGeom>
          <a:solidFill>
            <a:srgbClr val="B3FFED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189" y="6900267"/>
            <a:ext cx="184190" cy="14739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72778" y="6840498"/>
            <a:ext cx="12416433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Vulnerability: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systemic "cultural conflict" exists between service-first hospitality culture and zero-trust security rigor — making social engineering highly effective. Legacy PMS systems sharing infrastructure with guest Wi-Fi and POS networks, plus uncontrolled "Shadow AI" usage, compound the exposure.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330" y="798314"/>
            <a:ext cx="5638681" cy="42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of a Hospitality Breach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735330" y="1389340"/>
            <a:ext cx="1675448" cy="221933"/>
          </a:xfrm>
          <a:prstGeom prst="roundRect">
            <a:avLst>
              <a:gd name="adj" fmla="val 7384"/>
            </a:avLst>
          </a:prstGeom>
          <a:solidFill>
            <a:srgbClr val="CCFFF3"/>
          </a:solidFill>
          <a:ln/>
        </p:spPr>
      </p:sp>
      <p:sp>
        <p:nvSpPr>
          <p:cNvPr id="4" name="Text 2"/>
          <p:cNvSpPr/>
          <p:nvPr/>
        </p:nvSpPr>
        <p:spPr>
          <a:xfrm>
            <a:off x="817245" y="1430298"/>
            <a:ext cx="1511618" cy="14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COST PER INCIDENT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877854" y="1771888"/>
            <a:ext cx="4243388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$4.03M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3064193" y="2352318"/>
            <a:ext cx="187071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Global Hospitality Average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5330" y="2614970"/>
            <a:ext cx="65284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data breach incident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09040" y="1771888"/>
            <a:ext cx="4243507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$10.22M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9777293" y="2352318"/>
            <a:ext cx="170699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U.S. Hospitality Average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6516" y="2614970"/>
            <a:ext cx="65285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Driven by regulatory penalties and litigation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5330" y="2882384"/>
            <a:ext cx="3228261" cy="954405"/>
          </a:xfrm>
          <a:prstGeom prst="roundRect">
            <a:avLst>
              <a:gd name="adj" fmla="val 766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0090" y="2882384"/>
            <a:ext cx="60960" cy="954405"/>
          </a:xfrm>
          <a:prstGeom prst="roundRect">
            <a:avLst>
              <a:gd name="adj" fmla="val 33603"/>
            </a:avLst>
          </a:prstGeom>
          <a:solidFill>
            <a:srgbClr val="00674F"/>
          </a:solidFill>
          <a:ln/>
        </p:spPr>
      </p:sp>
      <p:sp>
        <p:nvSpPr>
          <p:cNvPr id="13" name="Text 11"/>
          <p:cNvSpPr/>
          <p:nvPr/>
        </p:nvSpPr>
        <p:spPr>
          <a:xfrm>
            <a:off x="932736" y="3034070"/>
            <a:ext cx="2557701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$1.47M</a:t>
            </a:r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— Detection &amp; Containment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736" y="3296722"/>
            <a:ext cx="2879169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Forensic investigations, legal triage, crisis management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45744" y="2882384"/>
            <a:ext cx="3228380" cy="954405"/>
          </a:xfrm>
          <a:prstGeom prst="roundRect">
            <a:avLst>
              <a:gd name="adj" fmla="val 766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30504" y="2882384"/>
            <a:ext cx="60960" cy="954405"/>
          </a:xfrm>
          <a:prstGeom prst="roundRect">
            <a:avLst>
              <a:gd name="adj" fmla="val 33603"/>
            </a:avLst>
          </a:prstGeom>
          <a:solidFill>
            <a:srgbClr val="00674F"/>
          </a:solidFill>
          <a:ln/>
        </p:spPr>
      </p:sp>
      <p:sp>
        <p:nvSpPr>
          <p:cNvPr id="17" name="Text 15"/>
          <p:cNvSpPr/>
          <p:nvPr/>
        </p:nvSpPr>
        <p:spPr>
          <a:xfrm>
            <a:off x="4243149" y="3034070"/>
            <a:ext cx="170699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$1.31M</a:t>
            </a:r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— Notification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43149" y="3296722"/>
            <a:ext cx="28792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guest notification and identity monitoring logistics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56277" y="2882384"/>
            <a:ext cx="3228261" cy="954405"/>
          </a:xfrm>
          <a:prstGeom prst="roundRect">
            <a:avLst>
              <a:gd name="adj" fmla="val 766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41037" y="2882384"/>
            <a:ext cx="60960" cy="954405"/>
          </a:xfrm>
          <a:prstGeom prst="roundRect">
            <a:avLst>
              <a:gd name="adj" fmla="val 33603"/>
            </a:avLst>
          </a:prstGeom>
          <a:solidFill>
            <a:srgbClr val="00674F"/>
          </a:solidFill>
          <a:ln/>
        </p:spPr>
      </p:sp>
      <p:sp>
        <p:nvSpPr>
          <p:cNvPr id="21" name="Text 19"/>
          <p:cNvSpPr/>
          <p:nvPr/>
        </p:nvSpPr>
        <p:spPr>
          <a:xfrm>
            <a:off x="7553682" y="3034070"/>
            <a:ext cx="287916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$1.25M</a:t>
            </a:r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— Legal, Regulatory &amp; Remediation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53682" y="3510082"/>
            <a:ext cx="28791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GDPR penalties and intellectual property loss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666690" y="2882384"/>
            <a:ext cx="3228380" cy="954405"/>
          </a:xfrm>
          <a:prstGeom prst="roundRect">
            <a:avLst>
              <a:gd name="adj" fmla="val 766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51450" y="2882384"/>
            <a:ext cx="60960" cy="954405"/>
          </a:xfrm>
          <a:prstGeom prst="roundRect">
            <a:avLst>
              <a:gd name="adj" fmla="val 33603"/>
            </a:avLst>
          </a:prstGeom>
          <a:solidFill>
            <a:srgbClr val="00674F"/>
          </a:solidFill>
          <a:ln/>
        </p:spPr>
      </p:sp>
      <p:sp>
        <p:nvSpPr>
          <p:cNvPr id="25" name="Text 23"/>
          <p:cNvSpPr/>
          <p:nvPr/>
        </p:nvSpPr>
        <p:spPr>
          <a:xfrm>
            <a:off x="10864096" y="3034070"/>
            <a:ext cx="263271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$1.47M</a:t>
            </a:r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— Lost Business &amp; Downtime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864096" y="3296722"/>
            <a:ext cx="28792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Booking paralysis and churn; up to </a:t>
            </a:r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$125,000/hour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operational downtime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5330" y="3929182"/>
            <a:ext cx="2220992" cy="237173"/>
          </a:xfrm>
          <a:prstGeom prst="roundRect">
            <a:avLst>
              <a:gd name="adj" fmla="val 6910"/>
            </a:avLst>
          </a:prstGeom>
          <a:noFill/>
          <a:ln w="7620">
            <a:solidFill>
              <a:srgbClr val="0067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865" y="3977759"/>
            <a:ext cx="2041922" cy="14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HOTEL &amp; TOURISM VS. GLOBAL AVERAGE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5330" y="4258747"/>
            <a:ext cx="1113902" cy="198942"/>
          </a:xfrm>
          <a:prstGeom prst="roundRect">
            <a:avLst>
              <a:gd name="adj" fmla="val 64348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21" y="4302940"/>
            <a:ext cx="110555" cy="11055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47228" y="4286385"/>
            <a:ext cx="837514" cy="143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Hotel &amp; Tourism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1922936" y="4258747"/>
            <a:ext cx="1064670" cy="198942"/>
          </a:xfrm>
          <a:prstGeom prst="roundRect">
            <a:avLst>
              <a:gd name="adj" fmla="val 64348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426" y="4302940"/>
            <a:ext cx="110555" cy="11055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134833" y="4286385"/>
            <a:ext cx="788282" cy="143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Global Average</a:t>
            </a:r>
            <a:endParaRPr lang="en-US" sz="7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" y="4549818"/>
            <a:ext cx="12976859" cy="2901069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1709989" y="4820592"/>
            <a:ext cx="229315" cy="1750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172</a:t>
            </a:r>
            <a:endParaRPr lang="en-US" sz="650" dirty="0"/>
          </a:p>
        </p:txBody>
      </p:sp>
      <p:sp>
        <p:nvSpPr>
          <p:cNvPr id="37" name="Text 32"/>
          <p:cNvSpPr/>
          <p:nvPr/>
        </p:nvSpPr>
        <p:spPr>
          <a:xfrm>
            <a:off x="12989828" y="5046021"/>
            <a:ext cx="229316" cy="1750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194</a:t>
            </a:r>
            <a:endParaRPr lang="en-US" sz="650" dirty="0"/>
          </a:p>
        </p:txBody>
      </p:sp>
      <p:sp>
        <p:nvSpPr>
          <p:cNvPr id="38" name="Text 33"/>
          <p:cNvSpPr/>
          <p:nvPr/>
        </p:nvSpPr>
        <p:spPr>
          <a:xfrm>
            <a:off x="4749080" y="5421737"/>
            <a:ext cx="171303" cy="1750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52</a:t>
            </a:r>
            <a:endParaRPr lang="en-US" sz="650" dirty="0"/>
          </a:p>
        </p:txBody>
      </p:sp>
      <p:sp>
        <p:nvSpPr>
          <p:cNvPr id="39" name="Text 34"/>
          <p:cNvSpPr/>
          <p:nvPr/>
        </p:nvSpPr>
        <p:spPr>
          <a:xfrm>
            <a:off x="5446834" y="5647166"/>
            <a:ext cx="171303" cy="1750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64</a:t>
            </a:r>
            <a:endParaRPr lang="en-US" sz="650" dirty="0"/>
          </a:p>
        </p:txBody>
      </p:sp>
      <p:sp>
        <p:nvSpPr>
          <p:cNvPr id="40" name="Text 35"/>
          <p:cNvSpPr/>
          <p:nvPr/>
        </p:nvSpPr>
        <p:spPr>
          <a:xfrm>
            <a:off x="6733006" y="6022881"/>
            <a:ext cx="171303" cy="1750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86</a:t>
            </a:r>
            <a:endParaRPr lang="en-US" sz="650" dirty="0"/>
          </a:p>
        </p:txBody>
      </p:sp>
      <p:sp>
        <p:nvSpPr>
          <p:cNvPr id="41" name="Text 36"/>
          <p:cNvSpPr/>
          <p:nvPr/>
        </p:nvSpPr>
        <p:spPr>
          <a:xfrm>
            <a:off x="6095390" y="6248310"/>
            <a:ext cx="171303" cy="1750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</a:t>
            </a:r>
            <a:endParaRPr lang="en-US" sz="650" dirty="0"/>
          </a:p>
        </p:txBody>
      </p:sp>
      <p:sp>
        <p:nvSpPr>
          <p:cNvPr id="42" name="Text 37"/>
          <p:cNvSpPr/>
          <p:nvPr/>
        </p:nvSpPr>
        <p:spPr>
          <a:xfrm>
            <a:off x="11004462" y="6624025"/>
            <a:ext cx="229316" cy="1750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160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11004462" y="6849454"/>
            <a:ext cx="229316" cy="175046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160</a:t>
            </a:r>
            <a:endParaRPr lang="en-US" sz="650" dirty="0"/>
          </a:p>
        </p:txBody>
      </p:sp>
      <p:sp>
        <p:nvSpPr>
          <p:cNvPr id="44" name="Text 39"/>
          <p:cNvSpPr/>
          <p:nvPr/>
        </p:nvSpPr>
        <p:spPr>
          <a:xfrm>
            <a:off x="735330" y="7256145"/>
            <a:ext cx="131597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While hospitality outperforms globally on detection and containment speed, its </a:t>
            </a:r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86% operational disruption rate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well above the 75% global average — underscores the sector's acute vulnerability to downtime.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2620"/>
            <a:ext cx="975002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Worst-Case Scenarios: Catastrophic Cyber Incidents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19870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Beyond average breach costs, certain attack scenarios carry existential financial and reputational consequences unique to the hospitality sector.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407563"/>
            <a:ext cx="3077408" cy="2903577"/>
          </a:xfrm>
          <a:prstGeom prst="roundRect">
            <a:avLst>
              <a:gd name="adj" fmla="val 937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75241" y="2589014"/>
            <a:ext cx="2714506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🏨</a:t>
            </a:r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PMS Cloud Concentration Failure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75241" y="3301127"/>
            <a:ext cx="2714506" cy="182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centralized breach of a cloud-based Property Management System simultaneously paralyzes reservations, check-ins, payment processing, and digital room key issuance across an entire global portfolio.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16335" y="2407563"/>
            <a:ext cx="3077528" cy="2903577"/>
          </a:xfrm>
          <a:prstGeom prst="roundRect">
            <a:avLst>
              <a:gd name="adj" fmla="val 93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197787" y="2589014"/>
            <a:ext cx="2714625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🎯</a:t>
            </a:r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Loyalty Program Exfiltration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197787" y="3301127"/>
            <a:ext cx="2714625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compromise and monetize loyalty points on the dark web, triggering an "I Paid Twice" fraud cycle that permanently damages brand integrity among elite travelers.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3790" y="5456277"/>
            <a:ext cx="6300073" cy="1575197"/>
          </a:xfrm>
          <a:prstGeom prst="roundRect">
            <a:avLst>
              <a:gd name="adj" fmla="val 172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75241" y="5637728"/>
            <a:ext cx="315634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🔗</a:t>
            </a:r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"ClickFix" Extranet Takeovers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5241" y="6066353"/>
            <a:ext cx="5937171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compromise of staff portals on external booking engines redirects guest payments to fraudulent accounts — leaving thousands of guests with non-existent reservations upon arrival.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44157" y="2407563"/>
            <a:ext cx="2929414" cy="317778"/>
          </a:xfrm>
          <a:prstGeom prst="roundRect">
            <a:avLst>
              <a:gd name="adj" fmla="val 6852"/>
            </a:avLst>
          </a:prstGeom>
          <a:solidFill>
            <a:srgbClr val="CCFFF3"/>
          </a:solidFill>
          <a:ln/>
        </p:spPr>
      </p:sp>
      <p:sp>
        <p:nvSpPr>
          <p:cNvPr id="14" name="Text 12"/>
          <p:cNvSpPr/>
          <p:nvPr/>
        </p:nvSpPr>
        <p:spPr>
          <a:xfrm>
            <a:off x="7652980" y="2461974"/>
            <a:ext cx="271176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LONG-TERM FINANCIAL CONSEQUENCES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4157" y="2888575"/>
            <a:ext cx="3077408" cy="2165628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1297" y="2888575"/>
            <a:ext cx="91440" cy="2165628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17" name="Text 15"/>
          <p:cNvSpPr/>
          <p:nvPr/>
        </p:nvSpPr>
        <p:spPr>
          <a:xfrm>
            <a:off x="7817048" y="3092887"/>
            <a:ext cx="229933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~5%</a:t>
            </a:r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Market Cap Erosion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817048" y="3521512"/>
            <a:ext cx="2600206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Major breaches trigger immediate stock price decline upon public disclosure.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66703" y="2888575"/>
            <a:ext cx="3077528" cy="2165628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43843" y="2888575"/>
            <a:ext cx="91440" cy="2165628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21" name="Text 19"/>
          <p:cNvSpPr/>
          <p:nvPr/>
        </p:nvSpPr>
        <p:spPr>
          <a:xfrm>
            <a:off x="11039594" y="3092887"/>
            <a:ext cx="2600325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10–15%</a:t>
            </a:r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Persistent Customer Churn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1039594" y="3804999"/>
            <a:ext cx="2600325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Corporate and event clients permanently shift to competitors following trust deficits.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44157" y="5199340"/>
            <a:ext cx="3077408" cy="1904405"/>
          </a:xfrm>
          <a:prstGeom prst="roundRect">
            <a:avLst>
              <a:gd name="adj" fmla="val 576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21297" y="5199340"/>
            <a:ext cx="91440" cy="1904405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25" name="Text 23"/>
          <p:cNvSpPr/>
          <p:nvPr/>
        </p:nvSpPr>
        <p:spPr>
          <a:xfrm>
            <a:off x="7817048" y="5403652"/>
            <a:ext cx="2600206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30–50%</a:t>
            </a:r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Insurance Premium Increases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817048" y="6115764"/>
            <a:ext cx="2600206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Exhausted policy limits force renewal negotiations with strict new vendor exclusions.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766703" y="5199340"/>
            <a:ext cx="3077528" cy="1904405"/>
          </a:xfrm>
          <a:prstGeom prst="roundRect">
            <a:avLst>
              <a:gd name="adj" fmla="val 576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43843" y="5199340"/>
            <a:ext cx="91440" cy="1904405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29" name="Text 27"/>
          <p:cNvSpPr/>
          <p:nvPr/>
        </p:nvSpPr>
        <p:spPr>
          <a:xfrm>
            <a:off x="11039594" y="5403652"/>
            <a:ext cx="2600325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12–24 Months</a:t>
            </a:r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Transformation Stall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1039594" y="6115764"/>
            <a:ext cx="2600325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and IT resources diverted to remediation, halting critical digital programs.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073" y="725448"/>
            <a:ext cx="6927652" cy="448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Case Study: MGM Resorts International (2023)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69608" y="1310402"/>
            <a:ext cx="4558665" cy="5338405"/>
          </a:xfrm>
          <a:prstGeom prst="roundRect">
            <a:avLst>
              <a:gd name="adj" fmla="val 472"/>
            </a:avLst>
          </a:prstGeom>
          <a:solidFill>
            <a:srgbClr val="00674F"/>
          </a:solidFill>
          <a:ln/>
        </p:spPr>
      </p:sp>
      <p:sp>
        <p:nvSpPr>
          <p:cNvPr id="4" name="Text 2"/>
          <p:cNvSpPr/>
          <p:nvPr/>
        </p:nvSpPr>
        <p:spPr>
          <a:xfrm>
            <a:off x="813078" y="1401247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Attack Profile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3078" y="1716286"/>
            <a:ext cx="4271724" cy="937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"Scattered Spider" syndicate executed a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10-minute vishing call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MGM's IT help desk, impersonating an employee to harvest credentials. MFA fatigue escalated privileges,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 Terabytes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data were exfiltrated, and ALPHV (BlackCat) ransomware was deployed to encrypt critical systems.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3078" y="2827792"/>
            <a:ext cx="4271724" cy="25479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13078" y="2955369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Total Financial Damage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078" y="3270409"/>
            <a:ext cx="4271724" cy="1687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total financial impact is estimated at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~$205M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This encompasses a $100M single-quarter operating loss, $50M in infrastructure remediation, $45M for class-action settlements, and $10M in legal and consulting fees. These figures significantly exceed industry average breach costs, highlighting how hospitality-specific operational dependencies create extreme financial volatility. The incident also caused a measurable decline in market valuation and a lasting trust deficit among corporate and premium clients.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2709" y="1412557"/>
            <a:ext cx="1907143" cy="251222"/>
          </a:xfrm>
          <a:prstGeom prst="roundRect">
            <a:avLst>
              <a:gd name="adj" fmla="val 6858"/>
            </a:avLst>
          </a:prstGeom>
          <a:noFill/>
          <a:ln w="7620">
            <a:solidFill>
              <a:srgbClr val="006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6411" y="1463159"/>
            <a:ext cx="17197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OPERATIONAL IMPACT TIMELINE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66089" y="1765935"/>
            <a:ext cx="15240" cy="4023360"/>
          </a:xfrm>
          <a:prstGeom prst="roundRect">
            <a:avLst>
              <a:gd name="adj" fmla="val 141322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9096792" y="1919764"/>
            <a:ext cx="430649" cy="15240"/>
          </a:xfrm>
          <a:prstGeom prst="roundRect">
            <a:avLst>
              <a:gd name="adj" fmla="val 141322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9512201" y="1765935"/>
            <a:ext cx="323017" cy="32301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9566017" y="1792784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161133" y="1815227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 0 — Infiltration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2709" y="2130266"/>
            <a:ext cx="3473172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Vishing call succeeds; attackers gain admin access to the identity portal.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19977" y="2675692"/>
            <a:ext cx="430649" cy="15240"/>
          </a:xfrm>
          <a:prstGeom prst="roundRect">
            <a:avLst>
              <a:gd name="adj" fmla="val 141322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12201" y="2521863"/>
            <a:ext cx="323017" cy="32301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9566017" y="2548711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391537" y="2571155"/>
            <a:ext cx="222015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Days 1–3 — System Shutdown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91537" y="2886194"/>
            <a:ext cx="347329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Slot machines go dark, digital room keys fail, reservation website ceases functioning.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96792" y="3365421"/>
            <a:ext cx="430649" cy="15240"/>
          </a:xfrm>
          <a:prstGeom prst="roundRect">
            <a:avLst>
              <a:gd name="adj" fmla="val 141322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9512201" y="3211592"/>
            <a:ext cx="323017" cy="32301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9566017" y="3238440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014924" y="3260884"/>
            <a:ext cx="1940957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Days 3–6 — Manual Mode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2709" y="3575923"/>
            <a:ext cx="3473172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Staff revert to paper ledgers; dining facilities reduced to cash-only transactions.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19977" y="4055269"/>
            <a:ext cx="430649" cy="15240"/>
          </a:xfrm>
          <a:prstGeom prst="roundRect">
            <a:avLst>
              <a:gd name="adj" fmla="val 141322"/>
            </a:avLst>
          </a:prstGeom>
          <a:solidFill>
            <a:srgbClr val="D8D4D4"/>
          </a:solidFill>
          <a:ln/>
        </p:spPr>
      </p:sp>
      <p:sp>
        <p:nvSpPr>
          <p:cNvPr id="28" name="Shape 26"/>
          <p:cNvSpPr/>
          <p:nvPr/>
        </p:nvSpPr>
        <p:spPr>
          <a:xfrm>
            <a:off x="9512201" y="3901440"/>
            <a:ext cx="323017" cy="32301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9566017" y="3928289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0391537" y="3950732"/>
            <a:ext cx="184796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Days 7–10 — Restoration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91537" y="4265771"/>
            <a:ext cx="347329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Primary systems restored; forensic investigations commence.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96792" y="4745117"/>
            <a:ext cx="430649" cy="15240"/>
          </a:xfrm>
          <a:prstGeom prst="roundRect">
            <a:avLst>
              <a:gd name="adj" fmla="val 141322"/>
            </a:avLst>
          </a:prstGeom>
          <a:solidFill>
            <a:srgbClr val="D8D4D4"/>
          </a:solidFill>
          <a:ln/>
        </p:spPr>
      </p:sp>
      <p:sp>
        <p:nvSpPr>
          <p:cNvPr id="33" name="Shape 31"/>
          <p:cNvSpPr/>
          <p:nvPr/>
        </p:nvSpPr>
        <p:spPr>
          <a:xfrm>
            <a:off x="9512201" y="4591288"/>
            <a:ext cx="323017" cy="32301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34" name="Text 32"/>
          <p:cNvSpPr/>
          <p:nvPr/>
        </p:nvSpPr>
        <p:spPr>
          <a:xfrm>
            <a:off x="9566017" y="4618137"/>
            <a:ext cx="215265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835140" y="4640580"/>
            <a:ext cx="2120741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Year 1–2 — Long-Tail Fallout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2709" y="4955619"/>
            <a:ext cx="3473172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Federal investigations, class-action settlements, and insurance renegotiations proceed.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2709" y="5891451"/>
            <a:ext cx="8382119" cy="655201"/>
          </a:xfrm>
          <a:prstGeom prst="roundRect">
            <a:avLst>
              <a:gd name="adj" fmla="val 3287"/>
            </a:avLst>
          </a:prstGeom>
          <a:solidFill>
            <a:srgbClr val="B3FFED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79" y="6082308"/>
            <a:ext cx="179427" cy="14347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949077" y="6018133"/>
            <a:ext cx="777228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Lessons: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Identity is the perimeter — PAM and phishing-resistant MFA are non-negotiable. Inadequate segmentation between casino and corporate systems turned credential theft into a catastrophic, portfolio-wide outage.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73073" y="6750963"/>
            <a:ext cx="3202900" cy="753189"/>
          </a:xfrm>
          <a:prstGeom prst="roundRect">
            <a:avLst>
              <a:gd name="adj" fmla="val 2859"/>
            </a:avLst>
          </a:prstGeom>
          <a:solidFill>
            <a:srgbClr val="F2EEEE"/>
          </a:solidFill>
          <a:ln/>
        </p:spPr>
      </p:sp>
      <p:sp>
        <p:nvSpPr>
          <p:cNvPr id="41" name="Text 38"/>
          <p:cNvSpPr/>
          <p:nvPr/>
        </p:nvSpPr>
        <p:spPr>
          <a:xfrm>
            <a:off x="916543" y="6894433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$100M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916543" y="7173158"/>
            <a:ext cx="291596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Single-quarter loss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066818" y="6750963"/>
            <a:ext cx="3202900" cy="753189"/>
          </a:xfrm>
          <a:prstGeom prst="roundRect">
            <a:avLst>
              <a:gd name="adj" fmla="val 2859"/>
            </a:avLst>
          </a:prstGeom>
          <a:solidFill>
            <a:srgbClr val="F2EEEE"/>
          </a:solidFill>
          <a:ln/>
        </p:spPr>
      </p:sp>
      <p:sp>
        <p:nvSpPr>
          <p:cNvPr id="44" name="Text 41"/>
          <p:cNvSpPr/>
          <p:nvPr/>
        </p:nvSpPr>
        <p:spPr>
          <a:xfrm>
            <a:off x="4210288" y="6894433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$50M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4210288" y="7173158"/>
            <a:ext cx="291596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Infrastructure remediation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360563" y="6750963"/>
            <a:ext cx="3202900" cy="753189"/>
          </a:xfrm>
          <a:prstGeom prst="roundRect">
            <a:avLst>
              <a:gd name="adj" fmla="val 2859"/>
            </a:avLst>
          </a:prstGeom>
          <a:solidFill>
            <a:srgbClr val="F2EEEE"/>
          </a:solidFill>
          <a:ln/>
        </p:spPr>
      </p:sp>
      <p:sp>
        <p:nvSpPr>
          <p:cNvPr id="47" name="Text 44"/>
          <p:cNvSpPr/>
          <p:nvPr/>
        </p:nvSpPr>
        <p:spPr>
          <a:xfrm>
            <a:off x="7504033" y="6894433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$45M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7504033" y="7173158"/>
            <a:ext cx="291596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Class-action settlement (2025)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10654308" y="6750963"/>
            <a:ext cx="3203019" cy="753189"/>
          </a:xfrm>
          <a:prstGeom prst="roundRect">
            <a:avLst>
              <a:gd name="adj" fmla="val 2859"/>
            </a:avLst>
          </a:prstGeom>
          <a:solidFill>
            <a:srgbClr val="F2EEEE"/>
          </a:solidFill>
          <a:ln/>
        </p:spPr>
      </p:sp>
      <p:sp>
        <p:nvSpPr>
          <p:cNvPr id="50" name="Text 47"/>
          <p:cNvSpPr/>
          <p:nvPr/>
        </p:nvSpPr>
        <p:spPr>
          <a:xfrm>
            <a:off x="10797778" y="6894433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$10M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10797778" y="7173158"/>
            <a:ext cx="291607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Consulting and legal fees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4420"/>
            <a:ext cx="841176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Mitigation Strategies &amp; Compliance Framework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861185"/>
            <a:ext cx="130428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 defense requires a shift from reactive boundary protection to proactive, Zero Trust–anchored architecture — paired with unified detection, automation, and regulatory compliance.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2624376"/>
            <a:ext cx="3079433" cy="292418"/>
          </a:xfrm>
          <a:prstGeom prst="roundRect">
            <a:avLst>
              <a:gd name="adj" fmla="val 6981"/>
            </a:avLst>
          </a:prstGeom>
          <a:solidFill>
            <a:srgbClr val="CCFFF3"/>
          </a:solidFill>
          <a:ln/>
        </p:spPr>
      </p:sp>
      <p:sp>
        <p:nvSpPr>
          <p:cNvPr id="5" name="Text 3"/>
          <p:cNvSpPr/>
          <p:nvPr/>
        </p:nvSpPr>
        <p:spPr>
          <a:xfrm>
            <a:off x="895826" y="2675334"/>
            <a:ext cx="28753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EVIDENCE-BASED IMPLEMENTATION METRICS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93790" y="3060263"/>
            <a:ext cx="6313884" cy="3951446"/>
          </a:xfrm>
          <a:prstGeom prst="roundRect">
            <a:avLst>
              <a:gd name="adj" fmla="val 64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3067883"/>
            <a:ext cx="6298644" cy="6443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71669" y="3151942"/>
            <a:ext cx="141970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39033" y="3151942"/>
            <a:ext cx="91201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98714" y="3151942"/>
            <a:ext cx="14158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2268" y="3151942"/>
            <a:ext cx="11677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ROI / Savings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410" y="3712250"/>
            <a:ext cx="6298644" cy="6443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71669" y="3796308"/>
            <a:ext cx="141970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39033" y="3796308"/>
            <a:ext cx="91201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98714" y="3796308"/>
            <a:ext cx="14158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$20/user/mo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2268" y="3796308"/>
            <a:ext cx="116776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$4.2M breach savings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1410" y="4356616"/>
            <a:ext cx="6298644" cy="8824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1669" y="4440674"/>
            <a:ext cx="141970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Phishing-Resistant MFA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39033" y="4440674"/>
            <a:ext cx="91201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— 99% vishing block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98714" y="4440674"/>
            <a:ext cx="14158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$15/user/mo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2268" y="4440674"/>
            <a:ext cx="116776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833% ROI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1410" y="5239107"/>
            <a:ext cx="6298644" cy="8824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71669" y="5323165"/>
            <a:ext cx="141970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XDR Platform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39033" y="5323165"/>
            <a:ext cx="91201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— unified visibility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98714" y="5323165"/>
            <a:ext cx="141589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$385K/yr (10K users)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2268" y="5323165"/>
            <a:ext cx="116776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44% TCO reduction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1410" y="6121598"/>
            <a:ext cx="6298644" cy="8824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71669" y="6205657"/>
            <a:ext cx="141970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AI &amp; Automation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39033" y="6205657"/>
            <a:ext cx="912019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— accelerates response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98714" y="6205657"/>
            <a:ext cx="14158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Variable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62268" y="6205657"/>
            <a:ext cx="116776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$1.9M–$2.2M savings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30346" y="2624376"/>
            <a:ext cx="2683550" cy="307658"/>
          </a:xfrm>
          <a:prstGeom prst="roundRect">
            <a:avLst>
              <a:gd name="adj" fmla="val 6635"/>
            </a:avLst>
          </a:prstGeom>
          <a:noFill/>
          <a:ln w="7620">
            <a:solidFill>
              <a:srgbClr val="0067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0003" y="2682954"/>
            <a:ext cx="246423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COMPLIANCE MANDATES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530346" y="3075503"/>
            <a:ext cx="3093125" cy="1731526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07486" y="3075503"/>
            <a:ext cx="91440" cy="1731526"/>
          </a:xfrm>
          <a:prstGeom prst="roundRect">
            <a:avLst>
              <a:gd name="adj" fmla="val 27907"/>
            </a:avLst>
          </a:prstGeom>
          <a:solidFill>
            <a:srgbClr val="00674F"/>
          </a:solidFill>
          <a:ln/>
        </p:spPr>
      </p:sp>
      <p:sp>
        <p:nvSpPr>
          <p:cNvPr id="36" name="Text 34"/>
          <p:cNvSpPr/>
          <p:nvPr/>
        </p:nvSpPr>
        <p:spPr>
          <a:xfrm>
            <a:off x="7791807" y="326838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NIS2 Directive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7791807" y="3661648"/>
            <a:ext cx="263878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"Duty of Care" liability; mandatory incident reporting within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24–72 hours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covered hospitality entities.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750987" y="3075503"/>
            <a:ext cx="3093244" cy="1731526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28127" y="3075503"/>
            <a:ext cx="91440" cy="1731526"/>
          </a:xfrm>
          <a:prstGeom prst="roundRect">
            <a:avLst>
              <a:gd name="adj" fmla="val 27907"/>
            </a:avLst>
          </a:prstGeom>
          <a:solidFill>
            <a:srgbClr val="00674F"/>
          </a:solidFill>
          <a:ln/>
        </p:spPr>
      </p:sp>
      <p:sp>
        <p:nvSpPr>
          <p:cNvPr id="40" name="Text 38"/>
          <p:cNvSpPr/>
          <p:nvPr/>
        </p:nvSpPr>
        <p:spPr>
          <a:xfrm>
            <a:off x="11012448" y="326838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DORA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1012448" y="3661648"/>
            <a:ext cx="263890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Enforces Threat-Led Penetration Testing (TLPT) for payment processors and third-party IT vendors.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530346" y="4934545"/>
            <a:ext cx="3093125" cy="1731526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07486" y="4934545"/>
            <a:ext cx="91440" cy="1731526"/>
          </a:xfrm>
          <a:prstGeom prst="roundRect">
            <a:avLst>
              <a:gd name="adj" fmla="val 27907"/>
            </a:avLst>
          </a:prstGeom>
          <a:solidFill>
            <a:srgbClr val="00674F"/>
          </a:solidFill>
          <a:ln/>
        </p:spPr>
      </p:sp>
      <p:sp>
        <p:nvSpPr>
          <p:cNvPr id="44" name="Text 42"/>
          <p:cNvSpPr/>
          <p:nvPr/>
        </p:nvSpPr>
        <p:spPr>
          <a:xfrm>
            <a:off x="7791807" y="512742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GDPR &amp; PCI DSS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791807" y="5520690"/>
            <a:ext cx="2638782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Overarching data privacy and payment security frameworks; must be integrated into all vendor procurement assessments.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750987" y="4934545"/>
            <a:ext cx="3093244" cy="1731526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28127" y="4934545"/>
            <a:ext cx="91440" cy="1731526"/>
          </a:xfrm>
          <a:prstGeom prst="roundRect">
            <a:avLst>
              <a:gd name="adj" fmla="val 27907"/>
            </a:avLst>
          </a:prstGeom>
          <a:solidFill>
            <a:srgbClr val="00674F"/>
          </a:solidFill>
          <a:ln/>
        </p:spPr>
      </p:sp>
      <p:sp>
        <p:nvSpPr>
          <p:cNvPr id="48" name="Text 46"/>
          <p:cNvSpPr/>
          <p:nvPr/>
        </p:nvSpPr>
        <p:spPr>
          <a:xfrm>
            <a:off x="11012448" y="5127427"/>
            <a:ext cx="233993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Cyber Resilience Act (CRA)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1012448" y="5520690"/>
            <a:ext cx="2638901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Upcoming mandate requiring supply chain security to be embedded in procurement and vendor management processes.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2026-03-23T13:32:08Z</dcterms:created>
  <dcterms:modified xsi:type="dcterms:W3CDTF">2026-03-23T13:32:08Z</dcterms:modified>
</cp:coreProperties>
</file>