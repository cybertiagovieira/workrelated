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image" Target="../media/image-1-1.png"/><Relationship Id="rId8" Type="http://schemas.openxmlformats.org/officeDocument/2006/relationships/image" Target="../media/image-1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1071"/>
            <a:ext cx="2223833" cy="201116"/>
          </a:xfrm>
          <a:prstGeom prst="roundRect">
            <a:avLst>
              <a:gd name="adj" fmla="val 7895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830759"/>
            <a:ext cx="267467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2025–2026 STRATEGIC RISK 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02919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Cybersecurity Operational Outlook: EU Agri-Food &amp; Tobacco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81547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Top 5 threat vectors, sector vulnerabilities, and dominant threat actors.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900436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Primary Vectors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661475" y="2370038"/>
            <a:ext cx="3561170" cy="706735"/>
          </a:xfrm>
          <a:prstGeom prst="roundRect">
            <a:avLst>
              <a:gd name="adj" fmla="val 2808"/>
            </a:avLst>
          </a:prstGeom>
          <a:solidFill>
            <a:srgbClr val="00915E"/>
          </a:solidFill>
          <a:ln/>
        </p:spPr>
      </p:sp>
      <p:sp>
        <p:nvSpPr>
          <p:cNvPr id="8" name="Text 6"/>
          <p:cNvSpPr/>
          <p:nvPr/>
        </p:nvSpPr>
        <p:spPr>
          <a:xfrm>
            <a:off x="793730" y="2502297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Double-Extortion Ransomware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3730" y="2764532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Exfiltrates data pre-encryption.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213" y="2370038"/>
            <a:ext cx="3561170" cy="706735"/>
          </a:xfrm>
          <a:prstGeom prst="roundRect">
            <a:avLst>
              <a:gd name="adj" fmla="val 2808"/>
            </a:avLst>
          </a:prstGeom>
          <a:solidFill>
            <a:srgbClr val="00915E"/>
          </a:solidFill>
          <a:ln/>
        </p:spPr>
      </p:sp>
      <p:sp>
        <p:nvSpPr>
          <p:cNvPr id="11" name="Text 9"/>
          <p:cNvSpPr/>
          <p:nvPr/>
        </p:nvSpPr>
        <p:spPr>
          <a:xfrm>
            <a:off x="4447468" y="2502297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Living-off-the-Land (LotL)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47468" y="2764532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100%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attackers abuse admin tools;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94.4%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persist.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68951" y="2370038"/>
            <a:ext cx="3561170" cy="706735"/>
          </a:xfrm>
          <a:prstGeom prst="roundRect">
            <a:avLst>
              <a:gd name="adj" fmla="val 2808"/>
            </a:avLst>
          </a:prstGeom>
          <a:solidFill>
            <a:srgbClr val="00915E"/>
          </a:solidFill>
          <a:ln/>
        </p:spPr>
      </p:sp>
      <p:sp>
        <p:nvSpPr>
          <p:cNvPr id="14" name="Text 12"/>
          <p:cNvSpPr/>
          <p:nvPr/>
        </p:nvSpPr>
        <p:spPr>
          <a:xfrm>
            <a:off x="8101207" y="2502297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Exploitation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01207" y="2764532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Drives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80%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initial entries.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1475" y="3169345"/>
            <a:ext cx="5388039" cy="706735"/>
          </a:xfrm>
          <a:prstGeom prst="roundRect">
            <a:avLst>
              <a:gd name="adj" fmla="val 2808"/>
            </a:avLst>
          </a:prstGeom>
          <a:solidFill>
            <a:srgbClr val="00915E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30" y="3301603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Phishing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3730" y="3563838"/>
            <a:ext cx="5123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Deepfakes power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80%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social engineering.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2082" y="3169345"/>
            <a:ext cx="5388039" cy="706735"/>
          </a:xfrm>
          <a:prstGeom prst="roundRect">
            <a:avLst>
              <a:gd name="adj" fmla="val 2808"/>
            </a:avLst>
          </a:prstGeom>
          <a:solidFill>
            <a:srgbClr val="00915E"/>
          </a:solidFill>
          <a:ln/>
        </p:spPr>
      </p:sp>
      <p:sp>
        <p:nvSpPr>
          <p:cNvPr id="20" name="Text 18"/>
          <p:cNvSpPr/>
          <p:nvPr/>
        </p:nvSpPr>
        <p:spPr>
          <a:xfrm>
            <a:off x="6274338" y="3301603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Layered DDoS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4338" y="3563838"/>
            <a:ext cx="5123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API/portal floods + encryption.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1475" y="4014986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Sector Vulnerabilities &amp; Actors</a:t>
            </a:r>
            <a:endParaRPr lang="en-US" sz="2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484588"/>
            <a:ext cx="5388039" cy="74483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88978" y="4635897"/>
            <a:ext cx="500923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Just-in-Time Pipelines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88978" y="4898132"/>
            <a:ext cx="500923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downtime tolerance.</a:t>
            </a:r>
            <a:endParaRPr lang="en-US" sz="10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2082" y="4484588"/>
            <a:ext cx="5388138" cy="74483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369585" y="4635897"/>
            <a:ext cx="50093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IT/OT Convergence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369585" y="4898132"/>
            <a:ext cx="5009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Legacy, unpatchable systems.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321995"/>
            <a:ext cx="5388039" cy="74483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88978" y="5473303"/>
            <a:ext cx="500923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Shadow OT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88978" y="5735538"/>
            <a:ext cx="500923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Unmonitored IoT sensors.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2082" y="5321995"/>
            <a:ext cx="5388138" cy="74483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369585" y="5473303"/>
            <a:ext cx="50093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Primary Actors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369585" y="5735538"/>
            <a:ext cx="5009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Qilin, Akira, CL0P, Scattered Spider, RansomHub.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9874"/>
            <a:ext cx="1251514" cy="229691"/>
          </a:xfrm>
          <a:prstGeom prst="roundRect">
            <a:avLst>
              <a:gd name="adj" fmla="val 7900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785217"/>
            <a:ext cx="167973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1788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Escalating Cyber Risk: The Numbers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1197342" y="1747341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101%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61475" y="2412702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YoY Incident Surge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2721471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Agri-Food vs. 38% cross-sector average.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07317" y="1747341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€509M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171450" y="2412702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Localized EU Blockade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71450" y="2721471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April 2025 coordinated attack; Category 2 systemic event.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97342" y="3256657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$1.9M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61475" y="3922018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Daily Downtime Cost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230787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day of complete operational halt.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07317" y="3256657"/>
            <a:ext cx="4286937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1.6%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171450" y="3922018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Profit Margin Buffer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171450" y="4230787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vs. 10–15% cross-sector average.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1475" y="4584502"/>
            <a:ext cx="10868745" cy="1533525"/>
          </a:xfrm>
          <a:prstGeom prst="roundRect">
            <a:avLst>
              <a:gd name="adj" fmla="val 147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475" y="4969470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1475" y="5351264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1475" y="5733058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0221" y="4669730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8142" y="4669730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Agri-Food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56063" y="4669730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Cross-Sector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0221" y="5051524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Avg. Data Breach Cost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38142" y="5051524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$5.00M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56063" y="5051524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0221" y="5433318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Daily Downtime Cost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38142" y="5433318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$1.90M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56063" y="5433318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$1.10M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0221" y="5815112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Downtime Resolution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38142" y="5815112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11–22 Days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56063" y="5815112"/>
            <a:ext cx="392509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7–14 Days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8848"/>
            <a:ext cx="1682013" cy="243979"/>
          </a:xfrm>
          <a:prstGeom prst="roundRect">
            <a:avLst>
              <a:gd name="adj" fmla="val 7902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676970"/>
            <a:ext cx="2098920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WORST-CASE SCENARIOS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2739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Catastrophic Cyber Incident Scenarios</a:t>
            </a:r>
            <a:endParaRPr lang="en-US" sz="3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34232"/>
            <a:ext cx="3531901" cy="1863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06877" y="174367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41156" y="2271812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Thermal Spoofing (HACCP Bypass)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156" y="2604691"/>
            <a:ext cx="317253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PLCs falsify pasteurization temps (165°F vs. 150°F), releasing pathogens — triggering recalls &amp; liability.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897" y="1634232"/>
            <a:ext cx="3531901" cy="1863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5300" y="174367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09578" y="2271812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Compliance Erasure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509578" y="2604691"/>
            <a:ext cx="31725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Ransomware deletes cold-chain logs; EU law forces inventory destruction.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8319" y="1634232"/>
            <a:ext cx="3531901" cy="1863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3722" y="174367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178000" y="2271812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SaaS Lock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178000" y="2604691"/>
            <a:ext cx="31725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Zero-day on logistics platform freezes supply chain from farm to retail.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61475" y="3702348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Consequences</a:t>
            </a:r>
            <a:endParaRPr lang="en-US" sz="2500" dirty="0"/>
          </a:p>
        </p:txBody>
      </p:sp>
      <p:sp>
        <p:nvSpPr>
          <p:cNvPr id="18" name="Shape 13"/>
          <p:cNvSpPr/>
          <p:nvPr/>
        </p:nvSpPr>
        <p:spPr>
          <a:xfrm>
            <a:off x="661475" y="4308773"/>
            <a:ext cx="5366112" cy="891877"/>
          </a:xfrm>
          <a:prstGeom prst="roundRect">
            <a:avLst>
              <a:gd name="adj" fmla="val 2702"/>
            </a:avLst>
          </a:prstGeom>
          <a:solidFill>
            <a:srgbClr val="00915E"/>
          </a:solidFill>
          <a:ln/>
        </p:spPr>
      </p:sp>
      <p:sp>
        <p:nvSpPr>
          <p:cNvPr id="19" name="Text 14"/>
          <p:cNvSpPr/>
          <p:nvPr/>
        </p:nvSpPr>
        <p:spPr>
          <a:xfrm>
            <a:off x="822106" y="4469408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NIS2 Fines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2106" y="4802287"/>
            <a:ext cx="50448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€7M / 1.4% turnover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64108" y="4308773"/>
            <a:ext cx="5366112" cy="891877"/>
          </a:xfrm>
          <a:prstGeom prst="roundRect">
            <a:avLst>
              <a:gd name="adj" fmla="val 2702"/>
            </a:avLst>
          </a:prstGeom>
          <a:solidFill>
            <a:srgbClr val="00915E"/>
          </a:solidFill>
          <a:ln/>
        </p:spPr>
      </p:sp>
      <p:sp>
        <p:nvSpPr>
          <p:cNvPr id="22" name="Text 17"/>
          <p:cNvSpPr/>
          <p:nvPr/>
        </p:nvSpPr>
        <p:spPr>
          <a:xfrm>
            <a:off x="6324739" y="4469408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GDPR Fines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324739" y="4802287"/>
            <a:ext cx="50448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€20M / 4% revenue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61475" y="5337175"/>
            <a:ext cx="5366112" cy="891877"/>
          </a:xfrm>
          <a:prstGeom prst="roundRect">
            <a:avLst>
              <a:gd name="adj" fmla="val 2702"/>
            </a:avLst>
          </a:prstGeom>
          <a:solidFill>
            <a:srgbClr val="00915E"/>
          </a:solidFill>
          <a:ln/>
        </p:spPr>
      </p:sp>
      <p:sp>
        <p:nvSpPr>
          <p:cNvPr id="25" name="Text 20"/>
          <p:cNvSpPr/>
          <p:nvPr/>
        </p:nvSpPr>
        <p:spPr>
          <a:xfrm>
            <a:off x="822106" y="5497810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Brand Erosion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822106" y="5830689"/>
            <a:ext cx="50448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14% drop in recommendations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164108" y="5337175"/>
            <a:ext cx="5366112" cy="891877"/>
          </a:xfrm>
          <a:prstGeom prst="roundRect">
            <a:avLst>
              <a:gd name="adj" fmla="val 2702"/>
            </a:avLst>
          </a:prstGeom>
          <a:solidFill>
            <a:srgbClr val="00915E"/>
          </a:solidFill>
          <a:ln/>
        </p:spPr>
      </p:sp>
      <p:sp>
        <p:nvSpPr>
          <p:cNvPr id="28" name="Text 23"/>
          <p:cNvSpPr/>
          <p:nvPr/>
        </p:nvSpPr>
        <p:spPr>
          <a:xfrm>
            <a:off x="6324739" y="5497810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Share Price Impact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6324739" y="5830689"/>
            <a:ext cx="50448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11%+ immediate devaluation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0406"/>
            <a:ext cx="1104773" cy="287139"/>
          </a:xfrm>
          <a:prstGeom prst="roundRect">
            <a:avLst>
              <a:gd name="adj" fmla="val 7899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7060"/>
            <a:ext cx="148755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31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UNFI Cyberattack — June 2025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3627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 &amp; Attack Profile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620566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UNFI: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North America's largest grocery wholesaler; 30,000+ retail locations.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Vector: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Scattered Spider — help desk social engineering to hijack admin credentials.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18931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Operational Timeline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673600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Day 1: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Core systems shut down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Days 2–10: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Full supply blockade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Day 10+: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EDI ordering restored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Day 20+: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Full normalization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13627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Damage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2620566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Net Sales Loss: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$350M–$400M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Net Income Impact: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$50M–$60M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Remediation Costs: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$65M–$75M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384899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Lessons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32776" y="4333280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 = physical logistics risk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Paper fallbacks required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Hardened identity verification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1850"/>
            <a:ext cx="1963192" cy="287139"/>
          </a:xfrm>
          <a:prstGeom prst="roundRect">
            <a:avLst>
              <a:gd name="adj" fmla="val 7899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88504"/>
            <a:ext cx="23459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STRATEGIES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945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Evidence-Based Defense Framework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068711"/>
            <a:ext cx="10868745" cy="3957439"/>
          </a:xfrm>
          <a:prstGeom prst="roundRect">
            <a:avLst>
              <a:gd name="adj" fmla="val 71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475" y="2620169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470870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32157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172273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56832" y="2194818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Strategy (Cost / ROI)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84854" y="2194818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EU Regulatory Landscape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6832" y="2743101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Trust MFA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(Med / High) – Blocks 99.9% of credential theft.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84854" y="2743101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NIS2 Scope: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≥50 FTE OR &gt;€10M turnover.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6832" y="3593802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IT/OT Segmentation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(High / Extreme) – Stops lateral movement.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84854" y="3593802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Reporting: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Early Warning (24h), Notification (72h), Final Report (1 month).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6832" y="4444504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Immutable Backups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(Low-Med / High) – Saves ~$1.5M recovery.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84854" y="4444504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CRA/Machinery: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Mandates CE marks, IoT vulnerability maintenance, cyber-physical safety.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832" y="5295205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Behavior-Based EDR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(Med / Rapid) – Detects admin tool abuse; saves ~$1.9M.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84854" y="5295205"/>
            <a:ext cx="56595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2026-07-10T12:57:24Z</dcterms:created>
  <dcterms:modified xsi:type="dcterms:W3CDTF">2026-07-10T12:57:24Z</dcterms:modified>
</cp:coreProperties>
</file>