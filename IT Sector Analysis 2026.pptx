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Crimson Pro Semi Bold"/>
      <p:regular r:id="rId12"/>
    </p:embeddedFont>
    <p:embeddedFont>
      <p:font typeface="Crimson Pro Semi Bold"/>
      <p:regular r:id="rId13"/>
    </p:embeddedFont>
    <p:embeddedFont>
      <p:font typeface="Crimson Pro Semi Bold"/>
      <p:regular r:id="rId14"/>
    </p:embeddedFont>
    <p:embeddedFont>
      <p:font typeface="Crimson Pro Semi Bold"/>
      <p:regular r:id="rId15"/>
    </p:embeddedFont>
    <p:embeddedFont>
      <p:font typeface="Heebo"/>
      <p:regular r:id="rId16"/>
    </p:embeddedFont>
    <p:embeddedFont>
      <p:font typeface="Heebo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334" y="643890"/>
            <a:ext cx="5068491" cy="447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Threats &amp; Top 5 Cyber Attacks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0334" y="1271349"/>
            <a:ext cx="13089731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IT sector functions as the core infrastructure of the global economy — a high-value target for industrialized cybercriminal ecosystems and state-aligned APTs executing continuous campaigns designed to erode systemic resilience across software supply chains and interconnected SaaS environments.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31188" y="1746171"/>
            <a:ext cx="15240" cy="4221956"/>
          </a:xfrm>
          <a:prstGeom prst="roundRect">
            <a:avLst>
              <a:gd name="adj" fmla="val 140813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1076861" y="1899404"/>
            <a:ext cx="429101" cy="15240"/>
          </a:xfrm>
          <a:prstGeom prst="roundRect">
            <a:avLst>
              <a:gd name="adj" fmla="val 140813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770275" y="1746171"/>
            <a:ext cx="321826" cy="32182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823853" y="1772900"/>
            <a:ext cx="214551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46515" y="1795343"/>
            <a:ext cx="1788319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Supply Chain Worms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6515" y="2072878"/>
            <a:ext cx="1221355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2025 "Shai-Hulud" npm worm auto-harvested developer credentials to propagate malicious code across public registries. SolarWinds demonstrated how a compromised build pipeline can infect thousands of downstream targets simultaneously.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76861" y="2779871"/>
            <a:ext cx="429101" cy="15240"/>
          </a:xfrm>
          <a:prstGeom prst="roundRect">
            <a:avLst>
              <a:gd name="adj" fmla="val 140813"/>
            </a:avLst>
          </a:prstGeom>
          <a:solidFill>
            <a:srgbClr val="D8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770275" y="2626638"/>
            <a:ext cx="321826" cy="32182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823853" y="2653367"/>
            <a:ext cx="214551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646515" y="2675811"/>
            <a:ext cx="1788319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AI-Automated Phishing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6515" y="2953345"/>
            <a:ext cx="1221355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GenAI reduces phishing lure creation from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16 hours to 5 minutes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AI-driven attacks now feature in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16%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all data breaches — predominantly through deepfake impersonations and hyper-personalized BEC campaigns.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76861" y="3660338"/>
            <a:ext cx="429101" cy="15240"/>
          </a:xfrm>
          <a:prstGeom prst="roundRect">
            <a:avLst>
              <a:gd name="adj" fmla="val 140813"/>
            </a:avLst>
          </a:prstGeom>
          <a:solidFill>
            <a:srgbClr val="D8D4D4"/>
          </a:solidFill>
          <a:ln/>
        </p:spPr>
      </p:sp>
      <p:sp>
        <p:nvSpPr>
          <p:cNvPr id="16" name="Shape 14"/>
          <p:cNvSpPr/>
          <p:nvPr/>
        </p:nvSpPr>
        <p:spPr>
          <a:xfrm>
            <a:off x="770275" y="3507105"/>
            <a:ext cx="321826" cy="32182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823853" y="3533835"/>
            <a:ext cx="214551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46515" y="3556278"/>
            <a:ext cx="1936075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OAuth Token Exploitation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6515" y="3833813"/>
            <a:ext cx="1221355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Attackers compromised Salesloft and Drift integrations to exfiltrate Salesforce data from hundreds of corporate environments — bypassing traditional MFA entirely via stolen OAuth 2.0 refresh tokens.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76861" y="4540806"/>
            <a:ext cx="429101" cy="15240"/>
          </a:xfrm>
          <a:prstGeom prst="roundRect">
            <a:avLst>
              <a:gd name="adj" fmla="val 140813"/>
            </a:avLst>
          </a:prstGeom>
          <a:solidFill>
            <a:srgbClr val="D8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70275" y="4387572"/>
            <a:ext cx="321826" cy="32182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823853" y="4414302"/>
            <a:ext cx="214551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646515" y="4436745"/>
            <a:ext cx="1788319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Shadow AI Exposures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46515" y="4714280"/>
            <a:ext cx="1221355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Unmonitored employee AI tool usage constitutes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20%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all breaches, frequently exposing IP and customer data.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83%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organizations lack technical controls to prevent unauthorized uploads to these platforms.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76861" y="5421273"/>
            <a:ext cx="429101" cy="15240"/>
          </a:xfrm>
          <a:prstGeom prst="roundRect">
            <a:avLst>
              <a:gd name="adj" fmla="val 140813"/>
            </a:avLst>
          </a:prstGeom>
          <a:solidFill>
            <a:srgbClr val="D8D4D4"/>
          </a:solidFill>
          <a:ln/>
        </p:spPr>
      </p:sp>
      <p:sp>
        <p:nvSpPr>
          <p:cNvPr id="26" name="Shape 24"/>
          <p:cNvSpPr/>
          <p:nvPr/>
        </p:nvSpPr>
        <p:spPr>
          <a:xfrm>
            <a:off x="770275" y="5268039"/>
            <a:ext cx="321826" cy="32182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823853" y="5294769"/>
            <a:ext cx="214551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646515" y="5317212"/>
            <a:ext cx="1945362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Ransomware-as-a-Service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46515" y="5594747"/>
            <a:ext cx="1221355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Decentralized RaaS operators target IT distributors for maximum disruption. AI-powered sentiment analysis of exfiltrated data optimizes extortion leverage. Average incident cost: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$5.08 million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globally.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0334" y="6103382"/>
            <a:ext cx="2717244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IT-Specific Structural Vulnerabilities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70334" y="6462117"/>
            <a:ext cx="4303157" cy="1123593"/>
          </a:xfrm>
          <a:prstGeom prst="roundRect">
            <a:avLst>
              <a:gd name="adj" fmla="val 1910"/>
            </a:avLst>
          </a:prstGeom>
          <a:solidFill>
            <a:srgbClr val="F2EEEE"/>
          </a:solidFill>
          <a:ln/>
        </p:spPr>
      </p:sp>
      <p:sp>
        <p:nvSpPr>
          <p:cNvPr id="32" name="Text 30"/>
          <p:cNvSpPr/>
          <p:nvPr/>
        </p:nvSpPr>
        <p:spPr>
          <a:xfrm>
            <a:off x="913328" y="6605111"/>
            <a:ext cx="1905119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Cloud Concentration Risk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3328" y="6882646"/>
            <a:ext cx="4017169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Over-reliance on AWS, Azure, or Cloudflare creates global single points of failure. One targeted attack triggers cascading outages economy-wide.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63622" y="6462117"/>
            <a:ext cx="4303157" cy="1123593"/>
          </a:xfrm>
          <a:prstGeom prst="roundRect">
            <a:avLst>
              <a:gd name="adj" fmla="val 1910"/>
            </a:avLst>
          </a:prstGeom>
          <a:solidFill>
            <a:srgbClr val="F2EEEE"/>
          </a:solidFill>
          <a:ln/>
        </p:spPr>
      </p:sp>
      <p:sp>
        <p:nvSpPr>
          <p:cNvPr id="35" name="Text 33"/>
          <p:cNvSpPr/>
          <p:nvPr/>
        </p:nvSpPr>
        <p:spPr>
          <a:xfrm>
            <a:off x="5306616" y="6605111"/>
            <a:ext cx="1962745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VPN &amp; Gateway Zero-Days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06616" y="6882646"/>
            <a:ext cx="4017169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Edge device exploits grant unauthenticated remote code execution and immediate internal network foothold — bypassing perimeter controls entirely.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556909" y="6462117"/>
            <a:ext cx="4303157" cy="1123593"/>
          </a:xfrm>
          <a:prstGeom prst="roundRect">
            <a:avLst>
              <a:gd name="adj" fmla="val 1910"/>
            </a:avLst>
          </a:prstGeom>
          <a:solidFill>
            <a:srgbClr val="F2EEEE"/>
          </a:solidFill>
          <a:ln/>
        </p:spPr>
      </p:sp>
      <p:sp>
        <p:nvSpPr>
          <p:cNvPr id="38" name="Text 36"/>
          <p:cNvSpPr/>
          <p:nvPr/>
        </p:nvSpPr>
        <p:spPr>
          <a:xfrm>
            <a:off x="9699903" y="6605111"/>
            <a:ext cx="2146340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Transitive Dependency Trust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99903" y="6882646"/>
            <a:ext cx="4017169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Vulnerabilities inherited from unmonitored open-source libraries or third-party APIs create vast, often invisible attack surfaces in every build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666" y="734258"/>
            <a:ext cx="5187196" cy="44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Impact of Cyber Incidents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758666" y="1349573"/>
            <a:ext cx="13113068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financial burden of data breaches reveals a stark duality: global averages declined slightly due to improved detection technologies, while US-based organizations surged to record highs driven by regulatory fines and litigation costs.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666" y="1846302"/>
            <a:ext cx="2099905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Cost Breakdown by Category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58666" y="2197537"/>
            <a:ext cx="1311306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breach cost for </a:t>
            </a:r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Technology &amp; IT organizations: $4.79M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above the global cross-industry average of $4.44M.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58666" y="2549128"/>
            <a:ext cx="1668780" cy="176093"/>
          </a:xfrm>
          <a:prstGeom prst="roundRect">
            <a:avLst>
              <a:gd name="adj" fmla="val 12003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758666" y="2549128"/>
            <a:ext cx="550664" cy="176093"/>
          </a:xfrm>
          <a:prstGeom prst="roundRect">
            <a:avLst>
              <a:gd name="adj" fmla="val 12003"/>
            </a:avLst>
          </a:prstGeom>
          <a:solidFill>
            <a:srgbClr val="00674F"/>
          </a:solidFill>
          <a:ln/>
        </p:spPr>
      </p:sp>
      <p:sp>
        <p:nvSpPr>
          <p:cNvPr id="8" name="Text 6"/>
          <p:cNvSpPr/>
          <p:nvPr/>
        </p:nvSpPr>
        <p:spPr>
          <a:xfrm>
            <a:off x="2533055" y="2549128"/>
            <a:ext cx="303014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33%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58666" y="2861191"/>
            <a:ext cx="1761411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Detection &amp; Escalation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8666" y="3133725"/>
            <a:ext cx="3196114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$1.47M — forensics, crisis management, auditing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4198" y="2549128"/>
            <a:ext cx="1689854" cy="176093"/>
          </a:xfrm>
          <a:prstGeom prst="roundRect">
            <a:avLst>
              <a:gd name="adj" fmla="val 12003"/>
            </a:avLst>
          </a:prstGeom>
          <a:solidFill>
            <a:srgbClr val="F2EEEE"/>
          </a:solidFill>
          <a:ln/>
        </p:spPr>
      </p:sp>
      <p:sp>
        <p:nvSpPr>
          <p:cNvPr id="12" name="Shape 10"/>
          <p:cNvSpPr/>
          <p:nvPr/>
        </p:nvSpPr>
        <p:spPr>
          <a:xfrm>
            <a:off x="4064198" y="2549128"/>
            <a:ext cx="523756" cy="176093"/>
          </a:xfrm>
          <a:prstGeom prst="roundRect">
            <a:avLst>
              <a:gd name="adj" fmla="val 12003"/>
            </a:avLst>
          </a:prstGeom>
          <a:solidFill>
            <a:srgbClr val="00674F"/>
          </a:solidFill>
          <a:ln/>
        </p:spPr>
      </p:sp>
      <p:sp>
        <p:nvSpPr>
          <p:cNvPr id="13" name="Text 11"/>
          <p:cNvSpPr/>
          <p:nvPr/>
        </p:nvSpPr>
        <p:spPr>
          <a:xfrm>
            <a:off x="5859661" y="2549128"/>
            <a:ext cx="282059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31%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064198" y="2861191"/>
            <a:ext cx="1761411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Lost Business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064198" y="3133725"/>
            <a:ext cx="319623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$1.38M — downtime, churn, reputational damage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9850" y="2549128"/>
            <a:ext cx="1670209" cy="176093"/>
          </a:xfrm>
          <a:prstGeom prst="roundRect">
            <a:avLst>
              <a:gd name="adj" fmla="val 12003"/>
            </a:avLst>
          </a:prstGeom>
          <a:solidFill>
            <a:srgbClr val="F2EEE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69850" y="2549128"/>
            <a:ext cx="450890" cy="176093"/>
          </a:xfrm>
          <a:prstGeom prst="roundRect">
            <a:avLst>
              <a:gd name="adj" fmla="val 12003"/>
            </a:avLst>
          </a:prstGeom>
          <a:solidFill>
            <a:srgbClr val="00674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5667" y="2549128"/>
            <a:ext cx="301704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27%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69850" y="2861191"/>
            <a:ext cx="1761411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Post-Breach Response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69850" y="3133725"/>
            <a:ext cx="319623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$1.20M — legal, remediation, regulatory fines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675501" y="2549128"/>
            <a:ext cx="1744028" cy="176093"/>
          </a:xfrm>
          <a:prstGeom prst="roundRect">
            <a:avLst>
              <a:gd name="adj" fmla="val 12003"/>
            </a:avLst>
          </a:prstGeom>
          <a:solidFill>
            <a:srgbClr val="F2EE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75501" y="2549128"/>
            <a:ext cx="156924" cy="176093"/>
          </a:xfrm>
          <a:prstGeom prst="roundRect">
            <a:avLst>
              <a:gd name="adj" fmla="val 13470"/>
            </a:avLst>
          </a:prstGeom>
          <a:solidFill>
            <a:srgbClr val="00674F"/>
          </a:solidFill>
          <a:ln/>
        </p:spPr>
      </p:sp>
      <p:sp>
        <p:nvSpPr>
          <p:cNvPr id="23" name="Text 21"/>
          <p:cNvSpPr/>
          <p:nvPr/>
        </p:nvSpPr>
        <p:spPr>
          <a:xfrm>
            <a:off x="12525137" y="2549128"/>
            <a:ext cx="227886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9%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675501" y="2861191"/>
            <a:ext cx="1761411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Notification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675501" y="3133725"/>
            <a:ext cx="319623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$0.39M — regulatory comms, credit monitoring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666" y="3447693"/>
            <a:ext cx="238196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Sector &amp; Geography Comparison</a:t>
            </a:r>
            <a:endParaRPr lang="en-US" sz="13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666" y="3798927"/>
            <a:ext cx="12466235" cy="2176059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036348" y="4048186"/>
            <a:ext cx="245102" cy="167347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10.2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9158844" y="4388164"/>
            <a:ext cx="245102" cy="167347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7.42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7245699" y="4728142"/>
            <a:ext cx="245103" cy="167347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5.56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6455294" y="5068120"/>
            <a:ext cx="245103" cy="167347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4.79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6089412" y="5408099"/>
            <a:ext cx="245103" cy="167347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4.44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758666" y="6017062"/>
            <a:ext cx="1311306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Global mean time to identify and contain a breach: </a:t>
            </a:r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241 days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Technology sector: 194–210 days.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58666" y="6331029"/>
            <a:ext cx="1761411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The AI Cost Divide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758666" y="6682264"/>
            <a:ext cx="13113068" cy="813078"/>
          </a:xfrm>
          <a:prstGeom prst="roundRect">
            <a:avLst>
              <a:gd name="adj" fmla="val 2600"/>
            </a:avLst>
          </a:prstGeom>
          <a:solidFill>
            <a:srgbClr val="F2EEEE"/>
          </a:solidFill>
          <a:ln/>
        </p:spPr>
      </p:sp>
      <p:sp>
        <p:nvSpPr>
          <p:cNvPr id="36" name="Shape 33"/>
          <p:cNvSpPr/>
          <p:nvPr/>
        </p:nvSpPr>
        <p:spPr>
          <a:xfrm>
            <a:off x="758666" y="6682264"/>
            <a:ext cx="6556534" cy="813078"/>
          </a:xfrm>
          <a:prstGeom prst="roundRect">
            <a:avLst>
              <a:gd name="adj" fmla="val 2600"/>
            </a:avLst>
          </a:prstGeom>
          <a:solidFill>
            <a:srgbClr val="F2EEEE"/>
          </a:solidFill>
          <a:ln/>
        </p:spPr>
      </p:sp>
      <p:sp>
        <p:nvSpPr>
          <p:cNvPr id="37" name="Text 34"/>
          <p:cNvSpPr/>
          <p:nvPr/>
        </p:nvSpPr>
        <p:spPr>
          <a:xfrm>
            <a:off x="846177" y="6769775"/>
            <a:ext cx="1761411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Defensive AI ROI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846177" y="7042309"/>
            <a:ext cx="625018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Organizations with extensive AI/automation in security operations save an average of </a:t>
            </a:r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$1.9M per breach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contain incidents </a:t>
            </a:r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80 days faster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315200" y="6682264"/>
            <a:ext cx="6556534" cy="81307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40" name="Shape 37"/>
          <p:cNvSpPr/>
          <p:nvPr/>
        </p:nvSpPr>
        <p:spPr>
          <a:xfrm>
            <a:off x="7315200" y="6682264"/>
            <a:ext cx="15240" cy="813078"/>
          </a:xfrm>
          <a:prstGeom prst="roundRect">
            <a:avLst>
              <a:gd name="adj" fmla="val 138695"/>
            </a:avLst>
          </a:prstGeom>
          <a:solidFill>
            <a:srgbClr val="D8D4D4"/>
          </a:solidFill>
          <a:ln/>
        </p:spPr>
      </p:sp>
      <p:sp>
        <p:nvSpPr>
          <p:cNvPr id="41" name="Text 38"/>
          <p:cNvSpPr/>
          <p:nvPr/>
        </p:nvSpPr>
        <p:spPr>
          <a:xfrm>
            <a:off x="7534037" y="6769775"/>
            <a:ext cx="1761411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Shadow AI Penalty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7534037" y="7042309"/>
            <a:ext cx="625018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Incidents involving Shadow AI add an average premium of </a:t>
            </a:r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$670,000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breach cost and take approximately one week longer to contain.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139107" y="6912650"/>
            <a:ext cx="352187" cy="352187"/>
          </a:xfrm>
          <a:prstGeom prst="roundRect">
            <a:avLst>
              <a:gd name="adj" fmla="val 6002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7094" y="7000637"/>
            <a:ext cx="176093" cy="1760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714" y="639842"/>
            <a:ext cx="8096845" cy="44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Worst-Case Scenarios: Catastrophic Financial Exposure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762714" y="1259443"/>
            <a:ext cx="13104971" cy="368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 IT organizations, single catastrophic events can trigger cascading financial losses that threaten enterprise viability. These scenarios represent the outer boundary of systemic risk — not outliers, but plausible near-term events.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62714" y="1727121"/>
            <a:ext cx="4309348" cy="1324094"/>
          </a:xfrm>
          <a:prstGeom prst="roundRect">
            <a:avLst>
              <a:gd name="adj" fmla="val 160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25253" y="1883926"/>
            <a:ext cx="1784152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Systemic Cloud Collapse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9520" y="2158127"/>
            <a:ext cx="3995738" cy="736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24-hour outage of core cloud infrastructure can cost over </a:t>
            </a:r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$136M per day</a:t>
            </a:r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operational profit loss (Ingram Micro benchmark). Cloudflare outages in 2025 demonstrated how cloud concentration creates global single points of failure.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60526" y="1727121"/>
            <a:ext cx="4309348" cy="1324094"/>
          </a:xfrm>
          <a:prstGeom prst="roundRect">
            <a:avLst>
              <a:gd name="adj" fmla="val 160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96978" y="1883926"/>
            <a:ext cx="2036445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Supply Chain "Trust Event"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17331" y="2158127"/>
            <a:ext cx="3995738" cy="736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worm infecting a major IT provider's build system can push malicious code to thousands of downstream customer environments. The 2025 Bybit theft of </a:t>
            </a:r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$1.5B</a:t>
            </a:r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via supply chain attack signals the financial scale of such exposure.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58338" y="1727121"/>
            <a:ext cx="4309348" cy="1324094"/>
          </a:xfrm>
          <a:prstGeom prst="roundRect">
            <a:avLst>
              <a:gd name="adj" fmla="val 160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46688" y="1883926"/>
            <a:ext cx="2132528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Post-Quantum Decrypt Later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15143" y="2158127"/>
            <a:ext cx="3995738" cy="736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Adversaries are harvesting encrypted data today for decryption when quantum computing matures (Gartner: as early as 2030). This "latent breach" could devalue core IP assets overnight — with no warning.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2714" y="3139678"/>
            <a:ext cx="13104971" cy="955953"/>
          </a:xfrm>
          <a:prstGeom prst="roundRect">
            <a:avLst>
              <a:gd name="adj" fmla="val 2223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577" y="3296483"/>
            <a:ext cx="1975128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AI-Orchestrated Espionage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9520" y="3570684"/>
            <a:ext cx="12791361" cy="368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GenAI automating 80–90% of the intrusion lifecycle enables simultaneous breaches across dozens of organizations by a single state-nexus group — including trade secret exfiltration and potential sovereign-level sanctions.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2714" y="4265945"/>
            <a:ext cx="13104971" cy="25241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62714" y="4423767"/>
            <a:ext cx="2614017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Long-Term Financial Consequences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21594" y="4848344"/>
            <a:ext cx="2075617" cy="467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76%</a:t>
            </a:r>
            <a:endParaRPr lang="en-US" sz="3650" dirty="0"/>
          </a:p>
        </p:txBody>
      </p:sp>
      <p:sp>
        <p:nvSpPr>
          <p:cNvPr id="19" name="Text 17"/>
          <p:cNvSpPr/>
          <p:nvPr/>
        </p:nvSpPr>
        <p:spPr>
          <a:xfrm>
            <a:off x="1473994" y="5452824"/>
            <a:ext cx="1770817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Recovery &gt;100 Days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62714" y="5727025"/>
            <a:ext cx="3193375" cy="368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Only 2% of organizations recover fully in under 50 days.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25459" y="4848344"/>
            <a:ext cx="2075617" cy="467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€10M</a:t>
            </a:r>
            <a:endParaRPr lang="en-US" sz="3650" dirty="0"/>
          </a:p>
        </p:txBody>
      </p:sp>
      <p:sp>
        <p:nvSpPr>
          <p:cNvPr id="22" name="Text 20"/>
          <p:cNvSpPr/>
          <p:nvPr/>
        </p:nvSpPr>
        <p:spPr>
          <a:xfrm>
            <a:off x="4777859" y="5452824"/>
            <a:ext cx="1770817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NIS2 Max Fine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066580" y="5727025"/>
            <a:ext cx="3193375" cy="368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Or 2% of total worldwide annual turnover — whichever is higher.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29324" y="4848344"/>
            <a:ext cx="2075617" cy="467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1%</a:t>
            </a:r>
            <a:endParaRPr lang="en-US" sz="3650" dirty="0"/>
          </a:p>
        </p:txBody>
      </p:sp>
      <p:sp>
        <p:nvSpPr>
          <p:cNvPr id="25" name="Text 23"/>
          <p:cNvSpPr/>
          <p:nvPr/>
        </p:nvSpPr>
        <p:spPr>
          <a:xfrm>
            <a:off x="8081724" y="5452824"/>
            <a:ext cx="1770817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DORA Daily Fine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370445" y="5727025"/>
            <a:ext cx="3193375" cy="368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Of daily average worldwide income for ICT provider non-compliance.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233190" y="4848344"/>
            <a:ext cx="2075617" cy="467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€1M</a:t>
            </a:r>
            <a:endParaRPr lang="en-US" sz="3650" dirty="0"/>
          </a:p>
        </p:txBody>
      </p:sp>
      <p:sp>
        <p:nvSpPr>
          <p:cNvPr id="28" name="Text 26"/>
          <p:cNvSpPr/>
          <p:nvPr/>
        </p:nvSpPr>
        <p:spPr>
          <a:xfrm>
            <a:off x="11385590" y="5452824"/>
            <a:ext cx="1770817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Executive Liability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674310" y="5727025"/>
            <a:ext cx="3193375" cy="368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NIS2/DORA introduce personal fines for management board members.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77332" y="6342817"/>
            <a:ext cx="2075617" cy="467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100%</a:t>
            </a:r>
            <a:endParaRPr lang="en-US" sz="3650" dirty="0"/>
          </a:p>
        </p:txBody>
      </p:sp>
      <p:sp>
        <p:nvSpPr>
          <p:cNvPr id="31" name="Text 29"/>
          <p:cNvSpPr/>
          <p:nvPr/>
        </p:nvSpPr>
        <p:spPr>
          <a:xfrm>
            <a:off x="6429732" y="6947297"/>
            <a:ext cx="1770817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Insurance Surge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718453" y="7221498"/>
            <a:ext cx="3193375" cy="368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Post-incident premiums can rise 50–100% or coverage lost entirely.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28174"/>
            <a:ext cx="861536" cy="244078"/>
          </a:xfrm>
          <a:prstGeom prst="roundRect">
            <a:avLst>
              <a:gd name="adj" fmla="val 7249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882134" y="672346"/>
            <a:ext cx="684848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3790" y="910471"/>
            <a:ext cx="7148036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Ingram Micro Ransomware Attack — July 2025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93790" y="1514951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definitive operational profile of a modern, large-scale intrusion targeting the IT sector: multi-stage, credential-driven, and devastating in scale.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3790" y="185320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Attack Timeline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93790" y="2227302"/>
            <a:ext cx="13042821" cy="2287191"/>
          </a:xfrm>
          <a:prstGeom prst="roundRect">
            <a:avLst>
              <a:gd name="adj" fmla="val 96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1410" y="2234922"/>
            <a:ext cx="13027581" cy="3245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48928" y="2299930"/>
            <a:ext cx="3349109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00456" y="2299930"/>
            <a:ext cx="6471880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374755" y="2299930"/>
            <a:ext cx="230683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Status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1410" y="2559487"/>
            <a:ext cx="13027581" cy="3245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48928" y="2624495"/>
            <a:ext cx="3349109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Jul 5, 2025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00456" y="2624495"/>
            <a:ext cx="6471880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Initial access via VPN zero-day exploit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374755" y="2624495"/>
            <a:ext cx="230683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Normal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1410" y="2884051"/>
            <a:ext cx="13027581" cy="3245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48928" y="2949059"/>
            <a:ext cx="3349109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Jul 6–8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00456" y="2949059"/>
            <a:ext cx="6471880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Lateral movement; 3.5TB data exfiltrated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374755" y="2949059"/>
            <a:ext cx="230683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Compromised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1410" y="3208615"/>
            <a:ext cx="13027581" cy="3245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48928" y="3273623"/>
            <a:ext cx="3349109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Jul 9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600456" y="3273623"/>
            <a:ext cx="6471880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Unauthorized activity discovered; systems locked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374755" y="3273623"/>
            <a:ext cx="230683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Offline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1410" y="3533180"/>
            <a:ext cx="13027581" cy="3245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48928" y="3598188"/>
            <a:ext cx="3349109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Jul 10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00456" y="3598188"/>
            <a:ext cx="6471880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Global operations halted; $136M/day impact begins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374755" y="3598188"/>
            <a:ext cx="230683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Critical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1410" y="3857744"/>
            <a:ext cx="13027581" cy="3245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48928" y="3922752"/>
            <a:ext cx="3349109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Jul 16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00456" y="3922752"/>
            <a:ext cx="6471880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Initial restoration of billing and ordering services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374755" y="3922752"/>
            <a:ext cx="230683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Partial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1410" y="4182308"/>
            <a:ext cx="13027581" cy="3245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48928" y="4247317"/>
            <a:ext cx="3349109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Aug 2025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600456" y="4247317"/>
            <a:ext cx="6471880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operational recovery; forensic report finalized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374755" y="4247317"/>
            <a:ext cx="230683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Recovered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93790" y="4695894"/>
            <a:ext cx="13042821" cy="25956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540669" y="4903232"/>
            <a:ext cx="2773918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3.5TB</a:t>
            </a:r>
            <a:endParaRPr lang="en-US" sz="3800" dirty="0"/>
          </a:p>
        </p:txBody>
      </p:sp>
      <p:sp>
        <p:nvSpPr>
          <p:cNvPr id="38" name="Text 36"/>
          <p:cNvSpPr/>
          <p:nvPr/>
        </p:nvSpPr>
        <p:spPr>
          <a:xfrm>
            <a:off x="2006084" y="553521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Exfiltrated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793790" y="5822990"/>
            <a:ext cx="426767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Before ransomware was even deployed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928122" y="4903232"/>
            <a:ext cx="2774037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$136M</a:t>
            </a:r>
            <a:endParaRPr lang="en-US" sz="3800" dirty="0"/>
          </a:p>
        </p:txBody>
      </p:sp>
      <p:sp>
        <p:nvSpPr>
          <p:cNvPr id="41" name="Text 39"/>
          <p:cNvSpPr/>
          <p:nvPr/>
        </p:nvSpPr>
        <p:spPr>
          <a:xfrm>
            <a:off x="6393656" y="553521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Daily Impact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5181243" y="5822990"/>
            <a:ext cx="4267795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Operational profit loss per day of outage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0315694" y="4903232"/>
            <a:ext cx="2774037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$900M+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10781228" y="553521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Direct Toll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9568815" y="5822990"/>
            <a:ext cx="4267795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Excluding forensics, compensation, legal fees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93790" y="616124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Lessons Learned</a:t>
            </a:r>
            <a:endParaRPr lang="en-US" sz="1450" dirty="0"/>
          </a:p>
        </p:txBody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9035" y="6539865"/>
            <a:ext cx="221099" cy="221099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272897" y="653534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Retire Legacy VPN</a:t>
            </a:r>
            <a:endParaRPr lang="en-US" sz="1450" dirty="0"/>
          </a:p>
        </p:txBody>
      </p:sp>
      <p:sp>
        <p:nvSpPr>
          <p:cNvPr id="49" name="Text 46"/>
          <p:cNvSpPr/>
          <p:nvPr/>
        </p:nvSpPr>
        <p:spPr>
          <a:xfrm>
            <a:off x="1272897" y="6823115"/>
            <a:ext cx="2691765" cy="58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Traditional VPN without Zero Trust principles proved fatal. Migrate to identity-based ZTNA immediately.</a:t>
            </a:r>
            <a:endParaRPr lang="en-US" sz="1150" dirty="0"/>
          </a:p>
        </p:txBody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39684" y="6539865"/>
            <a:ext cx="221099" cy="221099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4563547" y="653534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Patch as a Business Risk</a:t>
            </a:r>
            <a:endParaRPr lang="en-US" sz="1450" dirty="0"/>
          </a:p>
        </p:txBody>
      </p:sp>
      <p:sp>
        <p:nvSpPr>
          <p:cNvPr id="52" name="Text 48"/>
          <p:cNvSpPr/>
          <p:nvPr/>
        </p:nvSpPr>
        <p:spPr>
          <a:xfrm>
            <a:off x="4563547" y="6823115"/>
            <a:ext cx="2691765" cy="778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breach originated from an unpatched system — a "basic cybersecurity gap" with a $900M+ consequence.</a:t>
            </a:r>
            <a:endParaRPr lang="en-US" sz="1150" dirty="0"/>
          </a:p>
        </p:txBody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0333" y="6539865"/>
            <a:ext cx="221099" cy="221099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7854196" y="6535341"/>
            <a:ext cx="2260521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AI-Driven Anomaly Detection</a:t>
            </a:r>
            <a:endParaRPr lang="en-US" sz="1450" dirty="0"/>
          </a:p>
        </p:txBody>
      </p:sp>
      <p:sp>
        <p:nvSpPr>
          <p:cNvPr id="55" name="Text 50"/>
          <p:cNvSpPr/>
          <p:nvPr/>
        </p:nvSpPr>
        <p:spPr>
          <a:xfrm>
            <a:off x="7854196" y="6823115"/>
            <a:ext cx="2691765" cy="778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Attackers spent 3 days undetected exfiltrating data. Real-time AI detection would have flagged abnormal data movement within minutes.</a:t>
            </a:r>
            <a:endParaRPr lang="en-US" sz="1150" dirty="0"/>
          </a:p>
        </p:txBody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20983" y="6539865"/>
            <a:ext cx="221099" cy="221099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11144845" y="653534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Credential Monitoring</a:t>
            </a:r>
            <a:endParaRPr lang="en-US" sz="1450" dirty="0"/>
          </a:p>
        </p:txBody>
      </p:sp>
      <p:sp>
        <p:nvSpPr>
          <p:cNvPr id="58" name="Text 52"/>
          <p:cNvSpPr/>
          <p:nvPr/>
        </p:nvSpPr>
        <p:spPr>
          <a:xfrm>
            <a:off x="11144845" y="6823115"/>
            <a:ext cx="2691765" cy="778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Stolen valid credentials bypassed MFA entirely. Phishing-resistant authentication and continuous credential monitoring are now mandatory.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716994"/>
            <a:ext cx="6093143" cy="431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7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Mitigation Strategies &amp; Strategic 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42950" y="1315879"/>
            <a:ext cx="13144500" cy="35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Evidence-based approaches that deliver measurable risk reduction while ensuring compliance with the EU's regulatory framework. The CISO must prioritize strategies combining Zero Trust architecture, AI-driven automation, and behavioral controls.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42950" y="1796772"/>
            <a:ext cx="2535793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Effectiveness vs. Investment Matrix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2950" y="2138243"/>
            <a:ext cx="1153686" cy="186239"/>
          </a:xfrm>
          <a:prstGeom prst="roundRect">
            <a:avLst>
              <a:gd name="adj" fmla="val 68737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323" y="2179615"/>
            <a:ext cx="103496" cy="1034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318" y="2164117"/>
            <a:ext cx="894945" cy="134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Risk Mitigation (%)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965633" y="2138243"/>
            <a:ext cx="1227265" cy="186239"/>
          </a:xfrm>
          <a:prstGeom prst="roundRect">
            <a:avLst>
              <a:gd name="adj" fmla="val 68737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006" y="2179615"/>
            <a:ext cx="103496" cy="1034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64001" y="2164117"/>
            <a:ext cx="968525" cy="134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ROI Indicator (x100)</a:t>
            </a:r>
            <a:endParaRPr lang="en-US" sz="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410729"/>
            <a:ext cx="12207157" cy="32436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95462" y="4822133"/>
            <a:ext cx="160365" cy="163869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78</a:t>
            </a:r>
            <a:endParaRPr lang="en-US" sz="650" dirty="0"/>
          </a:p>
        </p:txBody>
      </p:sp>
      <p:sp>
        <p:nvSpPr>
          <p:cNvPr id="13" name="Text 8"/>
          <p:cNvSpPr/>
          <p:nvPr/>
        </p:nvSpPr>
        <p:spPr>
          <a:xfrm>
            <a:off x="2378248" y="3498877"/>
            <a:ext cx="214674" cy="163869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300</a:t>
            </a:r>
            <a:endParaRPr lang="en-US" sz="650" dirty="0"/>
          </a:p>
        </p:txBody>
      </p:sp>
      <p:sp>
        <p:nvSpPr>
          <p:cNvPr id="14" name="Text 9"/>
          <p:cNvSpPr/>
          <p:nvPr/>
        </p:nvSpPr>
        <p:spPr>
          <a:xfrm>
            <a:off x="3863800" y="4738684"/>
            <a:ext cx="160365" cy="163869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92</a:t>
            </a:r>
            <a:endParaRPr lang="en-US" sz="650" dirty="0"/>
          </a:p>
        </p:txBody>
      </p:sp>
      <p:sp>
        <p:nvSpPr>
          <p:cNvPr id="15" name="Text 10"/>
          <p:cNvSpPr/>
          <p:nvPr/>
        </p:nvSpPr>
        <p:spPr>
          <a:xfrm>
            <a:off x="4746585" y="4154544"/>
            <a:ext cx="214674" cy="163869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190</a:t>
            </a:r>
            <a:endParaRPr lang="en-US" sz="650" dirty="0"/>
          </a:p>
        </p:txBody>
      </p:sp>
      <p:sp>
        <p:nvSpPr>
          <p:cNvPr id="16" name="Text 11"/>
          <p:cNvSpPr/>
          <p:nvPr/>
        </p:nvSpPr>
        <p:spPr>
          <a:xfrm>
            <a:off x="6232137" y="4917503"/>
            <a:ext cx="160365" cy="163869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62</a:t>
            </a:r>
            <a:endParaRPr lang="en-US" sz="650" dirty="0"/>
          </a:p>
        </p:txBody>
      </p:sp>
      <p:sp>
        <p:nvSpPr>
          <p:cNvPr id="17" name="Text 12"/>
          <p:cNvSpPr/>
          <p:nvPr/>
        </p:nvSpPr>
        <p:spPr>
          <a:xfrm>
            <a:off x="7114922" y="4392968"/>
            <a:ext cx="214674" cy="163869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150</a:t>
            </a:r>
            <a:endParaRPr lang="en-US" sz="650" dirty="0"/>
          </a:p>
        </p:txBody>
      </p:sp>
      <p:sp>
        <p:nvSpPr>
          <p:cNvPr id="18" name="Text 13"/>
          <p:cNvSpPr/>
          <p:nvPr/>
        </p:nvSpPr>
        <p:spPr>
          <a:xfrm>
            <a:off x="8600474" y="5006912"/>
            <a:ext cx="160365" cy="163869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47</a:t>
            </a:r>
            <a:endParaRPr lang="en-US" sz="650" dirty="0"/>
          </a:p>
        </p:txBody>
      </p:sp>
      <p:sp>
        <p:nvSpPr>
          <p:cNvPr id="19" name="Text 14"/>
          <p:cNvSpPr/>
          <p:nvPr/>
        </p:nvSpPr>
        <p:spPr>
          <a:xfrm>
            <a:off x="9483260" y="2753800"/>
            <a:ext cx="214673" cy="163869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425</a:t>
            </a:r>
            <a:endParaRPr lang="en-US" sz="650" dirty="0"/>
          </a:p>
        </p:txBody>
      </p:sp>
      <p:sp>
        <p:nvSpPr>
          <p:cNvPr id="20" name="Text 15"/>
          <p:cNvSpPr/>
          <p:nvPr/>
        </p:nvSpPr>
        <p:spPr>
          <a:xfrm>
            <a:off x="10968811" y="4780409"/>
            <a:ext cx="160365" cy="163869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85</a:t>
            </a:r>
            <a:endParaRPr lang="en-US" sz="650" dirty="0"/>
          </a:p>
        </p:txBody>
      </p:sp>
      <p:sp>
        <p:nvSpPr>
          <p:cNvPr id="21" name="Text 16"/>
          <p:cNvSpPr/>
          <p:nvPr/>
        </p:nvSpPr>
        <p:spPr>
          <a:xfrm>
            <a:off x="11851598" y="4094938"/>
            <a:ext cx="214673" cy="163869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200</a:t>
            </a:r>
            <a:endParaRPr lang="en-US" sz="650" dirty="0"/>
          </a:p>
        </p:txBody>
      </p:sp>
      <p:sp>
        <p:nvSpPr>
          <p:cNvPr id="22" name="Shape 17"/>
          <p:cNvSpPr/>
          <p:nvPr/>
        </p:nvSpPr>
        <p:spPr>
          <a:xfrm>
            <a:off x="742950" y="5768784"/>
            <a:ext cx="13144500" cy="24765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742950" y="5919311"/>
            <a:ext cx="2952393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EU Regulatory Alignment — Three Pillars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742950" y="6260783"/>
            <a:ext cx="4325541" cy="1251704"/>
          </a:xfrm>
          <a:prstGeom prst="roundRect">
            <a:avLst>
              <a:gd name="adj" fmla="val 1654"/>
            </a:avLst>
          </a:prstGeom>
          <a:solidFill>
            <a:srgbClr val="F2EEEE"/>
          </a:solidFill>
          <a:ln/>
        </p:spPr>
      </p:sp>
      <p:sp>
        <p:nvSpPr>
          <p:cNvPr id="25" name="Text 20"/>
          <p:cNvSpPr/>
          <p:nvPr/>
        </p:nvSpPr>
        <p:spPr>
          <a:xfrm>
            <a:off x="880824" y="6398657"/>
            <a:ext cx="1724739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NIS2 Directive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880824" y="6664523"/>
            <a:ext cx="4049792" cy="532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Applies to: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Essential entities in digital infrastructure and cloud.</a:t>
            </a:r>
            <a:endParaRPr lang="en-US" sz="105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Key: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24-hour incident reporting; all-hazard risk management.</a:t>
            </a:r>
            <a:endParaRPr lang="en-US" sz="105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Penalty: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Up to 2% of global turnover + board personal liability.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152311" y="6260783"/>
            <a:ext cx="4325660" cy="1251704"/>
          </a:xfrm>
          <a:prstGeom prst="roundRect">
            <a:avLst>
              <a:gd name="adj" fmla="val 1654"/>
            </a:avLst>
          </a:prstGeom>
          <a:solidFill>
            <a:srgbClr val="F2EEEE"/>
          </a:solidFill>
          <a:ln/>
        </p:spPr>
      </p:sp>
      <p:sp>
        <p:nvSpPr>
          <p:cNvPr id="28" name="Text 23"/>
          <p:cNvSpPr/>
          <p:nvPr/>
        </p:nvSpPr>
        <p:spPr>
          <a:xfrm>
            <a:off x="5290185" y="6398657"/>
            <a:ext cx="1724739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DORA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5290185" y="6664523"/>
            <a:ext cx="4049911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Applies to: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Financial entities and critical ICT third-party providers.</a:t>
            </a:r>
            <a:endParaRPr lang="en-US" sz="105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Key: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Annual resilience testing; TLPT every 3 years.</a:t>
            </a:r>
            <a:endParaRPr lang="en-US" sz="105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Significance: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Contractual prerequisite for banking and insurance sectors.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9561790" y="6260783"/>
            <a:ext cx="4325541" cy="1251704"/>
          </a:xfrm>
          <a:prstGeom prst="roundRect">
            <a:avLst>
              <a:gd name="adj" fmla="val 1654"/>
            </a:avLst>
          </a:prstGeom>
          <a:solidFill>
            <a:srgbClr val="F2EEEE"/>
          </a:solidFill>
          <a:ln/>
        </p:spPr>
      </p:sp>
      <p:sp>
        <p:nvSpPr>
          <p:cNvPr id="31" name="Text 26"/>
          <p:cNvSpPr/>
          <p:nvPr/>
        </p:nvSpPr>
        <p:spPr>
          <a:xfrm>
            <a:off x="9699665" y="6398657"/>
            <a:ext cx="1724739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CER Directive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9699665" y="6664523"/>
            <a:ext cx="4049792" cy="532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Applies to: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Operators of essential services across 11 sectors.</a:t>
            </a:r>
            <a:endParaRPr lang="en-US" sz="105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Key: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Physical resilience and operational continuity.</a:t>
            </a:r>
            <a:endParaRPr lang="en-US" sz="105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Convergence: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Bridges cybersecurity (NIS2) and physical security.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2026-03-24T14:07:43Z</dcterms:created>
  <dcterms:modified xsi:type="dcterms:W3CDTF">2026-03-24T14:07:43Z</dcterms:modified>
</cp:coreProperties>
</file>