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26212800" cy="14630400"/>
  <p:notesSz cx="6858000" cy="9144000"/>
  <p:embeddedFontLst>
    <p:embeddedFont>
      <p:font typeface="Arial MT Pro Bold" charset="1" panose="020B0802020202020204"/>
      <p:regular r:id="rId8"/>
    </p:embeddedFont>
    <p:embeddedFont>
      <p:font typeface="Arial MT Pro" charset="1" panose="020B0502020202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23271" cy="14630400"/>
          </a:xfrm>
          <a:custGeom>
            <a:avLst/>
            <a:gdLst/>
            <a:ahLst/>
            <a:cxnLst/>
            <a:rect r="r" b="b" t="t" l="l"/>
            <a:pathLst>
              <a:path h="14630400" w="26223271">
                <a:moveTo>
                  <a:pt x="0" y="0"/>
                </a:moveTo>
                <a:lnTo>
                  <a:pt x="26223271" y="0"/>
                </a:lnTo>
                <a:lnTo>
                  <a:pt x="26223271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72858" y="10227722"/>
            <a:ext cx="10056614" cy="338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85"/>
              </a:lnSpc>
              <a:spcBef>
                <a:spcPct val="0"/>
              </a:spcBef>
            </a:pPr>
            <a:r>
              <a:rPr lang="en-US" b="true" sz="3620" spc="-28" strike="noStrike" u="none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Bottom Line: The Shift from Data Loss to</a:t>
            </a:r>
          </a:p>
          <a:p>
            <a:pPr algn="just" marL="0" indent="0" lvl="0">
              <a:lnSpc>
                <a:spcPts val="4485"/>
              </a:lnSpc>
              <a:spcBef>
                <a:spcPct val="0"/>
              </a:spcBef>
            </a:pPr>
            <a:r>
              <a:rPr lang="en-US" b="true" sz="3620" spc="-28" strike="noStrike" u="none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Operational Paralysis</a:t>
            </a:r>
          </a:p>
          <a:p>
            <a:pPr algn="just" marL="0" indent="0" lvl="0">
              <a:lnSpc>
                <a:spcPts val="3493"/>
              </a:lnSpc>
              <a:spcBef>
                <a:spcPct val="0"/>
              </a:spcBef>
            </a:pP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The strategic focus of cyber attacks has </a:t>
            </a:r>
          </a:p>
          <a:p>
            <a:pPr algn="just" marL="0" indent="0" lvl="0">
              <a:lnSpc>
                <a:spcPts val="3493"/>
              </a:lnSpc>
              <a:spcBef>
                <a:spcPct val="0"/>
              </a:spcBef>
            </a:pP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fundamentally </a:t>
            </a: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changed. Adversaries now</a:t>
            </a:r>
          </a:p>
          <a:p>
            <a:pPr algn="just" marL="0" indent="0" lvl="0">
              <a:lnSpc>
                <a:spcPts val="3493"/>
              </a:lnSpc>
              <a:spcBef>
                <a:spcPct val="0"/>
              </a:spcBef>
            </a:pP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prioritize causing </a:t>
            </a: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operational paralysis and </a:t>
            </a:r>
          </a:p>
          <a:p>
            <a:pPr algn="just" marL="0" indent="0" lvl="0">
              <a:lnSpc>
                <a:spcPts val="3493"/>
              </a:lnSpc>
              <a:spcBef>
                <a:spcPct val="0"/>
              </a:spcBef>
            </a:pP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systemic</a:t>
            </a: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disruption over </a:t>
            </a: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simple data theft, creating direct </a:t>
            </a:r>
          </a:p>
          <a:p>
            <a:pPr algn="just" marL="0" indent="0" lvl="0">
              <a:lnSpc>
                <a:spcPts val="3493"/>
              </a:lnSpc>
              <a:spcBef>
                <a:spcPct val="0"/>
              </a:spcBef>
            </a:pP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and immediate </a:t>
            </a:r>
            <a:r>
              <a:rPr lang="en-US" sz="2819" spc="-22" strike="noStrike" u="none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threats to financial stability and physical services.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10508703"/>
            <a:ext cx="7447253" cy="282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3615" spc="21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Defining 'Kinetic Risk' in Banking</a:t>
            </a:r>
          </a:p>
          <a:p>
            <a:pPr algn="l">
              <a:lnSpc>
                <a:spcPts val="3493"/>
              </a:lnSpc>
            </a:pPr>
            <a:r>
              <a:rPr lang="en-US" sz="2819" spc="-22">
                <a:solidFill>
                  <a:srgbClr val="365F4F"/>
                </a:solidFill>
                <a:latin typeface="Arial MT Pro"/>
                <a:ea typeface="Arial MT Pro"/>
                <a:cs typeface="Arial MT Pro"/>
                <a:sym typeface="Arial MT Pro"/>
              </a:rPr>
              <a:t>Kinetic risk refers to the physical operational failure of </a:t>
            </a:r>
            <a:r>
              <a:rPr lang="en-US" sz="2819" spc="-2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core services essential for banking, such as the disruption of power grids or telecommunication networks that underpin payment rails and data centers.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655" y="2965046"/>
            <a:ext cx="4254371" cy="542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b="true" sz="3636" spc="152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State-Sponsored</a:t>
            </a:r>
          </a:p>
          <a:p>
            <a:pPr algn="l">
              <a:lnSpc>
                <a:spcPts val="4309"/>
              </a:lnSpc>
            </a:pPr>
            <a:r>
              <a:rPr lang="en-US" b="true" sz="3636" spc="152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Financial Raiding</a:t>
            </a:r>
          </a:p>
          <a:p>
            <a:pPr algn="l">
              <a:lnSpc>
                <a:spcPts val="4309"/>
              </a:lnSpc>
            </a:pPr>
            <a:r>
              <a:rPr lang="en-US" b="true" sz="3636" spc="152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Industrialized</a:t>
            </a:r>
          </a:p>
          <a:p>
            <a:pPr algn="l">
              <a:lnSpc>
                <a:spcPts val="2962"/>
              </a:lnSpc>
            </a:pPr>
            <a:r>
              <a:rPr lang="en-US" sz="2499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North Korea's Lazarus </a:t>
            </a:r>
            <a:r>
              <a:rPr lang="en-US" sz="2499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Group executes the 'Trader Traitor' campaign, stealing</a:t>
            </a:r>
          </a:p>
          <a:p>
            <a:pPr algn="l">
              <a:lnSpc>
                <a:spcPts val="2962"/>
              </a:lnSpc>
            </a:pPr>
            <a:r>
              <a:rPr lang="en-US" b="true" sz="2499" spc="32">
                <a:solidFill>
                  <a:srgbClr val="417764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$1.5 Billion in crypto</a:t>
            </a:r>
          </a:p>
          <a:p>
            <a:pPr algn="l">
              <a:lnSpc>
                <a:spcPts val="2962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from the Bybit </a:t>
            </a: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exchange.</a:t>
            </a:r>
          </a:p>
          <a:p>
            <a:pPr algn="l">
              <a:lnSpc>
                <a:spcPts val="2962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This marks the largest </a:t>
            </a:r>
          </a:p>
          <a:p>
            <a:pPr algn="l">
              <a:lnSpc>
                <a:spcPts val="2962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crypto heist to date and solidifies the use of cyber </a:t>
            </a:r>
          </a:p>
          <a:p>
            <a:pPr algn="l">
              <a:lnSpc>
                <a:spcPts val="2962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theft to fund state military objectives.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29452" y="4706676"/>
            <a:ext cx="4078605" cy="4170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497" spc="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The 'NightSpire' ransomware</a:t>
            </a:r>
          </a:p>
          <a:p>
            <a:pPr algn="l">
              <a:lnSpc>
                <a:spcPts val="2782"/>
              </a:lnSpc>
            </a:pPr>
            <a:r>
              <a:rPr lang="en-US" sz="2497" spc="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campsign targets the</a:t>
            </a:r>
          </a:p>
          <a:p>
            <a:pPr algn="l">
              <a:lnSpc>
                <a:spcPts val="2782"/>
              </a:lnSpc>
            </a:pPr>
            <a:r>
              <a:rPr lang="en-US" sz="2497" spc="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European energy sector,</a:t>
            </a:r>
          </a:p>
          <a:p>
            <a:pPr algn="l">
              <a:lnSpc>
                <a:spcPts val="2782"/>
              </a:lnSpc>
            </a:pPr>
            <a:r>
              <a:rPr lang="en-US" sz="2497" spc="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directly threatening</a:t>
            </a:r>
          </a:p>
          <a:p>
            <a:pPr algn="l">
              <a:lnSpc>
                <a:spcPts val="2782"/>
              </a:lnSpc>
            </a:pPr>
            <a:r>
              <a:rPr lang="en-US" sz="2497" spc="2">
                <a:solidFill>
                  <a:srgbClr val="417764"/>
                </a:solidFill>
                <a:latin typeface="Arial MT Pro"/>
                <a:ea typeface="Arial MT Pro"/>
                <a:cs typeface="Arial MT Pro"/>
                <a:sym typeface="Arial MT Pro"/>
              </a:rPr>
              <a:t>physical grid</a:t>
            </a:r>
          </a:p>
          <a:p>
            <a:pPr algn="l">
              <a:lnSpc>
                <a:spcPts val="2782"/>
              </a:lnSpc>
            </a:pPr>
            <a:r>
              <a:rPr lang="en-US" sz="2497" spc="2">
                <a:solidFill>
                  <a:srgbClr val="417764"/>
                </a:solidFill>
                <a:latin typeface="Arial MT Pro"/>
                <a:ea typeface="Arial MT Pro"/>
                <a:cs typeface="Arial MT Pro"/>
                <a:sym typeface="Arial MT Pro"/>
              </a:rPr>
              <a:t>operations.</a:t>
            </a:r>
          </a:p>
          <a:p>
            <a:pPr algn="l">
              <a:lnSpc>
                <a:spcPts val="2677"/>
              </a:lnSpc>
            </a:pPr>
            <a:r>
              <a:rPr lang="en-US" sz="2403" spc="-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Concurrently, the</a:t>
            </a:r>
          </a:p>
          <a:p>
            <a:pPr algn="l">
              <a:lnSpc>
                <a:spcPts val="2677"/>
              </a:lnSpc>
            </a:pPr>
            <a:r>
              <a:rPr lang="en-US" sz="2403" spc="-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'DireWolf' APT</a:t>
            </a:r>
          </a:p>
          <a:p>
            <a:pPr algn="l">
              <a:lnSpc>
                <a:spcPts val="2677"/>
              </a:lnSpc>
            </a:pPr>
            <a:r>
              <a:rPr lang="en-US" sz="2403" spc="-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group emerges,</a:t>
            </a:r>
          </a:p>
          <a:p>
            <a:pPr algn="l">
              <a:lnSpc>
                <a:spcPts val="2677"/>
              </a:lnSpc>
            </a:pPr>
            <a:r>
              <a:rPr lang="en-US" sz="2403" spc="-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targeting telecom</a:t>
            </a:r>
          </a:p>
          <a:p>
            <a:pPr algn="l">
              <a:lnSpc>
                <a:spcPts val="2677"/>
              </a:lnSpc>
            </a:pPr>
            <a:r>
              <a:rPr lang="en-US" sz="2403" spc="-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and power infrastructure </a:t>
            </a:r>
          </a:p>
          <a:p>
            <a:pPr algn="l">
              <a:lnSpc>
                <a:spcPts val="2677"/>
              </a:lnSpc>
            </a:pPr>
            <a:r>
              <a:rPr lang="en-US" sz="2403" spc="-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in Asia.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29452" y="2955521"/>
            <a:ext cx="4817388" cy="176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b="true" sz="3639" spc="40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Critical Infrastructure</a:t>
            </a:r>
          </a:p>
          <a:p>
            <a:pPr algn="l">
              <a:lnSpc>
                <a:spcPts val="4440"/>
              </a:lnSpc>
            </a:pPr>
            <a:r>
              <a:rPr lang="en-US" b="true" sz="3639" spc="40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Assaults Threaten</a:t>
            </a:r>
          </a:p>
          <a:p>
            <a:pPr algn="l">
              <a:lnSpc>
                <a:spcPts val="4440"/>
              </a:lnSpc>
            </a:pPr>
            <a:r>
              <a:rPr lang="en-US" b="true" sz="3639" spc="40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Physical Operations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70698" y="2921115"/>
            <a:ext cx="4268272" cy="602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2"/>
              </a:lnSpc>
            </a:pPr>
            <a:r>
              <a:rPr lang="en-US" b="true" sz="3639" spc="90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Automated Supply</a:t>
            </a:r>
          </a:p>
          <a:p>
            <a:pPr algn="l">
              <a:lnSpc>
                <a:spcPts val="4222"/>
              </a:lnSpc>
            </a:pPr>
            <a:r>
              <a:rPr lang="en-US" b="true" sz="3639" spc="90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Chain Poisoning</a:t>
            </a:r>
          </a:p>
          <a:p>
            <a:pPr algn="l">
              <a:lnSpc>
                <a:spcPts val="4222"/>
              </a:lnSpc>
            </a:pPr>
            <a:r>
              <a:rPr lang="en-US" b="true" sz="3639" spc="90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Emerges</a:t>
            </a: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The 'Shai-Hulud' worm</a:t>
            </a: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is detected in the NPM</a:t>
            </a: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ecosystem, representing</a:t>
            </a:r>
          </a:p>
          <a:p>
            <a:pPr algn="l">
              <a:lnSpc>
                <a:spcPts val="2899"/>
              </a:lnSpc>
            </a:pPr>
            <a:r>
              <a:rPr lang="en-US" sz="2499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the first widespread,</a:t>
            </a:r>
          </a:p>
          <a:p>
            <a:pPr algn="l">
              <a:lnSpc>
                <a:spcPts val="2899"/>
              </a:lnSpc>
            </a:pPr>
            <a:r>
              <a:rPr lang="en-US" sz="2499" spc="4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self-propagating</a:t>
            </a:r>
          </a:p>
          <a:p>
            <a:pPr algn="l">
              <a:lnSpc>
                <a:spcPts val="2899"/>
              </a:lnSpc>
            </a:pPr>
            <a:r>
              <a:rPr lang="en-US" sz="2499" spc="4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worm designed to</a:t>
            </a:r>
          </a:p>
          <a:p>
            <a:pPr algn="l">
              <a:lnSpc>
                <a:spcPts val="2899"/>
              </a:lnSpc>
            </a:pPr>
            <a:r>
              <a:rPr lang="en-US" sz="2499" spc="14">
                <a:solidFill>
                  <a:srgbClr val="417764"/>
                </a:solidFill>
                <a:latin typeface="Arial MT Pro"/>
                <a:ea typeface="Arial MT Pro"/>
                <a:cs typeface="Arial MT Pro"/>
                <a:sym typeface="Arial MT Pro"/>
              </a:rPr>
              <a:t>automatically poison</a:t>
            </a:r>
          </a:p>
          <a:p>
            <a:pPr algn="l">
              <a:lnSpc>
                <a:spcPts val="2899"/>
              </a:lnSpc>
            </a:pPr>
            <a:r>
              <a:rPr lang="en-US" sz="2499" spc="14">
                <a:solidFill>
                  <a:srgbClr val="417764"/>
                </a:solidFill>
                <a:latin typeface="Arial MT Pro"/>
                <a:ea typeface="Arial MT Pro"/>
                <a:cs typeface="Arial MT Pro"/>
                <a:sym typeface="Arial MT Pro"/>
              </a:rPr>
              <a:t>open-source software</a:t>
            </a:r>
          </a:p>
          <a:p>
            <a:pPr algn="l">
              <a:lnSpc>
                <a:spcPts val="2899"/>
              </a:lnSpc>
            </a:pPr>
            <a:r>
              <a:rPr lang="en-US" sz="2499" spc="14">
                <a:solidFill>
                  <a:srgbClr val="417764"/>
                </a:solidFill>
                <a:latin typeface="Arial MT Pro"/>
                <a:ea typeface="Arial MT Pro"/>
                <a:cs typeface="Arial MT Pro"/>
                <a:sym typeface="Arial MT Pro"/>
              </a:rPr>
              <a:t>repositories </a:t>
            </a:r>
            <a:r>
              <a:rPr lang="en-US" sz="2499" spc="1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and</a:t>
            </a:r>
          </a:p>
          <a:p>
            <a:pPr algn="l">
              <a:lnSpc>
                <a:spcPts val="2899"/>
              </a:lnSpc>
            </a:pPr>
            <a:r>
              <a:rPr lang="en-US" sz="2499" spc="-1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compromise the</a:t>
            </a:r>
          </a:p>
          <a:p>
            <a:pPr algn="l">
              <a:lnSpc>
                <a:spcPts val="2899"/>
              </a:lnSpc>
            </a:pPr>
            <a:r>
              <a:rPr lang="en-US" sz="2499" spc="-1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software supply </a:t>
            </a:r>
          </a:p>
          <a:p>
            <a:pPr algn="l">
              <a:lnSpc>
                <a:spcPts val="2899"/>
              </a:lnSpc>
            </a:pPr>
            <a:r>
              <a:rPr lang="en-US" sz="2499" spc="-1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chain at scale.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864211" y="2917981"/>
            <a:ext cx="4628793" cy="17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b="true" sz="3639" spc="72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Geopolitical Attacks</a:t>
            </a:r>
          </a:p>
          <a:p>
            <a:pPr algn="l">
              <a:lnSpc>
                <a:spcPts val="4495"/>
              </a:lnSpc>
            </a:pPr>
            <a:r>
              <a:rPr lang="en-US" b="true" sz="3639" spc="72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Paralyze Payment</a:t>
            </a:r>
          </a:p>
          <a:p>
            <a:pPr algn="l">
              <a:lnSpc>
                <a:spcPts val="4495"/>
              </a:lnSpc>
            </a:pPr>
            <a:r>
              <a:rPr lang="en-US" b="true" sz="3639" spc="72">
                <a:solidFill>
                  <a:srgbClr val="29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864211" y="4644876"/>
            <a:ext cx="4809349" cy="358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7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Pro-Russian hacktivist</a:t>
            </a:r>
          </a:p>
          <a:p>
            <a:pPr algn="l">
              <a:lnSpc>
                <a:spcPts val="2777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groups launch a massive </a:t>
            </a:r>
          </a:p>
          <a:p>
            <a:pPr algn="l">
              <a:lnSpc>
                <a:spcPts val="2777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10 Tbps DDoS attack </a:t>
            </a:r>
          </a:p>
          <a:p>
            <a:pPr algn="l">
              <a:lnSpc>
                <a:spcPts val="2777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against La Poste / </a:t>
            </a:r>
          </a:p>
          <a:p>
            <a:pPr algn="l">
              <a:lnSpc>
                <a:spcPts val="2777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La Banque Postale,</a:t>
            </a:r>
          </a:p>
          <a:p>
            <a:pPr algn="l">
              <a:lnSpc>
                <a:spcPts val="2777"/>
              </a:lnSpc>
            </a:pPr>
            <a:r>
              <a:rPr lang="en-US" sz="2499" spc="-17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causing a </a:t>
            </a:r>
            <a:r>
              <a:rPr lang="en-US" sz="2499" spc="-17">
                <a:solidFill>
                  <a:srgbClr val="417764"/>
                </a:solidFill>
                <a:latin typeface="Arial MT Pro"/>
                <a:ea typeface="Arial MT Pro"/>
                <a:cs typeface="Arial MT Pro"/>
                <a:sym typeface="Arial MT Pro"/>
              </a:rPr>
              <a:t>disruption of</a:t>
            </a:r>
          </a:p>
          <a:p>
            <a:pPr algn="l">
              <a:lnSpc>
                <a:spcPts val="2777"/>
              </a:lnSpc>
            </a:pPr>
            <a:r>
              <a:rPr lang="en-US" sz="2499" spc="39">
                <a:solidFill>
                  <a:srgbClr val="417764"/>
                </a:solidFill>
                <a:latin typeface="Arial MT Pro"/>
                <a:ea typeface="Arial MT Pro"/>
                <a:cs typeface="Arial MT Pro"/>
                <a:sym typeface="Arial MT Pro"/>
              </a:rPr>
              <a:t>payment systems</a:t>
            </a:r>
          </a:p>
          <a:p>
            <a:pPr algn="l">
              <a:lnSpc>
                <a:spcPts val="2777"/>
              </a:lnSpc>
            </a:pPr>
            <a:r>
              <a:rPr lang="en-US" sz="2499" spc="-1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during the crifical</a:t>
            </a:r>
          </a:p>
          <a:p>
            <a:pPr algn="l">
              <a:lnSpc>
                <a:spcPts val="2777"/>
              </a:lnSpc>
            </a:pPr>
            <a:r>
              <a:rPr lang="en-US" sz="2499" spc="-1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holiday </a:t>
            </a:r>
            <a:r>
              <a:rPr lang="en-US" sz="2499" spc="-1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shopping </a:t>
            </a:r>
          </a:p>
          <a:p>
            <a:pPr algn="l">
              <a:lnSpc>
                <a:spcPts val="2777"/>
              </a:lnSpc>
            </a:pPr>
            <a:r>
              <a:rPr lang="en-US" sz="2499" spc="-1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period </a:t>
            </a:r>
            <a:r>
              <a:rPr lang="en-US" sz="2499" spc="-12">
                <a:solidFill>
                  <a:srgbClr val="292825"/>
                </a:solidFill>
                <a:latin typeface="Arial MT Pro"/>
                <a:ea typeface="Arial MT Pro"/>
                <a:cs typeface="Arial MT Pro"/>
                <a:sym typeface="Arial MT Pro"/>
              </a:rPr>
              <a:t>in France.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87805" y="479344"/>
            <a:ext cx="19444335" cy="138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1"/>
              </a:lnSpc>
            </a:pPr>
            <a:r>
              <a:rPr lang="en-US" sz="7322" spc="161">
                <a:solidFill>
                  <a:srgbClr val="0E0E0E"/>
                </a:solidFill>
                <a:latin typeface="Arial MT Pro"/>
                <a:ea typeface="Arial MT Pro"/>
                <a:cs typeface="Arial MT Pro"/>
                <a:sym typeface="Arial MT Pro"/>
              </a:rPr>
              <a:t>2025: The Year Cyber Risk Became Physical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212800" cy="14624558"/>
          </a:xfrm>
          <a:custGeom>
            <a:avLst/>
            <a:gdLst/>
            <a:ahLst/>
            <a:cxnLst/>
            <a:rect r="r" b="b" t="t" l="l"/>
            <a:pathLst>
              <a:path h="14624558" w="26212800">
                <a:moveTo>
                  <a:pt x="0" y="0"/>
                </a:moveTo>
                <a:lnTo>
                  <a:pt x="26212800" y="0"/>
                </a:lnTo>
                <a:lnTo>
                  <a:pt x="26212800" y="14624558"/>
                </a:lnTo>
                <a:lnTo>
                  <a:pt x="0" y="14624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8803" y="586971"/>
            <a:ext cx="24333280" cy="113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6"/>
              </a:lnSpc>
            </a:pPr>
            <a:r>
              <a:rPr lang="en-US" sz="5983" spc="215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Beyond the Perimeter: Concentration Risk &amp; Shared Dependencies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2084836"/>
            <a:ext cx="4754404" cy="119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0"/>
              </a:lnSpc>
            </a:pPr>
            <a:r>
              <a:rPr lang="en-US" b="true" sz="3643" spc="189">
                <a:solidFill>
                  <a:srgbClr val="227F5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Mechanism:</a:t>
            </a:r>
          </a:p>
          <a:p>
            <a:pPr algn="l">
              <a:lnSpc>
                <a:spcPts val="4080"/>
              </a:lnSpc>
            </a:pPr>
            <a:r>
              <a:rPr lang="en-US" b="true" sz="3083" spc="24">
                <a:solidFill>
                  <a:srgbClr val="23232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"Aggregation Effect"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9276" y="9202597"/>
            <a:ext cx="5997416" cy="55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 spc="63">
                <a:solidFill>
                  <a:srgbClr val="23352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Case Study: Ubiquitous Software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4551" y="3702482"/>
            <a:ext cx="1171218" cy="51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sz="2713" spc="78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Bank 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9276" y="9701229"/>
            <a:ext cx="6413302" cy="250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629" spc="52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Librarles: The "Shai-Hulud" NPM worm</a:t>
            </a:r>
          </a:p>
          <a:p>
            <a:pPr algn="l">
              <a:lnSpc>
                <a:spcPts val="3294"/>
              </a:lnSpc>
            </a:pPr>
            <a:r>
              <a:rPr lang="en-US" sz="2629" spc="52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demonstrated how compromising a single</a:t>
            </a:r>
          </a:p>
          <a:p>
            <a:pPr algn="l">
              <a:lnSpc>
                <a:spcPts val="3294"/>
              </a:lnSpc>
            </a:pPr>
            <a:r>
              <a:rPr lang="en-US" sz="2629" spc="52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open-source software package can afect</a:t>
            </a:r>
          </a:p>
          <a:p>
            <a:pPr algn="l">
              <a:lnSpc>
                <a:spcPts val="3493"/>
              </a:lnSpc>
            </a:pPr>
            <a:r>
              <a:rPr lang="en-US" sz="2788" spc="86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millions of downstream users and</a:t>
            </a:r>
          </a:p>
          <a:p>
            <a:pPr algn="l">
              <a:lnSpc>
                <a:spcPts val="3174"/>
              </a:lnSpc>
            </a:pPr>
            <a:r>
              <a:rPr lang="en-US" sz="2533" spc="81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organizations, as these dependencies are</a:t>
            </a:r>
          </a:p>
          <a:p>
            <a:pPr algn="l">
              <a:lnSpc>
                <a:spcPts val="3174"/>
              </a:lnSpc>
            </a:pPr>
            <a:r>
              <a:rPr lang="en-US" sz="2533" spc="81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integrated into countless applications.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31578" y="10436539"/>
            <a:ext cx="1172408" cy="50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2664" spc="82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Bank 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98150" y="2046736"/>
            <a:ext cx="4265890" cy="83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7"/>
              </a:lnSpc>
            </a:pPr>
            <a:r>
              <a:rPr lang="en-US" sz="4419" spc="20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Hub-and-Spoke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99556" y="6508049"/>
            <a:ext cx="3603546" cy="238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9"/>
              </a:lnSpc>
            </a:pPr>
            <a:r>
              <a:rPr lang="en-US" sz="4368" spc="17">
                <a:solidFill>
                  <a:srgbClr val="DDF2EA"/>
                </a:solidFill>
                <a:latin typeface="Arial MT Pro"/>
                <a:ea typeface="Arial MT Pro"/>
                <a:cs typeface="Arial MT Pro"/>
                <a:sym typeface="Arial MT Pro"/>
              </a:rPr>
              <a:t>The Systemic</a:t>
            </a:r>
          </a:p>
          <a:p>
            <a:pPr algn="ctr">
              <a:lnSpc>
                <a:spcPts val="5019"/>
              </a:lnSpc>
            </a:pPr>
            <a:r>
              <a:rPr lang="en-US" sz="4368" spc="17">
                <a:solidFill>
                  <a:srgbClr val="DDF2EA"/>
                </a:solidFill>
                <a:latin typeface="Arial MT Pro"/>
                <a:ea typeface="Arial MT Pro"/>
                <a:cs typeface="Arial MT Pro"/>
                <a:sym typeface="Arial MT Pro"/>
              </a:rPr>
              <a:t>Vendor</a:t>
            </a:r>
          </a:p>
          <a:p>
            <a:pPr algn="ctr">
              <a:lnSpc>
                <a:spcPts val="2666"/>
              </a:lnSpc>
            </a:pPr>
            <a:r>
              <a:rPr lang="en-US" sz="2321">
                <a:solidFill>
                  <a:srgbClr val="B4E6DC"/>
                </a:solidFill>
                <a:latin typeface="Arial MT Pro"/>
                <a:ea typeface="Arial MT Pro"/>
                <a:cs typeface="Arial MT Pro"/>
                <a:sym typeface="Arial MT Pro"/>
              </a:rPr>
              <a:t>(e.g., Major Cloud Provider,</a:t>
            </a:r>
          </a:p>
          <a:p>
            <a:pPr algn="ctr">
              <a:lnSpc>
                <a:spcPts val="2518"/>
              </a:lnSpc>
            </a:pPr>
            <a:r>
              <a:rPr lang="en-US" sz="2192">
                <a:solidFill>
                  <a:srgbClr val="B4E6DC"/>
                </a:solidFill>
                <a:latin typeface="Arial MT Pro"/>
                <a:ea typeface="Arial MT Pro"/>
                <a:cs typeface="Arial MT Pro"/>
                <a:sym typeface="Arial MT Pro"/>
              </a:rPr>
              <a:t>Clearing House, Critical</a:t>
            </a:r>
          </a:p>
          <a:p>
            <a:pPr algn="ctr">
              <a:lnSpc>
                <a:spcPts val="3052"/>
              </a:lnSpc>
            </a:pPr>
            <a:r>
              <a:rPr lang="en-US" sz="2656" spc="18">
                <a:solidFill>
                  <a:srgbClr val="B4E6DC"/>
                </a:solidFill>
                <a:latin typeface="Arial MT Pro"/>
                <a:ea typeface="Arial MT Pro"/>
                <a:cs typeface="Arial MT Pro"/>
                <a:sym typeface="Arial MT Pro"/>
              </a:rPr>
              <a:t>Software Library)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01428" y="3697069"/>
            <a:ext cx="1156335" cy="50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2670" spc="82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Bank 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44254" y="10307124"/>
            <a:ext cx="1322784" cy="81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4"/>
              </a:lnSpc>
            </a:pPr>
            <a:r>
              <a:rPr lang="en-US" sz="2657" spc="116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FinTech</a:t>
            </a:r>
          </a:p>
          <a:p>
            <a:pPr algn="just">
              <a:lnSpc>
                <a:spcPts val="3034"/>
              </a:lnSpc>
            </a:pPr>
            <a:r>
              <a:rPr lang="en-US" sz="2657" spc="116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Partner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25486" y="2102938"/>
            <a:ext cx="6549866" cy="505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4"/>
              </a:lnSpc>
            </a:pPr>
            <a:r>
              <a:rPr lang="en-US" sz="3904">
                <a:solidFill>
                  <a:srgbClr val="1E5141"/>
                </a:solidFill>
                <a:latin typeface="Arial MT Pro"/>
                <a:ea typeface="Arial MT Pro"/>
                <a:cs typeface="Arial MT Pro"/>
                <a:sym typeface="Arial MT Pro"/>
              </a:rPr>
              <a:t>The Trigger: Unseen &amp;</a:t>
            </a:r>
          </a:p>
          <a:p>
            <a:pPr algn="ctr">
              <a:lnSpc>
                <a:spcPts val="4190"/>
              </a:lnSpc>
            </a:pPr>
            <a:r>
              <a:rPr lang="en-US" sz="3243" spc="51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Unmonitored Entry Points</a:t>
            </a:r>
          </a:p>
          <a:p>
            <a:pPr algn="ctr">
              <a:lnSpc>
                <a:spcPts val="4190"/>
              </a:lnSpc>
            </a:pPr>
            <a:r>
              <a:rPr lang="en-US" sz="3243" spc="51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• Unmonitored Digital Supply</a:t>
            </a:r>
          </a:p>
          <a:p>
            <a:pPr algn="ctr">
              <a:lnSpc>
                <a:spcPts val="4190"/>
              </a:lnSpc>
            </a:pPr>
            <a:r>
              <a:rPr lang="en-US" sz="3243" spc="51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Chains: Attackers capitalize on the</a:t>
            </a:r>
          </a:p>
          <a:p>
            <a:pPr algn="ctr">
              <a:lnSpc>
                <a:spcPts val="3498"/>
              </a:lnSpc>
            </a:pPr>
            <a:r>
              <a:rPr lang="en-US" sz="2707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"ripple effects" of trust</a:t>
            </a:r>
          </a:p>
          <a:p>
            <a:pPr algn="ctr">
              <a:lnSpc>
                <a:spcPts val="3724"/>
              </a:lnSpc>
            </a:pPr>
            <a:r>
              <a:rPr lang="en-US" sz="2882" spc="4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relationships in the supply chain,</a:t>
            </a:r>
          </a:p>
          <a:p>
            <a:pPr algn="ctr">
              <a:lnSpc>
                <a:spcPts val="3724"/>
              </a:lnSpc>
            </a:pPr>
            <a:r>
              <a:rPr lang="en-US" sz="2882" spc="4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amplifying their reach to disrupt</a:t>
            </a:r>
          </a:p>
          <a:p>
            <a:pPr algn="ctr">
              <a:lnSpc>
                <a:spcPts val="3724"/>
              </a:lnSpc>
            </a:pPr>
            <a:r>
              <a:rPr lang="en-US" sz="2882" spc="4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multiple organizations with a single,</a:t>
            </a:r>
          </a:p>
          <a:p>
            <a:pPr algn="ctr">
              <a:lnSpc>
                <a:spcPts val="3724"/>
              </a:lnSpc>
            </a:pPr>
            <a:r>
              <a:rPr lang="en-US" sz="2882" spc="4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well-placed breach of a third-party</a:t>
            </a:r>
          </a:p>
          <a:p>
            <a:pPr algn="ctr">
              <a:lnSpc>
                <a:spcPts val="3724"/>
              </a:lnSpc>
            </a:pPr>
            <a:r>
              <a:rPr lang="en-US" sz="2882" spc="4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vendor.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62504" y="7690615"/>
            <a:ext cx="5518666" cy="407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2"/>
              </a:lnSpc>
            </a:pPr>
            <a:r>
              <a:rPr lang="en-US" sz="2942" spc="2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• Shadow APIs: The Hidden</a:t>
            </a:r>
          </a:p>
          <a:p>
            <a:pPr algn="ctr">
              <a:lnSpc>
                <a:spcPts val="3592"/>
              </a:lnSpc>
            </a:pPr>
            <a:r>
              <a:rPr lang="en-US" sz="2942" spc="2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Backdoor: Undocumented APIs,</a:t>
            </a:r>
          </a:p>
          <a:p>
            <a:pPr algn="ctr">
              <a:lnSpc>
                <a:spcPts val="3592"/>
              </a:lnSpc>
            </a:pPr>
            <a:r>
              <a:rPr lang="en-US" sz="2942" spc="2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created by developers for testing</a:t>
            </a:r>
          </a:p>
          <a:p>
            <a:pPr algn="ctr">
              <a:lnSpc>
                <a:spcPts val="3592"/>
              </a:lnSpc>
            </a:pPr>
            <a:r>
              <a:rPr lang="en-US" sz="2942" spc="2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and then forgotten, often lack</a:t>
            </a:r>
          </a:p>
          <a:p>
            <a:pPr algn="ctr">
              <a:lnSpc>
                <a:spcPts val="3592"/>
              </a:lnSpc>
            </a:pPr>
            <a:r>
              <a:rPr lang="en-US" sz="2942" spc="2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authentication and monitoring.</a:t>
            </a:r>
          </a:p>
          <a:p>
            <a:pPr algn="ctr">
              <a:lnSpc>
                <a:spcPts val="3592"/>
              </a:lnSpc>
            </a:pPr>
            <a:r>
              <a:rPr lang="en-US" sz="2942" spc="2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These "Shadow APIs" have</a:t>
            </a:r>
          </a:p>
          <a:p>
            <a:pPr algn="ctr">
              <a:lnSpc>
                <a:spcPts val="3592"/>
              </a:lnSpc>
            </a:pPr>
            <a:r>
              <a:rPr lang="en-US" sz="2942" spc="2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become a primary backdoor for</a:t>
            </a:r>
          </a:p>
          <a:p>
            <a:pPr algn="ctr">
              <a:lnSpc>
                <a:spcPts val="3592"/>
              </a:lnSpc>
            </a:pPr>
            <a:r>
              <a:rPr lang="en-US" sz="2942" spc="2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attackers to bypass traditional</a:t>
            </a:r>
          </a:p>
          <a:p>
            <a:pPr algn="ctr">
              <a:lnSpc>
                <a:spcPts val="3592"/>
              </a:lnSpc>
            </a:pPr>
            <a:r>
              <a:rPr lang="en-US" sz="2942" spc="23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security controls.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2430" y="12510717"/>
            <a:ext cx="5949791" cy="65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9"/>
              </a:lnSpc>
            </a:pPr>
            <a:r>
              <a:rPr lang="en-US" sz="3464" spc="55">
                <a:solidFill>
                  <a:srgbClr val="248A69"/>
                </a:solidFill>
                <a:latin typeface="Arial MT Pro"/>
                <a:ea typeface="Arial MT Pro"/>
                <a:cs typeface="Arial MT Pro"/>
                <a:sym typeface="Arial MT Pro"/>
              </a:rPr>
              <a:t>Risk Insight: The Bottom 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7448" y="13270190"/>
            <a:ext cx="24159807" cy="94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3041" spc="109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Your Dependencies Are Your Perimeter. The supply chain is no longer linear; it is a dense web of interdependence. Our true attack</a:t>
            </a:r>
          </a:p>
          <a:p>
            <a:pPr algn="l">
              <a:lnSpc>
                <a:spcPts val="3518"/>
              </a:lnSpc>
            </a:pPr>
            <a:r>
              <a:rPr lang="en-US" sz="3041" spc="109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surface is defined by the collective security posture of our most critical, shared vendors. A failure in one becomes a risk for all.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3040" y="6152855"/>
            <a:ext cx="6741081" cy="272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2"/>
              </a:lnSpc>
            </a:pPr>
            <a:r>
              <a:rPr lang="en-US" b="true" sz="2700" spc="27">
                <a:solidFill>
                  <a:srgbClr val="23232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Multiplier Effect in Action:</a:t>
            </a:r>
          </a:p>
          <a:p>
            <a:pPr algn="l">
              <a:lnSpc>
                <a:spcPts val="3572"/>
              </a:lnSpc>
            </a:pPr>
            <a:r>
              <a:rPr lang="en-US" sz="2700" spc="27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Breaching a single Critical Third-Party</a:t>
            </a:r>
          </a:p>
          <a:p>
            <a:pPr algn="l">
              <a:lnSpc>
                <a:spcPts val="3572"/>
              </a:lnSpc>
            </a:pPr>
            <a:r>
              <a:rPr lang="en-US" sz="2700" spc="27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Provider, like a cloud payment processor or</a:t>
            </a:r>
          </a:p>
          <a:p>
            <a:pPr algn="l">
              <a:lnSpc>
                <a:spcPts val="3572"/>
              </a:lnSpc>
            </a:pPr>
            <a:r>
              <a:rPr lang="en-US" sz="2700" spc="27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a widely-used KYC vendor, can provide</a:t>
            </a:r>
          </a:p>
          <a:p>
            <a:pPr algn="l">
              <a:lnSpc>
                <a:spcPts val="3572"/>
              </a:lnSpc>
            </a:pPr>
            <a:r>
              <a:rPr lang="en-US" sz="2700" spc="35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attackers with simultaneous access to</a:t>
            </a:r>
          </a:p>
          <a:p>
            <a:pPr algn="l">
              <a:lnSpc>
                <a:spcPts val="3572"/>
              </a:lnSpc>
            </a:pPr>
            <a:r>
              <a:rPr lang="en-US" sz="2700" spc="67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hundreds of client banks.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9276" y="3508982"/>
            <a:ext cx="6915984" cy="272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2"/>
              </a:lnSpc>
            </a:pPr>
            <a:r>
              <a:rPr lang="en-US" b="true" sz="2700" spc="21">
                <a:solidFill>
                  <a:srgbClr val="23232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One Breach, Systemic Impact:</a:t>
            </a:r>
          </a:p>
          <a:p>
            <a:pPr algn="l">
              <a:lnSpc>
                <a:spcPts val="3572"/>
              </a:lnSpc>
            </a:pPr>
            <a:r>
              <a:rPr lang="en-US" sz="2700" spc="21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Concentration risk stems from the entire</a:t>
            </a:r>
          </a:p>
          <a:p>
            <a:pPr algn="l">
              <a:lnSpc>
                <a:spcPts val="3572"/>
              </a:lnSpc>
            </a:pPr>
            <a:r>
              <a:rPr lang="en-US" sz="2700" spc="51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financial sector's reliance on the same</a:t>
            </a:r>
          </a:p>
          <a:p>
            <a:pPr algn="l">
              <a:lnSpc>
                <a:spcPts val="3572"/>
              </a:lnSpc>
            </a:pPr>
            <a:r>
              <a:rPr lang="en-US" sz="2700" spc="27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critical vendors. The danger isn't just that we</a:t>
            </a:r>
          </a:p>
          <a:p>
            <a:pPr algn="l">
              <a:lnSpc>
                <a:spcPts val="3572"/>
              </a:lnSpc>
            </a:pPr>
            <a:r>
              <a:rPr lang="en-US" sz="2700" spc="27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use a service, but that all our peers do too,</a:t>
            </a:r>
          </a:p>
          <a:p>
            <a:pPr algn="l">
              <a:lnSpc>
                <a:spcPts val="3572"/>
              </a:lnSpc>
            </a:pPr>
            <a:r>
              <a:rPr lang="en-US" sz="2700" spc="27">
                <a:solidFill>
                  <a:srgbClr val="232321"/>
                </a:solidFill>
                <a:latin typeface="Arial MT Pro"/>
                <a:ea typeface="Arial MT Pro"/>
                <a:cs typeface="Arial MT Pro"/>
                <a:sym typeface="Arial MT Pro"/>
              </a:rPr>
              <a:t>creating a single point of systemic failure.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DAG90k9mLsE</dc:identifier>
  <dcterms:modified xsi:type="dcterms:W3CDTF">2011-08-01T06:04:30Z</dcterms:modified>
  <cp:revision>1</cp:revision>
  <dc:title>FY2025 Executive Intelligence Summary: From Elevated Risk to Direct Confrontation The New Battlefield: Blurring Lines Between Crime &amp; Conflict</dc:title>
</cp:coreProperties>
</file>