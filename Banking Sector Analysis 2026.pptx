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Crimson Pro Semi Bold"/>
      <p:regular r:id="rId12"/>
    </p:embeddedFont>
    <p:embeddedFont>
      <p:font typeface="Crimson Pro Semi Bold"/>
      <p:regular r:id="rId13"/>
    </p:embeddedFont>
    <p:embeddedFont>
      <p:font typeface="Crimson Pro Semi Bold"/>
      <p:regular r:id="rId14"/>
    </p:embeddedFont>
    <p:embeddedFont>
      <p:font typeface="Crimson Pro Semi Bold"/>
      <p:regular r:id="rId15"/>
    </p:embeddedFont>
    <p:embeddedFont>
      <p:font typeface="Heebo"/>
      <p:regular r:id="rId16"/>
    </p:embeddedFont>
    <p:embeddedFont>
      <p:font typeface="Heebo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0329" y="876895"/>
            <a:ext cx="4805243" cy="423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Key Threats &amp; Top 5 Cyber Attacks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30329" y="1462921"/>
            <a:ext cx="1316974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EU financial sector accounts for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~9% of all analyzed cyber incidents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Threat actors leverage RaaS models, AI-augmented social engineering, and supply chain exploitation to maximize precision and impact.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0329" y="1727478"/>
            <a:ext cx="13169741" cy="1903095"/>
          </a:xfrm>
          <a:prstGeom prst="roundRect">
            <a:avLst>
              <a:gd name="adj" fmla="val 10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7949" y="1735098"/>
            <a:ext cx="13154501" cy="285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73800" y="1791295"/>
            <a:ext cx="34081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Threat Category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60808" y="1791295"/>
            <a:ext cx="498288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Mechanism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822537" y="1791295"/>
            <a:ext cx="393430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Implication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7949" y="2020848"/>
            <a:ext cx="13154501" cy="4591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73800" y="2077045"/>
            <a:ext cx="3408164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Advanced Data Extortion / Encryption-Less Ransomware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60808" y="2077045"/>
            <a:ext cx="498288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Quiet exfiltration; double/triple extortion leverage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822537" y="2077045"/>
            <a:ext cx="393430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Offline backups insufficient; primary risk is data exposure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7949" y="2479953"/>
            <a:ext cx="13154501" cy="285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873800" y="2536150"/>
            <a:ext cx="34081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AI-Augmented Phishing &amp; Social Engineering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60808" y="2536150"/>
            <a:ext cx="498288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GenAI lures, executive voice cloning, automated recon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822537" y="2536150"/>
            <a:ext cx="393430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80%+ of social engineering activity is AI-supported (2025)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7949" y="2765703"/>
            <a:ext cx="13154501" cy="285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73800" y="2821900"/>
            <a:ext cx="34081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Supply Chain &amp; Third-Party Exploitation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60808" y="2821900"/>
            <a:ext cx="498288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Targeting cloud/digital service providers for cascading impact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822537" y="2821900"/>
            <a:ext cx="393430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breaches = 30% of all incidents (2× 2024 rate)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7949" y="3051453"/>
            <a:ext cx="13154501" cy="285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73800" y="3107650"/>
            <a:ext cx="34081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Info-Stealers &amp; Credential Brokers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60808" y="3107650"/>
            <a:ext cx="498288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Lumma/RedLine tools; session hijacking, MFA bypass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822537" y="3107650"/>
            <a:ext cx="393430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Feed initial access pipelines for ransomware groups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7949" y="3337203"/>
            <a:ext cx="13154501" cy="285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873800" y="3393400"/>
            <a:ext cx="3408164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Geopolitical Hacktivism &amp; Systemic DDoS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60808" y="3393400"/>
            <a:ext cx="4982885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State-aligned actors; high-volume traffic surges masking intrusions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822537" y="3393400"/>
            <a:ext cx="3934301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~80% of recorded incident volume; ideological + disruptive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0329" y="3752136"/>
            <a:ext cx="226492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Banking-Specific Vulnerabilities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0329" y="4085630"/>
            <a:ext cx="3231594" cy="1082278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81182" y="4236482"/>
            <a:ext cx="169533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Legacy Integration Gap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81182" y="4496991"/>
            <a:ext cx="292989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Only 2% of orgs have integrated 50%+ of apps. Core systems 20+ years old; no modern API security.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043005" y="4085630"/>
            <a:ext cx="3231594" cy="1082278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93857" y="4236482"/>
            <a:ext cx="1695331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Technical Debt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193857" y="4496991"/>
            <a:ext cx="292989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92% of financial orgs carry technical debt averaging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$30M/year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major system, blocking AI security adoption.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355681" y="4085630"/>
            <a:ext cx="3231594" cy="1082278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06533" y="4236482"/>
            <a:ext cx="1766173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Agentic AI Attack Surface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506533" y="4496991"/>
            <a:ext cx="2929890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agents are only as secure as their underlying APIs. API security is now the "starting point" for resilience.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0668357" y="4085630"/>
            <a:ext cx="3231713" cy="1082278"/>
          </a:xfrm>
          <a:prstGeom prst="roundRect">
            <a:avLst>
              <a:gd name="adj" fmla="val 1880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19209" y="4236482"/>
            <a:ext cx="206894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VPN &amp; Collaboration Exploits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819209" y="4496991"/>
            <a:ext cx="2930009" cy="520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Citrix, Fortinet, email servers weaponized within days of disclosure. Continuous patching is mandatory.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30329" y="5289471"/>
            <a:ext cx="3247906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Top 5 Cyber Attacks — Financial Sector (2025)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30329" y="5622965"/>
            <a:ext cx="13169741" cy="1729740"/>
          </a:xfrm>
          <a:prstGeom prst="roundRect">
            <a:avLst>
              <a:gd name="adj" fmla="val 1176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7949" y="5630585"/>
            <a:ext cx="13154501" cy="285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873800" y="5686782"/>
            <a:ext cx="261889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Incident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71543" y="5686782"/>
            <a:ext cx="1036558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086945" y="5686782"/>
            <a:ext cx="366748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Impact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9033272" y="5686782"/>
            <a:ext cx="261508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Vector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927205" y="5686782"/>
            <a:ext cx="182963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Scale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37949" y="5916335"/>
            <a:ext cx="13154501" cy="285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73800" y="5972532"/>
            <a:ext cx="261889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Bank Network Breach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771543" y="5972532"/>
            <a:ext cx="1036558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 2025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086945" y="5972532"/>
            <a:ext cx="366748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100+ banks; millions stolen via unauthorized transactions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033272" y="5972532"/>
            <a:ext cx="261508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Third-party software vulnerability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1927205" y="5972532"/>
            <a:ext cx="182963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15M accounts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37949" y="6202085"/>
            <a:ext cx="13154501" cy="285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7" name="Text 55"/>
          <p:cNvSpPr/>
          <p:nvPr/>
        </p:nvSpPr>
        <p:spPr>
          <a:xfrm>
            <a:off x="873800" y="6258282"/>
            <a:ext cx="261889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MegaCorp Bank Data Leak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71543" y="6258282"/>
            <a:ext cx="1036558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Jun 2025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086945" y="6258282"/>
            <a:ext cx="366748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SSNs, mortgage info, credit card details exposed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9033272" y="6258282"/>
            <a:ext cx="261508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Internal server targeted attack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11927205" y="6258282"/>
            <a:ext cx="182963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20M customers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37949" y="6487835"/>
            <a:ext cx="13154501" cy="285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873800" y="6544032"/>
            <a:ext cx="261889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CryptoBank Ransomware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771543" y="6544032"/>
            <a:ext cx="1036558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Jul 2025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5086945" y="6544032"/>
            <a:ext cx="366748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Multi-million dollar ransom demand in cryptocurrency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9033272" y="6544032"/>
            <a:ext cx="261508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File encryption; containment failure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11927205" y="6544032"/>
            <a:ext cx="182963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10M records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737949" y="6773585"/>
            <a:ext cx="13154501" cy="28575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9" name="Text 67"/>
          <p:cNvSpPr/>
          <p:nvPr/>
        </p:nvSpPr>
        <p:spPr>
          <a:xfrm>
            <a:off x="873800" y="6829782"/>
            <a:ext cx="261889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National Bank of Asia Phishing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3771543" y="6829782"/>
            <a:ext cx="1036558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 2025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086945" y="6829782"/>
            <a:ext cx="366748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Unauthorized withdrawals and fraudulent transactions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9033272" y="6829782"/>
            <a:ext cx="261508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Social engineering; credential theft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11927205" y="6829782"/>
            <a:ext cx="182963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8M accounts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37949" y="7059335"/>
            <a:ext cx="13154501" cy="28575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75" name="Text 73"/>
          <p:cNvSpPr/>
          <p:nvPr/>
        </p:nvSpPr>
        <p:spPr>
          <a:xfrm>
            <a:off x="873800" y="7115532"/>
            <a:ext cx="261889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EuroFin Bank Cloud Breach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3771543" y="7115532"/>
            <a:ext cx="1036558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Oct 2025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5086945" y="7115532"/>
            <a:ext cx="3667482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Stolen data listed for sale on dark web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9033272" y="7115532"/>
            <a:ext cx="2615089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Cloud protocol bypass; exfiltration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11927205" y="7115532"/>
            <a:ext cx="1829633" cy="173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5M records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3669" y="635913"/>
            <a:ext cx="7785616" cy="454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50"/>
              </a:lnSpc>
              <a:buNone/>
            </a:pPr>
            <a:r>
              <a:rPr lang="en-US" sz="28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Impact: Banking Sector vs. Global Average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83669" y="1277422"/>
            <a:ext cx="13063061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services holds the </a:t>
            </a:r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second costliest position globally for the 14th consecutive year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at a </a:t>
            </a:r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25% premium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over the all-industry average. U.S. banking breaches reached an all-time high of </a:t>
            </a:r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$10.22M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2025.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83669" y="1764387"/>
            <a:ext cx="13063061" cy="1287780"/>
          </a:xfrm>
          <a:prstGeom prst="roundRect">
            <a:avLst>
              <a:gd name="adj" fmla="val 169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91289" y="1772007"/>
            <a:ext cx="13047821" cy="318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37022" y="1835587"/>
            <a:ext cx="414135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Metric (2025–2026)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76982" y="1835587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All Industries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47459" y="1835587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Services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117937" y="1835587"/>
            <a:ext cx="257567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High-Risk / US Benchmark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1289" y="2090142"/>
            <a:ext cx="13047821" cy="318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37022" y="2153722"/>
            <a:ext cx="414135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Average Breach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76982" y="2153722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$4.44M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47459" y="2153722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$5.56M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117937" y="2153722"/>
            <a:ext cx="257567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$10.22M (US Avg)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1289" y="2408277"/>
            <a:ext cx="13047821" cy="318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37022" y="2471857"/>
            <a:ext cx="414135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Ransomware / Extortion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76982" y="2471857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$5.08M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47459" y="2471857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$5.14M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17937" y="2471857"/>
            <a:ext cx="257567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$8.20M (Credit Unions)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91289" y="2726412"/>
            <a:ext cx="13047821" cy="318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37022" y="2789992"/>
            <a:ext cx="4141351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Shadow AI Breach Cost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76982" y="2789992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$5.11M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47459" y="2789992"/>
            <a:ext cx="257186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$4.63M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17937" y="2789992"/>
            <a:ext cx="2575679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$10.00M+ (US High)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83669" y="3192185"/>
            <a:ext cx="348317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Cost Breakdown by Category (Average Breach)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83669" y="3559612"/>
            <a:ext cx="3195757" cy="1147286"/>
          </a:xfrm>
          <a:prstGeom prst="roundRect">
            <a:avLst>
              <a:gd name="adj" fmla="val 1903"/>
            </a:avLst>
          </a:prstGeom>
          <a:solidFill>
            <a:srgbClr val="F2EEEE"/>
          </a:solidFill>
          <a:ln/>
        </p:spPr>
      </p:sp>
      <p:sp>
        <p:nvSpPr>
          <p:cNvPr id="27" name="Text 25"/>
          <p:cNvSpPr/>
          <p:nvPr/>
        </p:nvSpPr>
        <p:spPr>
          <a:xfrm>
            <a:off x="929164" y="3705106"/>
            <a:ext cx="1819275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Detection &amp; Escalation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9164" y="3988475"/>
            <a:ext cx="2904768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$1.47M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Forensics, investigation, crisis communications. Largest cost driver for 4th consecutive year.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072771" y="3559612"/>
            <a:ext cx="3195757" cy="1147286"/>
          </a:xfrm>
          <a:prstGeom prst="roundRect">
            <a:avLst>
              <a:gd name="adj" fmla="val 1903"/>
            </a:avLst>
          </a:prstGeom>
          <a:solidFill>
            <a:srgbClr val="F2EEEE"/>
          </a:solidFill>
          <a:ln/>
        </p:spPr>
      </p:sp>
      <p:sp>
        <p:nvSpPr>
          <p:cNvPr id="30" name="Text 28"/>
          <p:cNvSpPr/>
          <p:nvPr/>
        </p:nvSpPr>
        <p:spPr>
          <a:xfrm>
            <a:off x="4218265" y="3705106"/>
            <a:ext cx="1819275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Lost Business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18265" y="3988475"/>
            <a:ext cx="2904768" cy="572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$1.38M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Revenue loss, downtime, customer acquisition to replace attrition from reputational damage.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61873" y="3559612"/>
            <a:ext cx="3195757" cy="1147286"/>
          </a:xfrm>
          <a:prstGeom prst="roundRect">
            <a:avLst>
              <a:gd name="adj" fmla="val 1903"/>
            </a:avLst>
          </a:prstGeom>
          <a:solidFill>
            <a:srgbClr val="F2EEEE"/>
          </a:solidFill>
          <a:ln/>
        </p:spPr>
      </p:sp>
      <p:sp>
        <p:nvSpPr>
          <p:cNvPr id="33" name="Text 31"/>
          <p:cNvSpPr/>
          <p:nvPr/>
        </p:nvSpPr>
        <p:spPr>
          <a:xfrm>
            <a:off x="7507367" y="3705106"/>
            <a:ext cx="1819275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Post-Breach Response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507367" y="3988475"/>
            <a:ext cx="2904768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$1.20M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Help desk, credit monitoring, inbound communications, legal fees.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650974" y="3559612"/>
            <a:ext cx="3195757" cy="1147286"/>
          </a:xfrm>
          <a:prstGeom prst="roundRect">
            <a:avLst>
              <a:gd name="adj" fmla="val 1903"/>
            </a:avLst>
          </a:prstGeom>
          <a:solidFill>
            <a:srgbClr val="F2EEEE"/>
          </a:solidFill>
          <a:ln/>
        </p:spPr>
      </p:sp>
      <p:sp>
        <p:nvSpPr>
          <p:cNvPr id="36" name="Text 34"/>
          <p:cNvSpPr/>
          <p:nvPr/>
        </p:nvSpPr>
        <p:spPr>
          <a:xfrm>
            <a:off x="10796468" y="3705106"/>
            <a:ext cx="1819275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Notification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796468" y="3988475"/>
            <a:ext cx="2904768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$0.39M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Regulatory and individual notification mandated by DORA and GDPR.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3669" y="4846915"/>
            <a:ext cx="3621643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4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Metrics: Banking vs. Global Average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83669" y="5214342"/>
            <a:ext cx="13063061" cy="1605915"/>
          </a:xfrm>
          <a:prstGeom prst="roundRect">
            <a:avLst>
              <a:gd name="adj" fmla="val 13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91289" y="5221962"/>
            <a:ext cx="13047821" cy="318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36903" y="5285542"/>
            <a:ext cx="36195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Operational Metric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855012" y="5285542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Sector (2025)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55982" y="5285542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Global Average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856952" y="5285542"/>
            <a:ext cx="2836664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Comparative Analysis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791289" y="5540097"/>
            <a:ext cx="13047821" cy="318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936903" y="5603677"/>
            <a:ext cx="36195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Identify (MTTI)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55012" y="5603677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157 Days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855982" y="5603677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181 Days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856952" y="5603677"/>
            <a:ext cx="2836664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Banks 13% faster at detection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91289" y="5858232"/>
            <a:ext cx="13047821" cy="318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936903" y="5921812"/>
            <a:ext cx="36195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 Time to Contain (MTTC)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55012" y="5921812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45 Days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55982" y="5921812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60 Days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856952" y="5921812"/>
            <a:ext cx="2836664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Banks 25% faster at containment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91289" y="6176367"/>
            <a:ext cx="13047821" cy="31813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936903" y="6239947"/>
            <a:ext cx="36195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Security Savings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855012" y="6239947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$2.22M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855982" y="6239947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$1.90M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0856952" y="6239947"/>
            <a:ext cx="2836664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~$320K more saved via extensive AI use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91289" y="6494502"/>
            <a:ext cx="13047821" cy="31813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936903" y="6558082"/>
            <a:ext cx="3619500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Malicious Attack Share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4855012" y="6558082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51%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855982" y="6558082"/>
            <a:ext cx="2702362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51%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856952" y="6558082"/>
            <a:ext cx="2836664" cy="190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Consistent with global criminal trends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83669" y="6925270"/>
            <a:ext cx="13063061" cy="668298"/>
          </a:xfrm>
          <a:prstGeom prst="roundRect">
            <a:avLst>
              <a:gd name="adj" fmla="val 3267"/>
            </a:avLst>
          </a:prstGeom>
          <a:solidFill>
            <a:srgbClr val="B3FFED"/>
          </a:solidFill>
          <a:ln/>
        </p:spPr>
      </p:sp>
      <p:pic>
        <p:nvPicPr>
          <p:cNvPr id="6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164" y="7116842"/>
            <a:ext cx="181928" cy="145494"/>
          </a:xfrm>
          <a:prstGeom prst="rect">
            <a:avLst/>
          </a:prstGeom>
        </p:spPr>
      </p:pic>
      <p:sp>
        <p:nvSpPr>
          <p:cNvPr id="67" name="Text 64"/>
          <p:cNvSpPr/>
          <p:nvPr/>
        </p:nvSpPr>
        <p:spPr>
          <a:xfrm>
            <a:off x="1256586" y="7054929"/>
            <a:ext cx="12444651" cy="38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Regulatory Amplifier: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32% of organizations paid a regulatory fine post-breach; nearly half exceeded $100,000. The "U-shaped" risk profile shows systemically important banks (LISCC) carry mean loss rates of </a:t>
            </a:r>
            <a:pPr algn="l"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1.93 basis points of revenue</a:t>
            </a:r>
            <a:pPr algn="l"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higher than mid-sized peers — due to data complexity and target value.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857369"/>
            <a:ext cx="5841682" cy="443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Financial Impact: Worst-Case Scenarios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764858" y="1479113"/>
            <a:ext cx="13100685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ECB characterizes the 2025–2026 environment as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"unprecedentedly high" systemic fragility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Cyber risk has transitioned from a "tail event" to a "baseline risk," with catastrophic scenarios modeled at the Euro Area level.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4858" y="1982033"/>
            <a:ext cx="2810113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Catastrophic Cyber Incident Scenarios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4858" y="2337197"/>
            <a:ext cx="3208377" cy="1513642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618" y="2337197"/>
            <a:ext cx="60960" cy="1513642"/>
          </a:xfrm>
          <a:prstGeom prst="roundRect">
            <a:avLst>
              <a:gd name="adj" fmla="val 34952"/>
            </a:avLst>
          </a:prstGeom>
          <a:solidFill>
            <a:srgbClr val="00674F"/>
          </a:solidFill>
          <a:ln/>
        </p:spPr>
      </p:sp>
      <p:sp>
        <p:nvSpPr>
          <p:cNvPr id="7" name="Text 5"/>
          <p:cNvSpPr/>
          <p:nvPr/>
        </p:nvSpPr>
        <p:spPr>
          <a:xfrm>
            <a:off x="967859" y="2494478"/>
            <a:ext cx="2767132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Service Provider (CSP) Failure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67859" y="2769632"/>
            <a:ext cx="2848094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breach of a dominant cloud provider triggers simultaneous "blackout" for hundreds of banks — immediate liquidity freezes and payment processing halts. Functions are impossible to replace quickly.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62174" y="2337197"/>
            <a:ext cx="3208496" cy="1513642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6934" y="2337197"/>
            <a:ext cx="60960" cy="1513642"/>
          </a:xfrm>
          <a:prstGeom prst="roundRect">
            <a:avLst>
              <a:gd name="adj" fmla="val 34952"/>
            </a:avLst>
          </a:prstGeom>
          <a:solidFill>
            <a:srgbClr val="00674F"/>
          </a:solidFill>
          <a:ln/>
        </p:spPr>
      </p:sp>
      <p:sp>
        <p:nvSpPr>
          <p:cNvPr id="11" name="Text 9"/>
          <p:cNvSpPr/>
          <p:nvPr/>
        </p:nvSpPr>
        <p:spPr>
          <a:xfrm>
            <a:off x="4265176" y="2494478"/>
            <a:ext cx="2569607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Contagion via Real-Time Payments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65176" y="2769632"/>
            <a:ext cx="2848213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SEPA or Pix-style systems, coordinated attacks facilitate massive unauthorized transfers before manual intervention. Simultaneous hits on major banks risk end-of-day settlement failures.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59610" y="2337197"/>
            <a:ext cx="3208496" cy="1513642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44370" y="2337197"/>
            <a:ext cx="60960" cy="1513642"/>
          </a:xfrm>
          <a:prstGeom prst="roundRect">
            <a:avLst>
              <a:gd name="adj" fmla="val 34952"/>
            </a:avLst>
          </a:prstGeom>
          <a:solidFill>
            <a:srgbClr val="00674F"/>
          </a:solidFill>
          <a:ln/>
        </p:spPr>
      </p:sp>
      <p:sp>
        <p:nvSpPr>
          <p:cNvPr id="15" name="Text 13"/>
          <p:cNvSpPr/>
          <p:nvPr/>
        </p:nvSpPr>
        <p:spPr>
          <a:xfrm>
            <a:off x="7562612" y="2494478"/>
            <a:ext cx="2169676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"Cyber-Run" &amp; Trust Erosion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62612" y="2769632"/>
            <a:ext cx="2848213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catastrophic breach at a systemically important institution could trigger a digital bank run.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88% of executives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believe investors would immediately withdraw capital, creating a death spiral.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657046" y="2337197"/>
            <a:ext cx="3208496" cy="1513642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41806" y="2337197"/>
            <a:ext cx="60960" cy="1513642"/>
          </a:xfrm>
          <a:prstGeom prst="roundRect">
            <a:avLst>
              <a:gd name="adj" fmla="val 34952"/>
            </a:avLst>
          </a:prstGeom>
          <a:solidFill>
            <a:srgbClr val="00674F"/>
          </a:solidFill>
          <a:ln/>
        </p:spPr>
      </p:sp>
      <p:sp>
        <p:nvSpPr>
          <p:cNvPr id="19" name="Text 17"/>
          <p:cNvSpPr/>
          <p:nvPr/>
        </p:nvSpPr>
        <p:spPr>
          <a:xfrm>
            <a:off x="10860048" y="2494478"/>
            <a:ext cx="2069068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Geopolitical Hybrid Warfare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860048" y="2769632"/>
            <a:ext cx="2848213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State-aligned actors deploy destructive malware to permanently corrupt financial ledgers during periods of high policy uncertainty — making recovery from backups functionally impossible.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4858" y="3984188"/>
            <a:ext cx="2622828" cy="221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Long-Term Financial Consequences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64858" y="4339352"/>
            <a:ext cx="13100685" cy="2287905"/>
          </a:xfrm>
          <a:prstGeom prst="roundRect">
            <a:avLst>
              <a:gd name="adj" fmla="val 93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478" y="4346972"/>
            <a:ext cx="13085445" cy="3067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14638" y="4407932"/>
            <a:ext cx="298346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Consequence Area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89809" y="4407932"/>
            <a:ext cx="5204103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Long-Term Impact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685615" y="4407932"/>
            <a:ext cx="403026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Financial Projection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478" y="4653677"/>
            <a:ext cx="13085445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914638" y="4714637"/>
            <a:ext cx="298346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Market Capitalization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89809" y="4714637"/>
            <a:ext cx="5204103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Persistent decline in price-to-book ratios; investors price in higher operational risk and litigation exposure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85615" y="4714637"/>
            <a:ext cx="403026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Years to recover pre-incident valuations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2478" y="5145167"/>
            <a:ext cx="13085445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14638" y="5206127"/>
            <a:ext cx="298346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Capital Buffer Increases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89809" y="5206127"/>
            <a:ext cx="5204103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Regulators mandate higher macroprudential capital buffers for geopolitical risk environment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85615" y="5206127"/>
            <a:ext cx="403026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Reduced ROE; more "idle" capital held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72478" y="5636657"/>
            <a:ext cx="13085445" cy="491490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4638" y="5697617"/>
            <a:ext cx="298346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Customer Attrition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189809" y="5697617"/>
            <a:ext cx="5204103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15–25% member/customer attrition post-breach; users migrate to perceived safer competitors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85615" y="5697617"/>
            <a:ext cx="403026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34% of consumers switch providers post-breach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72478" y="6128147"/>
            <a:ext cx="13085445" cy="49149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914638" y="6189107"/>
            <a:ext cx="2983468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Systemic Stability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189809" y="6189107"/>
            <a:ext cx="5204103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Cascading defaults as liquidity shortages prevent settlement of inter-institutional obligations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685615" y="6189107"/>
            <a:ext cx="4030266" cy="1847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Potential systemic crisis requiring central bank liquidity support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64858" y="6727269"/>
            <a:ext cx="13100685" cy="644962"/>
          </a:xfrm>
          <a:prstGeom prst="roundRect">
            <a:avLst>
              <a:gd name="adj" fmla="val 3304"/>
            </a:avLst>
          </a:prstGeom>
          <a:solidFill>
            <a:srgbClr val="B3FFED"/>
          </a:solidFill>
          <a:ln/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6899" y="6917650"/>
            <a:ext cx="177522" cy="142042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226463" y="6851690"/>
            <a:ext cx="12497038" cy="369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ECB Stress Test Finding: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The 2025 stress test modeled a severe global recession with market volatility. Large banks could absorb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$550 billion in losses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but capital ratios would decline by </a:t>
            </a:r>
            <a:pPr algn="l" indent="0" marL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1.8–2.3 percentage points</a:t>
            </a:r>
            <a:pPr algn="l"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 concurrent systemic cyber event would likely exceed modeled capacity.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2004"/>
            <a:ext cx="784300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Case Study: Sinquia S.A. Payment Heist Attempt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510427"/>
            <a:ext cx="13042821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September 2025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Attack on Sinquia S.A. (Brazilian subsidiary of Evertec), a fintech firm operating within the Central Bank of Brazil's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Pix real-time payment system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Attempted heist: </a:t>
            </a:r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$130 million</a:t>
            </a:r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unauthorized transactions.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2067401"/>
            <a:ext cx="13042821" cy="2202656"/>
          </a:xfrm>
          <a:prstGeom prst="roundRect">
            <a:avLst>
              <a:gd name="adj" fmla="val 108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075021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60239" y="2149316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Component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872276" y="2149316"/>
            <a:ext cx="87980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Details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1410" y="2439591"/>
            <a:ext cx="13027581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60239" y="2513886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Victim Entity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872276" y="2513886"/>
            <a:ext cx="87980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Sinquia S.A. (Brazilian subsidiary of Evertec)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1410" y="2804160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60239" y="2878455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 Infrastructure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872276" y="2878455"/>
            <a:ext cx="87980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Brazilian Central Bank's "Pix" real-time payment system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1410" y="3168729"/>
            <a:ext cx="13027581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60239" y="3243024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Attack Vector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72276" y="3243024"/>
            <a:ext cx="87980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Compromised credentials from a trusted third-party IT vendor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1410" y="3533299"/>
            <a:ext cx="13027581" cy="36456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60239" y="3607594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Attempted Heist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72276" y="3607594"/>
            <a:ext cx="87980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$130 million in unauthorized transactions via HSBC and other major institutions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1410" y="3897868"/>
            <a:ext cx="13027581" cy="36456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60239" y="3972163"/>
            <a:ext cx="3586996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Status of Funds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72276" y="3972163"/>
            <a:ext cx="8798004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Part recovered; full impact undetermined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93790" y="4436745"/>
            <a:ext cx="238672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Operational Impact Timeline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93790" y="4851440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3790" y="5098256"/>
            <a:ext cx="4273510" cy="2286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26" name="Text 24"/>
          <p:cNvSpPr/>
          <p:nvPr/>
        </p:nvSpPr>
        <p:spPr>
          <a:xfrm>
            <a:off x="793790" y="5223272"/>
            <a:ext cx="221396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T-0 (Aug 29): Initial Access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793790" y="5537954"/>
            <a:ext cx="427351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Stolen IT vendor credentials utilized to gain unauthorized entry.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78385" y="4851440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178385" y="5098256"/>
            <a:ext cx="4273510" cy="2286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30" name="Text 28"/>
          <p:cNvSpPr/>
          <p:nvPr/>
        </p:nvSpPr>
        <p:spPr>
          <a:xfrm>
            <a:off x="5178385" y="5223272"/>
            <a:ext cx="2190155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T+4 Days: Breach Detected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178385" y="5537954"/>
            <a:ext cx="427351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Suspicious activity identified through internal security monitoring.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62981" y="4851440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9562981" y="5098256"/>
            <a:ext cx="4273510" cy="2286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34" name="Text 32"/>
          <p:cNvSpPr/>
          <p:nvPr/>
        </p:nvSpPr>
        <p:spPr>
          <a:xfrm>
            <a:off x="9562981" y="5223272"/>
            <a:ext cx="2406729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T+5 Days: Pix Access Revoked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9562981" y="5537954"/>
            <a:ext cx="4273510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Central Bank takes immediate action to isolate the firm and stop transactions.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793790" y="620006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793790" y="6446877"/>
            <a:ext cx="6465808" cy="2286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38" name="Text 36"/>
          <p:cNvSpPr/>
          <p:nvPr/>
        </p:nvSpPr>
        <p:spPr>
          <a:xfrm>
            <a:off x="793790" y="6571893"/>
            <a:ext cx="225206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T+14 Days: Partial Recovery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793790" y="6886575"/>
            <a:ext cx="6465808" cy="2159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Successful recovery of a portion of the illicitly transferred funds.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370683" y="6200061"/>
            <a:ext cx="1587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05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70683" y="6446877"/>
            <a:ext cx="6465808" cy="2286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42" name="Text 40"/>
          <p:cNvSpPr/>
          <p:nvPr/>
        </p:nvSpPr>
        <p:spPr>
          <a:xfrm>
            <a:off x="7370683" y="6571893"/>
            <a:ext cx="2749391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T+30 Days: Restricted Operations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370683" y="6886575"/>
            <a:ext cx="6465808" cy="431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Firm operates under heavy restrictions while undergoing a comprehensive security overhaul.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5925" y="767001"/>
            <a:ext cx="6228755" cy="427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Mitigation Strategies &amp; Security Framework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35925" y="1358741"/>
            <a:ext cx="13158549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shift from human-led security to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AI-driven, automated platforms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is the defining trend of 2026. Organizations using AI extensively save an average of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$2.22M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, reducing threat dwell time from 18 days to 6.2 days.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5925" y="1657350"/>
            <a:ext cx="2997875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Evidence-Based Cybersecurity Approaches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5925" y="1994297"/>
            <a:ext cx="13158549" cy="2161818"/>
          </a:xfrm>
          <a:prstGeom prst="roundRect">
            <a:avLst>
              <a:gd name="adj" fmla="val 94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3545" y="2001917"/>
            <a:ext cx="13143309" cy="28920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0348" y="2058948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69926" y="2058948"/>
            <a:ext cx="300501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55694" y="2058948"/>
            <a:ext cx="300501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Implementation Cost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741462" y="2058948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ROI / Payback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3545" y="2291120"/>
            <a:ext cx="13143309" cy="4643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80348" y="2348151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Automated AI SOC (e.g., Seceon)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69926" y="2348151"/>
            <a:ext cx="3005018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95% alert fatigue reduction; MTTD from 278 days → 5 mins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55694" y="2348151"/>
            <a:ext cx="300501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$695K/yr vs. $1.18M traditional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741462" y="2348151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647% ROI; 1.6-month payback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43545" y="2755463"/>
            <a:ext cx="13143309" cy="4643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80348" y="2812494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 Trust Architecture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169926" y="2812494"/>
            <a:ext cx="3005018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62% fewer ransomware incidents; 47% reduction in phishing success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55694" y="2812494"/>
            <a:ext cx="300501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15–20% of total security budget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741462" y="2812494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427% ROI over 3 years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43545" y="3219807"/>
            <a:ext cx="13143309" cy="46434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880348" y="3276838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SANS Trained Practitioners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69926" y="3276838"/>
            <a:ext cx="3005018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24% increase in productive time; 20% compliance efficiency gain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455694" y="3276838"/>
            <a:ext cx="300501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$20K+ per analyst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0741462" y="3276838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Avoids $1.8M in fraud/incident costs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3545" y="3684151"/>
            <a:ext cx="13143309" cy="4643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80348" y="3741182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Platformization (Tool Consolidation)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169926" y="3741182"/>
            <a:ext cx="3005018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Cuts detection/containment time; reduces vendor costs $200K–$400K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455694" y="3741182"/>
            <a:ext cx="300501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Consolidate 45–60 tools into 1 platform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741462" y="3741182"/>
            <a:ext cx="3008828" cy="175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Immediate license fee savings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35925" y="4279583"/>
            <a:ext cx="4740950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674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Banking-Specific Framework: DORA / ACPR Roadmap (2025–2026)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35925" y="4616529"/>
            <a:ext cx="136565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35925" y="4833342"/>
            <a:ext cx="6538079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34" name="Text 32"/>
          <p:cNvSpPr/>
          <p:nvPr/>
        </p:nvSpPr>
        <p:spPr>
          <a:xfrm>
            <a:off x="735925" y="4932045"/>
            <a:ext cx="2854047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Q1 2026 — Register of Information (RoI)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35925" y="5194935"/>
            <a:ext cx="6538079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Submit detailed register of all ICT third-party dependencies to ACPR in xBRL-CSV format. DORA applicable since January 17, 2025.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356277" y="4616529"/>
            <a:ext cx="136565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356277" y="4833342"/>
            <a:ext cx="6538198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38" name="Text 36"/>
          <p:cNvSpPr/>
          <p:nvPr/>
        </p:nvSpPr>
        <p:spPr>
          <a:xfrm>
            <a:off x="7356277" y="4932045"/>
            <a:ext cx="2756773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Threat-Led Penetration Testing (TLPT)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356277" y="5194935"/>
            <a:ext cx="6538198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Large institutions must engage ethical hackers under the updated TIBER-EU framework for advanced resilience testing.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35925" y="5729883"/>
            <a:ext cx="136565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35925" y="5946696"/>
            <a:ext cx="6538079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42" name="Text 40"/>
          <p:cNvSpPr/>
          <p:nvPr/>
        </p:nvSpPr>
        <p:spPr>
          <a:xfrm>
            <a:off x="735925" y="6045398"/>
            <a:ext cx="2724864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Critical Third-Party Oversight (CTPPs)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35925" y="6308288"/>
            <a:ext cx="6538079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 EU-level oversight now applies to systemic ICT providers, ensuring they meet the same resilience standards as the banks they serve.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356277" y="5729883"/>
            <a:ext cx="136565" cy="17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56277" y="5946696"/>
            <a:ext cx="6538198" cy="15240"/>
          </a:xfrm>
          <a:prstGeom prst="rect">
            <a:avLst/>
          </a:prstGeom>
          <a:solidFill>
            <a:srgbClr val="00674F"/>
          </a:solidFill>
          <a:ln/>
        </p:spPr>
      </p:sp>
      <p:sp>
        <p:nvSpPr>
          <p:cNvPr id="46" name="Text 44"/>
          <p:cNvSpPr/>
          <p:nvPr/>
        </p:nvSpPr>
        <p:spPr>
          <a:xfrm>
            <a:off x="7356277" y="6045398"/>
            <a:ext cx="1708428" cy="213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AI Act Compliance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56277" y="6308288"/>
            <a:ext cx="6538198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Risk-based governance for AI in credit scoring and fraud detection — ensuring bias prevention and explainability across all automated decision systems.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35925" y="6853595"/>
            <a:ext cx="13158549" cy="608886"/>
          </a:xfrm>
          <a:prstGeom prst="roundRect">
            <a:avLst>
              <a:gd name="adj" fmla="val 3367"/>
            </a:avLst>
          </a:prstGeom>
          <a:solidFill>
            <a:srgbClr val="B3FFED"/>
          </a:solidFill>
          <a:ln/>
        </p:spPr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490" y="7034213"/>
            <a:ext cx="170736" cy="136565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1179790" y="6969919"/>
            <a:ext cx="12578120" cy="350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Strategic Imperative: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Cybercrime costs are projected to reach </a:t>
            </a:r>
            <a:pPr algn="l" indent="0" marL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00674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$10.5 trillion annually by end of 2025</a:t>
            </a:r>
            <a:pPr algn="l"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For a French global bank, the ability to detect threats in minutes, manage third-party vendor risk, and comply with DORA/ACPR mandates are the primary determinants of competitive advantage and institutional survival.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2026-03-26T14:33:39Z</dcterms:created>
  <dcterms:modified xsi:type="dcterms:W3CDTF">2026-03-26T14:33:39Z</dcterms:modified>
</cp:coreProperties>
</file>