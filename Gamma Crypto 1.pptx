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embeddedFontLst>
    <p:embeddedFont>
      <p:font typeface="Crimson Pro Medium"/>
      <p:regular r:id="rId201314"/>
    </p:embeddedFont>
    <p:embeddedFont>
      <p:font typeface="Crimson Pro ExtraBold"/>
      <p:regular r:id="rId201315"/>
    </p:embeddedFont>
    <p:embeddedFont>
      <p:font typeface="Crimson Pro Black"/>
      <p:regular r:id="rId201316"/>
    </p:embeddedFont>
    <p:embeddedFont>
      <p:font typeface="Crimson Pro ExtraLight"/>
      <p:regular r:id="rId201317"/>
    </p:embeddedFont>
    <p:embeddedFont>
      <p:font typeface="Crimson Pro Light"/>
      <p:regular r:id="rId201318"/>
    </p:embeddedFont>
    <p:embeddedFont>
      <p:font typeface="Crimson Pro"/>
      <p:regular r:id="rId201319"/>
    </p:embeddedFont>
    <p:embeddedFont>
      <p:font typeface="Crimson Pro SemiBold"/>
      <p:regular r:id="rId201320"/>
    </p:embeddedFont>
    <p:embeddedFont>
      <p:font typeface="Crimson Pro Bold"/>
      <p:regular r:id="rId201321"/>
    </p:embeddedFont>
    <p:embeddedFont>
      <p:font typeface="Heebo Thin"/>
      <p:regular r:id="rId201322"/>
    </p:embeddedFont>
    <p:embeddedFont>
      <p:font typeface="Heebo ExtraLight"/>
      <p:regular r:id="rId201323"/>
    </p:embeddedFont>
    <p:embeddedFont>
      <p:font typeface="Heebo Light"/>
      <p:regular r:id="rId201324"/>
    </p:embeddedFont>
    <p:embeddedFont>
      <p:font typeface="Heebo"/>
      <p:regular r:id="rId201325"/>
    </p:embeddedFont>
    <p:embeddedFont>
      <p:font typeface="Heebo Medium"/>
      <p:regular r:id="rId201326"/>
    </p:embeddedFont>
    <p:embeddedFont>
      <p:font typeface="Heebo SemiBold"/>
      <p:regular r:id="rId201327"/>
    </p:embeddedFont>
    <p:embeddedFont>
      <p:font typeface="Heebo Bold"/>
      <p:regular r:id="rId201328"/>
    </p:embeddedFont>
    <p:embeddedFont>
      <p:font typeface="Heebo ExtraBold"/>
      <p:regular r:id="rId201329"/>
    </p:embeddedFont>
    <p:embeddedFont>
      <p:font typeface="Heebo Black"/>
      <p:regular r:id="rId20133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Relationship Id="rId201329" Target="fonts/201329.fntdata" Type="http://schemas.openxmlformats.org/officeDocument/2006/relationships/font"/><Relationship Id="rId201330" Target="fonts/201330.fntdata" Type="http://schemas.openxmlformats.org/officeDocument/2006/relationships/font"/><Relationship Id="rId201331" Target="fonts/201331.fntdata" Type="http://schemas.openxmlformats.org/officeDocument/2006/relationships/font"/><Relationship Id="rId201332" Target="fonts/201332.fntdata" Type="http://schemas.openxmlformats.org/officeDocument/2006/relationships/font"/><Relationship Id="rId201333" Target="fonts/201333.fntdata" Type="http://schemas.openxmlformats.org/officeDocument/2006/relationships/font"/><Relationship Id="rId201334" Target="fonts/201334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82017"/>
            <a:ext cx="10868745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dirty="0">
                <a:solidFill>
                  <a:srgbClr val="00674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Crypto &amp; Digital Assets Risk Outlook</a:t>
            </a:r>
            <a:pPr algn="l" indent="0" marL="0">
              <a:lnSpc>
                <a:spcPct val="104000"/>
              </a:lnSpc>
              <a:buNone/>
            </a:pPr>
            <a:r>
              <a:rPr lang="en-US" sz="3500" dirty="0">
                <a:solidFill>
                  <a:srgbClr val="00674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— June 2026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532097" y="1399084"/>
            <a:ext cx="3551843" cy="4876800"/>
          </a:xfrm>
          <a:prstGeom prst="roundRect">
            <a:avLst>
              <a:gd name="adj" fmla="val 758"/>
            </a:avLst>
          </a:prstGeom>
          <a:solidFill>
            <a:srgbClr val="00674F"/>
          </a:solidFill>
          <a:ln/>
        </p:spPr>
      </p:sp>
      <p:sp>
        <p:nvSpPr>
          <p:cNvPr id="4" name="Text 2"/>
          <p:cNvSpPr/>
          <p:nvPr/>
        </p:nvSpPr>
        <p:spPr>
          <a:xfrm>
            <a:off x="711579" y="1569641"/>
            <a:ext cx="3192879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Market Vital Signs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11579" y="2020689"/>
            <a:ext cx="3192879" cy="25746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BTC:</a:t>
            </a:r>
            <a:pPr algn="l" indent="0" marL="0">
              <a:lnSpc>
                <a:spcPct val="130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$58,076 low; dominance ~63%</a:t>
            </a:r>
            <a:endParaRPr lang="en-US" sz="14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ETH:</a:t>
            </a:r>
            <a:pPr algn="l" indent="0" marL="0">
              <a:lnSpc>
                <a:spcPct val="130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~$1,510; −44% YTD, −69% ATH</a:t>
            </a:r>
            <a:endParaRPr lang="en-US" sz="14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Market Cap:</a:t>
            </a:r>
            <a:pPr algn="l" indent="0" marL="0">
              <a:lnSpc>
                <a:spcPct val="130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$3.5T → $2.11T</a:t>
            </a:r>
            <a:endParaRPr lang="en-US" sz="14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ETF Outflows:</a:t>
            </a:r>
            <a:pPr algn="l" indent="0" marL="0">
              <a:lnSpc>
                <a:spcPct val="130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~$4.4B; IBIT ~75% of redemptions</a:t>
            </a:r>
            <a:endParaRPr lang="en-US" sz="14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Stablecoins:</a:t>
            </a:r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$316B cap; USDC settles ~79% of volume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399051" y="1569641"/>
            <a:ext cx="3406194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00674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Key Threat &amp; Policy Vectors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4399051" y="2020689"/>
            <a:ext cx="3406194" cy="41017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Open USD:</a:t>
            </a:r>
            <a:pPr algn="l" indent="0" marL="0">
              <a:lnSpc>
                <a:spcPct val="130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140-firm consortium (Visa, Mastercard, Stripe, Adyen); passes 100% reserve yield to partners</a:t>
            </a:r>
            <a:endParaRPr lang="en-US" sz="14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Regulation:</a:t>
            </a:r>
            <a:pPr algn="l" indent="0" marL="0">
              <a:lnSpc>
                <a:spcPct val="130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UK FCA rules effective Oct 2027; EU MiCA transition ended—unlicensed providers must wind down</a:t>
            </a:r>
            <a:endParaRPr lang="en-US" sz="14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Security:</a:t>
            </a:r>
            <a:pPr algn="l" indent="0" marL="0">
              <a:lnSpc>
                <a:spcPct val="130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$75.8M lost across 40 incidents; Humanity Protocol ~$36M via developer key compromise</a:t>
            </a:r>
            <a:endParaRPr lang="en-US" sz="14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Enforcement:</a:t>
            </a:r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AudiA6 network dismantled—$389M laundered via 6,000 mule accounts; US Treasury designated 4 Iranian exchanges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49733" y="1569641"/>
            <a:ext cx="3293087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00674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CTI Risk Advisory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8249733" y="2020689"/>
            <a:ext cx="3293087" cy="39482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Deposit Disintermediation:</a:t>
            </a:r>
            <a:pPr algn="l" indent="0" marL="0">
              <a:lnSpc>
                <a:spcPct val="130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Open USD incentivizes routing payments through stablecoin rails, eroding commercial deposit bases and net interest margins</a:t>
            </a:r>
            <a:endParaRPr lang="en-US" sz="14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Custody Security:</a:t>
            </a:r>
            <a:pPr algn="l" indent="0" marL="0">
              <a:lnSpc>
                <a:spcPct val="130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State-aligned actors bypass on-chain security via Web2 endpoint compromises; mandate hardware-isolated MPC architectures</a:t>
            </a:r>
            <a:endParaRPr lang="en-US" sz="14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Strict Liability &amp; AML:</a:t>
            </a:r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Static KYC is inadequate at industrial scale; banks must require continuous transaction monitoring and real-time blockchain tracing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2026-07-16T12:55:43Z</dcterms:created>
  <dcterms:modified xsi:type="dcterms:W3CDTF">2026-07-16T12:55:43Z</dcterms:modified>
</cp:coreProperties>
</file>