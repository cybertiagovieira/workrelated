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3809"/>
            <a:ext cx="3247348" cy="258465"/>
          </a:xfrm>
          <a:prstGeom prst="roundRect">
            <a:avLst>
              <a:gd name="adj" fmla="val 7898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684808"/>
            <a:ext cx="3652945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EU AGRICULTURE · FOOD · TOBACCO · 2025–2026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53492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Cybersecurity Operational Outlook: Strategic Risk Assessment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2246313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digitization of EU food and agriculture infrastructure has expanded the systemic attack surface, exposing critical operations to five primary threat vectors.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35684"/>
            <a:ext cx="425241" cy="4252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552230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Ransomware &amp; Double Extortion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1475" y="3909715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Exfiltrate data before encryption; exploit low downtime tolerance.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8153" y="2935684"/>
            <a:ext cx="425241" cy="4252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8153" y="3552230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Living-off-the-Land (LotL)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348153" y="3909715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100%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actors use native tools;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94.4%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achieve prolonged stealth.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4831" y="2935684"/>
            <a:ext cx="425241" cy="4252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34831" y="3552230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Supply Chain Exploitation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034831" y="3909715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Compromise upstream vendors;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~80%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initial network entries.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733032"/>
            <a:ext cx="425241" cy="4252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475" y="5349577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AI-Enabled Phishing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61475" y="5707063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80%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social engineering uses AI; deepfakes bypass MFA.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8153" y="4733032"/>
            <a:ext cx="425241" cy="4252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48153" y="5349577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Layered DDoS &amp; Coercion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4348153" y="5707063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DDoS layered on encryption keeps portals offline during negotiations.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3816751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006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565150"/>
            <a:ext cx="424496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VULNERABILITIES · THREAT ACTORS · FINANCIAL IMPACT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97818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Unique Vulnerabilities, Dominant Threat Actors &amp; Financial Exposure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2045097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Sector-Specific Vulnerabilities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402284"/>
            <a:ext cx="5249930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Just-in-Time Operations: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Perishable goods make downtime uniquely costly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ICS/OT Convergence: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20+ year legacy systems on corporate IT networks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SMB Fragmentation: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Thousands of under-secured cooperatives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Unsecured IoT: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Sensors and cameras create unmonitored entry points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3738463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Threat Actors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095651"/>
            <a:ext cx="5249930" cy="1257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Qilin: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37 sector intrusions in 2025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Akira: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36 intrusions; targets VDI and Active Directory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CLOP: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9.3% of global ops target this sector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Scattered Spider: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Help desk impersonation; 2025 retail breaches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RansomHub: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Targets SCADA/OT environments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86640" y="2045097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Impact: Sector vs. All Industries</a:t>
            </a:r>
            <a:endParaRPr lang="en-US" sz="14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640" y="2417366"/>
            <a:ext cx="4199924" cy="30231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86640" y="5576590"/>
            <a:ext cx="524993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breach cost: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$5.00M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$4.44M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average. Daily downtime: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$1.9M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$1.1M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Incident growth: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101% YoY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38% cross-industry. Resolution: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11–22 days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7–14. Profit margin buffer: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1.6%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10–15%.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62707"/>
            <a:ext cx="4119956" cy="287139"/>
          </a:xfrm>
          <a:prstGeom prst="roundRect">
            <a:avLst>
              <a:gd name="adj" fmla="val 7899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919361"/>
            <a:ext cx="45027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WORST-CASE SCENARIOS · LONG-TERM CONSEQUENCES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254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Catastrophic Scenarios &amp; Strategic Financial Aftermath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8858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Three Catastrophic Scenarios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772866"/>
            <a:ext cx="5203794" cy="315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Scenario A — HACCP Bypass: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Attacker alters PLC pasteurization temps; undetected pathogen contamination triggers EU-wide recalls and criminal liability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Scenario B — Historian Erasure: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Ransomware deletes batch records and cold-chain logs; entire inventory legally classified "suspect" and destroyed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Scenario C — ERP Cascade: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SaaS exploit locks distribution platforms; farms dump milk, shelves empty, national shortages and inflation follow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28858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Long-Term Financial Consequences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2772866"/>
            <a:ext cx="5203794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NIS2 Fines: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Up to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€7M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or 1.4% of global turnover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GDPR Fines: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Up to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€20M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or 4% of worldwide revenue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Brand Erosion: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Customer recommendation drops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&gt;14%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post-breach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Market Cap Loss: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Share price falls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&gt;11%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immediately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Uninsurable Losses: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Recall and spoilage costs typically excluded from cyber policies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9317"/>
            <a:ext cx="1456098" cy="211832"/>
          </a:xfrm>
          <a:prstGeom prst="roundRect">
            <a:avLst>
              <a:gd name="adj" fmla="val 7905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45114" y="611088"/>
            <a:ext cx="1898404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 · JUNE 2025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22325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United Natural Foods Inc. (UNFI) — Cyberattack Profile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412875"/>
            <a:ext cx="11478330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North America's largest grocery wholesaler, primary distributor for Amazon's Whole Foods, was compromised via help desk social engineering — likely </a:t>
            </a:r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Scattered Spider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86323" y="1722834"/>
            <a:ext cx="19050" cy="3298924"/>
          </a:xfrm>
          <a:prstGeom prst="roundRect">
            <a:avLst>
              <a:gd name="adj" fmla="val 109881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5539343" y="1870273"/>
            <a:ext cx="418593" cy="19050"/>
          </a:xfrm>
          <a:prstGeom prst="roundRect">
            <a:avLst>
              <a:gd name="adj" fmla="val 109881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5938887" y="1722834"/>
            <a:ext cx="313920" cy="31392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5991224" y="1748979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1475" y="1770757"/>
            <a:ext cx="47366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1 — June 5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1475" y="2050554"/>
            <a:ext cx="4736684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Unauthorized admin movement detected; core ordering and distribution platforms shut down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758" y="2634456"/>
            <a:ext cx="418593" cy="19050"/>
          </a:xfrm>
          <a:prstGeom prst="roundRect">
            <a:avLst>
              <a:gd name="adj" fmla="val 109881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8887" y="2487017"/>
            <a:ext cx="313920" cy="31392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991224" y="2513161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93536" y="2534940"/>
            <a:ext cx="47366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Days 2–10 — Supply Chain Blockade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93536" y="2814737"/>
            <a:ext cx="4736684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30,000+ retail locations hit with fulfillment failure; shelves empty, deliveries cancelled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9343" y="3319562"/>
            <a:ext cx="418593" cy="19050"/>
          </a:xfrm>
          <a:prstGeom prst="roundRect">
            <a:avLst>
              <a:gd name="adj" fmla="val 109881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5938887" y="3172123"/>
            <a:ext cx="313920" cy="31392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5991224" y="3198267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1475" y="3220045"/>
            <a:ext cx="47366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10+ — Incremental Restoration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1475" y="3499842"/>
            <a:ext cx="4736684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EDI invoicing restored; manual workarounds with reduced transaction volumes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3758" y="4004766"/>
            <a:ext cx="418593" cy="19050"/>
          </a:xfrm>
          <a:prstGeom prst="roundRect">
            <a:avLst>
              <a:gd name="adj" fmla="val 109881"/>
            </a:avLst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5938887" y="3857327"/>
            <a:ext cx="313920" cy="31392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5991224" y="3883471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93536" y="3905250"/>
            <a:ext cx="47366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20+ — Full Normalization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93536" y="4185047"/>
            <a:ext cx="4736684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Databases rebuilt from clean backups; fleet logistics normalized; loss documentation begins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03583" y="5207397"/>
            <a:ext cx="2652745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$350M+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61475" y="5814814"/>
            <a:ext cx="353706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 Reduction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61475" y="6094611"/>
            <a:ext cx="3537060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Estimated FY2025 net sales drop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69425" y="5207397"/>
            <a:ext cx="2652745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$50M+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327318" y="5814814"/>
            <a:ext cx="353706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Net Income Hit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327318" y="6094611"/>
            <a:ext cx="3537060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erosion inclusive of tax impacts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35268" y="5207397"/>
            <a:ext cx="2652745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$65M+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993160" y="5814814"/>
            <a:ext cx="353706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Remediation Costs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993160" y="6094611"/>
            <a:ext cx="3537060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Forensics, rebuild, legal, and premium shipping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86222"/>
            <a:ext cx="3044154" cy="258465"/>
          </a:xfrm>
          <a:prstGeom prst="roundRect">
            <a:avLst>
              <a:gd name="adj" fmla="val 7898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937220"/>
            <a:ext cx="344975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STRATEGIES · NIS2 COMPLIANCE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20590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Evidence-Based Security Strategies &amp; Regulatory Obligations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61475" y="1967111"/>
            <a:ext cx="3520788" cy="1214735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31532" y="2137172"/>
            <a:ext cx="31806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Zero Trust &amp; Hardware MFA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31532" y="2494657"/>
            <a:ext cx="31806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FIDO2 authentication; mitigates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99.9%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credential theft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5354" y="1967111"/>
            <a:ext cx="3520888" cy="1214735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505411" y="2137172"/>
            <a:ext cx="318077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IT/OT Micro-Segmentation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505411" y="2494657"/>
            <a:ext cx="318077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Isolate OT/SCADA; prevents lateral movement to PLCs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09332" y="1967111"/>
            <a:ext cx="3520888" cy="1214735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179389" y="2137172"/>
            <a:ext cx="318077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Behavior-Based EDR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179389" y="2494657"/>
            <a:ext cx="318077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Detects LotL activity and zero-days; saves avg.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$1.9M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3334941"/>
            <a:ext cx="5357778" cy="956171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831532" y="3505002"/>
            <a:ext cx="5017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Immutable Offline Backups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31532" y="3862487"/>
            <a:ext cx="50176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Air-gapped copies eliminate ransom leverage; saves avg.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$1.5M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343" y="3334941"/>
            <a:ext cx="5357877" cy="956171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6342400" y="3505002"/>
            <a:ext cx="50177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Third-Party Risk Audits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342400" y="3862487"/>
            <a:ext cx="50177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Secures supply chain; avoids NIS2 fines up to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€7M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461645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NIS2: "Important Entity" Threshold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1475" y="5035252"/>
            <a:ext cx="583649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≥50 FTE employees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OR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turnover &gt;€10M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OR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balance sheet &gt;€10M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659" y="461645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NIS2 Incident Reporting Deadlines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309659" y="5035252"/>
            <a:ext cx="5226911" cy="8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Early Warning: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Within 24 hours of detection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Incident Notification: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Within 72 hours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Final Report: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Within 1 month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2026-07-10T12:57:54Z</dcterms:created>
  <dcterms:modified xsi:type="dcterms:W3CDTF">2026-07-10T12:57:54Z</dcterms:modified>
</cp:coreProperties>
</file>