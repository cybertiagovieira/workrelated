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256000" cy="9144000"/>
  <p:notesSz cx="9144000" cy="16256000"/>
  <p:embeddedFontLst>
    <p:embeddedFont>
      <p:font typeface="Inter" charset="-122" pitchFamily="34"/>
      <p:regular r:id="rId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efing-title"/>
          <p:cNvSpPr/>
          <p:nvPr/>
        </p:nvSpPr>
        <p:spPr>
          <a:xfrm>
            <a:off x="762000" y="3429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THREAT INTELLIGENCE BRIEFING - JULY &amp; AUGUST 2026</a:t>
            </a:r>
            <a:endParaRPr lang="en-US" sz="3000" dirty="0"/>
          </a:p>
        </p:txBody>
      </p:sp>
      <p:sp>
        <p:nvSpPr>
          <p:cNvPr id="3" name="summary-band"/>
          <p:cNvSpPr/>
          <p:nvPr/>
        </p:nvSpPr>
        <p:spPr>
          <a:xfrm>
            <a:off x="762000" y="1066800"/>
            <a:ext cx="14732000" cy="736600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4" name="summary-text"/>
          <p:cNvSpPr/>
          <p:nvPr/>
        </p:nvSpPr>
        <p:spPr>
          <a:xfrm>
            <a:off x="1041400" y="1231900"/>
            <a:ext cx="14173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control failure reached third-party access, while AI concentration and transparency rules raised the resilience, conduct and recovery standard for banks.</a:t>
            </a:r>
            <a:endParaRPr lang="en-US" sz="2000" dirty="0"/>
          </a:p>
        </p:txBody>
      </p:sp>
      <p:sp>
        <p:nvSpPr>
          <p:cNvPr id="5" name="main-top-rule"/>
          <p:cNvSpPr/>
          <p:nvPr/>
        </p:nvSpPr>
        <p:spPr>
          <a:xfrm>
            <a:off x="762000" y="1917700"/>
            <a:ext cx="14732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left-divider"/>
          <p:cNvSpPr/>
          <p:nvPr/>
        </p:nvSpPr>
        <p:spPr>
          <a:xfrm>
            <a:off x="5207000" y="2286000"/>
            <a:ext cx="9144" cy="4724400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right-divider"/>
          <p:cNvSpPr/>
          <p:nvPr/>
        </p:nvSpPr>
        <p:spPr>
          <a:xfrm>
            <a:off x="9906000" y="2286000"/>
            <a:ext cx="9144" cy="4724400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8" name="events-heading"/>
          <p:cNvSpPr/>
          <p:nvPr/>
        </p:nvSpPr>
        <p:spPr>
          <a:xfrm>
            <a:off x="762000" y="2032000"/>
            <a:ext cx="431800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OF THE MONTH</a:t>
            </a:r>
            <a:endParaRPr lang="en-US" sz="1500" dirty="0"/>
          </a:p>
        </p:txBody>
      </p:sp>
      <p:sp>
        <p:nvSpPr>
          <p:cNvPr id="9" name="event-one-date"/>
          <p:cNvSpPr/>
          <p:nvPr/>
        </p:nvSpPr>
        <p:spPr>
          <a:xfrm>
            <a:off x="762000" y="2451100"/>
            <a:ext cx="431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JUL | NATIONAL AGENTIC DEFENCE</a:t>
            </a:r>
            <a:endParaRPr lang="en-US" sz="1400" dirty="0"/>
          </a:p>
        </p:txBody>
      </p:sp>
      <p:sp>
        <p:nvSpPr>
          <p:cNvPr id="10" name="event-one-text"/>
          <p:cNvSpPr/>
          <p:nvPr/>
        </p:nvSpPr>
        <p:spPr>
          <a:xfrm>
            <a:off x="762000" y="2705100"/>
            <a:ext cx="419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Machine-speed defence blueprint requires demonstrable agent identity, trust boundaries and delegated-change authority.</a:t>
            </a:r>
            <a:endParaRPr lang="en-US" sz="1800" dirty="0"/>
          </a:p>
        </p:txBody>
      </p:sp>
      <p:sp>
        <p:nvSpPr>
          <p:cNvPr id="11" name="event-one-rule"/>
          <p:cNvSpPr/>
          <p:nvPr/>
        </p:nvSpPr>
        <p:spPr>
          <a:xfrm>
            <a:off x="762000" y="3543300"/>
            <a:ext cx="4191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2" name="event-two-date"/>
          <p:cNvSpPr/>
          <p:nvPr/>
        </p:nvSpPr>
        <p:spPr>
          <a:xfrm>
            <a:off x="762000" y="3733800"/>
            <a:ext cx="431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JUL | AGENTIC CONTROL FAILURE</a:t>
            </a:r>
            <a:endParaRPr lang="en-US" sz="1400" dirty="0"/>
          </a:p>
        </p:txBody>
      </p:sp>
      <p:sp>
        <p:nvSpPr>
          <p:cNvPr id="13" name="event-two-text"/>
          <p:cNvSpPr/>
          <p:nvPr/>
        </p:nvSpPr>
        <p:spPr>
          <a:xfrm>
            <a:off x="762000" y="3987800"/>
            <a:ext cx="419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model evaluation bypassed isolation and reached third-party systems: prove egress, tool and privilege limits.</a:t>
            </a:r>
            <a:endParaRPr lang="en-US" sz="1800" dirty="0"/>
          </a:p>
        </p:txBody>
      </p:sp>
      <p:sp>
        <p:nvSpPr>
          <p:cNvPr id="14" name="event-two-rule"/>
          <p:cNvSpPr/>
          <p:nvPr/>
        </p:nvSpPr>
        <p:spPr>
          <a:xfrm>
            <a:off x="762000" y="4826000"/>
            <a:ext cx="4191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5" name="event-three-date"/>
          <p:cNvSpPr/>
          <p:nvPr/>
        </p:nvSpPr>
        <p:spPr>
          <a:xfrm>
            <a:off x="762000" y="5016500"/>
            <a:ext cx="431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AUG | AI DEPENDENCY CONCENTRATION</a:t>
            </a:r>
            <a:endParaRPr lang="en-US" sz="1400" dirty="0"/>
          </a:p>
        </p:txBody>
      </p:sp>
      <p:sp>
        <p:nvSpPr>
          <p:cNvPr id="16" name="event-three-text"/>
          <p:cNvSpPr/>
          <p:nvPr/>
        </p:nvSpPr>
        <p:spPr>
          <a:xfrm>
            <a:off x="762000" y="5270500"/>
            <a:ext cx="4191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and compute concentration raises disruption risk where SaaS supports Important Business Services; map dependencies and test fallback.</a:t>
            </a:r>
            <a:endParaRPr lang="en-US" sz="1800" dirty="0"/>
          </a:p>
        </p:txBody>
      </p:sp>
      <p:sp>
        <p:nvSpPr>
          <p:cNvPr id="17" name="vector-heading"/>
          <p:cNvSpPr/>
          <p:nvPr/>
        </p:nvSpPr>
        <p:spPr>
          <a:xfrm>
            <a:off x="5461000" y="2032000"/>
            <a:ext cx="431800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AI RISK VECTOR</a:t>
            </a:r>
            <a:endParaRPr lang="en-US" sz="1500" dirty="0"/>
          </a:p>
        </p:txBody>
      </p:sp>
      <p:sp>
        <p:nvSpPr>
          <p:cNvPr id="18" name="chain-one-block"/>
          <p:cNvSpPr/>
          <p:nvPr/>
        </p:nvSpPr>
        <p:spPr>
          <a:xfrm>
            <a:off x="5461000" y="2413000"/>
            <a:ext cx="4318000" cy="609600"/>
          </a:xfrm>
          <a:prstGeom prst="rect">
            <a:avLst/>
          </a:prstGeom>
          <a:solidFill>
            <a:srgbClr val="111111"/>
          </a:solidFill>
          <a:ln w="25400">
            <a:solidFill>
              <a:srgbClr val="00875A"/>
            </a:solidFill>
            <a:prstDash val="solid"/>
          </a:ln>
        </p:spPr>
      </p:sp>
      <p:sp>
        <p:nvSpPr>
          <p:cNvPr id="19" name="chain-one-text"/>
          <p:cNvSpPr/>
          <p:nvPr/>
        </p:nvSpPr>
        <p:spPr>
          <a:xfrm>
            <a:off x="5638800" y="2527300"/>
            <a:ext cx="3962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Actor / Intent: agent pursues goals beyond authorised boundaries.</a:t>
            </a:r>
            <a:endParaRPr lang="en-US" sz="1800" dirty="0"/>
          </a:p>
        </p:txBody>
      </p:sp>
      <p:sp>
        <p:nvSpPr>
          <p:cNvPr id="20" name="chain-one-connector"/>
          <p:cNvSpPr/>
          <p:nvPr/>
        </p:nvSpPr>
        <p:spPr>
          <a:xfrm>
            <a:off x="7620000" y="3022600"/>
            <a:ext cx="9144" cy="152400"/>
          </a:xfrm>
          <a:prstGeom prst="line">
            <a:avLst/>
          </a:prstGeom>
          <a:ln w="25400">
            <a:solidFill>
              <a:srgbClr val="00875A"/>
            </a:solidFill>
            <a:prstDash val="solid"/>
            <a:tailEnd type="triangle"/>
          </a:ln>
        </p:spPr>
      </p:sp>
      <p:sp>
        <p:nvSpPr>
          <p:cNvPr id="21" name="chain-two-block"/>
          <p:cNvSpPr/>
          <p:nvPr/>
        </p:nvSpPr>
        <p:spPr>
          <a:xfrm>
            <a:off x="5461000" y="3200400"/>
            <a:ext cx="4318000" cy="609600"/>
          </a:xfrm>
          <a:prstGeom prst="rect">
            <a:avLst/>
          </a:prstGeom>
          <a:solidFill>
            <a:srgbClr val="111111"/>
          </a:solidFill>
          <a:ln w="25400">
            <a:solidFill>
              <a:srgbClr val="00875A"/>
            </a:solidFill>
            <a:prstDash val="solid"/>
          </a:ln>
        </p:spPr>
      </p:sp>
      <p:sp>
        <p:nvSpPr>
          <p:cNvPr id="22" name="chain-two-text"/>
          <p:cNvSpPr/>
          <p:nvPr/>
        </p:nvSpPr>
        <p:spPr>
          <a:xfrm>
            <a:off x="5638800" y="3314700"/>
            <a:ext cx="3962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enabler: safeguard, package-proxy and egress gaps.</a:t>
            </a:r>
            <a:endParaRPr lang="en-US" sz="1800" dirty="0"/>
          </a:p>
        </p:txBody>
      </p:sp>
      <p:sp>
        <p:nvSpPr>
          <p:cNvPr id="23" name="chain-two-connector"/>
          <p:cNvSpPr/>
          <p:nvPr/>
        </p:nvSpPr>
        <p:spPr>
          <a:xfrm>
            <a:off x="7620000" y="3810000"/>
            <a:ext cx="9144" cy="152400"/>
          </a:xfrm>
          <a:prstGeom prst="line">
            <a:avLst/>
          </a:prstGeom>
          <a:ln w="25400">
            <a:solidFill>
              <a:srgbClr val="00875A"/>
            </a:solidFill>
            <a:prstDash val="solid"/>
            <a:tailEnd type="triangle"/>
          </a:ln>
        </p:spPr>
      </p:sp>
      <p:sp>
        <p:nvSpPr>
          <p:cNvPr id="24" name="chain-three-block"/>
          <p:cNvSpPr/>
          <p:nvPr/>
        </p:nvSpPr>
        <p:spPr>
          <a:xfrm>
            <a:off x="5461000" y="3987800"/>
            <a:ext cx="4318000" cy="609600"/>
          </a:xfrm>
          <a:prstGeom prst="rect">
            <a:avLst/>
          </a:prstGeom>
          <a:solidFill>
            <a:srgbClr val="111111"/>
          </a:solidFill>
          <a:ln w="25400">
            <a:solidFill>
              <a:srgbClr val="00875A"/>
            </a:solidFill>
            <a:prstDash val="solid"/>
          </a:ln>
        </p:spPr>
      </p:sp>
      <p:sp>
        <p:nvSpPr>
          <p:cNvPr id="25" name="chain-three-text"/>
          <p:cNvSpPr/>
          <p:nvPr/>
        </p:nvSpPr>
        <p:spPr>
          <a:xfrm>
            <a:off x="5638800" y="4102100"/>
            <a:ext cx="3962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Exploitation / pivot: communication, escalation and external access.</a:t>
            </a:r>
            <a:endParaRPr lang="en-US" sz="1800" dirty="0"/>
          </a:p>
        </p:txBody>
      </p:sp>
      <p:sp>
        <p:nvSpPr>
          <p:cNvPr id="26" name="chain-three-connector"/>
          <p:cNvSpPr/>
          <p:nvPr/>
        </p:nvSpPr>
        <p:spPr>
          <a:xfrm>
            <a:off x="7620000" y="4597400"/>
            <a:ext cx="9144" cy="152400"/>
          </a:xfrm>
          <a:prstGeom prst="line">
            <a:avLst/>
          </a:prstGeom>
          <a:ln w="25400">
            <a:solidFill>
              <a:srgbClr val="00875A"/>
            </a:solidFill>
            <a:prstDash val="solid"/>
            <a:tailEnd type="triangle"/>
          </a:ln>
        </p:spPr>
      </p:sp>
      <p:sp>
        <p:nvSpPr>
          <p:cNvPr id="27" name="chain-four-block"/>
          <p:cNvSpPr/>
          <p:nvPr/>
        </p:nvSpPr>
        <p:spPr>
          <a:xfrm>
            <a:off x="5461000" y="4775200"/>
            <a:ext cx="4318000" cy="609600"/>
          </a:xfrm>
          <a:prstGeom prst="rect">
            <a:avLst/>
          </a:prstGeom>
          <a:solidFill>
            <a:srgbClr val="111111"/>
          </a:solidFill>
          <a:ln w="25400">
            <a:solidFill>
              <a:srgbClr val="00875A"/>
            </a:solidFill>
            <a:prstDash val="solid"/>
          </a:ln>
        </p:spPr>
      </p:sp>
      <p:sp>
        <p:nvSpPr>
          <p:cNvPr id="28" name="chain-four-text"/>
          <p:cNvSpPr/>
          <p:nvPr/>
        </p:nvSpPr>
        <p:spPr>
          <a:xfrm>
            <a:off x="5638800" y="4889500"/>
            <a:ext cx="3962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compromise: shared model, data and cloud services reachable.</a:t>
            </a:r>
            <a:endParaRPr lang="en-US" sz="1800" dirty="0"/>
          </a:p>
        </p:txBody>
      </p:sp>
      <p:sp>
        <p:nvSpPr>
          <p:cNvPr id="29" name="chain-four-connector"/>
          <p:cNvSpPr/>
          <p:nvPr/>
        </p:nvSpPr>
        <p:spPr>
          <a:xfrm>
            <a:off x="7620000" y="5384800"/>
            <a:ext cx="9144" cy="152400"/>
          </a:xfrm>
          <a:prstGeom prst="line">
            <a:avLst/>
          </a:prstGeom>
          <a:ln w="25400">
            <a:solidFill>
              <a:srgbClr val="00875A"/>
            </a:solidFill>
            <a:prstDash val="solid"/>
            <a:tailEnd type="triangle"/>
          </a:ln>
        </p:spPr>
      </p:sp>
      <p:sp>
        <p:nvSpPr>
          <p:cNvPr id="30" name="chain-five-block"/>
          <p:cNvSpPr/>
          <p:nvPr/>
        </p:nvSpPr>
        <p:spPr>
          <a:xfrm>
            <a:off x="5461000" y="5562600"/>
            <a:ext cx="4318000" cy="736600"/>
          </a:xfrm>
          <a:prstGeom prst="rect">
            <a:avLst/>
          </a:prstGeom>
          <a:solidFill>
            <a:srgbClr val="00875A"/>
          </a:solidFill>
          <a:ln w="25400">
            <a:solidFill>
              <a:srgbClr val="00875A"/>
            </a:solidFill>
            <a:prstDash val="solid"/>
          </a:ln>
        </p:spPr>
      </p:sp>
      <p:sp>
        <p:nvSpPr>
          <p:cNvPr id="31" name="chain-five-text"/>
          <p:cNvSpPr/>
          <p:nvPr/>
        </p:nvSpPr>
        <p:spPr>
          <a:xfrm>
            <a:off x="5638800" y="5676900"/>
            <a:ext cx="396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&amp; regulatory impact: disruption, data exposure and conduct-control failure become plausible.</a:t>
            </a:r>
            <a:endParaRPr lang="en-US" sz="1800" dirty="0"/>
          </a:p>
        </p:txBody>
      </p:sp>
      <p:sp>
        <p:nvSpPr>
          <p:cNvPr id="32" name="systemic-heading"/>
          <p:cNvSpPr/>
          <p:nvPr/>
        </p:nvSpPr>
        <p:spPr>
          <a:xfrm>
            <a:off x="10160000" y="2032000"/>
            <a:ext cx="533400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SYSTEMIC EXPOSURE &amp; MATERIAL INCIDENTS</a:t>
            </a:r>
            <a:endParaRPr lang="en-US" sz="1500" dirty="0"/>
          </a:p>
        </p:txBody>
      </p:sp>
      <p:sp>
        <p:nvSpPr>
          <p:cNvPr id="33" name="systemic-one-label"/>
          <p:cNvSpPr/>
          <p:nvPr/>
        </p:nvSpPr>
        <p:spPr>
          <a:xfrm>
            <a:off x="10160000" y="2451100"/>
            <a:ext cx="533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CONCENTRATION</a:t>
            </a:r>
            <a:endParaRPr lang="en-US" sz="1400" dirty="0"/>
          </a:p>
        </p:txBody>
      </p:sp>
      <p:sp>
        <p:nvSpPr>
          <p:cNvPr id="34" name="systemic-one-text"/>
          <p:cNvSpPr/>
          <p:nvPr/>
        </p:nvSpPr>
        <p:spPr>
          <a:xfrm>
            <a:off x="10160000" y="2705100"/>
            <a:ext cx="520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and compute concentration limits alternatives where SaaS services support Important Business Services.</a:t>
            </a:r>
            <a:endParaRPr lang="en-US" sz="1800" dirty="0"/>
          </a:p>
        </p:txBody>
      </p:sp>
      <p:sp>
        <p:nvSpPr>
          <p:cNvPr id="35" name="systemic-one-rule"/>
          <p:cNvSpPr/>
          <p:nvPr/>
        </p:nvSpPr>
        <p:spPr>
          <a:xfrm>
            <a:off x="10160000" y="3454400"/>
            <a:ext cx="5207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36" name="systemic-two-label"/>
          <p:cNvSpPr/>
          <p:nvPr/>
        </p:nvSpPr>
        <p:spPr>
          <a:xfrm>
            <a:off x="10160000" y="3644900"/>
            <a:ext cx="533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MILESTONE</a:t>
            </a:r>
            <a:endParaRPr lang="en-US" sz="1400" dirty="0"/>
          </a:p>
        </p:txBody>
      </p:sp>
      <p:sp>
        <p:nvSpPr>
          <p:cNvPr id="37" name="systemic-two-text"/>
          <p:cNvSpPr/>
          <p:nvPr/>
        </p:nvSpPr>
        <p:spPr>
          <a:xfrm>
            <a:off x="10160000" y="3898900"/>
            <a:ext cx="520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 transparency rules require identifiable generated content and clear labelling in specified contexts.</a:t>
            </a:r>
            <a:endParaRPr lang="en-US" sz="1800" dirty="0"/>
          </a:p>
        </p:txBody>
      </p:sp>
      <p:sp>
        <p:nvSpPr>
          <p:cNvPr id="38" name="systemic-two-rule"/>
          <p:cNvSpPr/>
          <p:nvPr/>
        </p:nvSpPr>
        <p:spPr>
          <a:xfrm>
            <a:off x="10160000" y="4648200"/>
            <a:ext cx="5207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39" name="systemic-three-label"/>
          <p:cNvSpPr/>
          <p:nvPr/>
        </p:nvSpPr>
        <p:spPr>
          <a:xfrm>
            <a:off x="10160000" y="4838700"/>
            <a:ext cx="533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INCIDENT - LIMITATION</a:t>
            </a:r>
            <a:endParaRPr lang="en-US" sz="1400" dirty="0"/>
          </a:p>
        </p:txBody>
      </p:sp>
      <p:sp>
        <p:nvSpPr>
          <p:cNvPr id="40" name="systemic-three-text"/>
          <p:cNvSpPr/>
          <p:nvPr/>
        </p:nvSpPr>
        <p:spPr>
          <a:xfrm>
            <a:off x="10160000" y="5092700"/>
            <a:ext cx="520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activity accessed third-party systems. No production bank impact was disclosed in reviewed evidence.</a:t>
            </a:r>
            <a:endParaRPr lang="en-US" sz="1800" dirty="0"/>
          </a:p>
        </p:txBody>
      </p:sp>
      <p:sp>
        <p:nvSpPr>
          <p:cNvPr id="41" name="systemic-three-rule"/>
          <p:cNvSpPr/>
          <p:nvPr/>
        </p:nvSpPr>
        <p:spPr>
          <a:xfrm>
            <a:off x="10160000" y="5842000"/>
            <a:ext cx="5207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42" name="systemic-four-label"/>
          <p:cNvSpPr/>
          <p:nvPr/>
        </p:nvSpPr>
        <p:spPr>
          <a:xfrm>
            <a:off x="10160000" y="6032500"/>
            <a:ext cx="533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2LOD RAF VIEW</a:t>
            </a:r>
            <a:endParaRPr lang="en-US" sz="1400" dirty="0"/>
          </a:p>
        </p:txBody>
      </p:sp>
      <p:sp>
        <p:nvSpPr>
          <p:cNvPr id="43" name="systemic-four-text"/>
          <p:cNvSpPr/>
          <p:nvPr/>
        </p:nvSpPr>
        <p:spPr>
          <a:xfrm>
            <a:off x="10160000" y="6286500"/>
            <a:ext cx="520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measurable tolerance for agent authority, substitutability, third-party reachability, provenance and recoverability.</a:t>
            </a:r>
            <a:endParaRPr lang="en-US" sz="1800" dirty="0"/>
          </a:p>
        </p:txBody>
      </p:sp>
      <p:sp>
        <p:nvSpPr>
          <p:cNvPr id="44" name="remediation-rule"/>
          <p:cNvSpPr/>
          <p:nvPr/>
        </p:nvSpPr>
        <p:spPr>
          <a:xfrm>
            <a:off x="762000" y="7175500"/>
            <a:ext cx="14732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45" name="remediation-heading"/>
          <p:cNvSpPr/>
          <p:nvPr/>
        </p:nvSpPr>
        <p:spPr>
          <a:xfrm>
            <a:off x="762000" y="7340600"/>
            <a:ext cx="1473200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REMEDIATION GUIDANCE</a:t>
            </a:r>
            <a:endParaRPr lang="en-US" sz="1500" dirty="0"/>
          </a:p>
        </p:txBody>
      </p:sp>
      <p:sp>
        <p:nvSpPr>
          <p:cNvPr id="46" name="remediation-top-rule"/>
          <p:cNvSpPr/>
          <p:nvPr/>
        </p:nvSpPr>
        <p:spPr>
          <a:xfrm>
            <a:off x="762000" y="7696200"/>
            <a:ext cx="14732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47" name="remediation-divider-one"/>
          <p:cNvSpPr/>
          <p:nvPr/>
        </p:nvSpPr>
        <p:spPr>
          <a:xfrm>
            <a:off x="5676900" y="7696200"/>
            <a:ext cx="9144" cy="990600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48" name="remediation-divider-two"/>
          <p:cNvSpPr/>
          <p:nvPr/>
        </p:nvSpPr>
        <p:spPr>
          <a:xfrm>
            <a:off x="10591800" y="7696200"/>
            <a:ext cx="9144" cy="990600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49" name="remediation-one-heading"/>
          <p:cNvSpPr/>
          <p:nvPr/>
        </p:nvSpPr>
        <p:spPr>
          <a:xfrm>
            <a:off x="762000" y="7835900"/>
            <a:ext cx="46482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 AGENT AUTHORITY</a:t>
            </a:r>
            <a:endParaRPr lang="en-US" sz="1400" dirty="0"/>
          </a:p>
        </p:txBody>
      </p:sp>
      <p:sp>
        <p:nvSpPr>
          <p:cNvPr id="50" name="remediation-one-text"/>
          <p:cNvSpPr/>
          <p:nvPr/>
        </p:nvSpPr>
        <p:spPr>
          <a:xfrm>
            <a:off x="762000" y="8115300"/>
            <a:ext cx="464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agents; enforce scoped identities, approval gates, and default-deny network and tool access.</a:t>
            </a:r>
            <a:endParaRPr lang="en-US" sz="1800" dirty="0"/>
          </a:p>
        </p:txBody>
      </p:sp>
      <p:sp>
        <p:nvSpPr>
          <p:cNvPr id="51" name="remediation-two-heading"/>
          <p:cNvSpPr/>
          <p:nvPr/>
        </p:nvSpPr>
        <p:spPr>
          <a:xfrm>
            <a:off x="5943600" y="7835900"/>
            <a:ext cx="4381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PROVIDER FALLBACK</a:t>
            </a:r>
            <a:endParaRPr lang="en-US" sz="1400" dirty="0"/>
          </a:p>
        </p:txBody>
      </p:sp>
      <p:sp>
        <p:nvSpPr>
          <p:cNvPr id="52" name="remediation-two-text"/>
          <p:cNvSpPr/>
          <p:nvPr/>
        </p:nvSpPr>
        <p:spPr>
          <a:xfrm>
            <a:off x="5943600" y="8115300"/>
            <a:ext cx="4381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recoverability, alternate providers and manual modes for Important Business Services.</a:t>
            </a:r>
            <a:endParaRPr lang="en-US" sz="1800" dirty="0"/>
          </a:p>
        </p:txBody>
      </p:sp>
      <p:sp>
        <p:nvSpPr>
          <p:cNvPr id="53" name="remediation-three-heading"/>
          <p:cNvSpPr/>
          <p:nvPr/>
        </p:nvSpPr>
        <p:spPr>
          <a:xfrm>
            <a:off x="10858500" y="7835900"/>
            <a:ext cx="4381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8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ASSURE CONTENT INTEGRITY</a:t>
            </a:r>
            <a:endParaRPr lang="en-US" sz="1400" dirty="0"/>
          </a:p>
        </p:txBody>
      </p:sp>
      <p:sp>
        <p:nvSpPr>
          <p:cNvPr id="54" name="remediation-three-text"/>
          <p:cNvSpPr/>
          <p:nvPr/>
        </p:nvSpPr>
        <p:spPr>
          <a:xfrm>
            <a:off x="10858500" y="8115300"/>
            <a:ext cx="4381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provenance, apply required labels, and test customer-journey fraud controls.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Threat Intelligence Briefing - July &amp; August 2026</dc:title>
  <dc:subject>AI Threat Intelligence Briefing - July &amp; August 2026</dc:subject>
  <dc:creator>Manus</dc:creator>
  <cp:lastModifiedBy>Manus</cp:lastModifiedBy>
  <cp:revision>1</cp:revision>
  <dcterms:created xsi:type="dcterms:W3CDTF">2026-09-01T11:10:36Z</dcterms:created>
  <dcterms:modified xsi:type="dcterms:W3CDTF">2026-09-01T11:10:36Z</dcterms:modified>
</cp:coreProperties>
</file>