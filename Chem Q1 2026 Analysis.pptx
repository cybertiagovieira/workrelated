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1.png"/><Relationship Id="rId4" Type="http://schemas.openxmlformats.org/officeDocument/2006/relationships/image" Target="../media/image-1-2.svg"/><Relationship Id="rId5" Type="http://schemas.openxmlformats.org/officeDocument/2006/relationships/image" Target="../media/image-1-1.png"/><Relationship Id="rId6" Type="http://schemas.openxmlformats.org/officeDocument/2006/relationships/image" Target="../media/image-1-2.svg"/><Relationship Id="rId7" Type="http://schemas.openxmlformats.org/officeDocument/2006/relationships/image" Target="../media/image-1-1.png"/><Relationship Id="rId8" Type="http://schemas.openxmlformats.org/officeDocument/2006/relationships/image" Target="../media/image-1-2.svg"/><Relationship Id="rId9" Type="http://schemas.openxmlformats.org/officeDocument/2006/relationships/image" Target="../media/image-1-1.png"/><Relationship Id="rId10" Type="http://schemas.openxmlformats.org/officeDocument/2006/relationships/image" Target="../media/image-1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4973"/>
            <a:ext cx="3294873" cy="201116"/>
          </a:xfrm>
          <a:prstGeom prst="roundRect">
            <a:avLst>
              <a:gd name="adj" fmla="val 7895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614660"/>
            <a:ext cx="3745712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EU CHEMICALS SECTOR CYBER RESILIENCE REPORT · 2025–2026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81835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Threats &amp; Top 5 Cyber Attacks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390551"/>
            <a:ext cx="10868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Chemical Industry 4.0 adoption—software platforms at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44%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market share, IIoT at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31%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—expands the attack surface. The market grows from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$21.4B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(2025) to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$25.0B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(2026). Five critical threats define the 2025–2026 landscape: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90613"/>
            <a:ext cx="10868745" cy="793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5918" y="2163465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315508" y="2041922"/>
            <a:ext cx="1006340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OT-Targeted Ransomware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15508" y="2312095"/>
            <a:ext cx="1006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Qilin and Akira use double-extortion: encrypting systems while exfiltrating data—Qilin siphoned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165 GB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from one manufacturer.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790230"/>
            <a:ext cx="10868745" cy="7938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5918" y="3063081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315508" y="2941538"/>
            <a:ext cx="1006340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Industrial Espionage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315508" y="3211711"/>
            <a:ext cx="1006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State-sponsored groups (MAGNALLIUM, CHRYSENE) steal chemical process recipes and polymer formulations, undermining EU strategic autonomy.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689846"/>
            <a:ext cx="10868745" cy="79384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5918" y="3962698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315508" y="3841155"/>
            <a:ext cx="1006340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Supply Chain Compromise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315508" y="4111327"/>
            <a:ext cx="1006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Attackers exploit vendor remote access paths and software updates to bypass perimeters and move laterally into production.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589463"/>
            <a:ext cx="10868745" cy="79384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5918" y="486231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315508" y="4740771"/>
            <a:ext cx="1006340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Cyber-Physical Sabotage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315508" y="5010944"/>
            <a:ext cx="1006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Triton malware disables Triconex safety controllers, removing emergency shutdown protections and enabling physical catastrophes.</a:t>
            </a:r>
            <a:endParaRPr lang="en-US" sz="10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489079"/>
            <a:ext cx="10868745" cy="79384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45918" y="5761930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1315508" y="5640387"/>
            <a:ext cx="1006340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Shadow AI Exposure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315508" y="5910560"/>
            <a:ext cx="100634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55.03%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large EU enterprises use AI; unmanaged Shadow AI adds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$670,000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breach costs via unmonitored data exposure.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44153"/>
            <a:ext cx="1094554" cy="201116"/>
          </a:xfrm>
          <a:prstGeom prst="roundRect">
            <a:avLst>
              <a:gd name="adj" fmla="val 7895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883841"/>
            <a:ext cx="1545393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FINANCIAL 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1087537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Financial Impact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659731"/>
            <a:ext cx="10868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Industrial breach costs rose to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$5.56 Million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—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25.2%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above the global average of $4.44M. Downtime costs reach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$125,000/hour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The sector takes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199 days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identify breaches and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73 days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contain them. UK chemical sector losses total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£0.3 Billion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annually; US breaches hit an all-time high of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$10.22 Million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61475" y="2159794"/>
            <a:ext cx="10868745" cy="2025650"/>
          </a:xfrm>
          <a:prstGeom prst="roundRect">
            <a:avLst>
              <a:gd name="adj" fmla="val 980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1475" y="2499519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2836069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3172619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3509169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3845719"/>
            <a:ext cx="10868745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00378" y="2235994"/>
            <a:ext cx="425320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Metric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8506" y="2235994"/>
            <a:ext cx="262476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Chemicals &amp; Industrial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88199" y="2235994"/>
            <a:ext cx="262476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Global Average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67891" y="2235994"/>
            <a:ext cx="27333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Sector Premium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0378" y="2572544"/>
            <a:ext cx="425320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Avg. Breach Cost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8506" y="2572544"/>
            <a:ext cx="262476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$5.56M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88199" y="2572544"/>
            <a:ext cx="262476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$4.44M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67891" y="2572544"/>
            <a:ext cx="27333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+25.2%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0378" y="2909094"/>
            <a:ext cx="425320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Identification (MTTI)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8506" y="2909094"/>
            <a:ext cx="262476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199 Days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88199" y="2909094"/>
            <a:ext cx="262476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158 Days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67891" y="2909094"/>
            <a:ext cx="27333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+25.9%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0378" y="3245644"/>
            <a:ext cx="425320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Containment (MTTC)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8506" y="3245644"/>
            <a:ext cx="262476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73 Days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88199" y="3245644"/>
            <a:ext cx="262476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83 Days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67891" y="3245644"/>
            <a:ext cx="27333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−12.0%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0378" y="3582194"/>
            <a:ext cx="425320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Hourly Downtime Cost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8506" y="3582194"/>
            <a:ext cx="262476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Up to $125K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88199" y="3582194"/>
            <a:ext cx="262476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Variable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267891" y="3582194"/>
            <a:ext cx="27333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Sensitivity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0378" y="3918744"/>
            <a:ext cx="425320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Ransomware Refusal Rate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8506" y="3918744"/>
            <a:ext cx="262476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63%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88199" y="3918744"/>
            <a:ext cx="262476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63%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267891" y="3918744"/>
            <a:ext cx="27333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Stable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227" y="4304506"/>
            <a:ext cx="5463542" cy="1709241"/>
          </a:xfrm>
          <a:prstGeom prst="roundRect">
            <a:avLst>
              <a:gd name="adj" fmla="val 1161"/>
            </a:avLst>
          </a:prstGeom>
          <a:solidFill>
            <a:srgbClr val="00674F"/>
          </a:solidFill>
          <a:ln/>
        </p:spPr>
      </p:sp>
      <p:sp>
        <p:nvSpPr>
          <p:cNvPr id="37" name="Text 35"/>
          <p:cNvSpPr/>
          <p:nvPr/>
        </p:nvSpPr>
        <p:spPr>
          <a:xfrm>
            <a:off x="698483" y="4410273"/>
            <a:ext cx="51990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Cost Breakdown by Category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8483" y="4722713"/>
            <a:ext cx="5199032" cy="1254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Lost Business &amp; Downtime — 38%:</a:t>
            </a:r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Up to $125K/hr from halted continuous process lines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Post-Breach Response — 28%:</a:t>
            </a:r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Forensics, HMI re-imaging, control server replacement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Detection &amp; Escalation — 18%:</a:t>
            </a:r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Legacy equipment diagnostics, protocol analysis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Regulatory &amp; Legal — 16%:</a:t>
            </a:r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NIS2/SEVESO non-compliance adds ~$2.30M on average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523" y="4410273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Vulnerabilities Driving Costs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63523" y="4722713"/>
            <a:ext cx="5273047" cy="1100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70%</a:t>
            </a:r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OT assets are 6–20 years old; cannot support modern patching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74%</a:t>
            </a:r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organizations connect OT/ICS directly to enterprise networks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Flat network architectures allow unrestricted lateral movement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Unencrypted protocols (Modbus, DNP3) lack authentication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Chemical-water utility interdependence cascades risk to public health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906"/>
            <a:ext cx="2679435" cy="226219"/>
          </a:xfrm>
          <a:prstGeom prst="roundRect">
            <a:avLst>
              <a:gd name="adj" fmla="val 7896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50769" y="564555"/>
            <a:ext cx="3110430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FINANCIAL IMPACT: WORST CASE SCENARIOS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99703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Financial Impact: Worst Case Scenarios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1475" y="1599704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Scenario A: Cyber-Physical Runaway Reaction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1966119"/>
            <a:ext cx="5252807" cy="1357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sophisticated actor gains IT access via spear-phishing or vendor VPN, crosses weak IT/OT boundaries into the BPCS, and deploys malware on Triconex safety controllers. Emergency shutdown logic is disabled; reaction pressures and temperatures exceed safety limits. Result: runaway exothermic reaction, physical explosions, structural destruction, and release of toxic hydrogen sulfide or chlorine gas into surrounding communities.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83763" y="1599704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Scenario B: Multi-Site MES Ransomware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283763" y="1966119"/>
            <a:ext cx="5252807" cy="1131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Ransomware operators use stolen domain admin credentials to deploy memory-resident encryption simultaneously across MES and DCS at multiple European plants. Batch recipes, quality historians, and delivery interfaces are encrypted. All production halts; operators lose trend visibility and shift to manual mode—degrading capacity by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80%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weeks during system rebuild.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1475" y="3644900"/>
            <a:ext cx="1086874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Long-Term Financial Consequences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4078288"/>
            <a:ext cx="5367402" cy="1062930"/>
          </a:xfrm>
          <a:prstGeom prst="roundRect">
            <a:avLst>
              <a:gd name="adj" fmla="val 2101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810299" y="4227116"/>
            <a:ext cx="506975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Shareholder Value Erosion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10299" y="4539952"/>
            <a:ext cx="506975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Stock performance bottoms out ~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100 days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post-disclosure due to institutional divestment and client attrition.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62818" y="4078288"/>
            <a:ext cx="5367402" cy="1062930"/>
          </a:xfrm>
          <a:prstGeom prst="roundRect">
            <a:avLst>
              <a:gd name="adj" fmla="val 2101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6311643" y="4227116"/>
            <a:ext cx="506975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SEVESO &amp; Double-Reporting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11643" y="4539952"/>
            <a:ext cx="506975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Cyber-induced releases require reporting to cybersecurity and environmental regulators; non-compliance triggers plant closure mandates.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1475" y="5275163"/>
            <a:ext cx="5367402" cy="1062930"/>
          </a:xfrm>
          <a:prstGeom prst="roundRect">
            <a:avLst>
              <a:gd name="adj" fmla="val 2101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810299" y="5423991"/>
            <a:ext cx="506975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GDPR &amp; NIS2 Fines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10299" y="5736828"/>
            <a:ext cx="506975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Up to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€20M / 4%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global revenue (GDPR) plus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€7M / 1.4%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turnover (NIS2) for inadequate risk management.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62818" y="5275163"/>
            <a:ext cx="5367402" cy="1062930"/>
          </a:xfrm>
          <a:prstGeom prst="roundRect">
            <a:avLst>
              <a:gd name="adj" fmla="val 2101"/>
            </a:avLst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6311643" y="5423991"/>
            <a:ext cx="506975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Litigation &amp; Insurance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311643" y="5736828"/>
            <a:ext cx="506975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Contamination and toxic exposure trigger class-action suits exceeding cyber insurance limits, with surging future premiums.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8773"/>
            <a:ext cx="713762" cy="185539"/>
          </a:xfrm>
          <a:prstGeom prst="roundRect">
            <a:avLst>
              <a:gd name="adj" fmla="val 7897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34696" y="535384"/>
            <a:ext cx="1176903" cy="112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CASE STUDY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720328"/>
            <a:ext cx="10868745" cy="381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Case Study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327150"/>
            <a:ext cx="5285449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Brenntag (May 2021)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1475" y="1607939"/>
            <a:ext cx="5285449" cy="848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DarkSide compromised Brenntag's North American division via stolen credentials from an Initial Access Broker. Attackers exfiltrated </a:t>
            </a:r>
            <a:pPr algn="l" indent="0" marL="0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150 GB</a:t>
            </a:r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—employee data, driver's licenses, SSNs, client lists—then demanded </a:t>
            </a:r>
            <a:pPr algn="l" indent="0" marL="0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$7.5M</a:t>
            </a:r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Bitcoin. Brenntag negotiated down and paid </a:t>
            </a:r>
            <a:pPr algn="l" indent="0" marL="0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$4.4M</a:t>
            </a:r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Recovery required disconnecting all North American systems, shifting billing to manual procedures, and replacing hundreds of encrypted computers.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51121" y="1327150"/>
            <a:ext cx="5285449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ProActive Solutions (Q2 2025)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51121" y="1607939"/>
            <a:ext cx="5285449" cy="679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Qilin exploited CVE-2024-21762 and CVE-2024-55591 in perimeter devices, then used BYOVD tactics (eskle.sys, TPwSav.sys) to disable EDR solutions. The group exfiltrated proprietary chemical formulation recipes and encrypted batch control databases. Total direct operational damages: </a:t>
            </a:r>
            <a:pPr algn="l" indent="0" marL="0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$12.4M–$16.8M</a:t>
            </a:r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61475" y="2672953"/>
            <a:ext cx="10868745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Operational Impact Timeline — 16-Day Attack Lifecycle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1475" y="4071441"/>
            <a:ext cx="10868745" cy="12700"/>
          </a:xfrm>
          <a:prstGeom prst="roundRect">
            <a:avLst>
              <a:gd name="adj" fmla="val 144219"/>
            </a:avLst>
          </a:prstGeom>
          <a:solidFill>
            <a:srgbClr val="D8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2167479" y="3705175"/>
            <a:ext cx="12700" cy="366316"/>
          </a:xfrm>
          <a:prstGeom prst="roundRect">
            <a:avLst>
              <a:gd name="adj" fmla="val 144219"/>
            </a:avLst>
          </a:prstGeom>
          <a:solidFill>
            <a:srgbClr val="D8D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2036513" y="3934073"/>
            <a:ext cx="274730" cy="27473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2082252" y="3956943"/>
            <a:ext cx="1831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3511" y="2998788"/>
            <a:ext cx="2780834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Day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3511" y="3243560"/>
            <a:ext cx="2780834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Infiltration &amp; Access via unpatched remote access or stolen credentials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36187" y="4071392"/>
            <a:ext cx="12700" cy="366316"/>
          </a:xfrm>
          <a:prstGeom prst="roundRect">
            <a:avLst>
              <a:gd name="adj" fmla="val 144219"/>
            </a:avLst>
          </a:prstGeom>
          <a:solidFill>
            <a:srgbClr val="D8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3605222" y="3934073"/>
            <a:ext cx="274730" cy="27473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0960" y="3956943"/>
            <a:ext cx="1831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52219" y="4559796"/>
            <a:ext cx="2780834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Days 2–14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52219" y="4804569"/>
            <a:ext cx="2780834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Internal Discovery &amp; Escalation: network mapping, domain controllers, MES servers identified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04995" y="3705175"/>
            <a:ext cx="12700" cy="366316"/>
          </a:xfrm>
          <a:prstGeom prst="roundRect">
            <a:avLst>
              <a:gd name="adj" fmla="val 144219"/>
            </a:avLst>
          </a:prstGeom>
          <a:solidFill>
            <a:srgbClr val="D8D4D4"/>
          </a:solidFill>
          <a:ln/>
        </p:spPr>
      </p:sp>
      <p:sp>
        <p:nvSpPr>
          <p:cNvPr id="22" name="Shape 20"/>
          <p:cNvSpPr/>
          <p:nvPr/>
        </p:nvSpPr>
        <p:spPr>
          <a:xfrm>
            <a:off x="5174029" y="3934073"/>
            <a:ext cx="274730" cy="27473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5219768" y="3956943"/>
            <a:ext cx="1831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21027" y="2998788"/>
            <a:ext cx="2780834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Day 15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21027" y="3243560"/>
            <a:ext cx="2780834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Pre-encryption Exfiltration: </a:t>
            </a:r>
            <a:pPr algn="ctr" indent="0" marL="0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150 GB</a:t>
            </a:r>
            <a:pPr algn="ctr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recipes, databases, identity stores stolen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73703" y="4071392"/>
            <a:ext cx="12700" cy="366316"/>
          </a:xfrm>
          <a:prstGeom prst="roundRect">
            <a:avLst>
              <a:gd name="adj" fmla="val 144219"/>
            </a:avLst>
          </a:prstGeom>
          <a:solidFill>
            <a:srgbClr val="D8D4D4"/>
          </a:solidFill>
          <a:ln/>
        </p:spPr>
      </p:sp>
      <p:sp>
        <p:nvSpPr>
          <p:cNvPr id="27" name="Shape 25"/>
          <p:cNvSpPr/>
          <p:nvPr/>
        </p:nvSpPr>
        <p:spPr>
          <a:xfrm>
            <a:off x="6742738" y="3934073"/>
            <a:ext cx="274730" cy="27473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8" name="Text 26"/>
          <p:cNvSpPr/>
          <p:nvPr/>
        </p:nvSpPr>
        <p:spPr>
          <a:xfrm>
            <a:off x="6788476" y="3956943"/>
            <a:ext cx="1831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9735" y="4559796"/>
            <a:ext cx="2780834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Day 16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9735" y="4804569"/>
            <a:ext cx="2780834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Coordinated Encryption &amp; Outage across admin and plant-support networks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442511" y="3705175"/>
            <a:ext cx="12700" cy="366316"/>
          </a:xfrm>
          <a:prstGeom prst="roundRect">
            <a:avLst>
              <a:gd name="adj" fmla="val 144219"/>
            </a:avLst>
          </a:prstGeom>
          <a:solidFill>
            <a:srgbClr val="D8D4D4"/>
          </a:solidFill>
          <a:ln/>
        </p:spPr>
      </p:sp>
      <p:sp>
        <p:nvSpPr>
          <p:cNvPr id="32" name="Shape 30"/>
          <p:cNvSpPr/>
          <p:nvPr/>
        </p:nvSpPr>
        <p:spPr>
          <a:xfrm>
            <a:off x="8311545" y="3934073"/>
            <a:ext cx="274730" cy="27473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8357284" y="3956943"/>
            <a:ext cx="1831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58543" y="2998788"/>
            <a:ext cx="2780834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Days 17–20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58543" y="3243560"/>
            <a:ext cx="2780834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Forensic engagement, NIS2 24-hour notification, ransom negotiations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011219" y="4071392"/>
            <a:ext cx="12700" cy="366316"/>
          </a:xfrm>
          <a:prstGeom prst="roundRect">
            <a:avLst>
              <a:gd name="adj" fmla="val 144219"/>
            </a:avLst>
          </a:prstGeom>
          <a:solidFill>
            <a:srgbClr val="D8D4D4"/>
          </a:solidFill>
          <a:ln/>
        </p:spPr>
      </p:sp>
      <p:sp>
        <p:nvSpPr>
          <p:cNvPr id="37" name="Shape 35"/>
          <p:cNvSpPr/>
          <p:nvPr/>
        </p:nvSpPr>
        <p:spPr>
          <a:xfrm>
            <a:off x="9880254" y="3934073"/>
            <a:ext cx="274730" cy="27473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38" name="Text 36"/>
          <p:cNvSpPr/>
          <p:nvPr/>
        </p:nvSpPr>
        <p:spPr>
          <a:xfrm>
            <a:off x="9925992" y="3956943"/>
            <a:ext cx="1831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27251" y="4559796"/>
            <a:ext cx="2780834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Day 21+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27251" y="4804569"/>
            <a:ext cx="2780834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 decryption, sequential re-imaging, manual operations phased out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61475" y="5279231"/>
            <a:ext cx="10868745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Lessons Learned</a:t>
            </a:r>
            <a:endParaRPr lang="en-US" sz="1200" dirty="0"/>
          </a:p>
        </p:txBody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7214" y="5608786"/>
            <a:ext cx="183153" cy="183158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1058241" y="5605066"/>
            <a:ext cx="3151009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Proactive Network Isolation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058241" y="5849838"/>
            <a:ext cx="3151009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Pre-segmented IT/OT boundaries (Hexion, Momentive, 2019) prevent lateral ransomware traversal.</a:t>
            </a:r>
            <a:endParaRPr lang="en-US" sz="950" dirty="0"/>
          </a:p>
        </p:txBody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7599" y="5608786"/>
            <a:ext cx="183153" cy="183158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4718626" y="5605066"/>
            <a:ext cx="3151109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Credential Monitoring</a:t>
            </a:r>
            <a:endParaRPr lang="en-US" sz="1200" dirty="0"/>
          </a:p>
        </p:txBody>
      </p:sp>
      <p:sp>
        <p:nvSpPr>
          <p:cNvPr id="47" name="Text 43"/>
          <p:cNvSpPr/>
          <p:nvPr/>
        </p:nvSpPr>
        <p:spPr>
          <a:xfrm>
            <a:off x="4718626" y="5849838"/>
            <a:ext cx="3151109" cy="50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Initial Access Brokers sell valid credentials; proactive monitoring catches compromises before critical network access.</a:t>
            </a:r>
            <a:endParaRPr lang="en-US" sz="950" dirty="0"/>
          </a:p>
        </p:txBody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8084" y="5608786"/>
            <a:ext cx="183153" cy="183158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8379111" y="5605066"/>
            <a:ext cx="3151009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Behavioral Analysis Over Binary Detection</a:t>
            </a:r>
            <a:endParaRPr lang="en-US" sz="1200" dirty="0"/>
          </a:p>
        </p:txBody>
      </p:sp>
      <p:sp>
        <p:nvSpPr>
          <p:cNvPr id="50" name="Text 45"/>
          <p:cNvSpPr/>
          <p:nvPr/>
        </p:nvSpPr>
        <p:spPr>
          <a:xfrm>
            <a:off x="8379111" y="5849838"/>
            <a:ext cx="3151009" cy="50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Monitor for unauthorized directory enumeration, backup manipulation, and unusual internal data transfers—not just ransomware executables.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37332"/>
            <a:ext cx="1202600" cy="176014"/>
          </a:xfrm>
          <a:prstGeom prst="roundRect">
            <a:avLst>
              <a:gd name="adj" fmla="val 7893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30926" y="1072059"/>
            <a:ext cx="1673282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MITIGATION STRATEGIES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1245691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Mitigation Strategies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61475" y="1639788"/>
            <a:ext cx="1086874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Evidence-Based Technical Controls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1475" y="1942207"/>
            <a:ext cx="10868745" cy="714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Purdue Model Zoning (IEC 62443-3-2):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Isolate OT into firewall-monitored zones; establish Industrial DMZ between enterprise and control networks</a:t>
            </a:r>
            <a:endParaRPr lang="en-US" sz="900" dirty="0"/>
          </a:p>
          <a:p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Passive OT Monitoring: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Agentless platforms profile assets and protocols without disrupting legacy controllers</a:t>
            </a:r>
            <a:endParaRPr lang="en-US" sz="900" dirty="0"/>
          </a:p>
          <a:p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Phishing-Resistant MFA &amp; RBAC: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Enforce MFA on all remote access; restrict vendors to timed, monitored jump hosts</a:t>
            </a:r>
            <a:endParaRPr lang="en-US" sz="900" dirty="0"/>
          </a:p>
          <a:p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USB Port Protection:</a:t>
            </a:r>
            <a:pPr algn="l" marL="182880" indent="-182880">
              <a:lnSpc>
                <a:spcPct val="113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Require offline scanning kiosks for all removable media; enforce read-only on engineering terminals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61475" y="2747962"/>
            <a:ext cx="10868745" cy="1375073"/>
          </a:xfrm>
          <a:prstGeom prst="roundRect">
            <a:avLst>
              <a:gd name="adj" fmla="val 126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1475" y="3024882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3298627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3572371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3846116"/>
            <a:ext cx="10868745" cy="72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707613" y="2747962"/>
            <a:ext cx="7236" cy="137507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15742" y="2747962"/>
            <a:ext cx="7236" cy="137507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569806" y="2747962"/>
            <a:ext cx="7236" cy="137507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83610" y="2809280"/>
            <a:ext cx="341472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Strategy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26474" y="2809280"/>
            <a:ext cx="427999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Effectiveness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34603" y="2809280"/>
            <a:ext cx="232592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Implementation Cost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88667" y="2809280"/>
            <a:ext cx="232910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Projected ROI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3610" y="3083024"/>
            <a:ext cx="341472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Zones &amp; Conduits (Purdue)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26474" y="3083024"/>
            <a:ext cx="427999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Restricts IT→OT ransomware by ~90%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34603" y="3083024"/>
            <a:ext cx="232592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$250K–$600K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88667" y="3083024"/>
            <a:ext cx="232910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Excellent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3610" y="3356769"/>
            <a:ext cx="341472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Security AI, SIEM &amp; SOC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26474" y="3356769"/>
            <a:ext cx="427999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Reduces identification/containment by 80 days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34603" y="3356769"/>
            <a:ext cx="232592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$150K–$350K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88667" y="3356769"/>
            <a:ext cx="232910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$1.90M saved/yr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3610" y="3630513"/>
            <a:ext cx="341472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MFA &amp; RBAC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26474" y="3630513"/>
            <a:ext cx="427999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Defeats credential-based entry (61% of breaches)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34603" y="3630513"/>
            <a:ext cx="232592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$80K–$150K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88667" y="3630513"/>
            <a:ext cx="232910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Avoids $4.81M avg.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3610" y="3904258"/>
            <a:ext cx="341472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USB Scanning Kiosks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26474" y="3904258"/>
            <a:ext cx="427999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Eliminates air-gap bypass via rogue media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34603" y="3904258"/>
            <a:ext cx="232592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$25K–$50K/facility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688667" y="3904258"/>
            <a:ext cx="232910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Very High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1475" y="4244578"/>
            <a:ext cx="1086874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EU Regulatory Framework</a:t>
            </a:r>
            <a:endParaRPr lang="en-US" sz="11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4546997"/>
            <a:ext cx="3568908" cy="127357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840659" y="4675386"/>
            <a:ext cx="326133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NIS2 Directive (Important Entity)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40659" y="4904879"/>
            <a:ext cx="3261338" cy="787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Chemical manufacturers (NACE C.20, 50+ employees or €10M+ revenue) must implement Article 21 controls, SBOM-based supply chain security, and meet reporting timelines: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24-hour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early warning,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72-hour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notification,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1-month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final report. Fines up to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€7M / 1.4%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turnover.</a:t>
            </a:r>
            <a:endParaRPr lang="en-US" sz="900" dirty="0"/>
          </a:p>
        </p:txBody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1344" y="4546997"/>
            <a:ext cx="3568908" cy="1273572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4490528" y="4675386"/>
            <a:ext cx="326133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CER Directive (EU 2022/2557)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4490528" y="4904879"/>
            <a:ext cx="3261338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SEVESO III operators must conduct physical threat assessments, enforce personnel security protocols, and maintain documented business continuity under unified physical-digital resilience governance.</a:t>
            </a:r>
            <a:endParaRPr lang="en-US" sz="900" dirty="0"/>
          </a:p>
        </p:txBody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1213" y="4546997"/>
            <a:ext cx="3568908" cy="1273572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8140397" y="4675386"/>
            <a:ext cx="326133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IEC 62443 Engineering Standard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8140397" y="4904879"/>
            <a:ext cx="3261338" cy="787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IEC 62443-2-1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establishes the CSMS;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IEC 62443-3-2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partitions assets into Zones and Conduits;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IEC 62443-3-3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enforces Security Level Targets—creating an auditable framework satisfying EU regulators while preserving operational availability.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2026-07-13T12:43:29Z</dcterms:created>
  <dcterms:modified xsi:type="dcterms:W3CDTF">2026-07-13T12:43:29Z</dcterms:modified>
</cp:coreProperties>
</file>