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7462500" cy="9753600"/>
  <p:notesSz cx="6858000" cy="9144000"/>
  <p:embeddedFontLst>
    <p:embeddedFont>
      <p:font typeface="Arial MT Pro" charset="1" panose="020B0502020202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68850" cy="9746163"/>
          </a:xfrm>
          <a:custGeom>
            <a:avLst/>
            <a:gdLst/>
            <a:ahLst/>
            <a:cxnLst/>
            <a:rect r="r" b="b" t="t" l="l"/>
            <a:pathLst>
              <a:path h="9746163" w="17468850">
                <a:moveTo>
                  <a:pt x="0" y="0"/>
                </a:moveTo>
                <a:lnTo>
                  <a:pt x="17468850" y="0"/>
                </a:lnTo>
                <a:lnTo>
                  <a:pt x="17468850" y="9746163"/>
                </a:lnTo>
                <a:lnTo>
                  <a:pt x="0" y="9746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9314" y="241720"/>
            <a:ext cx="15379303" cy="144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2449" spc="2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2025 Strategic Close: Crypto Risk as a Permanent Banking Imperative</a:t>
            </a:r>
          </a:p>
          <a:p>
            <a:pPr algn="ctr">
              <a:lnSpc>
                <a:spcPts val="3404"/>
              </a:lnSpc>
            </a:pPr>
            <a:r>
              <a:rPr lang="en-US" sz="2449" spc="2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State of the Union for G-SIB Board: Solidifying Digital Asset Threats as a Long-Term, Systemic Financial Risk</a:t>
            </a:r>
          </a:p>
          <a:p>
            <a:pPr algn="ctr">
              <a:lnSpc>
                <a:spcPts val="2148"/>
              </a:lnSpc>
            </a:pPr>
            <a:r>
              <a:rPr lang="en-US" sz="1545" spc="7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December 2025 culminated the definitive shift: fewer incidents, skyrocketed financial damage, and professionalized nation-state</a:t>
            </a:r>
          </a:p>
          <a:p>
            <a:pPr algn="ctr">
              <a:lnSpc>
                <a:spcPts val="2148"/>
              </a:lnSpc>
            </a:pPr>
            <a:r>
              <a:rPr lang="en-US" sz="1545" spc="7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attacks targeting centralized financial services. Crypto risk is now a permanent, systemic imperative.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7798" y="2049558"/>
            <a:ext cx="4319945" cy="56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755" spc="36">
                <a:solidFill>
                  <a:srgbClr val="CEEDE3"/>
                </a:solidFill>
                <a:latin typeface="Arial MT Pro"/>
                <a:ea typeface="Arial MT Pro"/>
                <a:cs typeface="Arial MT Pro"/>
                <a:sym typeface="Arial MT Pro"/>
              </a:rPr>
              <a:t>THE 2025 MACRO-CRIME LANDSCAPE:</a:t>
            </a:r>
          </a:p>
          <a:p>
            <a:pPr algn="ctr">
              <a:lnSpc>
                <a:spcPts val="2036"/>
              </a:lnSpc>
            </a:pPr>
            <a:r>
              <a:rPr lang="en-US" sz="1755" spc="36">
                <a:solidFill>
                  <a:srgbClr val="CEEDE3"/>
                </a:solidFill>
                <a:latin typeface="Arial MT Pro"/>
                <a:ea typeface="Arial MT Pro"/>
                <a:cs typeface="Arial MT Pro"/>
                <a:sym typeface="Arial MT Pro"/>
              </a:rPr>
              <a:t>FEWER INCIDENTS, GREATER IMPACT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7115" y="2975251"/>
            <a:ext cx="4355425" cy="1025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sz="1615" spc="16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$3.4 Billion Stolen in 2025</a:t>
            </a:r>
          </a:p>
          <a:p>
            <a:pPr algn="l">
              <a:lnSpc>
                <a:spcPts val="1961"/>
              </a:lnSpc>
            </a:pPr>
            <a:r>
              <a:rPr lang="en-US" sz="1615" spc="16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The total value of digital assets stolen this year</a:t>
            </a:r>
          </a:p>
          <a:p>
            <a:pPr algn="l">
              <a:lnSpc>
                <a:spcPts val="1961"/>
              </a:lnSpc>
            </a:pPr>
            <a:r>
              <a:rPr lang="en-US" sz="1615" spc="16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reflects a new era of high-impact financial</a:t>
            </a:r>
          </a:p>
          <a:p>
            <a:pPr algn="l">
              <a:lnSpc>
                <a:spcPts val="1961"/>
              </a:lnSpc>
            </a:pPr>
            <a:r>
              <a:rPr lang="en-US" sz="1615" spc="16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crime.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7115" y="4439009"/>
            <a:ext cx="4066104" cy="102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5"/>
              </a:lnSpc>
            </a:pPr>
            <a:r>
              <a:rPr lang="en-US" sz="1595" spc="1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The Concentration Paradox</a:t>
            </a:r>
          </a:p>
          <a:p>
            <a:pPr algn="l">
              <a:lnSpc>
                <a:spcPts val="1955"/>
              </a:lnSpc>
            </a:pPr>
            <a:r>
              <a:rPr lang="en-US" sz="1595" spc="1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The number of security incidents dropped by</a:t>
            </a:r>
          </a:p>
          <a:p>
            <a:pPr algn="l">
              <a:lnSpc>
                <a:spcPts val="1955"/>
              </a:lnSpc>
            </a:pPr>
            <a:r>
              <a:rPr lang="en-US" sz="1595" spc="1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50%, yet the total value stolen increased by</a:t>
            </a:r>
          </a:p>
          <a:p>
            <a:pPr algn="l">
              <a:lnSpc>
                <a:spcPts val="1955"/>
              </a:lnSpc>
            </a:pPr>
            <a:r>
              <a:rPr lang="en-US" sz="1595" spc="1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approximately 66% compared to 2024.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5806" y="5985611"/>
            <a:ext cx="4371142" cy="1029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645" spc="-3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The "Mega-Event" Standard</a:t>
            </a:r>
          </a:p>
          <a:p>
            <a:pPr algn="l">
              <a:lnSpc>
                <a:spcPts val="1968"/>
              </a:lnSpc>
            </a:pPr>
            <a:r>
              <a:rPr lang="en-US" sz="1645" spc="-3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The top 3 hacks of 2025 represented 69% of all</a:t>
            </a:r>
          </a:p>
          <a:p>
            <a:pPr algn="l">
              <a:lnSpc>
                <a:spcPts val="1968"/>
              </a:lnSpc>
            </a:pPr>
            <a:r>
              <a:rPr lang="en-US" sz="1645" spc="-3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losses, with the single largest theft (Bybit)</a:t>
            </a:r>
          </a:p>
          <a:p>
            <a:pPr algn="l">
              <a:lnSpc>
                <a:spcPts val="1968"/>
              </a:lnSpc>
            </a:pPr>
            <a:r>
              <a:rPr lang="en-US" sz="1645" spc="-3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accounting for $1.5 Billion.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7115" y="7310050"/>
            <a:ext cx="4273630" cy="1020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3"/>
              </a:lnSpc>
            </a:pPr>
            <a:r>
              <a:rPr lang="en-US" sz="1584" spc="1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Nation-State Dominance</a:t>
            </a:r>
          </a:p>
          <a:p>
            <a:pPr algn="l">
              <a:lnSpc>
                <a:spcPts val="1963"/>
              </a:lnSpc>
            </a:pPr>
            <a:r>
              <a:rPr lang="en-US" sz="1584" spc="1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The DPRK (Lazarus Group) was the primary</a:t>
            </a:r>
          </a:p>
          <a:p>
            <a:pPr algn="l">
              <a:lnSpc>
                <a:spcPts val="1963"/>
              </a:lnSpc>
            </a:pPr>
            <a:r>
              <a:rPr lang="en-US" sz="1584" spc="1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threat, stealing $2.02 Billion and driving 76% of</a:t>
            </a:r>
          </a:p>
          <a:p>
            <a:pPr algn="l">
              <a:lnSpc>
                <a:spcPts val="1963"/>
              </a:lnSpc>
            </a:pPr>
            <a:r>
              <a:rPr lang="en-US" sz="1584" spc="1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all crypto service compromises.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4081" y="1986027"/>
            <a:ext cx="5280779" cy="38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9"/>
              </a:lnSpc>
            </a:pPr>
            <a:r>
              <a:rPr lang="en-US" sz="2006" spc="30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December 2025: A Succession of Inevitability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86875" y="2983996"/>
            <a:ext cx="1668899" cy="45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72"/>
              </a:lnSpc>
            </a:pPr>
            <a:r>
              <a:rPr lang="en-US" sz="1584" spc="9">
                <a:solidFill>
                  <a:srgbClr val="CEEDE3"/>
                </a:solidFill>
                <a:latin typeface="Arial MT Pro"/>
                <a:ea typeface="Arial MT Pro"/>
                <a:cs typeface="Arial MT Pro"/>
                <a:sym typeface="Arial MT Pro"/>
              </a:rPr>
              <a:t>Dec 3: Ethereum's</a:t>
            </a:r>
          </a:p>
          <a:p>
            <a:pPr algn="just">
              <a:lnSpc>
                <a:spcPts val="1672"/>
              </a:lnSpc>
            </a:pPr>
            <a:r>
              <a:rPr lang="en-US" sz="1584" spc="9">
                <a:solidFill>
                  <a:srgbClr val="CEEDE3"/>
                </a:solidFill>
                <a:latin typeface="Arial MT Pro"/>
                <a:ea typeface="Arial MT Pro"/>
                <a:cs typeface="Arial MT Pro"/>
                <a:sym typeface="Arial MT Pro"/>
              </a:rPr>
              <a:t>"Fusaka" Upgrade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07431" y="2320080"/>
            <a:ext cx="2043232" cy="30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spc="-8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Strategic Ticking Clock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66458" y="3499082"/>
            <a:ext cx="2256234" cy="94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3"/>
              </a:lnSpc>
            </a:pPr>
            <a:r>
              <a:rPr lang="en-US" sz="1336" spc="-9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The network activated a major</a:t>
            </a:r>
          </a:p>
          <a:p>
            <a:pPr algn="l">
              <a:lnSpc>
                <a:spcPts val="1469"/>
              </a:lnSpc>
            </a:pPr>
            <a:r>
              <a:rPr lang="en-US" sz="1289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upgrade, scaling its transaction</a:t>
            </a:r>
          </a:p>
          <a:p>
            <a:pPr algn="l">
              <a:lnSpc>
                <a:spcPts val="1481"/>
              </a:lnSpc>
            </a:pPr>
            <a:r>
              <a:rPr lang="en-US" sz="1299" spc="-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capacity to over 100,000 TPS</a:t>
            </a:r>
          </a:p>
          <a:p>
            <a:pPr algn="l">
              <a:lnSpc>
                <a:spcPts val="1481"/>
              </a:lnSpc>
            </a:pPr>
            <a:r>
              <a:rPr lang="en-US" sz="1299" spc="-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and increasing ecosystem</a:t>
            </a:r>
          </a:p>
          <a:p>
            <a:pPr algn="l">
              <a:lnSpc>
                <a:spcPts val="1371"/>
              </a:lnSpc>
            </a:pPr>
            <a:r>
              <a:rPr lang="en-US" sz="1203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complexity.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69790" y="5475694"/>
            <a:ext cx="2449235" cy="152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611">
                <a:solidFill>
                  <a:srgbClr val="CEEDE3"/>
                </a:solidFill>
                <a:latin typeface="Arial MT Pro"/>
                <a:ea typeface="Arial MT Pro"/>
                <a:cs typeface="Arial MT Pro"/>
                <a:sym typeface="Arial MT Pro"/>
              </a:rPr>
              <a:t>Dec 13: Aevo Oracle</a:t>
            </a:r>
          </a:p>
          <a:p>
            <a:pPr algn="l">
              <a:lnSpc>
                <a:spcPts val="1958"/>
              </a:lnSpc>
            </a:pPr>
            <a:r>
              <a:rPr lang="en-US" sz="1611">
                <a:solidFill>
                  <a:srgbClr val="CEEDE3"/>
                </a:solidFill>
                <a:latin typeface="Arial MT Pro"/>
                <a:ea typeface="Arial MT Pro"/>
                <a:cs typeface="Arial MT Pro"/>
                <a:sym typeface="Arial MT Pro"/>
              </a:rPr>
              <a:t>Attack ($2.7M)</a:t>
            </a:r>
          </a:p>
          <a:p>
            <a:pPr algn="l">
              <a:lnSpc>
                <a:spcPts val="1592"/>
              </a:lnSpc>
            </a:pPr>
            <a:r>
              <a:rPr lang="en-US" sz="1309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A routine update to a price oracle</a:t>
            </a:r>
          </a:p>
          <a:p>
            <a:pPr algn="l">
              <a:lnSpc>
                <a:spcPts val="1567"/>
              </a:lnSpc>
            </a:pPr>
            <a:r>
              <a:rPr lang="en-US" sz="1289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created a decimal precision</a:t>
            </a:r>
          </a:p>
          <a:p>
            <a:pPr algn="l">
              <a:lnSpc>
                <a:spcPts val="1592"/>
              </a:lnSpc>
            </a:pPr>
            <a:r>
              <a:rPr lang="en-US" sz="1309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mismatch, which was</a:t>
            </a:r>
          </a:p>
          <a:p>
            <a:pPr algn="l">
              <a:lnSpc>
                <a:spcPts val="1592"/>
              </a:lnSpc>
            </a:pPr>
            <a:r>
              <a:rPr lang="en-US" sz="1309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immediately exploited to drain</a:t>
            </a:r>
          </a:p>
          <a:p>
            <a:pPr algn="l">
              <a:lnSpc>
                <a:spcPts val="1592"/>
              </a:lnSpc>
            </a:pPr>
            <a:r>
              <a:rPr lang="en-US" sz="1309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protocol funds.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00425" y="4228099"/>
            <a:ext cx="2522101" cy="15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555">
                <a:solidFill>
                  <a:srgbClr val="CEEDE3"/>
                </a:solidFill>
                <a:latin typeface="Arial MT Pro"/>
                <a:ea typeface="Arial MT Pro"/>
                <a:cs typeface="Arial MT Pro"/>
                <a:sym typeface="Arial MT Pro"/>
              </a:rPr>
              <a:t>Dec 5: USPD.io Exploit</a:t>
            </a:r>
          </a:p>
          <a:p>
            <a:pPr algn="l">
              <a:lnSpc>
                <a:spcPts val="1728"/>
              </a:lnSpc>
            </a:pPr>
            <a:r>
              <a:rPr lang="en-US" sz="1377">
                <a:solidFill>
                  <a:srgbClr val="CEEDE3"/>
                </a:solidFill>
                <a:latin typeface="Arial MT Pro"/>
                <a:ea typeface="Arial MT Pro"/>
                <a:cs typeface="Arial MT Pro"/>
                <a:sym typeface="Arial MT Pro"/>
              </a:rPr>
              <a:t>($1M)</a:t>
            </a:r>
          </a:p>
          <a:p>
            <a:pPr algn="l">
              <a:lnSpc>
                <a:spcPts val="1685"/>
              </a:lnSpc>
            </a:pPr>
            <a:r>
              <a:rPr lang="en-US" sz="1343" spc="-10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A sophisticated "Clandestine</a:t>
            </a:r>
          </a:p>
          <a:p>
            <a:pPr algn="l">
              <a:lnSpc>
                <a:spcPts val="1685"/>
              </a:lnSpc>
            </a:pPr>
            <a:r>
              <a:rPr lang="en-US" sz="1343" spc="-10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Proxy" attack demonstrated</a:t>
            </a:r>
          </a:p>
          <a:p>
            <a:pPr algn="l">
              <a:lnSpc>
                <a:spcPts val="1685"/>
              </a:lnSpc>
            </a:pPr>
            <a:r>
              <a:rPr lang="en-US" sz="1343" spc="-10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long-dwell-time infiltration, with</a:t>
            </a:r>
          </a:p>
          <a:p>
            <a:pPr algn="l">
              <a:lnSpc>
                <a:spcPts val="1685"/>
              </a:lnSpc>
            </a:pPr>
            <a:r>
              <a:rPr lang="en-US" sz="1343" spc="-10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attackers gaining admin privileges</a:t>
            </a:r>
          </a:p>
          <a:p>
            <a:pPr algn="l">
              <a:lnSpc>
                <a:spcPts val="1685"/>
              </a:lnSpc>
            </a:pPr>
            <a:r>
              <a:rPr lang="en-US" sz="1343" spc="-10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months before the theft.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00425" y="6708695"/>
            <a:ext cx="2410897" cy="14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9" spc="12">
                <a:solidFill>
                  <a:srgbClr val="CEEDE3"/>
                </a:solidFill>
                <a:latin typeface="Arial MT Pro"/>
                <a:ea typeface="Arial MT Pro"/>
                <a:cs typeface="Arial MT Pro"/>
                <a:sym typeface="Arial MT Pro"/>
              </a:rPr>
              <a:t>Late Dec: USDT Address</a:t>
            </a:r>
          </a:p>
          <a:p>
            <a:pPr algn="l">
              <a:lnSpc>
                <a:spcPts val="1891"/>
              </a:lnSpc>
            </a:pPr>
            <a:r>
              <a:rPr lang="en-US" sz="1579" spc="12">
                <a:solidFill>
                  <a:srgbClr val="CEEDE3"/>
                </a:solidFill>
                <a:latin typeface="Arial MT Pro"/>
                <a:ea typeface="Arial MT Pro"/>
                <a:cs typeface="Arial MT Pro"/>
                <a:sym typeface="Arial MT Pro"/>
              </a:rPr>
              <a:t>Poisoning ($50M)</a:t>
            </a:r>
          </a:p>
          <a:p>
            <a:pPr algn="l">
              <a:lnSpc>
                <a:spcPts val="1567"/>
              </a:lnSpc>
            </a:pPr>
            <a:r>
              <a:rPr lang="en-US" sz="1309" spc="-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The largest recorded scam of its</a:t>
            </a:r>
          </a:p>
          <a:p>
            <a:pPr algn="l">
              <a:lnSpc>
                <a:spcPts val="1567"/>
              </a:lnSpc>
            </a:pPr>
            <a:r>
              <a:rPr lang="en-US" sz="1309" spc="-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type highlighted extreme human-</a:t>
            </a:r>
          </a:p>
          <a:p>
            <a:pPr algn="l">
              <a:lnSpc>
                <a:spcPts val="1567"/>
              </a:lnSpc>
            </a:pPr>
            <a:r>
              <a:rPr lang="en-US" sz="1309" spc="-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layer vulnerability, where a user</a:t>
            </a:r>
          </a:p>
          <a:p>
            <a:pPr algn="l">
              <a:lnSpc>
                <a:spcPts val="1567"/>
              </a:lnSpc>
            </a:pPr>
            <a:r>
              <a:rPr lang="en-US" sz="1309" spc="-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was tricked into sending funds to</a:t>
            </a:r>
          </a:p>
          <a:p>
            <a:pPr algn="l">
              <a:lnSpc>
                <a:spcPts val="1567"/>
              </a:lnSpc>
            </a:pPr>
            <a:r>
              <a:rPr lang="en-US" sz="1309" spc="-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a look-alike address.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60042" y="2063704"/>
            <a:ext cx="3551158" cy="529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9"/>
              </a:lnSpc>
            </a:pPr>
            <a:r>
              <a:rPr lang="en-US" sz="1683" spc="55">
                <a:solidFill>
                  <a:srgbClr val="CEEDE3"/>
                </a:solidFill>
                <a:latin typeface="Arial MT Pro"/>
                <a:ea typeface="Arial MT Pro"/>
                <a:cs typeface="Arial MT Pro"/>
                <a:sym typeface="Arial MT Pro"/>
              </a:rPr>
              <a:t>THE "INFILTRATOR TACTIC &amp; EU</a:t>
            </a:r>
          </a:p>
          <a:p>
            <a:pPr algn="ctr">
              <a:lnSpc>
                <a:spcPts val="1979"/>
              </a:lnSpc>
            </a:pPr>
            <a:r>
              <a:rPr lang="en-US" sz="1683" spc="55">
                <a:solidFill>
                  <a:srgbClr val="CEEDE3"/>
                </a:solidFill>
                <a:latin typeface="Arial MT Pro"/>
                <a:ea typeface="Arial MT Pro"/>
                <a:cs typeface="Arial MT Pro"/>
                <a:sym typeface="Arial MT Pro"/>
              </a:rPr>
              <a:t>REGULATORY HARDENING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25947" y="2770958"/>
            <a:ext cx="4030266" cy="509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1"/>
              </a:lnSpc>
            </a:pPr>
            <a:r>
              <a:rPr lang="en-US" sz="1374" spc="1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THE "INFILTRATOR" TACTIC: BEYOND HACKING</a:t>
            </a:r>
          </a:p>
          <a:p>
            <a:pPr algn="ctr">
              <a:lnSpc>
                <a:spcPts val="1911"/>
              </a:lnSpc>
            </a:pPr>
            <a:r>
              <a:rPr lang="en-US" sz="1374" spc="1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"Wagemole" Operations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36125" y="3274307"/>
            <a:ext cx="3670578" cy="85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1"/>
              </a:lnSpc>
            </a:pPr>
            <a:r>
              <a:rPr lang="en-US" sz="1310" spc="-17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A strategic shift from external attacks to embedding</a:t>
            </a:r>
          </a:p>
          <a:p>
            <a:pPr algn="l">
              <a:lnSpc>
                <a:spcPts val="1589"/>
              </a:lnSpc>
            </a:pPr>
            <a:r>
              <a:rPr lang="en-US" sz="1203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nation-state operatives as IT workers inside fintech</a:t>
            </a:r>
          </a:p>
          <a:p>
            <a:pPr algn="l">
              <a:lnSpc>
                <a:spcPts val="1636"/>
              </a:lnSpc>
            </a:pPr>
            <a:r>
              <a:rPr lang="en-US" sz="1239" spc="4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firms to steal source code and credentials.</a:t>
            </a:r>
          </a:p>
          <a:p>
            <a:pPr algn="l">
              <a:lnSpc>
                <a:spcPts val="1718"/>
              </a:lnSpc>
            </a:pPr>
            <a:r>
              <a:rPr lang="en-US" sz="1300" spc="35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Social Engineering 2.0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36128" y="4153386"/>
            <a:ext cx="3697010" cy="569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1237" spc="6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Threat actors now use fake recruiter impersonations</a:t>
            </a:r>
          </a:p>
          <a:p>
            <a:pPr algn="l">
              <a:lnSpc>
                <a:spcPts val="1358"/>
              </a:lnSpc>
            </a:pPr>
            <a:r>
              <a:rPr lang="en-US" sz="1237" spc="6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and bogus "technical screening" interviews to deliver</a:t>
            </a:r>
          </a:p>
          <a:p>
            <a:pPr algn="l">
              <a:lnSpc>
                <a:spcPts val="1509"/>
              </a:lnSpc>
            </a:pPr>
            <a:r>
              <a:rPr lang="en-US" sz="1374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malware to institutional developers.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58717" y="4757419"/>
            <a:ext cx="2247543" cy="26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351" spc="24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Professionalized Laundering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36129" y="5007643"/>
            <a:ext cx="3825121" cy="51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8"/>
              </a:lnSpc>
            </a:pPr>
            <a:r>
              <a:rPr lang="en-US" sz="1254" spc="-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Stolen funds now enter a consistent 45-day laundering</a:t>
            </a:r>
          </a:p>
          <a:p>
            <a:pPr algn="l">
              <a:lnSpc>
                <a:spcPts val="1348"/>
              </a:lnSpc>
            </a:pPr>
            <a:r>
              <a:rPr lang="en-US" sz="1254" spc="-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cycle, moving from DeFi protocols to integration via</a:t>
            </a:r>
          </a:p>
          <a:p>
            <a:pPr algn="l">
              <a:lnSpc>
                <a:spcPts val="1348"/>
              </a:lnSpc>
            </a:pPr>
            <a:r>
              <a:rPr lang="en-US" sz="1254" spc="-2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Chinese-language guarantee services.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85012" y="5703665"/>
            <a:ext cx="4712137" cy="252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3"/>
              </a:lnSpc>
            </a:pPr>
            <a:r>
              <a:rPr lang="en-US" sz="1316" spc="21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EU REGULATORY HARDENING: THE NEW G-SIB REALITY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046551" y="6036464"/>
            <a:ext cx="4145994" cy="77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480" spc="-41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MICA Finality (Dec 29, 2025)</a:t>
            </a:r>
          </a:p>
          <a:p>
            <a:pPr algn="l">
              <a:lnSpc>
                <a:spcPts val="1556"/>
              </a:lnSpc>
            </a:pPr>
            <a:r>
              <a:rPr lang="en-US" sz="1421" spc="-8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Transitional periods for the Markets in Crypto-Assets</a:t>
            </a:r>
          </a:p>
          <a:p>
            <a:pPr algn="l">
              <a:lnSpc>
                <a:spcPts val="1356"/>
              </a:lnSpc>
            </a:pPr>
            <a:r>
              <a:rPr lang="en-US" sz="1239" spc="4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regulation ended, requiring firms without full authoriza-</a:t>
            </a:r>
          </a:p>
          <a:p>
            <a:pPr algn="l">
              <a:lnSpc>
                <a:spcPts val="1356"/>
              </a:lnSpc>
            </a:pPr>
            <a:r>
              <a:rPr lang="en-US" sz="1239" spc="4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tion to cease EU operations.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048001" y="6865045"/>
            <a:ext cx="1734264" cy="26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4"/>
              </a:lnSpc>
            </a:pPr>
            <a:r>
              <a:rPr lang="en-US" sz="1417" spc="1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Centralized Oversight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036129" y="7111734"/>
            <a:ext cx="3946088" cy="135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6"/>
              </a:lnSpc>
            </a:pPr>
            <a:r>
              <a:rPr lang="en-US" sz="1248" spc="3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A proposal is advancing to transfer all Crypto-Asset</a:t>
            </a:r>
          </a:p>
          <a:p>
            <a:pPr algn="l">
              <a:lnSpc>
                <a:spcPts val="1536"/>
              </a:lnSpc>
            </a:pPr>
            <a:r>
              <a:rPr lang="en-US" sz="1248" spc="3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Service Provider (CASP) supervision to a central autho-</a:t>
            </a:r>
          </a:p>
          <a:p>
            <a:pPr algn="l">
              <a:lnSpc>
                <a:spcPts val="1536"/>
              </a:lnSpc>
            </a:pPr>
            <a:r>
              <a:rPr lang="en-US" sz="1248" spc="3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rity like ESMA to eliminate jurisdictional arbitrage.</a:t>
            </a:r>
          </a:p>
          <a:p>
            <a:pPr algn="l">
              <a:lnSpc>
                <a:spcPts val="1536"/>
              </a:lnSpc>
            </a:pPr>
            <a:r>
              <a:rPr lang="en-US" sz="1248" spc="3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The Digital Euro Framework (Dec 19, 2025)</a:t>
            </a:r>
          </a:p>
          <a:p>
            <a:pPr algn="l">
              <a:lnSpc>
                <a:spcPts val="1536"/>
              </a:lnSpc>
            </a:pPr>
            <a:r>
              <a:rPr lang="en-US" sz="1248" spc="3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The EU Council finalized the legal framework for a 2029</a:t>
            </a:r>
          </a:p>
          <a:p>
            <a:pPr algn="l">
              <a:lnSpc>
                <a:spcPts val="1536"/>
              </a:lnSpc>
            </a:pPr>
            <a:r>
              <a:rPr lang="en-US" sz="1248" spc="3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launch, which will mandate future G-SIB integration and</a:t>
            </a:r>
          </a:p>
          <a:p>
            <a:pPr algn="l">
              <a:lnSpc>
                <a:spcPts val="1572"/>
              </a:lnSpc>
            </a:pPr>
            <a:r>
              <a:rPr lang="en-US" sz="1277" spc="40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resilience standards.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59011" y="8697270"/>
            <a:ext cx="2139910" cy="310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5"/>
              </a:lnSpc>
            </a:pPr>
            <a:r>
              <a:rPr lang="en-US" sz="1632" spc="107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ACTION REQUIRED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604766" y="9041828"/>
            <a:ext cx="6220063" cy="442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24"/>
              </a:lnSpc>
            </a:pPr>
            <a:r>
              <a:rPr lang="en-US" sz="1446" spc="21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G-SIBS must pivot from 'Perimeter Defense' to 'Deep Forensic Audits' and</a:t>
            </a:r>
          </a:p>
          <a:p>
            <a:pPr algn="just">
              <a:lnSpc>
                <a:spcPts val="1624"/>
              </a:lnSpc>
            </a:pPr>
            <a:r>
              <a:rPr lang="en-US" sz="1446" spc="21">
                <a:solidFill>
                  <a:srgbClr val="2F2E2B"/>
                </a:solidFill>
                <a:latin typeface="Arial MT Pro"/>
                <a:ea typeface="Arial MT Pro"/>
                <a:cs typeface="Arial MT Pro"/>
                <a:sym typeface="Arial MT Pro"/>
              </a:rPr>
              <a:t>'Internal Threat Monitoring' as nation-state infiltration becomes standard.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DAG-k0Ekiig</dc:identifier>
  <dcterms:modified xsi:type="dcterms:W3CDTF">2011-08-01T06:04:30Z</dcterms:modified>
  <cp:revision>1</cp:revision>
  <dc:title>Monthly Trend Report Dec 2025 NotebookLLM.pdf</dc:title>
</cp:coreProperties>
</file>