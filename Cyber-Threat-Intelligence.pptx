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Crimson Pro Semi Bold"/>
      <p:regular r:id="rId13"/>
    </p:embeddedFont>
    <p:embeddedFont>
      <p:font typeface="Crimson Pro Semi Bold"/>
      <p:regular r:id="rId14"/>
    </p:embeddedFont>
    <p:embeddedFont>
      <p:font typeface="Crimson Pro Semi Bold"/>
      <p:regular r:id="rId15"/>
    </p:embeddedFont>
    <p:embeddedFont>
      <p:font typeface="Crimson Pro Semi Bold"/>
      <p:regular r:id="rId16"/>
    </p:embeddedFont>
    <p:embeddedFont>
      <p:font typeface="Heebo"/>
      <p:regular r:id="rId17"/>
    </p:embeddedFont>
    <p:embeddedFont>
      <p:font typeface="Heebo"/>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3.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793790" y="2802136"/>
            <a:ext cx="2676763" cy="373142"/>
          </a:xfrm>
          <a:prstGeom prst="roundRect">
            <a:avLst>
              <a:gd name="adj" fmla="val 6383"/>
            </a:avLst>
          </a:prstGeom>
          <a:solidFill>
            <a:srgbClr val="CCFFF3"/>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2852" y="2909292"/>
            <a:ext cx="158710" cy="158710"/>
          </a:xfrm>
          <a:prstGeom prst="rect">
            <a:avLst/>
          </a:prstGeom>
        </p:spPr>
      </p:pic>
      <p:sp>
        <p:nvSpPr>
          <p:cNvPr id="5" name="Text 1"/>
          <p:cNvSpPr/>
          <p:nvPr/>
        </p:nvSpPr>
        <p:spPr>
          <a:xfrm>
            <a:off x="1150858" y="2861667"/>
            <a:ext cx="2200632" cy="254079"/>
          </a:xfrm>
          <a:prstGeom prst="rect">
            <a:avLst/>
          </a:prstGeom>
          <a:noFill/>
          <a:ln/>
        </p:spPr>
        <p:txBody>
          <a:bodyPr wrap="none" lIns="0" tIns="0" rIns="0" bIns="0" rtlCol="0" anchor="t"/>
          <a:lstStyle/>
          <a:p>
            <a:pPr algn="l" indent="0" marL="0">
              <a:lnSpc>
                <a:spcPts val="2000"/>
              </a:lnSpc>
              <a:buNone/>
            </a:pPr>
            <a:r>
              <a:rPr lang="en-US" sz="1250" dirty="0">
                <a:solidFill>
                  <a:srgbClr val="000000"/>
                </a:solidFill>
                <a:latin typeface="Heebo" pitchFamily="34" charset="0"/>
                <a:ea typeface="Heebo" pitchFamily="34" charset="-122"/>
                <a:cs typeface="Heebo" pitchFamily="34" charset="-120"/>
              </a:rPr>
              <a:t>CYBER THREAT INTELLIGENCE</a:t>
            </a:r>
            <a:endParaRPr lang="en-US" sz="1250" dirty="0"/>
          </a:p>
        </p:txBody>
      </p:sp>
      <p:sp>
        <p:nvSpPr>
          <p:cNvPr id="6" name="Shape 2"/>
          <p:cNvSpPr/>
          <p:nvPr/>
        </p:nvSpPr>
        <p:spPr>
          <a:xfrm>
            <a:off x="3569732" y="2794516"/>
            <a:ext cx="2514005" cy="388382"/>
          </a:xfrm>
          <a:prstGeom prst="roundRect">
            <a:avLst>
              <a:gd name="adj" fmla="val 6132"/>
            </a:avLst>
          </a:prstGeom>
          <a:noFill/>
          <a:ln w="7620">
            <a:solidFill>
              <a:srgbClr val="00674F"/>
            </a:solidFill>
            <a:prstDash val="solid"/>
          </a:ln>
        </p:spPr>
      </p:sp>
      <p:sp>
        <p:nvSpPr>
          <p:cNvPr id="7" name="Text 3"/>
          <p:cNvSpPr/>
          <p:nvPr/>
        </p:nvSpPr>
        <p:spPr>
          <a:xfrm>
            <a:off x="3696414" y="2861667"/>
            <a:ext cx="2260640" cy="254079"/>
          </a:xfrm>
          <a:prstGeom prst="rect">
            <a:avLst/>
          </a:prstGeom>
          <a:noFill/>
          <a:ln/>
        </p:spPr>
        <p:txBody>
          <a:bodyPr wrap="none" lIns="0" tIns="0" rIns="0" bIns="0" rtlCol="0" anchor="t"/>
          <a:lstStyle/>
          <a:p>
            <a:pPr algn="l" indent="0" marL="0">
              <a:lnSpc>
                <a:spcPts val="2000"/>
              </a:lnSpc>
              <a:buNone/>
            </a:pPr>
            <a:r>
              <a:rPr lang="en-US" sz="1250" dirty="0">
                <a:solidFill>
                  <a:srgbClr val="00674F"/>
                </a:solidFill>
                <a:latin typeface="Heebo" pitchFamily="34" charset="0"/>
                <a:ea typeface="Heebo" pitchFamily="34" charset="-122"/>
                <a:cs typeface="Heebo" pitchFamily="34" charset="-120"/>
              </a:rPr>
              <a:t>2026 SECTORIAL ASSESSMENT</a:t>
            </a:r>
            <a:endParaRPr lang="en-US" sz="1250" dirty="0"/>
          </a:p>
        </p:txBody>
      </p:sp>
      <p:sp>
        <p:nvSpPr>
          <p:cNvPr id="8" name="Text 4"/>
          <p:cNvSpPr/>
          <p:nvPr/>
        </p:nvSpPr>
        <p:spPr>
          <a:xfrm>
            <a:off x="793790" y="3262193"/>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0674F"/>
                </a:solidFill>
                <a:latin typeface="Crimson Pro Semi Bold" pitchFamily="34" charset="0"/>
                <a:ea typeface="Crimson Pro Semi Bold" pitchFamily="34" charset="-122"/>
                <a:cs typeface="Crimson Pro Semi Bold" pitchFamily="34" charset="-120"/>
              </a:rPr>
              <a:t>Cyber Risk Sectorial Assessment: Utilities Sector 2026</a:t>
            </a:r>
            <a:endParaRPr lang="en-US" sz="3900" dirty="0"/>
          </a:p>
        </p:txBody>
      </p:sp>
      <p:sp>
        <p:nvSpPr>
          <p:cNvPr id="9" name="Text 5"/>
          <p:cNvSpPr/>
          <p:nvPr/>
        </p:nvSpPr>
        <p:spPr>
          <a:xfrm>
            <a:off x="793790" y="4800005"/>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A comprehensive threat landscape analysis for risk executives evaluating credit and operational counterparty exposure across the European Union's critical infrastructure.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81526" y="553403"/>
            <a:ext cx="837843" cy="209431"/>
          </a:xfrm>
          <a:prstGeom prst="roundRect">
            <a:avLst>
              <a:gd name="adj" fmla="val 7277"/>
            </a:avLst>
          </a:prstGeom>
          <a:solidFill>
            <a:srgbClr val="CCFFF3"/>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7726" y="607338"/>
            <a:ext cx="101560" cy="101560"/>
          </a:xfrm>
          <a:prstGeom prst="rect">
            <a:avLst/>
          </a:prstGeom>
        </p:spPr>
      </p:pic>
      <p:sp>
        <p:nvSpPr>
          <p:cNvPr id="4" name="Text 1"/>
          <p:cNvSpPr/>
          <p:nvPr/>
        </p:nvSpPr>
        <p:spPr>
          <a:xfrm>
            <a:off x="1010007" y="591503"/>
            <a:ext cx="533162" cy="133231"/>
          </a:xfrm>
          <a:prstGeom prst="rect">
            <a:avLst/>
          </a:prstGeom>
          <a:noFill/>
          <a:ln/>
        </p:spPr>
        <p:txBody>
          <a:bodyPr wrap="none" lIns="0" tIns="0" rIns="0" bIns="0" rtlCol="0" anchor="t"/>
          <a:lstStyle/>
          <a:p>
            <a:pPr algn="l" indent="0" marL="0">
              <a:lnSpc>
                <a:spcPts val="1000"/>
              </a:lnSpc>
              <a:buNone/>
            </a:pPr>
            <a:r>
              <a:rPr lang="en-US" sz="800" dirty="0">
                <a:solidFill>
                  <a:srgbClr val="000000"/>
                </a:solidFill>
                <a:latin typeface="Heebo" pitchFamily="34" charset="0"/>
                <a:ea typeface="Heebo" pitchFamily="34" charset="-122"/>
                <a:cs typeface="Heebo" pitchFamily="34" charset="-120"/>
              </a:rPr>
              <a:t>CHAPTER 1</a:t>
            </a:r>
            <a:endParaRPr lang="en-US" sz="800" dirty="0"/>
          </a:p>
        </p:txBody>
      </p:sp>
      <p:sp>
        <p:nvSpPr>
          <p:cNvPr id="5" name="Text 2"/>
          <p:cNvSpPr/>
          <p:nvPr/>
        </p:nvSpPr>
        <p:spPr>
          <a:xfrm>
            <a:off x="1682829" y="591503"/>
            <a:ext cx="1589127" cy="133231"/>
          </a:xfrm>
          <a:prstGeom prst="rect">
            <a:avLst/>
          </a:prstGeom>
          <a:noFill/>
          <a:ln/>
        </p:spPr>
        <p:txBody>
          <a:bodyPr wrap="none" lIns="0" tIns="0" rIns="0" bIns="0" rtlCol="0" anchor="t"/>
          <a:lstStyle/>
          <a:p>
            <a:pPr algn="l" indent="0" marL="0">
              <a:lnSpc>
                <a:spcPts val="1000"/>
              </a:lnSpc>
              <a:buNone/>
            </a:pPr>
            <a:r>
              <a:rPr lang="en-US" sz="800" dirty="0">
                <a:solidFill>
                  <a:srgbClr val="00674F"/>
                </a:solidFill>
                <a:latin typeface="Heebo" pitchFamily="34" charset="0"/>
                <a:ea typeface="Heebo" pitchFamily="34" charset="-122"/>
                <a:cs typeface="Heebo" pitchFamily="34" charset="-120"/>
              </a:rPr>
              <a:t>KEY THREATS &amp; ATTACK VECTORS</a:t>
            </a:r>
            <a:endParaRPr lang="en-US" sz="800" dirty="0"/>
          </a:p>
        </p:txBody>
      </p:sp>
      <p:sp>
        <p:nvSpPr>
          <p:cNvPr id="6" name="Text 3"/>
          <p:cNvSpPr/>
          <p:nvPr/>
        </p:nvSpPr>
        <p:spPr>
          <a:xfrm>
            <a:off x="781526" y="795338"/>
            <a:ext cx="6501289" cy="396835"/>
          </a:xfrm>
          <a:prstGeom prst="rect">
            <a:avLst/>
          </a:prstGeom>
          <a:noFill/>
          <a:ln/>
        </p:spPr>
        <p:txBody>
          <a:bodyPr wrap="none" lIns="0" tIns="0" rIns="0" bIns="0" rtlCol="0" anchor="t"/>
          <a:lstStyle/>
          <a:p>
            <a:pPr algn="l" indent="0" marL="0">
              <a:lnSpc>
                <a:spcPts val="3100"/>
              </a:lnSpc>
              <a:buNone/>
            </a:pPr>
            <a:r>
              <a:rPr lang="en-US" sz="2500" dirty="0">
                <a:solidFill>
                  <a:srgbClr val="00674F"/>
                </a:solidFill>
                <a:latin typeface="Crimson Pro Semi Bold" pitchFamily="34" charset="0"/>
                <a:ea typeface="Crimson Pro Semi Bold" pitchFamily="34" charset="-122"/>
                <a:cs typeface="Crimson Pro Semi Bold" pitchFamily="34" charset="-120"/>
              </a:rPr>
              <a:t>Top 5 Cybersecurity Threats in the Utilities Sector</a:t>
            </a:r>
            <a:endParaRPr lang="en-US" sz="2500" dirty="0"/>
          </a:p>
        </p:txBody>
      </p:sp>
      <p:sp>
        <p:nvSpPr>
          <p:cNvPr id="7" name="Text 4"/>
          <p:cNvSpPr/>
          <p:nvPr/>
        </p:nvSpPr>
        <p:spPr>
          <a:xfrm>
            <a:off x="781526" y="1313974"/>
            <a:ext cx="13067348" cy="333137"/>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As power generation, water distribution, and environmental systems adopt IIoT, 5G, and cloud-integrated control loops, the attack surface has expanded exponentially. Threat actors have evolved from passive espionage to actively mapping industrial control loops with capability to manipulate physical processes remotely.</a:t>
            </a:r>
            <a:endParaRPr lang="en-US" sz="1000" dirty="0"/>
          </a:p>
        </p:txBody>
      </p:sp>
      <p:sp>
        <p:nvSpPr>
          <p:cNvPr id="8" name="Shape 5"/>
          <p:cNvSpPr/>
          <p:nvPr/>
        </p:nvSpPr>
        <p:spPr>
          <a:xfrm>
            <a:off x="781526" y="1738432"/>
            <a:ext cx="4301609" cy="1462802"/>
          </a:xfrm>
          <a:prstGeom prst="roundRect">
            <a:avLst>
              <a:gd name="adj" fmla="val 1302"/>
            </a:avLst>
          </a:prstGeom>
          <a:solidFill>
            <a:srgbClr val="F2EEEE"/>
          </a:solidFill>
          <a:ln/>
        </p:spPr>
      </p:sp>
      <p:sp>
        <p:nvSpPr>
          <p:cNvPr id="9" name="Shape 6"/>
          <p:cNvSpPr/>
          <p:nvPr/>
        </p:nvSpPr>
        <p:spPr>
          <a:xfrm>
            <a:off x="908447" y="1865352"/>
            <a:ext cx="381000" cy="381000"/>
          </a:xfrm>
          <a:prstGeom prst="roundRect">
            <a:avLst>
              <a:gd name="adj" fmla="val 23997600"/>
            </a:avLst>
          </a:prstGeom>
          <a:solidFill>
            <a:srgbClr val="00674F"/>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3222" y="1970127"/>
            <a:ext cx="171450" cy="171450"/>
          </a:xfrm>
          <a:prstGeom prst="rect">
            <a:avLst/>
          </a:prstGeom>
        </p:spPr>
      </p:pic>
      <p:sp>
        <p:nvSpPr>
          <p:cNvPr id="11" name="Text 7"/>
          <p:cNvSpPr/>
          <p:nvPr/>
        </p:nvSpPr>
        <p:spPr>
          <a:xfrm>
            <a:off x="908447" y="2327553"/>
            <a:ext cx="1587579"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AI-Accelerated Attacks</a:t>
            </a:r>
            <a:endParaRPr lang="en-US" sz="1250" dirty="0"/>
          </a:p>
        </p:txBody>
      </p:sp>
      <p:sp>
        <p:nvSpPr>
          <p:cNvPr id="12" name="Text 8"/>
          <p:cNvSpPr/>
          <p:nvPr/>
        </p:nvSpPr>
        <p:spPr>
          <a:xfrm>
            <a:off x="908447" y="2574608"/>
            <a:ext cx="4047768" cy="499705"/>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87% of investigations flag AI vulnerabilities as the fastest-growing risk. Lateral breakout time has plummeted to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48 minutes</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 a 22% acceleration.</a:t>
            </a:r>
            <a:endParaRPr lang="en-US" sz="1000" dirty="0"/>
          </a:p>
        </p:txBody>
      </p:sp>
      <p:sp>
        <p:nvSpPr>
          <p:cNvPr id="13" name="Shape 9"/>
          <p:cNvSpPr/>
          <p:nvPr/>
        </p:nvSpPr>
        <p:spPr>
          <a:xfrm>
            <a:off x="5164336" y="1738432"/>
            <a:ext cx="4301609" cy="1462802"/>
          </a:xfrm>
          <a:prstGeom prst="roundRect">
            <a:avLst>
              <a:gd name="adj" fmla="val 1302"/>
            </a:avLst>
          </a:prstGeom>
          <a:solidFill>
            <a:srgbClr val="F2EEEE"/>
          </a:solidFill>
          <a:ln/>
        </p:spPr>
      </p:sp>
      <p:sp>
        <p:nvSpPr>
          <p:cNvPr id="14" name="Shape 10"/>
          <p:cNvSpPr/>
          <p:nvPr/>
        </p:nvSpPr>
        <p:spPr>
          <a:xfrm>
            <a:off x="5291257" y="1865352"/>
            <a:ext cx="381000" cy="381000"/>
          </a:xfrm>
          <a:prstGeom prst="roundRect">
            <a:avLst>
              <a:gd name="adj" fmla="val 23997600"/>
            </a:avLst>
          </a:prstGeom>
          <a:solidFill>
            <a:srgbClr val="00674F"/>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96032" y="1970127"/>
            <a:ext cx="171450" cy="171450"/>
          </a:xfrm>
          <a:prstGeom prst="rect">
            <a:avLst/>
          </a:prstGeom>
        </p:spPr>
      </p:pic>
      <p:sp>
        <p:nvSpPr>
          <p:cNvPr id="16" name="Text 11"/>
          <p:cNvSpPr/>
          <p:nvPr/>
        </p:nvSpPr>
        <p:spPr>
          <a:xfrm>
            <a:off x="5291257" y="2327553"/>
            <a:ext cx="1749742"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Identity-Driven Intrusions</a:t>
            </a:r>
            <a:endParaRPr lang="en-US" sz="1250" dirty="0"/>
          </a:p>
        </p:txBody>
      </p:sp>
      <p:sp>
        <p:nvSpPr>
          <p:cNvPr id="17" name="Text 12"/>
          <p:cNvSpPr/>
          <p:nvPr/>
        </p:nvSpPr>
        <p:spPr>
          <a:xfrm>
            <a:off x="5291257" y="2574608"/>
            <a:ext cx="4047768" cy="499705"/>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Identity weaknesses factor in ~90% of investigations. AI-generated deepfakes account for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37% of all AI-driven breaches</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bypassing MFA via social engineering.</a:t>
            </a:r>
            <a:endParaRPr lang="en-US" sz="1000" dirty="0"/>
          </a:p>
        </p:txBody>
      </p:sp>
      <p:sp>
        <p:nvSpPr>
          <p:cNvPr id="18" name="Shape 13"/>
          <p:cNvSpPr/>
          <p:nvPr/>
        </p:nvSpPr>
        <p:spPr>
          <a:xfrm>
            <a:off x="9547146" y="1738432"/>
            <a:ext cx="4301609" cy="1462802"/>
          </a:xfrm>
          <a:prstGeom prst="roundRect">
            <a:avLst>
              <a:gd name="adj" fmla="val 1302"/>
            </a:avLst>
          </a:prstGeom>
          <a:solidFill>
            <a:srgbClr val="F2EEEE"/>
          </a:solidFill>
          <a:ln/>
        </p:spPr>
      </p:sp>
      <p:sp>
        <p:nvSpPr>
          <p:cNvPr id="19" name="Shape 14"/>
          <p:cNvSpPr/>
          <p:nvPr/>
        </p:nvSpPr>
        <p:spPr>
          <a:xfrm>
            <a:off x="9674066" y="1865352"/>
            <a:ext cx="381000" cy="381000"/>
          </a:xfrm>
          <a:prstGeom prst="roundRect">
            <a:avLst>
              <a:gd name="adj" fmla="val 23997600"/>
            </a:avLst>
          </a:prstGeom>
          <a:solidFill>
            <a:srgbClr val="00674F"/>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78841" y="1970127"/>
            <a:ext cx="171450" cy="171450"/>
          </a:xfrm>
          <a:prstGeom prst="rect">
            <a:avLst/>
          </a:prstGeom>
        </p:spPr>
      </p:pic>
      <p:sp>
        <p:nvSpPr>
          <p:cNvPr id="21" name="Text 15"/>
          <p:cNvSpPr/>
          <p:nvPr/>
        </p:nvSpPr>
        <p:spPr>
          <a:xfrm>
            <a:off x="9674066" y="2327553"/>
            <a:ext cx="1587579"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Supply Chain Exploits</a:t>
            </a:r>
            <a:endParaRPr lang="en-US" sz="1250" dirty="0"/>
          </a:p>
        </p:txBody>
      </p:sp>
      <p:sp>
        <p:nvSpPr>
          <p:cNvPr id="22" name="Text 16"/>
          <p:cNvSpPr/>
          <p:nvPr/>
        </p:nvSpPr>
        <p:spPr>
          <a:xfrm>
            <a:off x="9674066" y="2574608"/>
            <a:ext cx="4047768" cy="499705"/>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65% of large organizations cite third-party vulnerabilities as a massive barrier. State-aligned actors embed malware via trusted vendor software repositories.</a:t>
            </a:r>
            <a:endParaRPr lang="en-US" sz="1000" dirty="0"/>
          </a:p>
        </p:txBody>
      </p:sp>
      <p:sp>
        <p:nvSpPr>
          <p:cNvPr id="23" name="Shape 17"/>
          <p:cNvSpPr/>
          <p:nvPr/>
        </p:nvSpPr>
        <p:spPr>
          <a:xfrm>
            <a:off x="781526" y="3282434"/>
            <a:ext cx="6492954" cy="1296233"/>
          </a:xfrm>
          <a:prstGeom prst="roundRect">
            <a:avLst>
              <a:gd name="adj" fmla="val 1470"/>
            </a:avLst>
          </a:prstGeom>
          <a:solidFill>
            <a:srgbClr val="F2EEEE"/>
          </a:solidFill>
          <a:ln/>
        </p:spPr>
      </p:sp>
      <p:sp>
        <p:nvSpPr>
          <p:cNvPr id="24" name="Shape 18"/>
          <p:cNvSpPr/>
          <p:nvPr/>
        </p:nvSpPr>
        <p:spPr>
          <a:xfrm>
            <a:off x="908447" y="3409355"/>
            <a:ext cx="381000" cy="381000"/>
          </a:xfrm>
          <a:prstGeom prst="roundRect">
            <a:avLst>
              <a:gd name="adj" fmla="val 23997600"/>
            </a:avLst>
          </a:prstGeom>
          <a:solidFill>
            <a:srgbClr val="00674F"/>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3222" y="3514130"/>
            <a:ext cx="171450" cy="171450"/>
          </a:xfrm>
          <a:prstGeom prst="rect">
            <a:avLst/>
          </a:prstGeom>
        </p:spPr>
      </p:pic>
      <p:sp>
        <p:nvSpPr>
          <p:cNvPr id="26" name="Text 19"/>
          <p:cNvSpPr/>
          <p:nvPr/>
        </p:nvSpPr>
        <p:spPr>
          <a:xfrm>
            <a:off x="908447" y="3871555"/>
            <a:ext cx="1663779"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Ransomware &amp; Extortion</a:t>
            </a:r>
            <a:endParaRPr lang="en-US" sz="1250" dirty="0"/>
          </a:p>
        </p:txBody>
      </p:sp>
      <p:sp>
        <p:nvSpPr>
          <p:cNvPr id="27" name="Text 20"/>
          <p:cNvSpPr/>
          <p:nvPr/>
        </p:nvSpPr>
        <p:spPr>
          <a:xfrm>
            <a:off x="908447" y="4118610"/>
            <a:ext cx="6239113" cy="333137"/>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Ransomware targeting critical infrastructure spiked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149%</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in early 2025. Double and triple extortion tactics now exfiltrate SCADA configs and customer data.</a:t>
            </a:r>
            <a:endParaRPr lang="en-US" sz="1000" dirty="0"/>
          </a:p>
        </p:txBody>
      </p:sp>
      <p:sp>
        <p:nvSpPr>
          <p:cNvPr id="28" name="Shape 21"/>
          <p:cNvSpPr/>
          <p:nvPr/>
        </p:nvSpPr>
        <p:spPr>
          <a:xfrm>
            <a:off x="7355681" y="3282434"/>
            <a:ext cx="6493073" cy="1296233"/>
          </a:xfrm>
          <a:prstGeom prst="roundRect">
            <a:avLst>
              <a:gd name="adj" fmla="val 1470"/>
            </a:avLst>
          </a:prstGeom>
          <a:solidFill>
            <a:srgbClr val="F2EEEE"/>
          </a:solidFill>
          <a:ln/>
        </p:spPr>
      </p:sp>
      <p:sp>
        <p:nvSpPr>
          <p:cNvPr id="29" name="Shape 22"/>
          <p:cNvSpPr/>
          <p:nvPr/>
        </p:nvSpPr>
        <p:spPr>
          <a:xfrm>
            <a:off x="7482602" y="3409355"/>
            <a:ext cx="381000" cy="381000"/>
          </a:xfrm>
          <a:prstGeom prst="roundRect">
            <a:avLst>
              <a:gd name="adj" fmla="val 23997600"/>
            </a:avLst>
          </a:prstGeom>
          <a:solidFill>
            <a:srgbClr val="00674F"/>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87377" y="3514130"/>
            <a:ext cx="171450" cy="171450"/>
          </a:xfrm>
          <a:prstGeom prst="rect">
            <a:avLst/>
          </a:prstGeom>
        </p:spPr>
      </p:pic>
      <p:sp>
        <p:nvSpPr>
          <p:cNvPr id="31" name="Text 23"/>
          <p:cNvSpPr/>
          <p:nvPr/>
        </p:nvSpPr>
        <p:spPr>
          <a:xfrm>
            <a:off x="7482602" y="3871555"/>
            <a:ext cx="1681758"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Legacy OT Vulnerabilities</a:t>
            </a:r>
            <a:endParaRPr lang="en-US" sz="1250" dirty="0"/>
          </a:p>
        </p:txBody>
      </p:sp>
      <p:sp>
        <p:nvSpPr>
          <p:cNvPr id="32" name="Text 24"/>
          <p:cNvSpPr/>
          <p:nvPr/>
        </p:nvSpPr>
        <p:spPr>
          <a:xfrm>
            <a:off x="7482602" y="4118610"/>
            <a:ext cx="6239232" cy="333137"/>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45% of utilities operate severely outdated systems. Zero-days are weaponized within days of disclosure — legacy environments cannot be patched without unacceptable downtime.</a:t>
            </a:r>
            <a:endParaRPr lang="en-US" sz="1000" dirty="0"/>
          </a:p>
        </p:txBody>
      </p:sp>
      <p:sp>
        <p:nvSpPr>
          <p:cNvPr id="33" name="Text 25"/>
          <p:cNvSpPr/>
          <p:nvPr/>
        </p:nvSpPr>
        <p:spPr>
          <a:xfrm>
            <a:off x="781526" y="4700468"/>
            <a:ext cx="4800957" cy="317421"/>
          </a:xfrm>
          <a:prstGeom prst="rect">
            <a:avLst/>
          </a:prstGeom>
          <a:noFill/>
          <a:ln/>
        </p:spPr>
        <p:txBody>
          <a:bodyPr wrap="none" lIns="0" tIns="0" rIns="0" bIns="0" rtlCol="0" anchor="t"/>
          <a:lstStyle/>
          <a:p>
            <a:pPr algn="l" indent="0" marL="0">
              <a:lnSpc>
                <a:spcPts val="2500"/>
              </a:lnSpc>
              <a:buNone/>
            </a:pPr>
            <a:r>
              <a:rPr lang="en-US" sz="2000" dirty="0">
                <a:solidFill>
                  <a:srgbClr val="00674F"/>
                </a:solidFill>
                <a:latin typeface="Crimson Pro Semi Bold" pitchFamily="34" charset="0"/>
                <a:ea typeface="Crimson Pro Semi Bold" pitchFamily="34" charset="-122"/>
                <a:cs typeface="Crimson Pro Semi Bold" pitchFamily="34" charset="-120"/>
              </a:rPr>
              <a:t>Utilities-Specific Architectural Vulnerabilities</a:t>
            </a:r>
            <a:endParaRPr lang="en-US" sz="2000" dirty="0"/>
          </a:p>
        </p:txBody>
      </p:sp>
      <p:sp>
        <p:nvSpPr>
          <p:cNvPr id="34" name="Text 26"/>
          <p:cNvSpPr/>
          <p:nvPr/>
        </p:nvSpPr>
        <p:spPr>
          <a:xfrm>
            <a:off x="781526" y="5212794"/>
            <a:ext cx="7047548" cy="499705"/>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OT systems — PLCs, DCS, HMIs — were engineered decades ago to prioritize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physical availability over digital security</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Foundational protocols like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Modbus</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and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DNP3</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transmit commands in plain text without encryption, authentication, or session validation, enabling adversaries to spoof commands or launch replay attacks.</a:t>
            </a:r>
            <a:endParaRPr lang="en-US" sz="1000" dirty="0"/>
          </a:p>
        </p:txBody>
      </p:sp>
      <p:sp>
        <p:nvSpPr>
          <p:cNvPr id="35" name="Text 27"/>
          <p:cNvSpPr/>
          <p:nvPr/>
        </p:nvSpPr>
        <p:spPr>
          <a:xfrm>
            <a:off x="781526" y="5785604"/>
            <a:ext cx="7047548" cy="666274"/>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The rapid deployment of IIoT edge devices for "smart grids" has introduced massive, unmonitored attack surfaces. Many remote terminal units rely on hardcoded firmware with critical vulnerabilities that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cannot be patched</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due to hardware limitations. Devices lacking firmware verification can be permanently bricked by attackers — an irreversible loss of view and control.</a:t>
            </a:r>
            <a:endParaRPr lang="en-US" sz="1000" dirty="0"/>
          </a:p>
        </p:txBody>
      </p:sp>
      <p:sp>
        <p:nvSpPr>
          <p:cNvPr id="36" name="Text 28"/>
          <p:cNvSpPr/>
          <p:nvPr/>
        </p:nvSpPr>
        <p:spPr>
          <a:xfrm>
            <a:off x="781526" y="6524982"/>
            <a:ext cx="7047548" cy="333137"/>
          </a:xfrm>
          <a:prstGeom prst="rect">
            <a:avLst/>
          </a:prstGeom>
          <a:noFill/>
          <a:ln/>
        </p:spPr>
        <p:txBody>
          <a:bodyPr wrap="squar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The unchecked proliferation of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"shadow AI"</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 unsanctioned public AI models used by engineers — accounts for </a:t>
            </a:r>
            <a:pPr algn="l" indent="0" marL="0">
              <a:lnSpc>
                <a:spcPts val="1300"/>
              </a:lnSpc>
              <a:buNone/>
            </a:pPr>
            <a:r>
              <a:rPr lang="en-US" sz="1000" b="1" dirty="0">
                <a:solidFill>
                  <a:srgbClr val="000000"/>
                </a:solidFill>
                <a:latin typeface="Heebo" pitchFamily="34" charset="0"/>
                <a:ea typeface="Heebo" pitchFamily="34" charset="-122"/>
                <a:cs typeface="Heebo" pitchFamily="34" charset="-120"/>
              </a:rPr>
              <a:t>20% of recent data breaches</a:t>
            </a:r>
            <a:pPr algn="l" indent="0" marL="0">
              <a:lnSpc>
                <a:spcPts val="1300"/>
              </a:lnSpc>
              <a:buNone/>
            </a:pPr>
            <a:r>
              <a:rPr lang="en-US" sz="1000" dirty="0">
                <a:solidFill>
                  <a:srgbClr val="000000"/>
                </a:solidFill>
                <a:latin typeface="Heebo" pitchFamily="34" charset="0"/>
                <a:ea typeface="Heebo" pitchFamily="34" charset="-122"/>
                <a:cs typeface="Heebo" pitchFamily="34" charset="-120"/>
              </a:rPr>
              <a:t>, stripping governance over proprietary industrial data.</a:t>
            </a:r>
            <a:endParaRPr lang="en-US" sz="1000" dirty="0"/>
          </a:p>
        </p:txBody>
      </p:sp>
      <p:sp>
        <p:nvSpPr>
          <p:cNvPr id="37" name="Shape 29"/>
          <p:cNvSpPr/>
          <p:nvPr/>
        </p:nvSpPr>
        <p:spPr>
          <a:xfrm>
            <a:off x="8146494" y="5231011"/>
            <a:ext cx="5709880" cy="730448"/>
          </a:xfrm>
          <a:prstGeom prst="roundRect">
            <a:avLst>
              <a:gd name="adj" fmla="val 10015"/>
            </a:avLst>
          </a:prstGeom>
          <a:solidFill>
            <a:srgbClr val="FFFFFF"/>
          </a:solidFill>
          <a:ln w="15240">
            <a:solidFill>
              <a:srgbClr val="D8D4D4"/>
            </a:solidFill>
            <a:prstDash val="solid"/>
          </a:ln>
        </p:spPr>
      </p:sp>
      <p:sp>
        <p:nvSpPr>
          <p:cNvPr id="38" name="Shape 30"/>
          <p:cNvSpPr/>
          <p:nvPr/>
        </p:nvSpPr>
        <p:spPr>
          <a:xfrm>
            <a:off x="8131254" y="5231011"/>
            <a:ext cx="60960" cy="730448"/>
          </a:xfrm>
          <a:prstGeom prst="roundRect">
            <a:avLst>
              <a:gd name="adj" fmla="val 31252"/>
            </a:avLst>
          </a:prstGeom>
          <a:solidFill>
            <a:srgbClr val="00674F"/>
          </a:solidFill>
          <a:ln/>
        </p:spPr>
      </p:sp>
      <p:sp>
        <p:nvSpPr>
          <p:cNvPr id="39" name="Text 31"/>
          <p:cNvSpPr/>
          <p:nvPr/>
        </p:nvSpPr>
        <p:spPr>
          <a:xfrm>
            <a:off x="8334375" y="5373172"/>
            <a:ext cx="1587579"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Modbus Protocol</a:t>
            </a:r>
            <a:endParaRPr lang="en-US" sz="1250" dirty="0"/>
          </a:p>
        </p:txBody>
      </p:sp>
      <p:sp>
        <p:nvSpPr>
          <p:cNvPr id="40" name="Text 32"/>
          <p:cNvSpPr/>
          <p:nvPr/>
        </p:nvSpPr>
        <p:spPr>
          <a:xfrm>
            <a:off x="8334375" y="5652730"/>
            <a:ext cx="5379839" cy="166568"/>
          </a:xfrm>
          <a:prstGeom prst="rect">
            <a:avLst/>
          </a:prstGeom>
          <a:noFill/>
          <a:ln/>
        </p:spPr>
        <p:txBody>
          <a:bodyPr wrap="non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Plain text, no encryption, no authentication — highly susceptible to interception and spoofing</a:t>
            </a:r>
            <a:endParaRPr lang="en-US" sz="1000" dirty="0"/>
          </a:p>
        </p:txBody>
      </p:sp>
      <p:sp>
        <p:nvSpPr>
          <p:cNvPr id="41" name="Shape 33"/>
          <p:cNvSpPr/>
          <p:nvPr/>
        </p:nvSpPr>
        <p:spPr>
          <a:xfrm>
            <a:off x="8146494" y="6042660"/>
            <a:ext cx="5709880" cy="730448"/>
          </a:xfrm>
          <a:prstGeom prst="roundRect">
            <a:avLst>
              <a:gd name="adj" fmla="val 10015"/>
            </a:avLst>
          </a:prstGeom>
          <a:solidFill>
            <a:srgbClr val="FFFFFF"/>
          </a:solidFill>
          <a:ln w="15240">
            <a:solidFill>
              <a:srgbClr val="D8D4D4"/>
            </a:solidFill>
            <a:prstDash val="solid"/>
          </a:ln>
        </p:spPr>
      </p:sp>
      <p:sp>
        <p:nvSpPr>
          <p:cNvPr id="42" name="Shape 34"/>
          <p:cNvSpPr/>
          <p:nvPr/>
        </p:nvSpPr>
        <p:spPr>
          <a:xfrm>
            <a:off x="8131254" y="6042660"/>
            <a:ext cx="60960" cy="730448"/>
          </a:xfrm>
          <a:prstGeom prst="roundRect">
            <a:avLst>
              <a:gd name="adj" fmla="val 31252"/>
            </a:avLst>
          </a:prstGeom>
          <a:solidFill>
            <a:srgbClr val="00674F"/>
          </a:solidFill>
          <a:ln/>
        </p:spPr>
      </p:sp>
      <p:sp>
        <p:nvSpPr>
          <p:cNvPr id="43" name="Text 35"/>
          <p:cNvSpPr/>
          <p:nvPr/>
        </p:nvSpPr>
        <p:spPr>
          <a:xfrm>
            <a:off x="8334375" y="6184821"/>
            <a:ext cx="1587579"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IIoT Edge Devices</a:t>
            </a:r>
            <a:endParaRPr lang="en-US" sz="1250" dirty="0"/>
          </a:p>
        </p:txBody>
      </p:sp>
      <p:sp>
        <p:nvSpPr>
          <p:cNvPr id="44" name="Text 36"/>
          <p:cNvSpPr/>
          <p:nvPr/>
        </p:nvSpPr>
        <p:spPr>
          <a:xfrm>
            <a:off x="8334375" y="6464379"/>
            <a:ext cx="5379839" cy="166568"/>
          </a:xfrm>
          <a:prstGeom prst="rect">
            <a:avLst/>
          </a:prstGeom>
          <a:noFill/>
          <a:ln/>
        </p:spPr>
        <p:txBody>
          <a:bodyPr wrap="non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Hardcoded firmware, no verification — permanent destruction possible via software attacks</a:t>
            </a:r>
            <a:endParaRPr lang="en-US" sz="1000" dirty="0"/>
          </a:p>
        </p:txBody>
      </p:sp>
      <p:sp>
        <p:nvSpPr>
          <p:cNvPr id="45" name="Shape 37"/>
          <p:cNvSpPr/>
          <p:nvPr/>
        </p:nvSpPr>
        <p:spPr>
          <a:xfrm>
            <a:off x="8146494" y="6854309"/>
            <a:ext cx="5709880" cy="730448"/>
          </a:xfrm>
          <a:prstGeom prst="roundRect">
            <a:avLst>
              <a:gd name="adj" fmla="val 10015"/>
            </a:avLst>
          </a:prstGeom>
          <a:solidFill>
            <a:srgbClr val="FFFFFF"/>
          </a:solidFill>
          <a:ln w="15240">
            <a:solidFill>
              <a:srgbClr val="D8D4D4"/>
            </a:solidFill>
            <a:prstDash val="solid"/>
          </a:ln>
        </p:spPr>
      </p:sp>
      <p:sp>
        <p:nvSpPr>
          <p:cNvPr id="46" name="Shape 38"/>
          <p:cNvSpPr/>
          <p:nvPr/>
        </p:nvSpPr>
        <p:spPr>
          <a:xfrm>
            <a:off x="8131254" y="6854309"/>
            <a:ext cx="60960" cy="730448"/>
          </a:xfrm>
          <a:prstGeom prst="roundRect">
            <a:avLst>
              <a:gd name="adj" fmla="val 31252"/>
            </a:avLst>
          </a:prstGeom>
          <a:solidFill>
            <a:srgbClr val="00674F"/>
          </a:solidFill>
          <a:ln/>
        </p:spPr>
      </p:sp>
      <p:sp>
        <p:nvSpPr>
          <p:cNvPr id="47" name="Text 39"/>
          <p:cNvSpPr/>
          <p:nvPr/>
        </p:nvSpPr>
        <p:spPr>
          <a:xfrm>
            <a:off x="8334375" y="6996470"/>
            <a:ext cx="1587579" cy="198358"/>
          </a:xfrm>
          <a:prstGeom prst="rect">
            <a:avLst/>
          </a:prstGeom>
          <a:noFill/>
          <a:ln/>
        </p:spPr>
        <p:txBody>
          <a:bodyPr wrap="none" lIns="0" tIns="0" rIns="0" bIns="0" rtlCol="0" anchor="t"/>
          <a:lstStyle/>
          <a:p>
            <a:pPr algn="l" indent="0" marL="0">
              <a:lnSpc>
                <a:spcPts val="1550"/>
              </a:lnSpc>
              <a:buNone/>
            </a:pPr>
            <a:r>
              <a:rPr lang="en-US" sz="1250" dirty="0">
                <a:solidFill>
                  <a:srgbClr val="000000"/>
                </a:solidFill>
                <a:latin typeface="Crimson Pro Semi Bold" pitchFamily="34" charset="0"/>
                <a:ea typeface="Crimson Pro Semi Bold" pitchFamily="34" charset="-122"/>
                <a:cs typeface="Crimson Pro Semi Bold" pitchFamily="34" charset="-120"/>
              </a:rPr>
              <a:t>Shadow AI Risk</a:t>
            </a:r>
            <a:endParaRPr lang="en-US" sz="1250" dirty="0"/>
          </a:p>
        </p:txBody>
      </p:sp>
      <p:sp>
        <p:nvSpPr>
          <p:cNvPr id="48" name="Text 40"/>
          <p:cNvSpPr/>
          <p:nvPr/>
        </p:nvSpPr>
        <p:spPr>
          <a:xfrm>
            <a:off x="8334375" y="7276028"/>
            <a:ext cx="5379839" cy="166568"/>
          </a:xfrm>
          <a:prstGeom prst="rect">
            <a:avLst/>
          </a:prstGeom>
          <a:noFill/>
          <a:ln/>
        </p:spPr>
        <p:txBody>
          <a:bodyPr wrap="none" lIns="0" tIns="0" rIns="0" bIns="0" rtlCol="0" anchor="t"/>
          <a:lstStyle/>
          <a:p>
            <a:pPr algn="l" indent="0" marL="0">
              <a:lnSpc>
                <a:spcPts val="1300"/>
              </a:lnSpc>
              <a:buNone/>
            </a:pPr>
            <a:r>
              <a:rPr lang="en-US" sz="1000" dirty="0">
                <a:solidFill>
                  <a:srgbClr val="000000"/>
                </a:solidFill>
                <a:latin typeface="Heebo" pitchFamily="34" charset="0"/>
                <a:ea typeface="Heebo" pitchFamily="34" charset="-122"/>
                <a:cs typeface="Heebo" pitchFamily="34" charset="-120"/>
              </a:rPr>
              <a:t>20% of breaches linked to unsanctioned AI model usage by operational staff</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799743"/>
            <a:ext cx="916305" cy="234553"/>
          </a:xfrm>
          <a:prstGeom prst="roundRect">
            <a:avLst>
              <a:gd name="adj" fmla="val 7108"/>
            </a:avLst>
          </a:prstGeom>
          <a:solidFill>
            <a:srgbClr val="CCFFF3"/>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7133" y="861417"/>
            <a:ext cx="111085" cy="111085"/>
          </a:xfrm>
          <a:prstGeom prst="rect">
            <a:avLst/>
          </a:prstGeom>
        </p:spPr>
      </p:pic>
      <p:sp>
        <p:nvSpPr>
          <p:cNvPr id="4" name="Text 1"/>
          <p:cNvSpPr/>
          <p:nvPr/>
        </p:nvSpPr>
        <p:spPr>
          <a:xfrm>
            <a:off x="1043702" y="841415"/>
            <a:ext cx="583049" cy="151209"/>
          </a:xfrm>
          <a:prstGeom prst="rect">
            <a:avLst/>
          </a:prstGeom>
          <a:noFill/>
          <a:ln/>
        </p:spPr>
        <p:txBody>
          <a:bodyPr wrap="none" lIns="0" tIns="0" rIns="0" bIns="0" rtlCol="0" anchor="t"/>
          <a:lstStyle/>
          <a:p>
            <a:pPr algn="l" indent="0" marL="0">
              <a:lnSpc>
                <a:spcPts val="1150"/>
              </a:lnSpc>
              <a:buNone/>
            </a:pPr>
            <a:r>
              <a:rPr lang="en-US" sz="850" dirty="0">
                <a:solidFill>
                  <a:srgbClr val="000000"/>
                </a:solidFill>
                <a:latin typeface="Heebo" pitchFamily="34" charset="0"/>
                <a:ea typeface="Heebo" pitchFamily="34" charset="-122"/>
                <a:cs typeface="Heebo" pitchFamily="34" charset="-120"/>
              </a:rPr>
              <a:t>CHAPTER 2</a:t>
            </a:r>
            <a:endParaRPr lang="en-US" sz="850" dirty="0"/>
          </a:p>
        </p:txBody>
      </p:sp>
      <p:sp>
        <p:nvSpPr>
          <p:cNvPr id="5" name="Text 2"/>
          <p:cNvSpPr/>
          <p:nvPr/>
        </p:nvSpPr>
        <p:spPr>
          <a:xfrm>
            <a:off x="1779508" y="841415"/>
            <a:ext cx="982861" cy="151209"/>
          </a:xfrm>
          <a:prstGeom prst="rect">
            <a:avLst/>
          </a:prstGeom>
          <a:noFill/>
          <a:ln/>
        </p:spPr>
        <p:txBody>
          <a:bodyPr wrap="none" lIns="0" tIns="0" rIns="0" bIns="0" rtlCol="0" anchor="t"/>
          <a:lstStyle/>
          <a:p>
            <a:pPr algn="l" indent="0" marL="0">
              <a:lnSpc>
                <a:spcPts val="1150"/>
              </a:lnSpc>
              <a:buNone/>
            </a:pPr>
            <a:r>
              <a:rPr lang="en-US" sz="850" dirty="0">
                <a:solidFill>
                  <a:srgbClr val="00674F"/>
                </a:solidFill>
                <a:latin typeface="Heebo" pitchFamily="34" charset="0"/>
                <a:ea typeface="Heebo" pitchFamily="34" charset="-122"/>
                <a:cs typeface="Heebo" pitchFamily="34" charset="-120"/>
              </a:rPr>
              <a:t>FINANCIAL IMPACT</a:t>
            </a:r>
            <a:endParaRPr lang="en-US" sz="850" dirty="0"/>
          </a:p>
        </p:txBody>
      </p:sp>
      <p:sp>
        <p:nvSpPr>
          <p:cNvPr id="6" name="Text 3"/>
          <p:cNvSpPr/>
          <p:nvPr/>
        </p:nvSpPr>
        <p:spPr>
          <a:xfrm>
            <a:off x="793790" y="1073110"/>
            <a:ext cx="8211622" cy="434102"/>
          </a:xfrm>
          <a:prstGeom prst="rect">
            <a:avLst/>
          </a:prstGeom>
          <a:noFill/>
          <a:ln/>
        </p:spPr>
        <p:txBody>
          <a:bodyPr wrap="none" lIns="0" tIns="0" rIns="0" bIns="0" rtlCol="0" anchor="t"/>
          <a:lstStyle/>
          <a:p>
            <a:pPr algn="l" indent="0" marL="0">
              <a:lnSpc>
                <a:spcPts val="3400"/>
              </a:lnSpc>
              <a:buNone/>
            </a:pPr>
            <a:r>
              <a:rPr lang="en-US" sz="2700" dirty="0">
                <a:solidFill>
                  <a:srgbClr val="00674F"/>
                </a:solidFill>
                <a:latin typeface="Crimson Pro Semi Bold" pitchFamily="34" charset="0"/>
                <a:ea typeface="Crimson Pro Semi Bold" pitchFamily="34" charset="-122"/>
                <a:cs typeface="Crimson Pro Semi Bold" pitchFamily="34" charset="-120"/>
              </a:rPr>
              <a:t>Financial Impact of Cyber Incidents in the Utilities Sector</a:t>
            </a:r>
            <a:endParaRPr lang="en-US" sz="2700" dirty="0"/>
          </a:p>
        </p:txBody>
      </p:sp>
      <p:sp>
        <p:nvSpPr>
          <p:cNvPr id="7" name="Text 4"/>
          <p:cNvSpPr/>
          <p:nvPr/>
        </p:nvSpPr>
        <p:spPr>
          <a:xfrm>
            <a:off x="793790" y="1653064"/>
            <a:ext cx="13042821" cy="188952"/>
          </a:xfrm>
          <a:prstGeom prst="rect">
            <a:avLst/>
          </a:prstGeom>
          <a:noFill/>
          <a:ln/>
        </p:spPr>
        <p:txBody>
          <a:bodyPr wrap="none" lIns="0" tIns="0" rIns="0" bIns="0" rtlCol="0" anchor="t"/>
          <a:lstStyle/>
          <a:p>
            <a:pPr algn="l" indent="0" marL="0">
              <a:lnSpc>
                <a:spcPts val="1450"/>
              </a:lnSpc>
              <a:buNone/>
            </a:pPr>
            <a:r>
              <a:rPr lang="en-US" sz="1050" dirty="0">
                <a:solidFill>
                  <a:srgbClr val="000000"/>
                </a:solidFill>
                <a:latin typeface="Heebo" pitchFamily="34" charset="0"/>
                <a:ea typeface="Heebo" pitchFamily="34" charset="-122"/>
                <a:cs typeface="Heebo" pitchFamily="34" charset="-120"/>
              </a:rPr>
              <a:t>The cost of a cyber breach is no longer a localized IT expense — it is a </a:t>
            </a:r>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material financial event</a:t>
            </a:r>
            <a:pPr algn="l" indent="0" marL="0">
              <a:lnSpc>
                <a:spcPts val="1450"/>
              </a:lnSpc>
              <a:buNone/>
            </a:pPr>
            <a:r>
              <a:rPr lang="en-US" sz="1050" dirty="0">
                <a:solidFill>
                  <a:srgbClr val="000000"/>
                </a:solidFill>
                <a:latin typeface="Heebo" pitchFamily="34" charset="0"/>
                <a:ea typeface="Heebo" pitchFamily="34" charset="-122"/>
                <a:cs typeface="Heebo" pitchFamily="34" charset="-120"/>
              </a:rPr>
              <a:t> capable of eroding years of profitability and triggering intense regulatory sanctions.</a:t>
            </a:r>
            <a:endParaRPr lang="en-US" sz="1050" dirty="0"/>
          </a:p>
        </p:txBody>
      </p:sp>
      <p:sp>
        <p:nvSpPr>
          <p:cNvPr id="8" name="Text 5"/>
          <p:cNvSpPr/>
          <p:nvPr/>
        </p:nvSpPr>
        <p:spPr>
          <a:xfrm>
            <a:off x="1269206" y="2020729"/>
            <a:ext cx="2218611" cy="458391"/>
          </a:xfrm>
          <a:prstGeom prst="rect">
            <a:avLst/>
          </a:prstGeom>
          <a:noFill/>
          <a:ln/>
        </p:spPr>
        <p:txBody>
          <a:bodyPr wrap="none" lIns="0" tIns="0" rIns="0" bIns="0" rtlCol="0" anchor="t"/>
          <a:lstStyle/>
          <a:p>
            <a:pPr algn="ctr" indent="0" marL="0">
              <a:lnSpc>
                <a:spcPts val="3600"/>
              </a:lnSpc>
              <a:buNone/>
            </a:pPr>
            <a:r>
              <a:rPr lang="en-US" sz="3600" dirty="0">
                <a:solidFill>
                  <a:srgbClr val="000000"/>
                </a:solidFill>
                <a:latin typeface="Crimson Pro Semi Bold" pitchFamily="34" charset="0"/>
                <a:ea typeface="Crimson Pro Semi Bold" pitchFamily="34" charset="-122"/>
                <a:cs typeface="Crimson Pro Semi Bold" pitchFamily="34" charset="-120"/>
              </a:rPr>
              <a:t>$4.44M</a:t>
            </a:r>
            <a:endParaRPr lang="en-US" sz="3600" dirty="0"/>
          </a:p>
        </p:txBody>
      </p:sp>
      <p:sp>
        <p:nvSpPr>
          <p:cNvPr id="9" name="Text 6"/>
          <p:cNvSpPr/>
          <p:nvPr/>
        </p:nvSpPr>
        <p:spPr>
          <a:xfrm>
            <a:off x="1510189" y="2621399"/>
            <a:ext cx="1736646" cy="217051"/>
          </a:xfrm>
          <a:prstGeom prst="rect">
            <a:avLst/>
          </a:prstGeom>
          <a:noFill/>
          <a:ln/>
        </p:spPr>
        <p:txBody>
          <a:bodyPr wrap="none" lIns="0" tIns="0" rIns="0" bIns="0" rtlCol="0" anchor="t"/>
          <a:lstStyle/>
          <a:p>
            <a:pPr algn="ctr" indent="0" marL="0">
              <a:lnSpc>
                <a:spcPts val="1700"/>
              </a:lnSpc>
              <a:buNone/>
            </a:pPr>
            <a:r>
              <a:rPr lang="en-US" sz="1350" dirty="0">
                <a:solidFill>
                  <a:srgbClr val="000000"/>
                </a:solidFill>
                <a:latin typeface="Crimson Pro Semi Bold" pitchFamily="34" charset="0"/>
                <a:ea typeface="Crimson Pro Semi Bold" pitchFamily="34" charset="-122"/>
                <a:cs typeface="Crimson Pro Semi Bold" pitchFamily="34" charset="-120"/>
              </a:rPr>
              <a:t>Global Average</a:t>
            </a:r>
            <a:endParaRPr lang="en-US" sz="1350" dirty="0"/>
          </a:p>
        </p:txBody>
      </p:sp>
      <p:sp>
        <p:nvSpPr>
          <p:cNvPr id="10" name="Text 7"/>
          <p:cNvSpPr/>
          <p:nvPr/>
        </p:nvSpPr>
        <p:spPr>
          <a:xfrm>
            <a:off x="793790" y="2896791"/>
            <a:ext cx="3169444" cy="188952"/>
          </a:xfrm>
          <a:prstGeom prst="rect">
            <a:avLst/>
          </a:prstGeom>
          <a:noFill/>
          <a:ln/>
        </p:spPr>
        <p:txBody>
          <a:bodyPr wrap="none" lIns="0" tIns="0" rIns="0" bIns="0" rtlCol="0" anchor="t"/>
          <a:lstStyle/>
          <a:p>
            <a:pPr algn="ctr" indent="0" marL="0">
              <a:lnSpc>
                <a:spcPts val="1450"/>
              </a:lnSpc>
              <a:buNone/>
            </a:pPr>
            <a:r>
              <a:rPr lang="en-US" sz="1050" dirty="0">
                <a:solidFill>
                  <a:srgbClr val="000000"/>
                </a:solidFill>
                <a:latin typeface="Heebo" pitchFamily="34" charset="0"/>
                <a:ea typeface="Heebo" pitchFamily="34" charset="-122"/>
                <a:cs typeface="Heebo" pitchFamily="34" charset="-120"/>
              </a:rPr>
              <a:t>Average cost of a data breach globally (2025)</a:t>
            </a:r>
            <a:endParaRPr lang="en-US" sz="1050" dirty="0"/>
          </a:p>
        </p:txBody>
      </p:sp>
      <p:sp>
        <p:nvSpPr>
          <p:cNvPr id="11" name="Text 8"/>
          <p:cNvSpPr/>
          <p:nvPr/>
        </p:nvSpPr>
        <p:spPr>
          <a:xfrm>
            <a:off x="4560213" y="2020729"/>
            <a:ext cx="2218611" cy="458391"/>
          </a:xfrm>
          <a:prstGeom prst="rect">
            <a:avLst/>
          </a:prstGeom>
          <a:noFill/>
          <a:ln/>
        </p:spPr>
        <p:txBody>
          <a:bodyPr wrap="none" lIns="0" tIns="0" rIns="0" bIns="0" rtlCol="0" anchor="t"/>
          <a:lstStyle/>
          <a:p>
            <a:pPr algn="ctr" indent="0" marL="0">
              <a:lnSpc>
                <a:spcPts val="3600"/>
              </a:lnSpc>
              <a:buNone/>
            </a:pPr>
            <a:r>
              <a:rPr lang="en-US" sz="3600" dirty="0">
                <a:solidFill>
                  <a:srgbClr val="000000"/>
                </a:solidFill>
                <a:latin typeface="Crimson Pro Semi Bold" pitchFamily="34" charset="0"/>
                <a:ea typeface="Crimson Pro Semi Bold" pitchFamily="34" charset="-122"/>
                <a:cs typeface="Crimson Pro Semi Bold" pitchFamily="34" charset="-120"/>
              </a:rPr>
              <a:t>$10.22M</a:t>
            </a:r>
            <a:endParaRPr lang="en-US" sz="3600" dirty="0"/>
          </a:p>
        </p:txBody>
      </p:sp>
      <p:sp>
        <p:nvSpPr>
          <p:cNvPr id="12" name="Text 9"/>
          <p:cNvSpPr/>
          <p:nvPr/>
        </p:nvSpPr>
        <p:spPr>
          <a:xfrm>
            <a:off x="4801195" y="2621399"/>
            <a:ext cx="1736646" cy="217051"/>
          </a:xfrm>
          <a:prstGeom prst="rect">
            <a:avLst/>
          </a:prstGeom>
          <a:noFill/>
          <a:ln/>
        </p:spPr>
        <p:txBody>
          <a:bodyPr wrap="none" lIns="0" tIns="0" rIns="0" bIns="0" rtlCol="0" anchor="t"/>
          <a:lstStyle/>
          <a:p>
            <a:pPr algn="ctr" indent="0" marL="0">
              <a:lnSpc>
                <a:spcPts val="1700"/>
              </a:lnSpc>
              <a:buNone/>
            </a:pPr>
            <a:r>
              <a:rPr lang="en-US" sz="1350" dirty="0">
                <a:solidFill>
                  <a:srgbClr val="000000"/>
                </a:solidFill>
                <a:latin typeface="Crimson Pro Semi Bold" pitchFamily="34" charset="0"/>
                <a:ea typeface="Crimson Pro Semi Bold" pitchFamily="34" charset="-122"/>
                <a:cs typeface="Crimson Pro Semi Bold" pitchFamily="34" charset="-120"/>
              </a:rPr>
              <a:t>U.S. Record High</a:t>
            </a:r>
            <a:endParaRPr lang="en-US" sz="1350" dirty="0"/>
          </a:p>
        </p:txBody>
      </p:sp>
      <p:sp>
        <p:nvSpPr>
          <p:cNvPr id="13" name="Text 10"/>
          <p:cNvSpPr/>
          <p:nvPr/>
        </p:nvSpPr>
        <p:spPr>
          <a:xfrm>
            <a:off x="4084796" y="2896791"/>
            <a:ext cx="3169563" cy="377904"/>
          </a:xfrm>
          <a:prstGeom prst="rect">
            <a:avLst/>
          </a:prstGeom>
          <a:noFill/>
          <a:ln/>
        </p:spPr>
        <p:txBody>
          <a:bodyPr wrap="square" lIns="0" tIns="0" rIns="0" bIns="0" rtlCol="0" anchor="t"/>
          <a:lstStyle/>
          <a:p>
            <a:pPr algn="ctr" indent="0" marL="0">
              <a:lnSpc>
                <a:spcPts val="1450"/>
              </a:lnSpc>
              <a:buNone/>
            </a:pPr>
            <a:r>
              <a:rPr lang="en-US" sz="1050" dirty="0">
                <a:solidFill>
                  <a:srgbClr val="000000"/>
                </a:solidFill>
                <a:latin typeface="Heebo" pitchFamily="34" charset="0"/>
                <a:ea typeface="Heebo" pitchFamily="34" charset="-122"/>
                <a:cs typeface="Heebo" pitchFamily="34" charset="-120"/>
              </a:rPr>
              <a:t>Driven by aggressive regulatory penalties and forensic costs</a:t>
            </a:r>
            <a:endParaRPr lang="en-US" sz="1050" dirty="0"/>
          </a:p>
        </p:txBody>
      </p:sp>
      <p:sp>
        <p:nvSpPr>
          <p:cNvPr id="14" name="Text 11"/>
          <p:cNvSpPr/>
          <p:nvPr/>
        </p:nvSpPr>
        <p:spPr>
          <a:xfrm>
            <a:off x="7851338" y="2020729"/>
            <a:ext cx="2218611" cy="458391"/>
          </a:xfrm>
          <a:prstGeom prst="rect">
            <a:avLst/>
          </a:prstGeom>
          <a:noFill/>
          <a:ln/>
        </p:spPr>
        <p:txBody>
          <a:bodyPr wrap="none" lIns="0" tIns="0" rIns="0" bIns="0" rtlCol="0" anchor="t"/>
          <a:lstStyle/>
          <a:p>
            <a:pPr algn="ctr" indent="0" marL="0">
              <a:lnSpc>
                <a:spcPts val="3600"/>
              </a:lnSpc>
              <a:buNone/>
            </a:pPr>
            <a:r>
              <a:rPr lang="en-US" sz="3600" dirty="0">
                <a:solidFill>
                  <a:srgbClr val="000000"/>
                </a:solidFill>
                <a:latin typeface="Crimson Pro Semi Bold" pitchFamily="34" charset="0"/>
                <a:ea typeface="Crimson Pro Semi Bold" pitchFamily="34" charset="-122"/>
                <a:cs typeface="Crimson Pro Semi Bold" pitchFamily="34" charset="-120"/>
              </a:rPr>
              <a:t>$5.56M</a:t>
            </a:r>
            <a:endParaRPr lang="en-US" sz="3600" dirty="0"/>
          </a:p>
        </p:txBody>
      </p:sp>
      <p:sp>
        <p:nvSpPr>
          <p:cNvPr id="15" name="Text 12"/>
          <p:cNvSpPr/>
          <p:nvPr/>
        </p:nvSpPr>
        <p:spPr>
          <a:xfrm>
            <a:off x="8092321" y="2621399"/>
            <a:ext cx="1736646" cy="217051"/>
          </a:xfrm>
          <a:prstGeom prst="rect">
            <a:avLst/>
          </a:prstGeom>
          <a:noFill/>
          <a:ln/>
        </p:spPr>
        <p:txBody>
          <a:bodyPr wrap="none" lIns="0" tIns="0" rIns="0" bIns="0" rtlCol="0" anchor="t"/>
          <a:lstStyle/>
          <a:p>
            <a:pPr algn="ctr" indent="0" marL="0">
              <a:lnSpc>
                <a:spcPts val="1700"/>
              </a:lnSpc>
              <a:buNone/>
            </a:pPr>
            <a:r>
              <a:rPr lang="en-US" sz="1350" dirty="0">
                <a:solidFill>
                  <a:srgbClr val="000000"/>
                </a:solidFill>
                <a:latin typeface="Crimson Pro Semi Bold" pitchFamily="34" charset="0"/>
                <a:ea typeface="Crimson Pro Semi Bold" pitchFamily="34" charset="-122"/>
                <a:cs typeface="Crimson Pro Semi Bold" pitchFamily="34" charset="-120"/>
              </a:rPr>
              <a:t>Industrial Sector</a:t>
            </a:r>
            <a:endParaRPr lang="en-US" sz="1350" dirty="0"/>
          </a:p>
        </p:txBody>
      </p:sp>
      <p:sp>
        <p:nvSpPr>
          <p:cNvPr id="16" name="Text 13"/>
          <p:cNvSpPr/>
          <p:nvPr/>
        </p:nvSpPr>
        <p:spPr>
          <a:xfrm>
            <a:off x="7375922" y="2896791"/>
            <a:ext cx="3169563" cy="377904"/>
          </a:xfrm>
          <a:prstGeom prst="rect">
            <a:avLst/>
          </a:prstGeom>
          <a:noFill/>
          <a:ln/>
        </p:spPr>
        <p:txBody>
          <a:bodyPr wrap="square" lIns="0" tIns="0" rIns="0" bIns="0" rtlCol="0" anchor="t"/>
          <a:lstStyle/>
          <a:p>
            <a:pPr algn="ctr" indent="0" marL="0">
              <a:lnSpc>
                <a:spcPts val="1450"/>
              </a:lnSpc>
              <a:buNone/>
            </a:pPr>
            <a:r>
              <a:rPr lang="en-US" sz="1050" dirty="0">
                <a:solidFill>
                  <a:srgbClr val="000000"/>
                </a:solidFill>
                <a:latin typeface="Heebo" pitchFamily="34" charset="0"/>
                <a:ea typeface="Heebo" pitchFamily="34" charset="-122"/>
                <a:cs typeface="Heebo" pitchFamily="34" charset="-120"/>
              </a:rPr>
              <a:t>18% YoY increase — 3rd most expensive industry globally</a:t>
            </a:r>
            <a:endParaRPr lang="en-US" sz="1050" dirty="0"/>
          </a:p>
        </p:txBody>
      </p:sp>
      <p:sp>
        <p:nvSpPr>
          <p:cNvPr id="17" name="Text 14"/>
          <p:cNvSpPr/>
          <p:nvPr/>
        </p:nvSpPr>
        <p:spPr>
          <a:xfrm>
            <a:off x="11142464" y="2020729"/>
            <a:ext cx="2218611" cy="458391"/>
          </a:xfrm>
          <a:prstGeom prst="rect">
            <a:avLst/>
          </a:prstGeom>
          <a:noFill/>
          <a:ln/>
        </p:spPr>
        <p:txBody>
          <a:bodyPr wrap="none" lIns="0" tIns="0" rIns="0" bIns="0" rtlCol="0" anchor="t"/>
          <a:lstStyle/>
          <a:p>
            <a:pPr algn="ctr" indent="0" marL="0">
              <a:lnSpc>
                <a:spcPts val="3600"/>
              </a:lnSpc>
              <a:buNone/>
            </a:pPr>
            <a:r>
              <a:rPr lang="en-US" sz="3600" dirty="0">
                <a:solidFill>
                  <a:srgbClr val="000000"/>
                </a:solidFill>
                <a:latin typeface="Crimson Pro Semi Bold" pitchFamily="34" charset="0"/>
                <a:ea typeface="Crimson Pro Semi Bold" pitchFamily="34" charset="-122"/>
                <a:cs typeface="Crimson Pro Semi Bold" pitchFamily="34" charset="-120"/>
              </a:rPr>
              <a:t>$4.83M</a:t>
            </a:r>
            <a:endParaRPr lang="en-US" sz="3600" dirty="0"/>
          </a:p>
        </p:txBody>
      </p:sp>
      <p:sp>
        <p:nvSpPr>
          <p:cNvPr id="18" name="Text 15"/>
          <p:cNvSpPr/>
          <p:nvPr/>
        </p:nvSpPr>
        <p:spPr>
          <a:xfrm>
            <a:off x="11383447" y="2621399"/>
            <a:ext cx="1736646" cy="217051"/>
          </a:xfrm>
          <a:prstGeom prst="rect">
            <a:avLst/>
          </a:prstGeom>
          <a:noFill/>
          <a:ln/>
        </p:spPr>
        <p:txBody>
          <a:bodyPr wrap="none" lIns="0" tIns="0" rIns="0" bIns="0" rtlCol="0" anchor="t"/>
          <a:lstStyle/>
          <a:p>
            <a:pPr algn="ctr" indent="0" marL="0">
              <a:lnSpc>
                <a:spcPts val="1700"/>
              </a:lnSpc>
              <a:buNone/>
            </a:pPr>
            <a:r>
              <a:rPr lang="en-US" sz="1350" dirty="0">
                <a:solidFill>
                  <a:srgbClr val="000000"/>
                </a:solidFill>
                <a:latin typeface="Crimson Pro Semi Bold" pitchFamily="34" charset="0"/>
                <a:ea typeface="Crimson Pro Semi Bold" pitchFamily="34" charset="-122"/>
                <a:cs typeface="Crimson Pro Semi Bold" pitchFamily="34" charset="-120"/>
              </a:rPr>
              <a:t>Energy Sector</a:t>
            </a:r>
            <a:endParaRPr lang="en-US" sz="1350" dirty="0"/>
          </a:p>
        </p:txBody>
      </p:sp>
      <p:sp>
        <p:nvSpPr>
          <p:cNvPr id="19" name="Text 16"/>
          <p:cNvSpPr/>
          <p:nvPr/>
        </p:nvSpPr>
        <p:spPr>
          <a:xfrm>
            <a:off x="10667048" y="2896791"/>
            <a:ext cx="3169563" cy="377904"/>
          </a:xfrm>
          <a:prstGeom prst="rect">
            <a:avLst/>
          </a:prstGeom>
          <a:noFill/>
          <a:ln/>
        </p:spPr>
        <p:txBody>
          <a:bodyPr wrap="square" lIns="0" tIns="0" rIns="0" bIns="0" rtlCol="0" anchor="t"/>
          <a:lstStyle/>
          <a:p>
            <a:pPr algn="ctr" indent="0" marL="0">
              <a:lnSpc>
                <a:spcPts val="1450"/>
              </a:lnSpc>
              <a:buNone/>
            </a:pPr>
            <a:r>
              <a:rPr lang="en-US" sz="1050" dirty="0">
                <a:solidFill>
                  <a:srgbClr val="000000"/>
                </a:solidFill>
                <a:latin typeface="Heebo" pitchFamily="34" charset="0"/>
                <a:ea typeface="Heebo" pitchFamily="34" charset="-122"/>
                <a:cs typeface="Heebo" pitchFamily="34" charset="-120"/>
              </a:rPr>
              <a:t>Penalizing operators who fail to secure distributed networks</a:t>
            </a:r>
            <a:endParaRPr lang="en-US" sz="1050" dirty="0"/>
          </a:p>
        </p:txBody>
      </p:sp>
      <p:sp>
        <p:nvSpPr>
          <p:cNvPr id="20" name="Text 17"/>
          <p:cNvSpPr/>
          <p:nvPr/>
        </p:nvSpPr>
        <p:spPr>
          <a:xfrm>
            <a:off x="793790" y="3420547"/>
            <a:ext cx="6354604" cy="347305"/>
          </a:xfrm>
          <a:prstGeom prst="rect">
            <a:avLst/>
          </a:prstGeom>
          <a:noFill/>
          <a:ln/>
        </p:spPr>
        <p:txBody>
          <a:bodyPr wrap="none" lIns="0" tIns="0" rIns="0" bIns="0" rtlCol="0" anchor="t"/>
          <a:lstStyle/>
          <a:p>
            <a:pPr algn="l" indent="0" marL="0">
              <a:lnSpc>
                <a:spcPts val="2700"/>
              </a:lnSpc>
              <a:buNone/>
            </a:pPr>
            <a:r>
              <a:rPr lang="en-US" sz="2150" dirty="0">
                <a:solidFill>
                  <a:srgbClr val="00674F"/>
                </a:solidFill>
                <a:latin typeface="Crimson Pro Semi Bold" pitchFamily="34" charset="0"/>
                <a:ea typeface="Crimson Pro Semi Bold" pitchFamily="34" charset="-122"/>
                <a:cs typeface="Crimson Pro Semi Bold" pitchFamily="34" charset="-120"/>
              </a:rPr>
              <a:t>Extended Incident Lifecycle in Industrial Environments</a:t>
            </a:r>
            <a:endParaRPr lang="en-US" sz="2150" dirty="0"/>
          </a:p>
        </p:txBody>
      </p:sp>
      <p:sp>
        <p:nvSpPr>
          <p:cNvPr id="21" name="Shape 18"/>
          <p:cNvSpPr/>
          <p:nvPr/>
        </p:nvSpPr>
        <p:spPr>
          <a:xfrm>
            <a:off x="793790" y="4023003"/>
            <a:ext cx="6351984" cy="969764"/>
          </a:xfrm>
          <a:prstGeom prst="roundRect">
            <a:avLst>
              <a:gd name="adj" fmla="val 2149"/>
            </a:avLst>
          </a:prstGeom>
          <a:solidFill>
            <a:srgbClr val="F2EEEE"/>
          </a:solidFill>
          <a:ln/>
        </p:spPr>
      </p:sp>
      <p:sp>
        <p:nvSpPr>
          <p:cNvPr id="22" name="Shape 19"/>
          <p:cNvSpPr/>
          <p:nvPr/>
        </p:nvSpPr>
        <p:spPr>
          <a:xfrm>
            <a:off x="793790" y="4023003"/>
            <a:ext cx="3175992" cy="969764"/>
          </a:xfrm>
          <a:prstGeom prst="roundRect">
            <a:avLst>
              <a:gd name="adj" fmla="val 2149"/>
            </a:avLst>
          </a:prstGeom>
          <a:solidFill>
            <a:srgbClr val="F2EEEE"/>
          </a:solidFill>
          <a:ln/>
        </p:spPr>
      </p:sp>
      <p:sp>
        <p:nvSpPr>
          <p:cNvPr id="23" name="Text 20"/>
          <p:cNvSpPr/>
          <p:nvPr/>
        </p:nvSpPr>
        <p:spPr>
          <a:xfrm>
            <a:off x="932617" y="4161830"/>
            <a:ext cx="1736646" cy="217051"/>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Crimson Pro Semi Bold" pitchFamily="34" charset="0"/>
                <a:ea typeface="Crimson Pro Semi Bold" pitchFamily="34" charset="-122"/>
                <a:cs typeface="Crimson Pro Semi Bold" pitchFamily="34" charset="-120"/>
              </a:rPr>
              <a:t>199 Days</a:t>
            </a:r>
            <a:endParaRPr lang="en-US" sz="1350" dirty="0"/>
          </a:p>
        </p:txBody>
      </p:sp>
      <p:sp>
        <p:nvSpPr>
          <p:cNvPr id="24" name="Text 21"/>
          <p:cNvSpPr/>
          <p:nvPr/>
        </p:nvSpPr>
        <p:spPr>
          <a:xfrm>
            <a:off x="932617" y="4476036"/>
            <a:ext cx="2898338" cy="377904"/>
          </a:xfrm>
          <a:prstGeom prst="rect">
            <a:avLst/>
          </a:prstGeom>
          <a:noFill/>
          <a:ln/>
        </p:spPr>
        <p:txBody>
          <a:bodyPr wrap="square" lIns="0" tIns="0" rIns="0" bIns="0" rtlCol="0" anchor="t"/>
          <a:lstStyle/>
          <a:p>
            <a:pPr algn="l" indent="0" marL="0">
              <a:lnSpc>
                <a:spcPts val="1450"/>
              </a:lnSpc>
              <a:buNone/>
            </a:pPr>
            <a:r>
              <a:rPr lang="en-US" sz="1050" dirty="0">
                <a:solidFill>
                  <a:srgbClr val="000000"/>
                </a:solidFill>
                <a:latin typeface="Heebo" pitchFamily="34" charset="0"/>
                <a:ea typeface="Heebo" pitchFamily="34" charset="-122"/>
                <a:cs typeface="Heebo" pitchFamily="34" charset="-120"/>
              </a:rPr>
              <a:t>Average time to </a:t>
            </a:r>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identify</a:t>
            </a:r>
            <a:pPr algn="l" indent="0" marL="0">
              <a:lnSpc>
                <a:spcPts val="1450"/>
              </a:lnSpc>
              <a:buNone/>
            </a:pPr>
            <a:r>
              <a:rPr lang="en-US" sz="1050" dirty="0">
                <a:solidFill>
                  <a:srgbClr val="000000"/>
                </a:solidFill>
                <a:latin typeface="Heebo" pitchFamily="34" charset="0"/>
                <a:ea typeface="Heebo" pitchFamily="34" charset="-122"/>
                <a:cs typeface="Heebo" pitchFamily="34" charset="-120"/>
              </a:rPr>
              <a:t> a network intrusion in OT environments</a:t>
            </a:r>
            <a:endParaRPr lang="en-US" sz="1050" dirty="0"/>
          </a:p>
        </p:txBody>
      </p:sp>
      <p:sp>
        <p:nvSpPr>
          <p:cNvPr id="25" name="Shape 22"/>
          <p:cNvSpPr/>
          <p:nvPr/>
        </p:nvSpPr>
        <p:spPr>
          <a:xfrm>
            <a:off x="3969782" y="4023003"/>
            <a:ext cx="3175992" cy="969764"/>
          </a:xfrm>
          <a:prstGeom prst="rect">
            <a:avLst/>
          </a:prstGeom>
          <a:solidFill>
            <a:srgbClr val="F2EEEE"/>
          </a:solidFill>
          <a:ln/>
        </p:spPr>
      </p:sp>
      <p:sp>
        <p:nvSpPr>
          <p:cNvPr id="26" name="Shape 23"/>
          <p:cNvSpPr/>
          <p:nvPr/>
        </p:nvSpPr>
        <p:spPr>
          <a:xfrm>
            <a:off x="3969782" y="4023003"/>
            <a:ext cx="15240" cy="969764"/>
          </a:xfrm>
          <a:prstGeom prst="roundRect">
            <a:avLst>
              <a:gd name="adj" fmla="val 136744"/>
            </a:avLst>
          </a:prstGeom>
          <a:solidFill>
            <a:srgbClr val="D8D4D4"/>
          </a:solidFill>
          <a:ln/>
        </p:spPr>
      </p:sp>
      <p:sp>
        <p:nvSpPr>
          <p:cNvPr id="27" name="Text 24"/>
          <p:cNvSpPr/>
          <p:nvPr/>
        </p:nvSpPr>
        <p:spPr>
          <a:xfrm>
            <a:off x="4108609" y="4161830"/>
            <a:ext cx="1736646" cy="217051"/>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Crimson Pro Semi Bold" pitchFamily="34" charset="0"/>
                <a:ea typeface="Crimson Pro Semi Bold" pitchFamily="34" charset="-122"/>
                <a:cs typeface="Crimson Pro Semi Bold" pitchFamily="34" charset="-120"/>
              </a:rPr>
              <a:t>73 Days</a:t>
            </a:r>
            <a:endParaRPr lang="en-US" sz="1350" dirty="0"/>
          </a:p>
        </p:txBody>
      </p:sp>
      <p:sp>
        <p:nvSpPr>
          <p:cNvPr id="28" name="Text 25"/>
          <p:cNvSpPr/>
          <p:nvPr/>
        </p:nvSpPr>
        <p:spPr>
          <a:xfrm>
            <a:off x="4108609" y="4476036"/>
            <a:ext cx="2898338" cy="188952"/>
          </a:xfrm>
          <a:prstGeom prst="rect">
            <a:avLst/>
          </a:prstGeom>
          <a:noFill/>
          <a:ln/>
        </p:spPr>
        <p:txBody>
          <a:bodyPr wrap="none" lIns="0" tIns="0" rIns="0" bIns="0" rtlCol="0" anchor="t"/>
          <a:lstStyle/>
          <a:p>
            <a:pPr algn="l" indent="0" marL="0">
              <a:lnSpc>
                <a:spcPts val="1450"/>
              </a:lnSpc>
              <a:buNone/>
            </a:pPr>
            <a:r>
              <a:rPr lang="en-US" sz="1050" dirty="0">
                <a:solidFill>
                  <a:srgbClr val="000000"/>
                </a:solidFill>
                <a:latin typeface="Heebo" pitchFamily="34" charset="0"/>
                <a:ea typeface="Heebo" pitchFamily="34" charset="-122"/>
                <a:cs typeface="Heebo" pitchFamily="34" charset="-120"/>
              </a:rPr>
              <a:t>Additional time to fully </a:t>
            </a:r>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contain</a:t>
            </a:r>
            <a:pPr algn="l" indent="0" marL="0">
              <a:lnSpc>
                <a:spcPts val="1450"/>
              </a:lnSpc>
              <a:buNone/>
            </a:pPr>
            <a:r>
              <a:rPr lang="en-US" sz="1050" dirty="0">
                <a:solidFill>
                  <a:srgbClr val="000000"/>
                </a:solidFill>
                <a:latin typeface="Heebo" pitchFamily="34" charset="0"/>
                <a:ea typeface="Heebo" pitchFamily="34" charset="-122"/>
                <a:cs typeface="Heebo" pitchFamily="34" charset="-120"/>
              </a:rPr>
              <a:t> the threat</a:t>
            </a:r>
            <a:endParaRPr lang="en-US" sz="1050" dirty="0"/>
          </a:p>
        </p:txBody>
      </p:sp>
      <p:sp>
        <p:nvSpPr>
          <p:cNvPr id="29" name="Text 26"/>
          <p:cNvSpPr/>
          <p:nvPr/>
        </p:nvSpPr>
        <p:spPr>
          <a:xfrm>
            <a:off x="793790" y="5102066"/>
            <a:ext cx="6351984" cy="302419"/>
          </a:xfrm>
          <a:prstGeom prst="rect">
            <a:avLst/>
          </a:prstGeom>
          <a:noFill/>
          <a:ln/>
        </p:spPr>
        <p:txBody>
          <a:bodyPr wrap="square" lIns="0" tIns="0" rIns="0" bIns="0" rtlCol="0" anchor="t"/>
          <a:lstStyle/>
          <a:p>
            <a:pPr algn="l" indent="0" marL="0">
              <a:lnSpc>
                <a:spcPts val="1150"/>
              </a:lnSpc>
              <a:buNone/>
            </a:pPr>
            <a:r>
              <a:rPr lang="en-US" sz="850" dirty="0">
                <a:solidFill>
                  <a:srgbClr val="000000"/>
                </a:solidFill>
                <a:latin typeface="Heebo" pitchFamily="34" charset="0"/>
                <a:ea typeface="Heebo" pitchFamily="34" charset="-122"/>
                <a:cs typeface="Heebo" pitchFamily="34" charset="-120"/>
              </a:rPr>
              <a:t>This extended dwell time grants adversaries unmitigated access to escalate privileges and exfiltrate sensitive data, exponentially increasing financial impact.</a:t>
            </a:r>
            <a:endParaRPr lang="en-US" sz="850" dirty="0"/>
          </a:p>
        </p:txBody>
      </p:sp>
      <p:sp>
        <p:nvSpPr>
          <p:cNvPr id="30" name="Shape 27"/>
          <p:cNvSpPr/>
          <p:nvPr/>
        </p:nvSpPr>
        <p:spPr>
          <a:xfrm>
            <a:off x="7392233" y="3913703"/>
            <a:ext cx="6552009" cy="1578293"/>
          </a:xfrm>
          <a:prstGeom prst="roundRect">
            <a:avLst>
              <a:gd name="adj" fmla="val 1320"/>
            </a:avLst>
          </a:prstGeom>
          <a:solidFill>
            <a:srgbClr val="00674F"/>
          </a:solidFill>
          <a:ln/>
        </p:spPr>
      </p:sp>
      <p:sp>
        <p:nvSpPr>
          <p:cNvPr id="31" name="Text 28"/>
          <p:cNvSpPr/>
          <p:nvPr/>
        </p:nvSpPr>
        <p:spPr>
          <a:xfrm>
            <a:off x="7531060" y="4010858"/>
            <a:ext cx="1736646" cy="217051"/>
          </a:xfrm>
          <a:prstGeom prst="rect">
            <a:avLst/>
          </a:prstGeom>
          <a:noFill/>
          <a:ln/>
        </p:spPr>
        <p:txBody>
          <a:bodyPr wrap="none" lIns="0" tIns="0" rIns="0" bIns="0" rtlCol="0" anchor="t"/>
          <a:lstStyle/>
          <a:p>
            <a:pPr algn="l" indent="0" marL="0">
              <a:lnSpc>
                <a:spcPts val="1700"/>
              </a:lnSpc>
              <a:buNone/>
            </a:pPr>
            <a:r>
              <a:rPr lang="en-US" sz="1350" dirty="0">
                <a:solidFill>
                  <a:srgbClr val="FFFFFF"/>
                </a:solidFill>
                <a:latin typeface="Crimson Pro Semi Bold" pitchFamily="34" charset="0"/>
                <a:ea typeface="Crimson Pro Semi Bold" pitchFamily="34" charset="-122"/>
                <a:cs typeface="Crimson Pro Semi Bold" pitchFamily="34" charset="-120"/>
              </a:rPr>
              <a:t>Key Financial Metrics</a:t>
            </a:r>
            <a:endParaRPr lang="en-US" sz="1350" dirty="0"/>
          </a:p>
        </p:txBody>
      </p:sp>
      <p:sp>
        <p:nvSpPr>
          <p:cNvPr id="32" name="Text 29"/>
          <p:cNvSpPr/>
          <p:nvPr/>
        </p:nvSpPr>
        <p:spPr>
          <a:xfrm>
            <a:off x="7531060" y="4325064"/>
            <a:ext cx="6274356" cy="188952"/>
          </a:xfrm>
          <a:prstGeom prst="rect">
            <a:avLst/>
          </a:prstGeom>
          <a:noFill/>
          <a:ln/>
        </p:spPr>
        <p:txBody>
          <a:bodyPr wrap="none" lIns="0" tIns="0" rIns="0" bIns="0" rtlCol="0" anchor="t"/>
          <a:lstStyle/>
          <a:p>
            <a:pPr algn="l" indent="0" marL="0">
              <a:lnSpc>
                <a:spcPts val="1450"/>
              </a:lnSpc>
              <a:buNone/>
            </a:pPr>
            <a:r>
              <a:rPr lang="en-US" sz="1050" b="1" dirty="0">
                <a:solidFill>
                  <a:srgbClr val="FFFFFF"/>
                </a:solidFill>
                <a:latin typeface="Heebo" pitchFamily="34" charset="0"/>
                <a:ea typeface="Heebo" pitchFamily="34" charset="-122"/>
                <a:cs typeface="Heebo" pitchFamily="34" charset="-120"/>
              </a:rPr>
              <a:t>Malicious insiders:</a:t>
            </a:r>
            <a:pPr algn="l" indent="0" marL="0">
              <a:lnSpc>
                <a:spcPts val="1450"/>
              </a:lnSpc>
              <a:buNone/>
            </a:pPr>
            <a:r>
              <a:rPr lang="en-US" sz="1050" dirty="0">
                <a:solidFill>
                  <a:srgbClr val="FFFFFF"/>
                </a:solidFill>
                <a:latin typeface="Heebo" pitchFamily="34" charset="0"/>
                <a:ea typeface="Heebo" pitchFamily="34" charset="-122"/>
                <a:cs typeface="Heebo" pitchFamily="34" charset="-120"/>
              </a:rPr>
              <a:t> $4.92M avg. cost — costliest attack vector</a:t>
            </a:r>
            <a:endParaRPr lang="en-US" sz="1050" dirty="0"/>
          </a:p>
        </p:txBody>
      </p:sp>
      <p:sp>
        <p:nvSpPr>
          <p:cNvPr id="33" name="Text 30"/>
          <p:cNvSpPr/>
          <p:nvPr/>
        </p:nvSpPr>
        <p:spPr>
          <a:xfrm>
            <a:off x="7531060" y="4601528"/>
            <a:ext cx="6274356" cy="188952"/>
          </a:xfrm>
          <a:prstGeom prst="rect">
            <a:avLst/>
          </a:prstGeom>
          <a:noFill/>
          <a:ln/>
        </p:spPr>
        <p:txBody>
          <a:bodyPr wrap="none" lIns="0" tIns="0" rIns="0" bIns="0" rtlCol="0" anchor="t"/>
          <a:lstStyle/>
          <a:p>
            <a:pPr algn="l" indent="0" marL="0">
              <a:lnSpc>
                <a:spcPts val="1450"/>
              </a:lnSpc>
              <a:buNone/>
            </a:pPr>
            <a:r>
              <a:rPr lang="en-US" sz="1050" b="1" dirty="0">
                <a:solidFill>
                  <a:srgbClr val="FFFFFF"/>
                </a:solidFill>
                <a:latin typeface="Heebo" pitchFamily="34" charset="0"/>
                <a:ea typeface="Heebo" pitchFamily="34" charset="-122"/>
                <a:cs typeface="Heebo" pitchFamily="34" charset="-120"/>
              </a:rPr>
              <a:t>Skills shortage penalty:</a:t>
            </a:r>
            <a:pPr algn="l" indent="0" marL="0">
              <a:lnSpc>
                <a:spcPts val="1450"/>
              </a:lnSpc>
              <a:buNone/>
            </a:pPr>
            <a:r>
              <a:rPr lang="en-US" sz="1050" dirty="0">
                <a:solidFill>
                  <a:srgbClr val="FFFFFF"/>
                </a:solidFill>
                <a:latin typeface="Heebo" pitchFamily="34" charset="0"/>
                <a:ea typeface="Heebo" pitchFamily="34" charset="-122"/>
                <a:cs typeface="Heebo" pitchFamily="34" charset="-120"/>
              </a:rPr>
              <a:t> $5.22M vs. $3.65M for fully staffed orgs</a:t>
            </a:r>
            <a:endParaRPr lang="en-US" sz="1050" dirty="0"/>
          </a:p>
        </p:txBody>
      </p:sp>
      <p:sp>
        <p:nvSpPr>
          <p:cNvPr id="34" name="Text 31"/>
          <p:cNvSpPr/>
          <p:nvPr/>
        </p:nvSpPr>
        <p:spPr>
          <a:xfrm>
            <a:off x="7531060" y="4877991"/>
            <a:ext cx="6274356" cy="188952"/>
          </a:xfrm>
          <a:prstGeom prst="rect">
            <a:avLst/>
          </a:prstGeom>
          <a:noFill/>
          <a:ln/>
        </p:spPr>
        <p:txBody>
          <a:bodyPr wrap="none" lIns="0" tIns="0" rIns="0" bIns="0" rtlCol="0" anchor="t"/>
          <a:lstStyle/>
          <a:p>
            <a:pPr algn="l" indent="0" marL="0">
              <a:lnSpc>
                <a:spcPts val="1450"/>
              </a:lnSpc>
              <a:buNone/>
            </a:pPr>
            <a:r>
              <a:rPr lang="en-US" sz="1050" b="1" dirty="0">
                <a:solidFill>
                  <a:srgbClr val="FFFFFF"/>
                </a:solidFill>
                <a:latin typeface="Heebo" pitchFamily="34" charset="0"/>
                <a:ea typeface="Heebo" pitchFamily="34" charset="-122"/>
                <a:cs typeface="Heebo" pitchFamily="34" charset="-120"/>
              </a:rPr>
              <a:t>Shadow AI liability:</a:t>
            </a:r>
            <a:pPr algn="l" indent="0" marL="0">
              <a:lnSpc>
                <a:spcPts val="1450"/>
              </a:lnSpc>
              <a:buNone/>
            </a:pPr>
            <a:r>
              <a:rPr lang="en-US" sz="1050" dirty="0">
                <a:solidFill>
                  <a:srgbClr val="FFFFFF"/>
                </a:solidFill>
                <a:latin typeface="Heebo" pitchFamily="34" charset="0"/>
                <a:ea typeface="Heebo" pitchFamily="34" charset="-122"/>
                <a:cs typeface="Heebo" pitchFamily="34" charset="-120"/>
              </a:rPr>
              <a:t> +$670K added per breach</a:t>
            </a:r>
            <a:endParaRPr lang="en-US" sz="1050" dirty="0"/>
          </a:p>
        </p:txBody>
      </p:sp>
      <p:sp>
        <p:nvSpPr>
          <p:cNvPr id="35" name="Text 32"/>
          <p:cNvSpPr/>
          <p:nvPr/>
        </p:nvSpPr>
        <p:spPr>
          <a:xfrm>
            <a:off x="7531060" y="5154454"/>
            <a:ext cx="6274356" cy="188952"/>
          </a:xfrm>
          <a:prstGeom prst="rect">
            <a:avLst/>
          </a:prstGeom>
          <a:noFill/>
          <a:ln/>
        </p:spPr>
        <p:txBody>
          <a:bodyPr wrap="none" lIns="0" tIns="0" rIns="0" bIns="0" rtlCol="0" anchor="t"/>
          <a:lstStyle/>
          <a:p>
            <a:pPr algn="l" indent="0" marL="0">
              <a:lnSpc>
                <a:spcPts val="1450"/>
              </a:lnSpc>
              <a:buNone/>
            </a:pPr>
            <a:r>
              <a:rPr lang="en-US" sz="1050" b="1" dirty="0">
                <a:solidFill>
                  <a:srgbClr val="FFFFFF"/>
                </a:solidFill>
                <a:latin typeface="Heebo" pitchFamily="34" charset="0"/>
                <a:ea typeface="Heebo" pitchFamily="34" charset="-122"/>
                <a:cs typeface="Heebo" pitchFamily="34" charset="-120"/>
              </a:rPr>
              <a:t>AI-automated defense savings:</a:t>
            </a:r>
            <a:pPr algn="l" indent="0" marL="0">
              <a:lnSpc>
                <a:spcPts val="1450"/>
              </a:lnSpc>
              <a:buNone/>
            </a:pPr>
            <a:r>
              <a:rPr lang="en-US" sz="1050" dirty="0">
                <a:solidFill>
                  <a:srgbClr val="FFFFFF"/>
                </a:solidFill>
                <a:latin typeface="Heebo" pitchFamily="34" charset="0"/>
                <a:ea typeface="Heebo" pitchFamily="34" charset="-122"/>
                <a:cs typeface="Heebo" pitchFamily="34" charset="-120"/>
              </a:rPr>
              <a:t> $1.9M saved per breach</a:t>
            </a:r>
            <a:endParaRPr lang="en-US" sz="1050" dirty="0"/>
          </a:p>
        </p:txBody>
      </p:sp>
      <p:sp>
        <p:nvSpPr>
          <p:cNvPr id="36" name="Text 33"/>
          <p:cNvSpPr/>
          <p:nvPr/>
        </p:nvSpPr>
        <p:spPr>
          <a:xfrm>
            <a:off x="793790" y="5637848"/>
            <a:ext cx="3312438" cy="347305"/>
          </a:xfrm>
          <a:prstGeom prst="rect">
            <a:avLst/>
          </a:prstGeom>
          <a:noFill/>
          <a:ln/>
        </p:spPr>
        <p:txBody>
          <a:bodyPr wrap="none" lIns="0" tIns="0" rIns="0" bIns="0" rtlCol="0" anchor="t"/>
          <a:lstStyle/>
          <a:p>
            <a:pPr algn="l" indent="0" marL="0">
              <a:lnSpc>
                <a:spcPts val="2700"/>
              </a:lnSpc>
              <a:buNone/>
            </a:pPr>
            <a:r>
              <a:rPr lang="en-US" sz="2150" dirty="0">
                <a:solidFill>
                  <a:srgbClr val="00674F"/>
                </a:solidFill>
                <a:latin typeface="Crimson Pro Semi Bold" pitchFamily="34" charset="0"/>
                <a:ea typeface="Crimson Pro Semi Bold" pitchFamily="34" charset="-122"/>
                <a:cs typeface="Crimson Pro Semi Bold" pitchFamily="34" charset="-120"/>
              </a:rPr>
              <a:t>Cost Breakdown by Category</a:t>
            </a:r>
            <a:endParaRPr lang="en-US" sz="2150" dirty="0"/>
          </a:p>
        </p:txBody>
      </p:sp>
      <p:sp>
        <p:nvSpPr>
          <p:cNvPr id="37" name="Shape 34"/>
          <p:cNvSpPr/>
          <p:nvPr/>
        </p:nvSpPr>
        <p:spPr>
          <a:xfrm>
            <a:off x="793790" y="6131004"/>
            <a:ext cx="13042821" cy="1298734"/>
          </a:xfrm>
          <a:prstGeom prst="roundRect">
            <a:avLst>
              <a:gd name="adj" fmla="val 1605"/>
            </a:avLst>
          </a:prstGeom>
          <a:noFill/>
          <a:ln w="7620">
            <a:solidFill>
              <a:srgbClr val="000000">
                <a:alpha val="8000"/>
              </a:srgbClr>
            </a:solidFill>
            <a:prstDash val="solid"/>
          </a:ln>
        </p:spPr>
      </p:sp>
      <p:sp>
        <p:nvSpPr>
          <p:cNvPr id="38" name="Shape 35"/>
          <p:cNvSpPr/>
          <p:nvPr/>
        </p:nvSpPr>
        <p:spPr>
          <a:xfrm>
            <a:off x="801410" y="6138624"/>
            <a:ext cx="13027581" cy="320873"/>
          </a:xfrm>
          <a:prstGeom prst="rect">
            <a:avLst/>
          </a:prstGeom>
          <a:solidFill>
            <a:srgbClr val="FFFFFF">
              <a:alpha val="4000"/>
            </a:srgbClr>
          </a:solidFill>
          <a:ln/>
        </p:spPr>
      </p:sp>
      <p:sp>
        <p:nvSpPr>
          <p:cNvPr id="39" name="Text 36"/>
          <p:cNvSpPr/>
          <p:nvPr/>
        </p:nvSpPr>
        <p:spPr>
          <a:xfrm>
            <a:off x="940356" y="6204585"/>
            <a:ext cx="2584490" cy="188952"/>
          </a:xfrm>
          <a:prstGeom prst="rect">
            <a:avLst/>
          </a:prstGeom>
          <a:noFill/>
          <a:ln/>
        </p:spPr>
        <p:txBody>
          <a:bodyPr wrap="none" lIns="0" tIns="0" rIns="0" bIns="0" rtlCol="0" anchor="t"/>
          <a:lstStyle/>
          <a:p>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Detection &amp; Escalation</a:t>
            </a:r>
            <a:endParaRPr lang="en-US" sz="1050" dirty="0"/>
          </a:p>
        </p:txBody>
      </p:sp>
      <p:sp>
        <p:nvSpPr>
          <p:cNvPr id="40" name="Text 37"/>
          <p:cNvSpPr/>
          <p:nvPr/>
        </p:nvSpPr>
        <p:spPr>
          <a:xfrm>
            <a:off x="3810119" y="6204585"/>
            <a:ext cx="9880044" cy="188952"/>
          </a:xfrm>
          <a:prstGeom prst="rect">
            <a:avLst/>
          </a:prstGeom>
          <a:noFill/>
          <a:ln/>
        </p:spPr>
        <p:txBody>
          <a:bodyPr wrap="none" lIns="0" tIns="0" rIns="0" bIns="0" rtlCol="0" anchor="t"/>
          <a:lstStyle/>
          <a:p>
            <a:pPr algn="l" indent="0" marL="0">
              <a:lnSpc>
                <a:spcPts val="1450"/>
              </a:lnSpc>
              <a:buNone/>
            </a:pPr>
            <a:r>
              <a:rPr lang="en-US" sz="1050" dirty="0">
                <a:solidFill>
                  <a:srgbClr val="000000"/>
                </a:solidFill>
                <a:latin typeface="Heebo" pitchFamily="34" charset="0"/>
                <a:ea typeface="Heebo" pitchFamily="34" charset="-122"/>
                <a:cs typeface="Heebo" pitchFamily="34" charset="-120"/>
              </a:rPr>
              <a:t>Specialized ICS forensic experts, board-level crisis management, physical response teams deployed to remote substations to secure air-gapped systems</a:t>
            </a:r>
            <a:endParaRPr lang="en-US" sz="1050" dirty="0"/>
          </a:p>
        </p:txBody>
      </p:sp>
      <p:sp>
        <p:nvSpPr>
          <p:cNvPr id="41" name="Shape 38"/>
          <p:cNvSpPr/>
          <p:nvPr/>
        </p:nvSpPr>
        <p:spPr>
          <a:xfrm>
            <a:off x="801410" y="6459498"/>
            <a:ext cx="13027581" cy="320873"/>
          </a:xfrm>
          <a:prstGeom prst="rect">
            <a:avLst/>
          </a:prstGeom>
          <a:solidFill>
            <a:srgbClr val="000000">
              <a:alpha val="4000"/>
            </a:srgbClr>
          </a:solidFill>
          <a:ln/>
        </p:spPr>
      </p:sp>
      <p:sp>
        <p:nvSpPr>
          <p:cNvPr id="42" name="Text 39"/>
          <p:cNvSpPr/>
          <p:nvPr/>
        </p:nvSpPr>
        <p:spPr>
          <a:xfrm>
            <a:off x="940356" y="6525458"/>
            <a:ext cx="2584490" cy="188952"/>
          </a:xfrm>
          <a:prstGeom prst="rect">
            <a:avLst/>
          </a:prstGeom>
          <a:noFill/>
          <a:ln/>
        </p:spPr>
        <p:txBody>
          <a:bodyPr wrap="none" lIns="0" tIns="0" rIns="0" bIns="0" rtlCol="0" anchor="t"/>
          <a:lstStyle/>
          <a:p>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Notification</a:t>
            </a:r>
            <a:endParaRPr lang="en-US" sz="1050" dirty="0"/>
          </a:p>
        </p:txBody>
      </p:sp>
      <p:sp>
        <p:nvSpPr>
          <p:cNvPr id="43" name="Text 40"/>
          <p:cNvSpPr/>
          <p:nvPr/>
        </p:nvSpPr>
        <p:spPr>
          <a:xfrm>
            <a:off x="3810119" y="6525458"/>
            <a:ext cx="9880044" cy="188952"/>
          </a:xfrm>
          <a:prstGeom prst="rect">
            <a:avLst/>
          </a:prstGeom>
          <a:noFill/>
          <a:ln/>
        </p:spPr>
        <p:txBody>
          <a:bodyPr wrap="none" lIns="0" tIns="0" rIns="0" bIns="0" rtlCol="0" anchor="t"/>
          <a:lstStyle/>
          <a:p>
            <a:pPr algn="l" indent="0" marL="0">
              <a:lnSpc>
                <a:spcPts val="1450"/>
              </a:lnSpc>
              <a:buNone/>
            </a:pPr>
            <a:r>
              <a:rPr lang="en-US" sz="1050" dirty="0">
                <a:solidFill>
                  <a:srgbClr val="000000"/>
                </a:solidFill>
                <a:latin typeface="Heebo" pitchFamily="34" charset="0"/>
                <a:ea typeface="Heebo" pitchFamily="34" charset="-122"/>
                <a:cs typeface="Heebo" pitchFamily="34" charset="-120"/>
              </a:rPr>
              <a:t>NIS2 and GDPR compliance — specialized legal counsel for cross-border regulatory disclosures within rigid 24-hour and 72-hour reporting windows</a:t>
            </a:r>
            <a:endParaRPr lang="en-US" sz="1050" dirty="0"/>
          </a:p>
        </p:txBody>
      </p:sp>
      <p:sp>
        <p:nvSpPr>
          <p:cNvPr id="44" name="Shape 41"/>
          <p:cNvSpPr/>
          <p:nvPr/>
        </p:nvSpPr>
        <p:spPr>
          <a:xfrm>
            <a:off x="801410" y="6780371"/>
            <a:ext cx="13027581" cy="320873"/>
          </a:xfrm>
          <a:prstGeom prst="rect">
            <a:avLst/>
          </a:prstGeom>
          <a:solidFill>
            <a:srgbClr val="FFFFFF">
              <a:alpha val="4000"/>
            </a:srgbClr>
          </a:solidFill>
          <a:ln/>
        </p:spPr>
      </p:sp>
      <p:sp>
        <p:nvSpPr>
          <p:cNvPr id="45" name="Text 42"/>
          <p:cNvSpPr/>
          <p:nvPr/>
        </p:nvSpPr>
        <p:spPr>
          <a:xfrm>
            <a:off x="940356" y="6846332"/>
            <a:ext cx="2584490" cy="188952"/>
          </a:xfrm>
          <a:prstGeom prst="rect">
            <a:avLst/>
          </a:prstGeom>
          <a:noFill/>
          <a:ln/>
        </p:spPr>
        <p:txBody>
          <a:bodyPr wrap="none" lIns="0" tIns="0" rIns="0" bIns="0" rtlCol="0" anchor="t"/>
          <a:lstStyle/>
          <a:p>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Post-Breach Response</a:t>
            </a:r>
            <a:endParaRPr lang="en-US" sz="1050" dirty="0"/>
          </a:p>
        </p:txBody>
      </p:sp>
      <p:sp>
        <p:nvSpPr>
          <p:cNvPr id="46" name="Text 43"/>
          <p:cNvSpPr/>
          <p:nvPr/>
        </p:nvSpPr>
        <p:spPr>
          <a:xfrm>
            <a:off x="3810119" y="6846332"/>
            <a:ext cx="9880044" cy="188952"/>
          </a:xfrm>
          <a:prstGeom prst="rect">
            <a:avLst/>
          </a:prstGeom>
          <a:noFill/>
          <a:ln/>
        </p:spPr>
        <p:txBody>
          <a:bodyPr wrap="none" lIns="0" tIns="0" rIns="0" bIns="0" rtlCol="0" anchor="t"/>
          <a:lstStyle/>
          <a:p>
            <a:pPr algn="l" indent="0" marL="0">
              <a:lnSpc>
                <a:spcPts val="1450"/>
              </a:lnSpc>
              <a:buNone/>
            </a:pPr>
            <a:r>
              <a:rPr lang="en-US" sz="1050" dirty="0">
                <a:solidFill>
                  <a:srgbClr val="000000"/>
                </a:solidFill>
                <a:latin typeface="Heebo" pitchFamily="34" charset="0"/>
                <a:ea typeface="Heebo" pitchFamily="34" charset="-122"/>
                <a:cs typeface="Heebo" pitchFamily="34" charset="-120"/>
              </a:rPr>
              <a:t>Heaviest burden: rebuilding corrupted OT architecture, identity protection, regulatory fines (NERC CIP penalties up to </a:t>
            </a:r>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$1M/day/violation</a:t>
            </a:r>
            <a:pPr algn="l" indent="0" marL="0">
              <a:lnSpc>
                <a:spcPts val="1450"/>
              </a:lnSpc>
              <a:buNone/>
            </a:pPr>
            <a:r>
              <a:rPr lang="en-US" sz="1050" dirty="0">
                <a:solidFill>
                  <a:srgbClr val="000000"/>
                </a:solidFill>
                <a:latin typeface="Heebo" pitchFamily="34" charset="0"/>
                <a:ea typeface="Heebo" pitchFamily="34" charset="-122"/>
                <a:cs typeface="Heebo" pitchFamily="34" charset="-120"/>
              </a:rPr>
              <a:t>)</a:t>
            </a:r>
            <a:endParaRPr lang="en-US" sz="1050" dirty="0"/>
          </a:p>
        </p:txBody>
      </p:sp>
      <p:sp>
        <p:nvSpPr>
          <p:cNvPr id="47" name="Shape 44"/>
          <p:cNvSpPr/>
          <p:nvPr/>
        </p:nvSpPr>
        <p:spPr>
          <a:xfrm>
            <a:off x="801410" y="7101245"/>
            <a:ext cx="13027581" cy="320873"/>
          </a:xfrm>
          <a:prstGeom prst="rect">
            <a:avLst/>
          </a:prstGeom>
          <a:solidFill>
            <a:srgbClr val="000000">
              <a:alpha val="4000"/>
            </a:srgbClr>
          </a:solidFill>
          <a:ln/>
        </p:spPr>
      </p:sp>
      <p:sp>
        <p:nvSpPr>
          <p:cNvPr id="48" name="Text 45"/>
          <p:cNvSpPr/>
          <p:nvPr/>
        </p:nvSpPr>
        <p:spPr>
          <a:xfrm>
            <a:off x="940356" y="7167205"/>
            <a:ext cx="2584490" cy="188952"/>
          </a:xfrm>
          <a:prstGeom prst="rect">
            <a:avLst/>
          </a:prstGeom>
          <a:noFill/>
          <a:ln/>
        </p:spPr>
        <p:txBody>
          <a:bodyPr wrap="none" lIns="0" tIns="0" rIns="0" bIns="0" rtlCol="0" anchor="t"/>
          <a:lstStyle/>
          <a:p>
            <a:pPr algn="l" indent="0" marL="0">
              <a:lnSpc>
                <a:spcPts val="1450"/>
              </a:lnSpc>
              <a:buNone/>
            </a:pPr>
            <a:r>
              <a:rPr lang="en-US" sz="1050" b="1" dirty="0">
                <a:solidFill>
                  <a:srgbClr val="000000"/>
                </a:solidFill>
                <a:latin typeface="Heebo" pitchFamily="34" charset="0"/>
                <a:ea typeface="Heebo" pitchFamily="34" charset="-122"/>
                <a:cs typeface="Heebo" pitchFamily="34" charset="-120"/>
              </a:rPr>
              <a:t>Lost Business</a:t>
            </a:r>
            <a:endParaRPr lang="en-US" sz="1050" dirty="0"/>
          </a:p>
        </p:txBody>
      </p:sp>
      <p:sp>
        <p:nvSpPr>
          <p:cNvPr id="49" name="Text 46"/>
          <p:cNvSpPr/>
          <p:nvPr/>
        </p:nvSpPr>
        <p:spPr>
          <a:xfrm>
            <a:off x="3810119" y="7167205"/>
            <a:ext cx="9880044" cy="188952"/>
          </a:xfrm>
          <a:prstGeom prst="rect">
            <a:avLst/>
          </a:prstGeom>
          <a:noFill/>
          <a:ln/>
        </p:spPr>
        <p:txBody>
          <a:bodyPr wrap="none" lIns="0" tIns="0" rIns="0" bIns="0" rtlCol="0" anchor="t"/>
          <a:lstStyle/>
          <a:p>
            <a:pPr algn="l" indent="0" marL="0">
              <a:lnSpc>
                <a:spcPts val="1450"/>
              </a:lnSpc>
              <a:buNone/>
            </a:pPr>
            <a:r>
              <a:rPr lang="en-US" sz="1050" dirty="0">
                <a:solidFill>
                  <a:srgbClr val="000000"/>
                </a:solidFill>
                <a:latin typeface="Heebo" pitchFamily="34" charset="0"/>
                <a:ea typeface="Heebo" pitchFamily="34" charset="-122"/>
                <a:cs typeface="Heebo" pitchFamily="34" charset="-120"/>
              </a:rPr>
              <a:t>86% of breached orgs experience physical operational disruption — revenue loss during downtime, reputational destruction, customer churn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22233" y="666869"/>
            <a:ext cx="773906" cy="189786"/>
          </a:xfrm>
          <a:prstGeom prst="roundRect">
            <a:avLst>
              <a:gd name="adj" fmla="val 7422"/>
            </a:avLst>
          </a:prstGeom>
          <a:solidFill>
            <a:srgbClr val="CCFFF3"/>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2599" y="714851"/>
            <a:ext cx="93821" cy="93821"/>
          </a:xfrm>
          <a:prstGeom prst="rect">
            <a:avLst/>
          </a:prstGeom>
        </p:spPr>
      </p:pic>
      <p:sp>
        <p:nvSpPr>
          <p:cNvPr id="4" name="Text 1"/>
          <p:cNvSpPr/>
          <p:nvPr/>
        </p:nvSpPr>
        <p:spPr>
          <a:xfrm>
            <a:off x="933331" y="701993"/>
            <a:ext cx="492443" cy="119539"/>
          </a:xfrm>
          <a:prstGeom prst="rect">
            <a:avLst/>
          </a:prstGeom>
          <a:noFill/>
          <a:ln/>
        </p:spPr>
        <p:txBody>
          <a:bodyPr wrap="none" lIns="0" tIns="0" rIns="0" bIns="0" rtlCol="0" anchor="t"/>
          <a:lstStyle/>
          <a:p>
            <a:pPr algn="l" indent="0" marL="0">
              <a:lnSpc>
                <a:spcPts val="900"/>
              </a:lnSpc>
              <a:buNone/>
            </a:pPr>
            <a:r>
              <a:rPr lang="en-US" sz="700" dirty="0">
                <a:solidFill>
                  <a:srgbClr val="000000"/>
                </a:solidFill>
                <a:latin typeface="Heebo" pitchFamily="34" charset="0"/>
                <a:ea typeface="Heebo" pitchFamily="34" charset="-122"/>
                <a:cs typeface="Heebo" pitchFamily="34" charset="-120"/>
              </a:rPr>
              <a:t>CHAPTER 3</a:t>
            </a:r>
            <a:endParaRPr lang="en-US" sz="700" dirty="0"/>
          </a:p>
        </p:txBody>
      </p:sp>
      <p:sp>
        <p:nvSpPr>
          <p:cNvPr id="5" name="Text 2"/>
          <p:cNvSpPr/>
          <p:nvPr/>
        </p:nvSpPr>
        <p:spPr>
          <a:xfrm>
            <a:off x="1554718" y="701993"/>
            <a:ext cx="1087517" cy="119539"/>
          </a:xfrm>
          <a:prstGeom prst="rect">
            <a:avLst/>
          </a:prstGeom>
          <a:noFill/>
          <a:ln/>
        </p:spPr>
        <p:txBody>
          <a:bodyPr wrap="none" lIns="0" tIns="0" rIns="0" bIns="0" rtlCol="0" anchor="t"/>
          <a:lstStyle/>
          <a:p>
            <a:pPr algn="l" indent="0" marL="0">
              <a:lnSpc>
                <a:spcPts val="900"/>
              </a:lnSpc>
              <a:buNone/>
            </a:pPr>
            <a:r>
              <a:rPr lang="en-US" sz="700" dirty="0">
                <a:solidFill>
                  <a:srgbClr val="00674F"/>
                </a:solidFill>
                <a:latin typeface="Heebo" pitchFamily="34" charset="0"/>
                <a:ea typeface="Heebo" pitchFamily="34" charset="-122"/>
                <a:cs typeface="Heebo" pitchFamily="34" charset="-120"/>
              </a:rPr>
              <a:t>WORST-CASE SCENARIOS</a:t>
            </a:r>
            <a:endParaRPr lang="en-US" sz="700" dirty="0"/>
          </a:p>
        </p:txBody>
      </p:sp>
      <p:sp>
        <p:nvSpPr>
          <p:cNvPr id="6" name="Text 3"/>
          <p:cNvSpPr/>
          <p:nvPr/>
        </p:nvSpPr>
        <p:spPr>
          <a:xfrm>
            <a:off x="722233" y="884396"/>
            <a:ext cx="6829782" cy="366832"/>
          </a:xfrm>
          <a:prstGeom prst="rect">
            <a:avLst/>
          </a:prstGeom>
          <a:noFill/>
          <a:ln/>
        </p:spPr>
        <p:txBody>
          <a:bodyPr wrap="none" lIns="0" tIns="0" rIns="0" bIns="0" rtlCol="0" anchor="t"/>
          <a:lstStyle/>
          <a:p>
            <a:pPr algn="l" indent="0" marL="0">
              <a:lnSpc>
                <a:spcPts val="2850"/>
              </a:lnSpc>
              <a:buNone/>
            </a:pPr>
            <a:r>
              <a:rPr lang="en-US" sz="2300" dirty="0">
                <a:solidFill>
                  <a:srgbClr val="00674F"/>
                </a:solidFill>
                <a:latin typeface="Crimson Pro Semi Bold" pitchFamily="34" charset="0"/>
                <a:ea typeface="Crimson Pro Semi Bold" pitchFamily="34" charset="-122"/>
                <a:cs typeface="Crimson Pro Semi Bold" pitchFamily="34" charset="-120"/>
              </a:rPr>
              <a:t>Financial Impact: Catastrophic Cyber Incident Scenarios</a:t>
            </a:r>
            <a:endParaRPr lang="en-US" sz="2300" dirty="0"/>
          </a:p>
        </p:txBody>
      </p:sp>
      <p:sp>
        <p:nvSpPr>
          <p:cNvPr id="7" name="Text 4"/>
          <p:cNvSpPr/>
          <p:nvPr/>
        </p:nvSpPr>
        <p:spPr>
          <a:xfrm>
            <a:off x="722233" y="1355288"/>
            <a:ext cx="13185934"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The true threat profile of the utilities sector is defined by exposure to catastrophic, worst-case scenarios. Because power, water, and telecommunications are the foundational bedrock of all economic activity, severe utility compromises generate </a:t>
            </a:r>
            <a:pPr algn="l" indent="0" marL="0">
              <a:lnSpc>
                <a:spcPts val="1150"/>
              </a:lnSpc>
              <a:buNone/>
            </a:pPr>
            <a:r>
              <a:rPr lang="en-US" sz="900" b="1" dirty="0">
                <a:solidFill>
                  <a:srgbClr val="000000"/>
                </a:solidFill>
                <a:latin typeface="Heebo" pitchFamily="34" charset="0"/>
                <a:ea typeface="Heebo" pitchFamily="34" charset="-122"/>
                <a:cs typeface="Heebo" pitchFamily="34" charset="-120"/>
              </a:rPr>
              <a:t>massive macroeconomic shocks</a:t>
            </a:r>
            <a:pPr algn="l" indent="0" marL="0">
              <a:lnSpc>
                <a:spcPts val="1150"/>
              </a:lnSpc>
              <a:buNone/>
            </a:pPr>
            <a:r>
              <a:rPr lang="en-US" sz="900" dirty="0">
                <a:solidFill>
                  <a:srgbClr val="000000"/>
                </a:solidFill>
                <a:latin typeface="Heebo" pitchFamily="34" charset="0"/>
                <a:ea typeface="Heebo" pitchFamily="34" charset="-122"/>
                <a:cs typeface="Heebo" pitchFamily="34" charset="-120"/>
              </a:rPr>
              <a:t>.</a:t>
            </a:r>
            <a:endParaRPr lang="en-US" sz="900" dirty="0"/>
          </a:p>
        </p:txBody>
      </p:sp>
      <p:sp>
        <p:nvSpPr>
          <p:cNvPr id="8" name="Shape 5"/>
          <p:cNvSpPr/>
          <p:nvPr/>
        </p:nvSpPr>
        <p:spPr>
          <a:xfrm>
            <a:off x="722233" y="1732121"/>
            <a:ext cx="4348996" cy="758309"/>
          </a:xfrm>
          <a:prstGeom prst="roundRect">
            <a:avLst>
              <a:gd name="adj" fmla="val 37150"/>
            </a:avLst>
          </a:prstGeom>
          <a:solidFill>
            <a:srgbClr val="F2EEEE"/>
          </a:solidFill>
          <a:ln/>
        </p:spPr>
      </p:sp>
      <p:sp>
        <p:nvSpPr>
          <p:cNvPr id="9" name="Text 6"/>
          <p:cNvSpPr/>
          <p:nvPr/>
        </p:nvSpPr>
        <p:spPr>
          <a:xfrm>
            <a:off x="839510" y="1849398"/>
            <a:ext cx="1467207"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$300B+</a:t>
            </a:r>
            <a:endParaRPr lang="en-US" sz="1150" dirty="0"/>
          </a:p>
        </p:txBody>
      </p:sp>
      <p:sp>
        <p:nvSpPr>
          <p:cNvPr id="10" name="Text 7"/>
          <p:cNvSpPr/>
          <p:nvPr/>
        </p:nvSpPr>
        <p:spPr>
          <a:xfrm>
            <a:off x="839510" y="2074307"/>
            <a:ext cx="4114443"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Total modeled financial impact from a severe, coordinated cyber event targeting global OT</a:t>
            </a:r>
            <a:endParaRPr lang="en-US" sz="900" dirty="0"/>
          </a:p>
        </p:txBody>
      </p:sp>
      <p:sp>
        <p:nvSpPr>
          <p:cNvPr id="11" name="Shape 8"/>
          <p:cNvSpPr/>
          <p:nvPr/>
        </p:nvSpPr>
        <p:spPr>
          <a:xfrm>
            <a:off x="5140643" y="1732121"/>
            <a:ext cx="4348996" cy="758309"/>
          </a:xfrm>
          <a:prstGeom prst="roundRect">
            <a:avLst>
              <a:gd name="adj" fmla="val 37150"/>
            </a:avLst>
          </a:prstGeom>
          <a:solidFill>
            <a:srgbClr val="F2EEEE"/>
          </a:solidFill>
          <a:ln/>
        </p:spPr>
      </p:sp>
      <p:sp>
        <p:nvSpPr>
          <p:cNvPr id="12" name="Text 9"/>
          <p:cNvSpPr/>
          <p:nvPr/>
        </p:nvSpPr>
        <p:spPr>
          <a:xfrm>
            <a:off x="5257919" y="1849398"/>
            <a:ext cx="1467207"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$172B+</a:t>
            </a:r>
            <a:endParaRPr lang="en-US" sz="1150" dirty="0"/>
          </a:p>
        </p:txBody>
      </p:sp>
      <p:sp>
        <p:nvSpPr>
          <p:cNvPr id="13" name="Text 10"/>
          <p:cNvSpPr/>
          <p:nvPr/>
        </p:nvSpPr>
        <p:spPr>
          <a:xfrm>
            <a:off x="5257919" y="2074307"/>
            <a:ext cx="4114443"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Direct business interruption costs from cascading supply chain failures and systemic paralysis</a:t>
            </a:r>
            <a:endParaRPr lang="en-US" sz="900" dirty="0"/>
          </a:p>
        </p:txBody>
      </p:sp>
      <p:sp>
        <p:nvSpPr>
          <p:cNvPr id="14" name="Shape 11"/>
          <p:cNvSpPr/>
          <p:nvPr/>
        </p:nvSpPr>
        <p:spPr>
          <a:xfrm>
            <a:off x="9559052" y="1732121"/>
            <a:ext cx="4349115" cy="758309"/>
          </a:xfrm>
          <a:prstGeom prst="roundRect">
            <a:avLst>
              <a:gd name="adj" fmla="val 37150"/>
            </a:avLst>
          </a:prstGeom>
          <a:solidFill>
            <a:srgbClr val="F2EEEE"/>
          </a:solidFill>
          <a:ln/>
        </p:spPr>
      </p:sp>
      <p:sp>
        <p:nvSpPr>
          <p:cNvPr id="15" name="Text 12"/>
          <p:cNvSpPr/>
          <p:nvPr/>
        </p:nvSpPr>
        <p:spPr>
          <a:xfrm>
            <a:off x="9676328" y="1849398"/>
            <a:ext cx="1467207"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$43.5B/Day</a:t>
            </a:r>
            <a:endParaRPr lang="en-US" sz="1150" dirty="0"/>
          </a:p>
        </p:txBody>
      </p:sp>
      <p:sp>
        <p:nvSpPr>
          <p:cNvPr id="16" name="Text 13"/>
          <p:cNvSpPr/>
          <p:nvPr/>
        </p:nvSpPr>
        <p:spPr>
          <a:xfrm>
            <a:off x="9676328" y="2074307"/>
            <a:ext cx="4114562" cy="149423"/>
          </a:xfrm>
          <a:prstGeom prst="rect">
            <a:avLst/>
          </a:prstGeom>
          <a:noFill/>
          <a:ln/>
        </p:spPr>
        <p:txBody>
          <a:bodyPr wrap="non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U.S. economic activity jeopardized by a single day of disrupted water service</a:t>
            </a:r>
            <a:endParaRPr lang="en-US" sz="900" dirty="0"/>
          </a:p>
        </p:txBody>
      </p:sp>
      <p:sp>
        <p:nvSpPr>
          <p:cNvPr id="17" name="Text 14"/>
          <p:cNvSpPr/>
          <p:nvPr/>
        </p:nvSpPr>
        <p:spPr>
          <a:xfrm>
            <a:off x="722233" y="2594491"/>
            <a:ext cx="3160514" cy="293489"/>
          </a:xfrm>
          <a:prstGeom prst="rect">
            <a:avLst/>
          </a:prstGeom>
          <a:noFill/>
          <a:ln/>
        </p:spPr>
        <p:txBody>
          <a:bodyPr wrap="none" lIns="0" tIns="0" rIns="0" bIns="0" rtlCol="0" anchor="t"/>
          <a:lstStyle/>
          <a:p>
            <a:pPr algn="l" indent="0" marL="0">
              <a:lnSpc>
                <a:spcPts val="2300"/>
              </a:lnSpc>
              <a:buNone/>
            </a:pPr>
            <a:r>
              <a:rPr lang="en-US" sz="1800" dirty="0">
                <a:solidFill>
                  <a:srgbClr val="00674F"/>
                </a:solidFill>
                <a:latin typeface="Crimson Pro Semi Bold" pitchFamily="34" charset="0"/>
                <a:ea typeface="Crimson Pro Semi Bold" pitchFamily="34" charset="-122"/>
                <a:cs typeface="Crimson Pro Semi Bold" pitchFamily="34" charset="-120"/>
              </a:rPr>
              <a:t>Supply Chain Cascading Failures</a:t>
            </a:r>
            <a:endParaRPr lang="en-US" sz="1800" dirty="0"/>
          </a:p>
        </p:txBody>
      </p:sp>
      <p:sp>
        <p:nvSpPr>
          <p:cNvPr id="18" name="Text 15"/>
          <p:cNvSpPr/>
          <p:nvPr/>
        </p:nvSpPr>
        <p:spPr>
          <a:xfrm>
            <a:off x="722233" y="3054429"/>
            <a:ext cx="7797046" cy="448270"/>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A recent cyberattack on a major automotive manufacturer illustrates utility interconnectedness: production halted for </a:t>
            </a:r>
            <a:pPr algn="l" indent="0" marL="0">
              <a:lnSpc>
                <a:spcPts val="1150"/>
              </a:lnSpc>
              <a:buNone/>
            </a:pPr>
            <a:r>
              <a:rPr lang="en-US" sz="900" b="1" dirty="0">
                <a:solidFill>
                  <a:srgbClr val="000000"/>
                </a:solidFill>
                <a:latin typeface="Heebo" pitchFamily="34" charset="0"/>
                <a:ea typeface="Heebo" pitchFamily="34" charset="-122"/>
                <a:cs typeface="Heebo" pitchFamily="34" charset="-120"/>
              </a:rPr>
              <a:t>five weeks</a:t>
            </a:r>
            <a:pPr algn="l" indent="0" marL="0">
              <a:lnSpc>
                <a:spcPts val="1150"/>
              </a:lnSpc>
              <a:buNone/>
            </a:pPr>
            <a:r>
              <a:rPr lang="en-US" sz="900" dirty="0">
                <a:solidFill>
                  <a:srgbClr val="000000"/>
                </a:solidFill>
                <a:latin typeface="Heebo" pitchFamily="34" charset="0"/>
                <a:ea typeface="Heebo" pitchFamily="34" charset="-122"/>
                <a:cs typeface="Heebo" pitchFamily="34" charset="-120"/>
              </a:rPr>
              <a:t>, paralyzing over </a:t>
            </a:r>
            <a:pPr algn="l" indent="0" marL="0">
              <a:lnSpc>
                <a:spcPts val="1150"/>
              </a:lnSpc>
              <a:buNone/>
            </a:pPr>
            <a:r>
              <a:rPr lang="en-US" sz="900" b="1" dirty="0">
                <a:solidFill>
                  <a:srgbClr val="000000"/>
                </a:solidFill>
                <a:latin typeface="Heebo" pitchFamily="34" charset="0"/>
                <a:ea typeface="Heebo" pitchFamily="34" charset="-122"/>
                <a:cs typeface="Heebo" pitchFamily="34" charset="-120"/>
              </a:rPr>
              <a:t>5,000 downstream suppliers</a:t>
            </a:r>
            <a:pPr algn="l" indent="0" marL="0">
              <a:lnSpc>
                <a:spcPts val="1150"/>
              </a:lnSpc>
              <a:buNone/>
            </a:pPr>
            <a:r>
              <a:rPr lang="en-US" sz="900" dirty="0">
                <a:solidFill>
                  <a:srgbClr val="000000"/>
                </a:solidFill>
                <a:latin typeface="Heebo" pitchFamily="34" charset="0"/>
                <a:ea typeface="Heebo" pitchFamily="34" charset="-122"/>
                <a:cs typeface="Heebo" pitchFamily="34" charset="-120"/>
              </a:rPr>
              <a:t>. Direct cost: </a:t>
            </a:r>
            <a:pPr algn="l" indent="0" marL="0">
              <a:lnSpc>
                <a:spcPts val="1150"/>
              </a:lnSpc>
              <a:buNone/>
            </a:pPr>
            <a:r>
              <a:rPr lang="en-US" sz="900" b="1" dirty="0">
                <a:solidFill>
                  <a:srgbClr val="000000"/>
                </a:solidFill>
                <a:latin typeface="Heebo" pitchFamily="34" charset="0"/>
                <a:ea typeface="Heebo" pitchFamily="34" charset="-122"/>
                <a:cs typeface="Heebo" pitchFamily="34" charset="-120"/>
              </a:rPr>
              <a:t>$260M</a:t>
            </a:r>
            <a:pPr algn="l" indent="0" marL="0">
              <a:lnSpc>
                <a:spcPts val="1150"/>
              </a:lnSpc>
              <a:buNone/>
            </a:pPr>
            <a:r>
              <a:rPr lang="en-US" sz="900" dirty="0">
                <a:solidFill>
                  <a:srgbClr val="000000"/>
                </a:solidFill>
                <a:latin typeface="Heebo" pitchFamily="34" charset="0"/>
                <a:ea typeface="Heebo" pitchFamily="34" charset="-122"/>
                <a:cs typeface="Heebo" pitchFamily="34" charset="-120"/>
              </a:rPr>
              <a:t> with a 25% quarterly revenue drop. The wider regional economy absorbed an estimated </a:t>
            </a:r>
            <a:pPr algn="l" indent="0" marL="0">
              <a:lnSpc>
                <a:spcPts val="1150"/>
              </a:lnSpc>
              <a:buNone/>
            </a:pPr>
            <a:r>
              <a:rPr lang="en-US" sz="900" b="1" dirty="0">
                <a:solidFill>
                  <a:srgbClr val="000000"/>
                </a:solidFill>
                <a:latin typeface="Heebo" pitchFamily="34" charset="0"/>
                <a:ea typeface="Heebo" pitchFamily="34" charset="-122"/>
                <a:cs typeface="Heebo" pitchFamily="34" charset="-120"/>
              </a:rPr>
              <a:t>$2.5B in macroeconomic losses</a:t>
            </a:r>
            <a:pPr algn="l" indent="0" marL="0">
              <a:lnSpc>
                <a:spcPts val="1150"/>
              </a:lnSpc>
              <a:buNone/>
            </a:pPr>
            <a:r>
              <a:rPr lang="en-US" sz="900" dirty="0">
                <a:solidFill>
                  <a:srgbClr val="000000"/>
                </a:solidFill>
                <a:latin typeface="Heebo" pitchFamily="34" charset="0"/>
                <a:ea typeface="Heebo" pitchFamily="34" charset="-122"/>
                <a:cs typeface="Heebo" pitchFamily="34" charset="-120"/>
              </a:rPr>
              <a:t>.</a:t>
            </a:r>
            <a:endParaRPr lang="en-US" sz="900" dirty="0"/>
          </a:p>
        </p:txBody>
      </p:sp>
      <p:sp>
        <p:nvSpPr>
          <p:cNvPr id="19" name="Text 16"/>
          <p:cNvSpPr/>
          <p:nvPr/>
        </p:nvSpPr>
        <p:spPr>
          <a:xfrm>
            <a:off x="722233" y="3565088"/>
            <a:ext cx="7797046" cy="448270"/>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This magnitude of disproportionate, asymmetric economic damage is the precise strategic goal of nation-state actors targeting power grids and water treatment facilities. Incidents in the financial sector triggered by power or communication outages could lead to severe "cyber runs" on banks, undermining confidence in the global financial system.</a:t>
            </a:r>
            <a:endParaRPr lang="en-US" sz="900" dirty="0"/>
          </a:p>
        </p:txBody>
      </p:sp>
      <p:sp>
        <p:nvSpPr>
          <p:cNvPr id="20" name="Shape 17"/>
          <p:cNvSpPr/>
          <p:nvPr/>
        </p:nvSpPr>
        <p:spPr>
          <a:xfrm>
            <a:off x="8813125" y="3070027"/>
            <a:ext cx="5102543" cy="816650"/>
          </a:xfrm>
          <a:prstGeom prst="roundRect">
            <a:avLst>
              <a:gd name="adj" fmla="val 2156"/>
            </a:avLst>
          </a:prstGeom>
          <a:solidFill>
            <a:srgbClr val="FFFFFF"/>
          </a:solidFill>
          <a:ln w="15240">
            <a:solidFill>
              <a:srgbClr val="D8D4D4"/>
            </a:solidFill>
            <a:prstDash val="solid"/>
          </a:ln>
        </p:spPr>
      </p:sp>
      <p:sp>
        <p:nvSpPr>
          <p:cNvPr id="21" name="Text 18"/>
          <p:cNvSpPr/>
          <p:nvPr/>
        </p:nvSpPr>
        <p:spPr>
          <a:xfrm>
            <a:off x="8945642" y="3202543"/>
            <a:ext cx="1467207"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Water Sector</a:t>
            </a:r>
            <a:endParaRPr lang="en-US" sz="1150" dirty="0"/>
          </a:p>
        </p:txBody>
      </p:sp>
      <p:sp>
        <p:nvSpPr>
          <p:cNvPr id="22" name="Text 19"/>
          <p:cNvSpPr/>
          <p:nvPr/>
        </p:nvSpPr>
        <p:spPr>
          <a:xfrm>
            <a:off x="8945642" y="3455313"/>
            <a:ext cx="4837509"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Adversaries target PLCs to manipulate chemical dosages to toxic levels or destroy pipeline infrastructure</a:t>
            </a:r>
            <a:endParaRPr lang="en-US" sz="900" dirty="0"/>
          </a:p>
        </p:txBody>
      </p:sp>
      <p:sp>
        <p:nvSpPr>
          <p:cNvPr id="23" name="Shape 20"/>
          <p:cNvSpPr/>
          <p:nvPr/>
        </p:nvSpPr>
        <p:spPr>
          <a:xfrm>
            <a:off x="8813125" y="3956090"/>
            <a:ext cx="5102543" cy="667226"/>
          </a:xfrm>
          <a:prstGeom prst="roundRect">
            <a:avLst>
              <a:gd name="adj" fmla="val 2639"/>
            </a:avLst>
          </a:prstGeom>
          <a:solidFill>
            <a:srgbClr val="FFFFFF"/>
          </a:solidFill>
          <a:ln w="15240">
            <a:solidFill>
              <a:srgbClr val="D8D4D4"/>
            </a:solidFill>
            <a:prstDash val="solid"/>
          </a:ln>
        </p:spPr>
      </p:sp>
      <p:sp>
        <p:nvSpPr>
          <p:cNvPr id="24" name="Text 21"/>
          <p:cNvSpPr/>
          <p:nvPr/>
        </p:nvSpPr>
        <p:spPr>
          <a:xfrm>
            <a:off x="8945642" y="4088606"/>
            <a:ext cx="1467207"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Financial Contagion</a:t>
            </a:r>
            <a:endParaRPr lang="en-US" sz="1150" dirty="0"/>
          </a:p>
        </p:txBody>
      </p:sp>
      <p:sp>
        <p:nvSpPr>
          <p:cNvPr id="25" name="Text 22"/>
          <p:cNvSpPr/>
          <p:nvPr/>
        </p:nvSpPr>
        <p:spPr>
          <a:xfrm>
            <a:off x="8945642" y="4341376"/>
            <a:ext cx="4837509" cy="149423"/>
          </a:xfrm>
          <a:prstGeom prst="rect">
            <a:avLst/>
          </a:prstGeom>
          <a:noFill/>
          <a:ln/>
        </p:spPr>
        <p:txBody>
          <a:bodyPr wrap="non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Power outages could trigger severe liquidity crises and systemic banking instability</a:t>
            </a:r>
            <a:endParaRPr lang="en-US" sz="900" dirty="0"/>
          </a:p>
        </p:txBody>
      </p:sp>
      <p:sp>
        <p:nvSpPr>
          <p:cNvPr id="26" name="Text 23"/>
          <p:cNvSpPr/>
          <p:nvPr/>
        </p:nvSpPr>
        <p:spPr>
          <a:xfrm>
            <a:off x="722233" y="4805362"/>
            <a:ext cx="3467219" cy="293489"/>
          </a:xfrm>
          <a:prstGeom prst="rect">
            <a:avLst/>
          </a:prstGeom>
          <a:noFill/>
          <a:ln/>
        </p:spPr>
        <p:txBody>
          <a:bodyPr wrap="none" lIns="0" tIns="0" rIns="0" bIns="0" rtlCol="0" anchor="t"/>
          <a:lstStyle/>
          <a:p>
            <a:pPr algn="l" indent="0" marL="0">
              <a:lnSpc>
                <a:spcPts val="2300"/>
              </a:lnSpc>
              <a:buNone/>
            </a:pPr>
            <a:r>
              <a:rPr lang="en-US" sz="1800" dirty="0">
                <a:solidFill>
                  <a:srgbClr val="00674F"/>
                </a:solidFill>
                <a:latin typeface="Crimson Pro Semi Bold" pitchFamily="34" charset="0"/>
                <a:ea typeface="Crimson Pro Semi Bold" pitchFamily="34" charset="-122"/>
                <a:cs typeface="Crimson Pro Semi Bold" pitchFamily="34" charset="-120"/>
              </a:rPr>
              <a:t>Long-Term Financial Consequences</a:t>
            </a:r>
            <a:endParaRPr lang="en-US" sz="1800" dirty="0"/>
          </a:p>
        </p:txBody>
      </p:sp>
      <p:pic>
        <p:nvPicPr>
          <p:cNvPr id="27" name="Image 1" descr="preencoded.png">    </p:cNvPr>
          <p:cNvPicPr>
            <a:picLocks noChangeAspect="1"/>
          </p:cNvPicPr>
          <p:nvPr/>
        </p:nvPicPr>
        <p:blipFill>
          <a:blip r:embed="rId3"/>
          <a:stretch>
            <a:fillRect/>
          </a:stretch>
        </p:blipFill>
        <p:spPr>
          <a:xfrm>
            <a:off x="722233" y="5202912"/>
            <a:ext cx="6592967" cy="469463"/>
          </a:xfrm>
          <a:prstGeom prst="rect">
            <a:avLst/>
          </a:prstGeom>
        </p:spPr>
      </p:pic>
      <p:sp>
        <p:nvSpPr>
          <p:cNvPr id="28" name="Text 24"/>
          <p:cNvSpPr/>
          <p:nvPr/>
        </p:nvSpPr>
        <p:spPr>
          <a:xfrm>
            <a:off x="839510" y="5741789"/>
            <a:ext cx="1467207"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Credit Downgrades</a:t>
            </a:r>
            <a:endParaRPr lang="en-US" sz="1150" dirty="0"/>
          </a:p>
        </p:txBody>
      </p:sp>
      <p:sp>
        <p:nvSpPr>
          <p:cNvPr id="29" name="Text 25"/>
          <p:cNvSpPr/>
          <p:nvPr/>
        </p:nvSpPr>
        <p:spPr>
          <a:xfrm>
            <a:off x="839510" y="5966698"/>
            <a:ext cx="6358414"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Moody's and S&amp;P now integrate cyber risk into credit analysis. Ratings remain </a:t>
            </a:r>
            <a:pPr algn="l" indent="0" marL="0">
              <a:lnSpc>
                <a:spcPts val="1150"/>
              </a:lnSpc>
              <a:buNone/>
            </a:pPr>
            <a:r>
              <a:rPr lang="en-US" sz="900" b="1" dirty="0">
                <a:solidFill>
                  <a:srgbClr val="000000"/>
                </a:solidFill>
                <a:latin typeface="Heebo" pitchFamily="34" charset="0"/>
                <a:ea typeface="Heebo" pitchFamily="34" charset="-122"/>
                <a:cs typeface="Heebo" pitchFamily="34" charset="-120"/>
              </a:rPr>
              <a:t>depressed for up to 3 years</a:t>
            </a:r>
            <a:pPr algn="l" indent="0" marL="0">
              <a:lnSpc>
                <a:spcPts val="1150"/>
              </a:lnSpc>
              <a:buNone/>
            </a:pPr>
            <a:r>
              <a:rPr lang="en-US" sz="900" dirty="0">
                <a:solidFill>
                  <a:srgbClr val="000000"/>
                </a:solidFill>
                <a:latin typeface="Heebo" pitchFamily="34" charset="0"/>
                <a:ea typeface="Heebo" pitchFamily="34" charset="-122"/>
                <a:cs typeface="Heebo" pitchFamily="34" charset="-120"/>
              </a:rPr>
              <a:t> post-breach — comparable to a major natural disaster.</a:t>
            </a:r>
            <a:endParaRPr lang="en-US" sz="900" dirty="0"/>
          </a:p>
        </p:txBody>
      </p:sp>
      <p:pic>
        <p:nvPicPr>
          <p:cNvPr id="30" name="Image 2" descr="preencoded.png">    </p:cNvPr>
          <p:cNvPicPr>
            <a:picLocks noChangeAspect="1"/>
          </p:cNvPicPr>
          <p:nvPr/>
        </p:nvPicPr>
        <p:blipFill>
          <a:blip r:embed="rId4"/>
          <a:stretch>
            <a:fillRect/>
          </a:stretch>
        </p:blipFill>
        <p:spPr>
          <a:xfrm>
            <a:off x="7315200" y="5202912"/>
            <a:ext cx="6592967" cy="469463"/>
          </a:xfrm>
          <a:prstGeom prst="rect">
            <a:avLst/>
          </a:prstGeom>
        </p:spPr>
      </p:pic>
      <p:sp>
        <p:nvSpPr>
          <p:cNvPr id="31" name="Text 26"/>
          <p:cNvSpPr/>
          <p:nvPr/>
        </p:nvSpPr>
        <p:spPr>
          <a:xfrm>
            <a:off x="7432477" y="5741789"/>
            <a:ext cx="1537811"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Capital Structure Erosion</a:t>
            </a:r>
            <a:endParaRPr lang="en-US" sz="1150" dirty="0"/>
          </a:p>
        </p:txBody>
      </p:sp>
      <p:sp>
        <p:nvSpPr>
          <p:cNvPr id="32" name="Text 27"/>
          <p:cNvSpPr/>
          <p:nvPr/>
        </p:nvSpPr>
        <p:spPr>
          <a:xfrm>
            <a:off x="7432477" y="5966698"/>
            <a:ext cx="6358414"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Downgraded utilities face heightened cash flow volatility, forced to issue debt at longer maturities and significantly higher interest rates — crippling infrastructure investment.</a:t>
            </a:r>
            <a:endParaRPr lang="en-US" sz="900" dirty="0"/>
          </a:p>
        </p:txBody>
      </p:sp>
      <p:pic>
        <p:nvPicPr>
          <p:cNvPr id="33" name="Image 3" descr="preencoded.png">    </p:cNvPr>
          <p:cNvPicPr>
            <a:picLocks noChangeAspect="1"/>
          </p:cNvPicPr>
          <p:nvPr/>
        </p:nvPicPr>
        <p:blipFill>
          <a:blip r:embed="rId5"/>
          <a:stretch>
            <a:fillRect/>
          </a:stretch>
        </p:blipFill>
        <p:spPr>
          <a:xfrm>
            <a:off x="722233" y="6382822"/>
            <a:ext cx="6592967" cy="469463"/>
          </a:xfrm>
          <a:prstGeom prst="rect">
            <a:avLst/>
          </a:prstGeom>
        </p:spPr>
      </p:pic>
      <p:sp>
        <p:nvSpPr>
          <p:cNvPr id="34" name="Text 28"/>
          <p:cNvSpPr/>
          <p:nvPr/>
        </p:nvSpPr>
        <p:spPr>
          <a:xfrm>
            <a:off x="839510" y="6921698"/>
            <a:ext cx="1869519"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Insurance Market Constriction</a:t>
            </a:r>
            <a:endParaRPr lang="en-US" sz="1150" dirty="0"/>
          </a:p>
        </p:txBody>
      </p:sp>
      <p:sp>
        <p:nvSpPr>
          <p:cNvPr id="35" name="Text 29"/>
          <p:cNvSpPr/>
          <p:nvPr/>
        </p:nvSpPr>
        <p:spPr>
          <a:xfrm>
            <a:off x="839510" y="7146608"/>
            <a:ext cx="6358414"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Astronomical premium spikes, reduced coverage limits, ambiguous cyberwarfare exclusions, and protracted litigation with insurers compound the initial financial shock.</a:t>
            </a:r>
            <a:endParaRPr lang="en-US" sz="900" dirty="0"/>
          </a:p>
        </p:txBody>
      </p:sp>
      <p:pic>
        <p:nvPicPr>
          <p:cNvPr id="36" name="Image 4" descr="preencoded.png">    </p:cNvPr>
          <p:cNvPicPr>
            <a:picLocks noChangeAspect="1"/>
          </p:cNvPicPr>
          <p:nvPr/>
        </p:nvPicPr>
        <p:blipFill>
          <a:blip r:embed="rId6"/>
          <a:stretch>
            <a:fillRect/>
          </a:stretch>
        </p:blipFill>
        <p:spPr>
          <a:xfrm>
            <a:off x="7315200" y="6382822"/>
            <a:ext cx="6592967" cy="469463"/>
          </a:xfrm>
          <a:prstGeom prst="rect">
            <a:avLst/>
          </a:prstGeom>
        </p:spPr>
      </p:pic>
      <p:sp>
        <p:nvSpPr>
          <p:cNvPr id="37" name="Text 30"/>
          <p:cNvSpPr/>
          <p:nvPr/>
        </p:nvSpPr>
        <p:spPr>
          <a:xfrm>
            <a:off x="7432477" y="6921698"/>
            <a:ext cx="1512332" cy="183356"/>
          </a:xfrm>
          <a:prstGeom prst="rect">
            <a:avLst/>
          </a:prstGeom>
          <a:noFill/>
          <a:ln/>
        </p:spPr>
        <p:txBody>
          <a:bodyPr wrap="none" lIns="0" tIns="0" rIns="0" bIns="0" rtlCol="0" anchor="t"/>
          <a:lstStyle/>
          <a:p>
            <a:pPr algn="l" indent="0" marL="0">
              <a:lnSpc>
                <a:spcPts val="1400"/>
              </a:lnSpc>
              <a:buNone/>
            </a:pPr>
            <a:r>
              <a:rPr lang="en-US" sz="1150" dirty="0">
                <a:solidFill>
                  <a:srgbClr val="000000"/>
                </a:solidFill>
                <a:latin typeface="Crimson Pro Semi Bold" pitchFamily="34" charset="0"/>
                <a:ea typeface="Crimson Pro Semi Bold" pitchFamily="34" charset="-122"/>
                <a:cs typeface="Crimson Pro Semi Bold" pitchFamily="34" charset="-120"/>
              </a:rPr>
              <a:t>Permanent Revenue Loss</a:t>
            </a:r>
            <a:endParaRPr lang="en-US" sz="1150" dirty="0"/>
          </a:p>
        </p:txBody>
      </p:sp>
      <p:sp>
        <p:nvSpPr>
          <p:cNvPr id="38" name="Text 31"/>
          <p:cNvSpPr/>
          <p:nvPr/>
        </p:nvSpPr>
        <p:spPr>
          <a:xfrm>
            <a:off x="7432477" y="7146608"/>
            <a:ext cx="6358414" cy="298847"/>
          </a:xfrm>
          <a:prstGeom prst="rect">
            <a:avLst/>
          </a:prstGeom>
          <a:noFill/>
          <a:ln/>
        </p:spPr>
        <p:txBody>
          <a:bodyPr wrap="square" lIns="0" tIns="0" rIns="0" bIns="0" rtlCol="0" anchor="t"/>
          <a:lstStyle/>
          <a:p>
            <a:pPr algn="l" indent="0" marL="0">
              <a:lnSpc>
                <a:spcPts val="1150"/>
              </a:lnSpc>
              <a:buNone/>
            </a:pPr>
            <a:r>
              <a:rPr lang="en-US" sz="900" dirty="0">
                <a:solidFill>
                  <a:srgbClr val="000000"/>
                </a:solidFill>
                <a:latin typeface="Heebo" pitchFamily="34" charset="0"/>
                <a:ea typeface="Heebo" pitchFamily="34" charset="-122"/>
                <a:cs typeface="Heebo" pitchFamily="34" charset="-120"/>
              </a:rPr>
              <a:t>Industrial customers seek decentralized energy alternatives for supply security — leading to permanent, unrecoverable revenue erosion for the compromised utility.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76526" y="556141"/>
            <a:ext cx="831771" cy="207526"/>
          </a:xfrm>
          <a:prstGeom prst="roundRect">
            <a:avLst>
              <a:gd name="adj" fmla="val 7298"/>
            </a:avLst>
          </a:prstGeom>
          <a:solidFill>
            <a:srgbClr val="CCFFF3"/>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2130" y="609481"/>
            <a:ext cx="100846" cy="100846"/>
          </a:xfrm>
          <a:prstGeom prst="rect">
            <a:avLst/>
          </a:prstGeom>
        </p:spPr>
      </p:pic>
      <p:sp>
        <p:nvSpPr>
          <p:cNvPr id="4" name="Text 1"/>
          <p:cNvSpPr/>
          <p:nvPr/>
        </p:nvSpPr>
        <p:spPr>
          <a:xfrm>
            <a:off x="1003340" y="593884"/>
            <a:ext cx="529352" cy="132040"/>
          </a:xfrm>
          <a:prstGeom prst="rect">
            <a:avLst/>
          </a:prstGeom>
          <a:noFill/>
          <a:ln/>
        </p:spPr>
        <p:txBody>
          <a:bodyPr wrap="none" lIns="0" tIns="0" rIns="0" bIns="0" rtlCol="0" anchor="t"/>
          <a:lstStyle/>
          <a:p>
            <a:pPr algn="l" indent="0" marL="0">
              <a:lnSpc>
                <a:spcPts val="1000"/>
              </a:lnSpc>
              <a:buNone/>
            </a:pPr>
            <a:r>
              <a:rPr lang="en-US" sz="750" dirty="0">
                <a:solidFill>
                  <a:srgbClr val="000000"/>
                </a:solidFill>
                <a:latin typeface="Heebo" pitchFamily="34" charset="0"/>
                <a:ea typeface="Heebo" pitchFamily="34" charset="-122"/>
                <a:cs typeface="Heebo" pitchFamily="34" charset="-120"/>
              </a:rPr>
              <a:t>CHAPTER 4</a:t>
            </a:r>
            <a:endParaRPr lang="en-US" sz="750" dirty="0"/>
          </a:p>
        </p:txBody>
      </p:sp>
      <p:sp>
        <p:nvSpPr>
          <p:cNvPr id="5" name="Text 2"/>
          <p:cNvSpPr/>
          <p:nvPr/>
        </p:nvSpPr>
        <p:spPr>
          <a:xfrm>
            <a:off x="1671280" y="593884"/>
            <a:ext cx="586026" cy="132040"/>
          </a:xfrm>
          <a:prstGeom prst="rect">
            <a:avLst/>
          </a:prstGeom>
          <a:noFill/>
          <a:ln/>
        </p:spPr>
        <p:txBody>
          <a:bodyPr wrap="none" lIns="0" tIns="0" rIns="0" bIns="0" rtlCol="0" anchor="t"/>
          <a:lstStyle/>
          <a:p>
            <a:pPr algn="l" indent="0" marL="0">
              <a:lnSpc>
                <a:spcPts val="1000"/>
              </a:lnSpc>
              <a:buNone/>
            </a:pPr>
            <a:r>
              <a:rPr lang="en-US" sz="750" dirty="0">
                <a:solidFill>
                  <a:srgbClr val="00674F"/>
                </a:solidFill>
                <a:latin typeface="Heebo" pitchFamily="34" charset="0"/>
                <a:ea typeface="Heebo" pitchFamily="34" charset="-122"/>
                <a:cs typeface="Heebo" pitchFamily="34" charset="-120"/>
              </a:rPr>
              <a:t>CASE STUDY</a:t>
            </a:r>
            <a:endParaRPr lang="en-US" sz="750" dirty="0"/>
          </a:p>
        </p:txBody>
      </p:sp>
      <p:sp>
        <p:nvSpPr>
          <p:cNvPr id="6" name="Text 3"/>
          <p:cNvSpPr/>
          <p:nvPr/>
        </p:nvSpPr>
        <p:spPr>
          <a:xfrm>
            <a:off x="776526" y="795695"/>
            <a:ext cx="8179475" cy="394335"/>
          </a:xfrm>
          <a:prstGeom prst="rect">
            <a:avLst/>
          </a:prstGeom>
          <a:noFill/>
          <a:ln/>
        </p:spPr>
        <p:txBody>
          <a:bodyPr wrap="none" lIns="0" tIns="0" rIns="0" bIns="0" rtlCol="0" anchor="t"/>
          <a:lstStyle/>
          <a:p>
            <a:pPr algn="l" indent="0" marL="0">
              <a:lnSpc>
                <a:spcPts val="3100"/>
              </a:lnSpc>
              <a:buNone/>
            </a:pPr>
            <a:r>
              <a:rPr lang="en-US" sz="2450" dirty="0">
                <a:solidFill>
                  <a:srgbClr val="00674F"/>
                </a:solidFill>
                <a:latin typeface="Crimson Pro Semi Bold" pitchFamily="34" charset="0"/>
                <a:ea typeface="Crimson Pro Semi Bold" pitchFamily="34" charset="-122"/>
                <a:cs typeface="Crimson Pro Semi Bold" pitchFamily="34" charset="-120"/>
              </a:rPr>
              <a:t>Case Study: Poland Energy Sector Attack — December 29, 2025</a:t>
            </a:r>
            <a:endParaRPr lang="en-US" sz="2450" dirty="0"/>
          </a:p>
        </p:txBody>
      </p:sp>
      <p:sp>
        <p:nvSpPr>
          <p:cNvPr id="7" name="Text 4"/>
          <p:cNvSpPr/>
          <p:nvPr/>
        </p:nvSpPr>
        <p:spPr>
          <a:xfrm>
            <a:off x="776526" y="1310402"/>
            <a:ext cx="13077349" cy="330279"/>
          </a:xfrm>
          <a:prstGeom prst="rect">
            <a:avLst/>
          </a:prstGeom>
          <a:noFill/>
          <a:ln/>
        </p:spPr>
        <p:txBody>
          <a:bodyPr wrap="square" lIns="0" tIns="0" rIns="0" bIns="0" rtlCol="0" anchor="t"/>
          <a:lstStyle/>
          <a:p>
            <a:pPr algn="l" indent="0" marL="0">
              <a:lnSpc>
                <a:spcPts val="1300"/>
              </a:lnSpc>
              <a:buNone/>
            </a:pPr>
            <a:r>
              <a:rPr lang="en-US" sz="950" dirty="0">
                <a:solidFill>
                  <a:srgbClr val="000000"/>
                </a:solidFill>
                <a:latin typeface="Heebo" pitchFamily="34" charset="0"/>
                <a:ea typeface="Heebo" pitchFamily="34" charset="-122"/>
                <a:cs typeface="Heebo" pitchFamily="34" charset="-120"/>
              </a:rPr>
              <a:t>A definitive illustration of modern OT cyber risk: a coordinated cyber sabotage campaign targeting Polish energy and manufacturing during severe winter storms and sub-zero temperatures. This incident demonstrates the complete transition of threat actors from intelligence gathering to </a:t>
            </a:r>
            <a:pPr algn="l" indent="0" marL="0">
              <a:lnSpc>
                <a:spcPts val="1300"/>
              </a:lnSpc>
              <a:buNone/>
            </a:pPr>
            <a:r>
              <a:rPr lang="en-US" sz="950" b="1" dirty="0">
                <a:solidFill>
                  <a:srgbClr val="000000"/>
                </a:solidFill>
                <a:latin typeface="Heebo" pitchFamily="34" charset="0"/>
                <a:ea typeface="Heebo" pitchFamily="34" charset="-122"/>
                <a:cs typeface="Heebo" pitchFamily="34" charset="-120"/>
              </a:rPr>
              <a:t>outright physical destruction</a:t>
            </a:r>
            <a:pPr algn="l" indent="0" marL="0">
              <a:lnSpc>
                <a:spcPts val="1300"/>
              </a:lnSpc>
              <a:buNone/>
            </a:pPr>
            <a:r>
              <a:rPr lang="en-US" sz="950" dirty="0">
                <a:solidFill>
                  <a:srgbClr val="000000"/>
                </a:solidFill>
                <a:latin typeface="Heebo" pitchFamily="34" charset="0"/>
                <a:ea typeface="Heebo" pitchFamily="34" charset="-122"/>
                <a:cs typeface="Heebo" pitchFamily="34" charset="-120"/>
              </a:rPr>
              <a:t>.</a:t>
            </a:r>
            <a:endParaRPr lang="en-US" sz="950" dirty="0"/>
          </a:p>
        </p:txBody>
      </p:sp>
      <p:sp>
        <p:nvSpPr>
          <p:cNvPr id="8" name="Shape 5"/>
          <p:cNvSpPr/>
          <p:nvPr/>
        </p:nvSpPr>
        <p:spPr>
          <a:xfrm>
            <a:off x="685562" y="1730931"/>
            <a:ext cx="6566654" cy="2782729"/>
          </a:xfrm>
          <a:prstGeom prst="roundRect">
            <a:avLst>
              <a:gd name="adj" fmla="val 680"/>
            </a:avLst>
          </a:prstGeom>
          <a:solidFill>
            <a:srgbClr val="00674F"/>
          </a:solidFill>
          <a:ln/>
        </p:spPr>
      </p:sp>
      <p:sp>
        <p:nvSpPr>
          <p:cNvPr id="9" name="Text 6"/>
          <p:cNvSpPr/>
          <p:nvPr/>
        </p:nvSpPr>
        <p:spPr>
          <a:xfrm>
            <a:off x="811649" y="1811179"/>
            <a:ext cx="1577459" cy="197168"/>
          </a:xfrm>
          <a:prstGeom prst="rect">
            <a:avLst/>
          </a:prstGeom>
          <a:noFill/>
          <a:ln/>
        </p:spPr>
        <p:txBody>
          <a:bodyPr wrap="none" lIns="0" tIns="0" rIns="0" bIns="0" rtlCol="0" anchor="t"/>
          <a:lstStyle/>
          <a:p>
            <a:pPr algn="l" indent="0" marL="0">
              <a:lnSpc>
                <a:spcPts val="1550"/>
              </a:lnSpc>
              <a:buNone/>
            </a:pPr>
            <a:r>
              <a:rPr lang="en-US" sz="1200" dirty="0">
                <a:solidFill>
                  <a:srgbClr val="FFFFFF"/>
                </a:solidFill>
                <a:latin typeface="Crimson Pro Semi Bold" pitchFamily="34" charset="0"/>
                <a:ea typeface="Crimson Pro Semi Bold" pitchFamily="34" charset="-122"/>
                <a:cs typeface="Crimson Pro Semi Bold" pitchFamily="34" charset="-120"/>
              </a:rPr>
              <a:t>Attack Profile</a:t>
            </a:r>
            <a:endParaRPr lang="en-US" sz="1200" dirty="0"/>
          </a:p>
        </p:txBody>
      </p:sp>
      <p:sp>
        <p:nvSpPr>
          <p:cNvPr id="10" name="Text 7"/>
          <p:cNvSpPr/>
          <p:nvPr/>
        </p:nvSpPr>
        <p:spPr>
          <a:xfrm>
            <a:off x="811649" y="2088594"/>
            <a:ext cx="6314480" cy="165140"/>
          </a:xfrm>
          <a:prstGeom prst="rect">
            <a:avLst/>
          </a:prstGeom>
          <a:noFill/>
          <a:ln/>
        </p:spPr>
        <p:txBody>
          <a:bodyPr wrap="none" lIns="0" tIns="0" rIns="0" bIns="0" rtlCol="0" anchor="t"/>
          <a:lstStyle/>
          <a:p>
            <a:pPr algn="l" indent="0" marL="0">
              <a:lnSpc>
                <a:spcPts val="1300"/>
              </a:lnSpc>
              <a:buNone/>
            </a:pPr>
            <a:r>
              <a:rPr lang="en-US" sz="950" b="1" dirty="0">
                <a:solidFill>
                  <a:srgbClr val="FFFFFF"/>
                </a:solidFill>
                <a:latin typeface="Heebo" pitchFamily="34" charset="0"/>
                <a:ea typeface="Heebo" pitchFamily="34" charset="-122"/>
                <a:cs typeface="Heebo" pitchFamily="34" charset="-120"/>
              </a:rPr>
              <a:t>Attribution:</a:t>
            </a:r>
            <a:pPr algn="l" indent="0" marL="0">
              <a:lnSpc>
                <a:spcPts val="1300"/>
              </a:lnSpc>
              <a:buNone/>
            </a:pPr>
            <a:r>
              <a:rPr lang="en-US" sz="950" dirty="0">
                <a:solidFill>
                  <a:srgbClr val="FFFFFF"/>
                </a:solidFill>
                <a:latin typeface="Heebo" pitchFamily="34" charset="0"/>
                <a:ea typeface="Heebo" pitchFamily="34" charset="-122"/>
                <a:cs typeface="Heebo" pitchFamily="34" charset="-120"/>
              </a:rPr>
              <a:t> Russian state-sponsored threat cluster </a:t>
            </a:r>
            <a:pPr algn="l" indent="0" marL="0">
              <a:lnSpc>
                <a:spcPts val="1300"/>
              </a:lnSpc>
              <a:buNone/>
            </a:pPr>
            <a:r>
              <a:rPr lang="en-US" sz="950" b="1" dirty="0">
                <a:solidFill>
                  <a:srgbClr val="FFFFFF"/>
                </a:solidFill>
                <a:latin typeface="Heebo" pitchFamily="34" charset="0"/>
                <a:ea typeface="Heebo" pitchFamily="34" charset="-122"/>
                <a:cs typeface="Heebo" pitchFamily="34" charset="-120"/>
              </a:rPr>
              <a:t>Static Tundra</a:t>
            </a:r>
            <a:pPr algn="l" indent="0" marL="0">
              <a:lnSpc>
                <a:spcPts val="1300"/>
              </a:lnSpc>
              <a:buNone/>
            </a:pPr>
            <a:r>
              <a:rPr lang="en-US" sz="950" dirty="0">
                <a:solidFill>
                  <a:srgbClr val="FFFFFF"/>
                </a:solidFill>
                <a:latin typeface="Heebo" pitchFamily="34" charset="0"/>
                <a:ea typeface="Heebo" pitchFamily="34" charset="-122"/>
                <a:cs typeface="Heebo" pitchFamily="34" charset="-120"/>
              </a:rPr>
              <a:t> (Sandworm / Berserk Bear / FSB Center 16)</a:t>
            </a:r>
            <a:endParaRPr lang="en-US" sz="950" dirty="0"/>
          </a:p>
        </p:txBody>
      </p:sp>
      <p:sp>
        <p:nvSpPr>
          <p:cNvPr id="11" name="Text 8"/>
          <p:cNvSpPr/>
          <p:nvPr/>
        </p:nvSpPr>
        <p:spPr>
          <a:xfrm>
            <a:off x="811649" y="2325886"/>
            <a:ext cx="6314480" cy="330279"/>
          </a:xfrm>
          <a:prstGeom prst="rect">
            <a:avLst/>
          </a:prstGeom>
          <a:noFill/>
          <a:ln/>
        </p:spPr>
        <p:txBody>
          <a:bodyPr wrap="square" lIns="0" tIns="0" rIns="0" bIns="0" rtlCol="0" anchor="t"/>
          <a:lstStyle/>
          <a:p>
            <a:pPr algn="l" indent="0" marL="0">
              <a:lnSpc>
                <a:spcPts val="1300"/>
              </a:lnSpc>
              <a:buNone/>
            </a:pPr>
            <a:r>
              <a:rPr lang="en-US" sz="950" b="1" dirty="0">
                <a:solidFill>
                  <a:srgbClr val="FFFFFF"/>
                </a:solidFill>
                <a:latin typeface="Heebo" pitchFamily="34" charset="0"/>
                <a:ea typeface="Heebo" pitchFamily="34" charset="-122"/>
                <a:cs typeface="Heebo" pitchFamily="34" charset="-120"/>
              </a:rPr>
              <a:t>Targets:</a:t>
            </a:r>
            <a:pPr algn="l" indent="0" marL="0">
              <a:lnSpc>
                <a:spcPts val="1300"/>
              </a:lnSpc>
              <a:buNone/>
            </a:pPr>
            <a:r>
              <a:rPr lang="en-US" sz="950" dirty="0">
                <a:solidFill>
                  <a:srgbClr val="FFFFFF"/>
                </a:solidFill>
                <a:latin typeface="Heebo" pitchFamily="34" charset="0"/>
                <a:ea typeface="Heebo" pitchFamily="34" charset="-122"/>
                <a:cs typeface="Heebo" pitchFamily="34" charset="-120"/>
              </a:rPr>
              <a:t> 30+ renewable energy facilities, a major CHP plant serving ~500,000 customers, and a private manufacturer</a:t>
            </a:r>
            <a:endParaRPr lang="en-US" sz="950" dirty="0"/>
          </a:p>
        </p:txBody>
      </p:sp>
      <p:sp>
        <p:nvSpPr>
          <p:cNvPr id="12" name="Text 9"/>
          <p:cNvSpPr/>
          <p:nvPr/>
        </p:nvSpPr>
        <p:spPr>
          <a:xfrm>
            <a:off x="811649" y="2728317"/>
            <a:ext cx="6314480" cy="165140"/>
          </a:xfrm>
          <a:prstGeom prst="rect">
            <a:avLst/>
          </a:prstGeom>
          <a:noFill/>
          <a:ln/>
        </p:spPr>
        <p:txBody>
          <a:bodyPr wrap="none" lIns="0" tIns="0" rIns="0" bIns="0" rtlCol="0" anchor="t"/>
          <a:lstStyle/>
          <a:p>
            <a:pPr algn="l" indent="0" marL="0">
              <a:lnSpc>
                <a:spcPts val="1300"/>
              </a:lnSpc>
              <a:buNone/>
            </a:pPr>
            <a:r>
              <a:rPr lang="en-US" sz="950" b="1" dirty="0">
                <a:solidFill>
                  <a:srgbClr val="FFFFFF"/>
                </a:solidFill>
                <a:latin typeface="Heebo" pitchFamily="34" charset="0"/>
                <a:ea typeface="Heebo" pitchFamily="34" charset="-122"/>
                <a:cs typeface="Heebo" pitchFamily="34" charset="-120"/>
              </a:rPr>
              <a:t>Nature:</a:t>
            </a:r>
            <a:pPr algn="l" indent="0" marL="0">
              <a:lnSpc>
                <a:spcPts val="1300"/>
              </a:lnSpc>
              <a:buNone/>
            </a:pPr>
            <a:r>
              <a:rPr lang="en-US" sz="950" dirty="0">
                <a:solidFill>
                  <a:srgbClr val="FFFFFF"/>
                </a:solidFill>
                <a:latin typeface="Heebo" pitchFamily="34" charset="0"/>
                <a:ea typeface="Heebo" pitchFamily="34" charset="-122"/>
                <a:cs typeface="Heebo" pitchFamily="34" charset="-120"/>
              </a:rPr>
              <a:t> Purely destructive — described as "coordinated cyber arson"</a:t>
            </a:r>
            <a:endParaRPr lang="en-US" sz="950" dirty="0"/>
          </a:p>
        </p:txBody>
      </p:sp>
      <p:sp>
        <p:nvSpPr>
          <p:cNvPr id="13" name="Text 10"/>
          <p:cNvSpPr/>
          <p:nvPr/>
        </p:nvSpPr>
        <p:spPr>
          <a:xfrm>
            <a:off x="811649" y="2965609"/>
            <a:ext cx="6314480" cy="330279"/>
          </a:xfrm>
          <a:prstGeom prst="rect">
            <a:avLst/>
          </a:prstGeom>
          <a:noFill/>
          <a:ln/>
        </p:spPr>
        <p:txBody>
          <a:bodyPr wrap="square" lIns="0" tIns="0" rIns="0" bIns="0" rtlCol="0" anchor="t"/>
          <a:lstStyle/>
          <a:p>
            <a:pPr algn="l" indent="0" marL="0">
              <a:lnSpc>
                <a:spcPts val="1300"/>
              </a:lnSpc>
              <a:buNone/>
            </a:pPr>
            <a:r>
              <a:rPr lang="en-US" sz="950" b="1" dirty="0">
                <a:solidFill>
                  <a:srgbClr val="FFFFFF"/>
                </a:solidFill>
                <a:latin typeface="Heebo" pitchFamily="34" charset="0"/>
                <a:ea typeface="Heebo" pitchFamily="34" charset="-122"/>
                <a:cs typeface="Heebo" pitchFamily="34" charset="-120"/>
              </a:rPr>
              <a:t>Initial Access:</a:t>
            </a:r>
            <a:pPr algn="l" indent="0" marL="0">
              <a:lnSpc>
                <a:spcPts val="1300"/>
              </a:lnSpc>
              <a:buNone/>
            </a:pPr>
            <a:r>
              <a:rPr lang="en-US" sz="950" dirty="0">
                <a:solidFill>
                  <a:srgbClr val="FFFFFF"/>
                </a:solidFill>
                <a:latin typeface="Heebo" pitchFamily="34" charset="0"/>
                <a:ea typeface="Heebo" pitchFamily="34" charset="-122"/>
                <a:cs typeface="Heebo" pitchFamily="34" charset="-120"/>
              </a:rPr>
              <a:t> Exploiting vulnerable, internet-facing edge devices with unpatched vulnerabilities and default credentials</a:t>
            </a:r>
            <a:endParaRPr lang="en-US" sz="950" dirty="0"/>
          </a:p>
        </p:txBody>
      </p:sp>
      <p:sp>
        <p:nvSpPr>
          <p:cNvPr id="14" name="Text 11"/>
          <p:cNvSpPr/>
          <p:nvPr/>
        </p:nvSpPr>
        <p:spPr>
          <a:xfrm>
            <a:off x="811649" y="3368040"/>
            <a:ext cx="6314480" cy="330279"/>
          </a:xfrm>
          <a:prstGeom prst="rect">
            <a:avLst/>
          </a:prstGeom>
          <a:noFill/>
          <a:ln/>
        </p:spPr>
        <p:txBody>
          <a:bodyPr wrap="square" lIns="0" tIns="0" rIns="0" bIns="0" rtlCol="0" anchor="t"/>
          <a:lstStyle/>
          <a:p>
            <a:pPr algn="l" indent="0" marL="0">
              <a:lnSpc>
                <a:spcPts val="1300"/>
              </a:lnSpc>
              <a:buNone/>
            </a:pPr>
            <a:r>
              <a:rPr lang="en-US" sz="950" b="1" dirty="0">
                <a:solidFill>
                  <a:srgbClr val="FFFFFF"/>
                </a:solidFill>
                <a:latin typeface="Heebo" pitchFamily="34" charset="0"/>
                <a:ea typeface="Heebo" pitchFamily="34" charset="-122"/>
                <a:cs typeface="Heebo" pitchFamily="34" charset="-120"/>
              </a:rPr>
              <a:t>Payload:</a:t>
            </a:r>
            <a:pPr algn="l" indent="0" marL="0">
              <a:lnSpc>
                <a:spcPts val="1300"/>
              </a:lnSpc>
              <a:buNone/>
            </a:pPr>
            <a:r>
              <a:rPr lang="en-US" sz="950" dirty="0">
                <a:solidFill>
                  <a:srgbClr val="FFFFFF"/>
                </a:solidFill>
                <a:latin typeface="Heebo" pitchFamily="34" charset="0"/>
                <a:ea typeface="Heebo" pitchFamily="34" charset="-122"/>
                <a:cs typeface="Heebo" pitchFamily="34" charset="-120"/>
              </a:rPr>
              <a:t> Custom-built </a:t>
            </a:r>
            <a:pPr algn="l" indent="0" marL="0">
              <a:lnSpc>
                <a:spcPts val="1300"/>
              </a:lnSpc>
              <a:buNone/>
            </a:pPr>
            <a:r>
              <a:rPr lang="en-US" sz="950" b="1" dirty="0">
                <a:solidFill>
                  <a:srgbClr val="FFFFFF"/>
                </a:solidFill>
                <a:latin typeface="Heebo" pitchFamily="34" charset="0"/>
                <a:ea typeface="Heebo" pitchFamily="34" charset="-122"/>
                <a:cs typeface="Heebo" pitchFamily="34" charset="-120"/>
              </a:rPr>
              <a:t>"DynoWiper"</a:t>
            </a:r>
            <a:pPr algn="l" indent="0" marL="0">
              <a:lnSpc>
                <a:spcPts val="1300"/>
              </a:lnSpc>
              <a:buNone/>
            </a:pPr>
            <a:r>
              <a:rPr lang="en-US" sz="950" dirty="0">
                <a:solidFill>
                  <a:srgbClr val="FFFFFF"/>
                </a:solidFill>
                <a:latin typeface="Heebo" pitchFamily="34" charset="0"/>
                <a:ea typeface="Heebo" pitchFamily="34" charset="-122"/>
                <a:cs typeface="Heebo" pitchFamily="34" charset="-120"/>
              </a:rPr>
              <a:t> malware — engineered to irreversibly destroy data, corrupt firmware, and permanently damage remote terminal units</a:t>
            </a:r>
            <a:endParaRPr lang="en-US" sz="950" dirty="0"/>
          </a:p>
        </p:txBody>
      </p:sp>
      <p:sp>
        <p:nvSpPr>
          <p:cNvPr id="15" name="Text 12"/>
          <p:cNvSpPr/>
          <p:nvPr/>
        </p:nvSpPr>
        <p:spPr>
          <a:xfrm>
            <a:off x="7476768" y="1811179"/>
            <a:ext cx="1896785" cy="197168"/>
          </a:xfrm>
          <a:prstGeom prst="rect">
            <a:avLst/>
          </a:prstGeom>
          <a:noFill/>
          <a:ln/>
        </p:spPr>
        <p:txBody>
          <a:bodyPr wrap="none" lIns="0" tIns="0" rIns="0" bIns="0" rtlCol="0" anchor="t"/>
          <a:lstStyle/>
          <a:p>
            <a:pPr algn="l" indent="0" marL="0">
              <a:lnSpc>
                <a:spcPts val="1550"/>
              </a:lnSpc>
              <a:buNone/>
            </a:pPr>
            <a:r>
              <a:rPr lang="en-US" sz="1200" dirty="0">
                <a:solidFill>
                  <a:srgbClr val="00674F"/>
                </a:solidFill>
                <a:latin typeface="Crimson Pro Semi Bold" pitchFamily="34" charset="0"/>
                <a:ea typeface="Crimson Pro Semi Bold" pitchFamily="34" charset="-122"/>
                <a:cs typeface="Crimson Pro Semi Bold" pitchFamily="34" charset="-120"/>
              </a:rPr>
              <a:t>Operational Impact Timeline</a:t>
            </a:r>
            <a:endParaRPr lang="en-US" sz="1200" dirty="0"/>
          </a:p>
        </p:txBody>
      </p:sp>
      <p:sp>
        <p:nvSpPr>
          <p:cNvPr id="16" name="Shape 13"/>
          <p:cNvSpPr/>
          <p:nvPr/>
        </p:nvSpPr>
        <p:spPr>
          <a:xfrm>
            <a:off x="10661452" y="2098596"/>
            <a:ext cx="15240" cy="2324814"/>
          </a:xfrm>
          <a:prstGeom prst="roundRect">
            <a:avLst>
              <a:gd name="adj" fmla="val 124216"/>
            </a:avLst>
          </a:prstGeom>
          <a:solidFill>
            <a:srgbClr val="D8D4D4"/>
          </a:solidFill>
          <a:ln/>
        </p:spPr>
      </p:sp>
      <p:sp>
        <p:nvSpPr>
          <p:cNvPr id="17" name="Shape 14"/>
          <p:cNvSpPr/>
          <p:nvPr/>
        </p:nvSpPr>
        <p:spPr>
          <a:xfrm>
            <a:off x="10432018" y="2232898"/>
            <a:ext cx="252293" cy="15240"/>
          </a:xfrm>
          <a:prstGeom prst="roundRect">
            <a:avLst>
              <a:gd name="adj" fmla="val 124216"/>
            </a:avLst>
          </a:prstGeom>
          <a:solidFill>
            <a:srgbClr val="D8D4D4"/>
          </a:solidFill>
          <a:ln/>
        </p:spPr>
      </p:sp>
      <p:sp>
        <p:nvSpPr>
          <p:cNvPr id="18" name="Shape 15"/>
          <p:cNvSpPr/>
          <p:nvPr/>
        </p:nvSpPr>
        <p:spPr>
          <a:xfrm>
            <a:off x="10621804" y="2193250"/>
            <a:ext cx="94536" cy="94536"/>
          </a:xfrm>
          <a:prstGeom prst="roundRect">
            <a:avLst>
              <a:gd name="adj" fmla="val 483625"/>
            </a:avLst>
          </a:prstGeom>
          <a:solidFill>
            <a:srgbClr val="00674F"/>
          </a:solidFill>
          <a:ln/>
        </p:spPr>
      </p:sp>
      <p:sp>
        <p:nvSpPr>
          <p:cNvPr id="19" name="Text 16"/>
          <p:cNvSpPr/>
          <p:nvPr/>
        </p:nvSpPr>
        <p:spPr>
          <a:xfrm>
            <a:off x="8586907" y="2141934"/>
            <a:ext cx="1577459" cy="197168"/>
          </a:xfrm>
          <a:prstGeom prst="rect">
            <a:avLst/>
          </a:prstGeom>
          <a:noFill/>
          <a:ln/>
        </p:spPr>
        <p:txBody>
          <a:bodyPr wrap="none" lIns="0" tIns="0" rIns="0" bIns="0" rtlCol="0" anchor="t"/>
          <a:lstStyle/>
          <a:p>
            <a:pPr algn="r" indent="0" marL="0">
              <a:lnSpc>
                <a:spcPts val="1550"/>
              </a:lnSpc>
              <a:buNone/>
            </a:pPr>
            <a:r>
              <a:rPr lang="en-US" sz="1200" dirty="0">
                <a:solidFill>
                  <a:srgbClr val="000000"/>
                </a:solidFill>
                <a:latin typeface="Crimson Pro Semi Bold" pitchFamily="34" charset="0"/>
                <a:ea typeface="Crimson Pro Semi Bold" pitchFamily="34" charset="-122"/>
                <a:cs typeface="Crimson Pro Semi Bold" pitchFamily="34" charset="-120"/>
              </a:rPr>
              <a:t>March 2025</a:t>
            </a:r>
            <a:endParaRPr lang="en-US" sz="1200" dirty="0"/>
          </a:p>
        </p:txBody>
      </p:sp>
      <p:sp>
        <p:nvSpPr>
          <p:cNvPr id="20" name="Text 17"/>
          <p:cNvSpPr/>
          <p:nvPr/>
        </p:nvSpPr>
        <p:spPr>
          <a:xfrm>
            <a:off x="7476768" y="2419350"/>
            <a:ext cx="2687598" cy="660559"/>
          </a:xfrm>
          <a:prstGeom prst="rect">
            <a:avLst/>
          </a:prstGeom>
          <a:noFill/>
          <a:ln/>
        </p:spPr>
        <p:txBody>
          <a:bodyPr wrap="square" lIns="0" tIns="0" rIns="0" bIns="0" rtlCol="0" anchor="t"/>
          <a:lstStyle/>
          <a:p>
            <a:pPr algn="r" indent="0" marL="0">
              <a:lnSpc>
                <a:spcPts val="1300"/>
              </a:lnSpc>
              <a:buNone/>
            </a:pPr>
            <a:r>
              <a:rPr lang="en-US" sz="950" dirty="0">
                <a:solidFill>
                  <a:srgbClr val="000000"/>
                </a:solidFill>
                <a:latin typeface="Heebo" pitchFamily="34" charset="0"/>
                <a:ea typeface="Heebo" pitchFamily="34" charset="-122"/>
                <a:cs typeface="Heebo" pitchFamily="34" charset="-120"/>
              </a:rPr>
              <a:t>Initial infiltration of CHP plant. Nine months of stealthy reconnaissance — mapping architecture, harvesting credentials, escalating privileges.</a:t>
            </a:r>
            <a:endParaRPr lang="en-US" sz="950" dirty="0"/>
          </a:p>
        </p:txBody>
      </p:sp>
      <p:sp>
        <p:nvSpPr>
          <p:cNvPr id="21" name="Shape 18"/>
          <p:cNvSpPr/>
          <p:nvPr/>
        </p:nvSpPr>
        <p:spPr>
          <a:xfrm>
            <a:off x="10653832" y="2898100"/>
            <a:ext cx="252293" cy="15240"/>
          </a:xfrm>
          <a:prstGeom prst="roundRect">
            <a:avLst>
              <a:gd name="adj" fmla="val 124216"/>
            </a:avLst>
          </a:prstGeom>
          <a:solidFill>
            <a:srgbClr val="D8D4D4"/>
          </a:solidFill>
          <a:ln/>
        </p:spPr>
      </p:sp>
      <p:sp>
        <p:nvSpPr>
          <p:cNvPr id="22" name="Shape 19"/>
          <p:cNvSpPr/>
          <p:nvPr/>
        </p:nvSpPr>
        <p:spPr>
          <a:xfrm>
            <a:off x="10621804" y="2858453"/>
            <a:ext cx="94536" cy="94536"/>
          </a:xfrm>
          <a:prstGeom prst="roundRect">
            <a:avLst>
              <a:gd name="adj" fmla="val 483625"/>
            </a:avLst>
          </a:prstGeom>
          <a:solidFill>
            <a:srgbClr val="00674F"/>
          </a:solidFill>
          <a:ln/>
        </p:spPr>
      </p:sp>
      <p:sp>
        <p:nvSpPr>
          <p:cNvPr id="23" name="Text 20"/>
          <p:cNvSpPr/>
          <p:nvPr/>
        </p:nvSpPr>
        <p:spPr>
          <a:xfrm>
            <a:off x="11173778" y="2807137"/>
            <a:ext cx="1677948" cy="197168"/>
          </a:xfrm>
          <a:prstGeom prst="rect">
            <a:avLst/>
          </a:prstGeom>
          <a:noFill/>
          <a:ln/>
        </p:spPr>
        <p:txBody>
          <a:bodyPr wrap="none" lIns="0" tIns="0" rIns="0" bIns="0" rtlCol="0" anchor="t"/>
          <a:lstStyle/>
          <a:p>
            <a:pPr algn="l" indent="0" marL="0">
              <a:lnSpc>
                <a:spcPts val="1550"/>
              </a:lnSpc>
              <a:buNone/>
            </a:pPr>
            <a:r>
              <a:rPr lang="en-US" sz="1200" dirty="0">
                <a:solidFill>
                  <a:srgbClr val="000000"/>
                </a:solidFill>
                <a:latin typeface="Crimson Pro Semi Bold" pitchFamily="34" charset="0"/>
                <a:ea typeface="Crimson Pro Semi Bold" pitchFamily="34" charset="-122"/>
                <a:cs typeface="Crimson Pro Semi Bold" pitchFamily="34" charset="-120"/>
              </a:rPr>
              <a:t>Dec 2025 (Pre-Execution)</a:t>
            </a:r>
            <a:endParaRPr lang="en-US" sz="1200" dirty="0"/>
          </a:p>
        </p:txBody>
      </p:sp>
      <p:sp>
        <p:nvSpPr>
          <p:cNvPr id="24" name="Text 21"/>
          <p:cNvSpPr/>
          <p:nvPr/>
        </p:nvSpPr>
        <p:spPr>
          <a:xfrm>
            <a:off x="11173778" y="3084552"/>
            <a:ext cx="2687717" cy="660559"/>
          </a:xfrm>
          <a:prstGeom prst="rect">
            <a:avLst/>
          </a:prstGeom>
          <a:noFill/>
          <a:ln/>
        </p:spPr>
        <p:txBody>
          <a:bodyPr wrap="square" lIns="0" tIns="0" rIns="0" bIns="0" rtlCol="0" anchor="t"/>
          <a:lstStyle/>
          <a:p>
            <a:pPr algn="l" indent="0" marL="0">
              <a:lnSpc>
                <a:spcPts val="1300"/>
              </a:lnSpc>
              <a:buNone/>
            </a:pPr>
            <a:r>
              <a:rPr lang="en-US" sz="950" dirty="0">
                <a:solidFill>
                  <a:srgbClr val="000000"/>
                </a:solidFill>
                <a:latin typeface="Heebo" pitchFamily="34" charset="0"/>
                <a:ea typeface="Heebo" pitchFamily="34" charset="-122"/>
                <a:cs typeface="Heebo" pitchFamily="34" charset="-120"/>
              </a:rPr>
              <a:t>Widespread exploitation of end-of-support edge devices across 30+ renewable farms. DynoWiper payload staged on compromised RTUs.</a:t>
            </a:r>
            <a:endParaRPr lang="en-US" sz="950" dirty="0"/>
          </a:p>
        </p:txBody>
      </p:sp>
      <p:sp>
        <p:nvSpPr>
          <p:cNvPr id="25" name="Shape 22"/>
          <p:cNvSpPr/>
          <p:nvPr/>
        </p:nvSpPr>
        <p:spPr>
          <a:xfrm>
            <a:off x="10432018" y="3504724"/>
            <a:ext cx="252293" cy="15240"/>
          </a:xfrm>
          <a:prstGeom prst="roundRect">
            <a:avLst>
              <a:gd name="adj" fmla="val 124216"/>
            </a:avLst>
          </a:prstGeom>
          <a:solidFill>
            <a:srgbClr val="D8D4D4"/>
          </a:solidFill>
          <a:ln/>
        </p:spPr>
      </p:sp>
      <p:sp>
        <p:nvSpPr>
          <p:cNvPr id="26" name="Shape 23"/>
          <p:cNvSpPr/>
          <p:nvPr/>
        </p:nvSpPr>
        <p:spPr>
          <a:xfrm>
            <a:off x="10621804" y="3465076"/>
            <a:ext cx="94536" cy="94536"/>
          </a:xfrm>
          <a:prstGeom prst="roundRect">
            <a:avLst>
              <a:gd name="adj" fmla="val 483625"/>
            </a:avLst>
          </a:prstGeom>
          <a:solidFill>
            <a:srgbClr val="00674F"/>
          </a:solidFill>
          <a:ln/>
        </p:spPr>
      </p:sp>
      <p:sp>
        <p:nvSpPr>
          <p:cNvPr id="27" name="Text 24"/>
          <p:cNvSpPr/>
          <p:nvPr/>
        </p:nvSpPr>
        <p:spPr>
          <a:xfrm>
            <a:off x="8586907" y="3413760"/>
            <a:ext cx="1577459" cy="197168"/>
          </a:xfrm>
          <a:prstGeom prst="rect">
            <a:avLst/>
          </a:prstGeom>
          <a:noFill/>
          <a:ln/>
        </p:spPr>
        <p:txBody>
          <a:bodyPr wrap="none" lIns="0" tIns="0" rIns="0" bIns="0" rtlCol="0" anchor="t"/>
          <a:lstStyle/>
          <a:p>
            <a:pPr algn="r" indent="0" marL="0">
              <a:lnSpc>
                <a:spcPts val="1550"/>
              </a:lnSpc>
              <a:buNone/>
            </a:pPr>
            <a:r>
              <a:rPr lang="en-US" sz="1200" dirty="0">
                <a:solidFill>
                  <a:srgbClr val="000000"/>
                </a:solidFill>
                <a:latin typeface="Crimson Pro Semi Bold" pitchFamily="34" charset="0"/>
                <a:ea typeface="Crimson Pro Semi Bold" pitchFamily="34" charset="-122"/>
                <a:cs typeface="Crimson Pro Semi Bold" pitchFamily="34" charset="-120"/>
              </a:rPr>
              <a:t>Dec 29, 2025</a:t>
            </a:r>
            <a:endParaRPr lang="en-US" sz="1200" dirty="0"/>
          </a:p>
        </p:txBody>
      </p:sp>
      <p:sp>
        <p:nvSpPr>
          <p:cNvPr id="28" name="Text 25"/>
          <p:cNvSpPr/>
          <p:nvPr/>
        </p:nvSpPr>
        <p:spPr>
          <a:xfrm>
            <a:off x="7476768" y="3691176"/>
            <a:ext cx="2687598" cy="495419"/>
          </a:xfrm>
          <a:prstGeom prst="rect">
            <a:avLst/>
          </a:prstGeom>
          <a:noFill/>
          <a:ln/>
        </p:spPr>
        <p:txBody>
          <a:bodyPr wrap="square" lIns="0" tIns="0" rIns="0" bIns="0" rtlCol="0" anchor="t"/>
          <a:lstStyle/>
          <a:p>
            <a:pPr algn="r" indent="0" marL="0">
              <a:lnSpc>
                <a:spcPts val="1300"/>
              </a:lnSpc>
              <a:buNone/>
            </a:pPr>
            <a:r>
              <a:rPr lang="en-US" sz="950" dirty="0">
                <a:solidFill>
                  <a:srgbClr val="000000"/>
                </a:solidFill>
                <a:latin typeface="Heebo" pitchFamily="34" charset="0"/>
                <a:ea typeface="Heebo" pitchFamily="34" charset="-122"/>
                <a:cs typeface="Heebo" pitchFamily="34" charset="-120"/>
              </a:rPr>
              <a:t>Coordinated simultaneous detonation across all targets — timed with severe winter storms to maximize humanitarian impact.</a:t>
            </a:r>
            <a:endParaRPr lang="en-US" sz="950" dirty="0"/>
          </a:p>
        </p:txBody>
      </p:sp>
      <p:sp>
        <p:nvSpPr>
          <p:cNvPr id="29" name="Text 26"/>
          <p:cNvSpPr/>
          <p:nvPr/>
        </p:nvSpPr>
        <p:spPr>
          <a:xfrm>
            <a:off x="776526" y="4634032"/>
            <a:ext cx="3008352" cy="315516"/>
          </a:xfrm>
          <a:prstGeom prst="rect">
            <a:avLst/>
          </a:prstGeom>
          <a:noFill/>
          <a:ln/>
        </p:spPr>
        <p:txBody>
          <a:bodyPr wrap="none" lIns="0" tIns="0" rIns="0" bIns="0" rtlCol="0" anchor="t"/>
          <a:lstStyle/>
          <a:p>
            <a:pPr algn="l" indent="0" marL="0">
              <a:lnSpc>
                <a:spcPts val="2450"/>
              </a:lnSpc>
              <a:buNone/>
            </a:pPr>
            <a:r>
              <a:rPr lang="en-US" sz="1950" dirty="0">
                <a:solidFill>
                  <a:srgbClr val="00674F"/>
                </a:solidFill>
                <a:latin typeface="Crimson Pro Semi Bold" pitchFamily="34" charset="0"/>
                <a:ea typeface="Crimson Pro Semi Bold" pitchFamily="34" charset="-122"/>
                <a:cs typeface="Crimson Pro Semi Bold" pitchFamily="34" charset="-120"/>
              </a:rPr>
              <a:t>Financial Impact &amp; Outcome</a:t>
            </a:r>
            <a:endParaRPr lang="en-US" sz="1950" dirty="0"/>
          </a:p>
        </p:txBody>
      </p:sp>
      <p:sp>
        <p:nvSpPr>
          <p:cNvPr id="30" name="Text 27"/>
          <p:cNvSpPr/>
          <p:nvPr/>
        </p:nvSpPr>
        <p:spPr>
          <a:xfrm>
            <a:off x="776526" y="5069919"/>
            <a:ext cx="13077349" cy="495419"/>
          </a:xfrm>
          <a:prstGeom prst="rect">
            <a:avLst/>
          </a:prstGeom>
          <a:noFill/>
          <a:ln/>
        </p:spPr>
        <p:txBody>
          <a:bodyPr wrap="square" lIns="0" tIns="0" rIns="0" bIns="0" rtlCol="0" anchor="t"/>
          <a:lstStyle/>
          <a:p>
            <a:pPr algn="l" indent="0" marL="0">
              <a:lnSpc>
                <a:spcPts val="1300"/>
              </a:lnSpc>
              <a:buNone/>
            </a:pPr>
            <a:r>
              <a:rPr lang="en-US" sz="950" dirty="0">
                <a:solidFill>
                  <a:srgbClr val="000000"/>
                </a:solidFill>
                <a:latin typeface="Heebo" pitchFamily="34" charset="0"/>
                <a:ea typeface="Heebo" pitchFamily="34" charset="-122"/>
                <a:cs typeface="Heebo" pitchFamily="34" charset="-120"/>
              </a:rPr>
              <a:t>At renewable farms, DynoWiper destroyed HMI data and corrupted firmware — </a:t>
            </a:r>
            <a:pPr algn="l" indent="0" marL="0">
              <a:lnSpc>
                <a:spcPts val="1300"/>
              </a:lnSpc>
              <a:buNone/>
            </a:pPr>
            <a:r>
              <a:rPr lang="en-US" sz="950" b="1" dirty="0">
                <a:solidFill>
                  <a:srgbClr val="000000"/>
                </a:solidFill>
                <a:latin typeface="Heebo" pitchFamily="34" charset="0"/>
                <a:ea typeface="Heebo" pitchFamily="34" charset="-122"/>
                <a:cs typeface="Heebo" pitchFamily="34" charset="-120"/>
              </a:rPr>
              <a:t>total loss of view and control</a:t>
            </a:r>
            <a:pPr algn="l" indent="0" marL="0">
              <a:lnSpc>
                <a:spcPts val="1300"/>
              </a:lnSpc>
              <a:buNone/>
            </a:pPr>
            <a:r>
              <a:rPr lang="en-US" sz="950" dirty="0">
                <a:solidFill>
                  <a:srgbClr val="000000"/>
                </a:solidFill>
                <a:latin typeface="Heebo" pitchFamily="34" charset="0"/>
                <a:ea typeface="Heebo" pitchFamily="34" charset="-122"/>
                <a:cs typeface="Heebo" pitchFamily="34" charset="-120"/>
              </a:rPr>
              <a:t>. However, physical generation continued autonomously via local PLC logic. At the CHP plant, the catastrophic intent to disrupt heating for 500,000 citizens </a:t>
            </a:r>
            <a:pPr algn="l" indent="0" marL="0">
              <a:lnSpc>
                <a:spcPts val="1300"/>
              </a:lnSpc>
              <a:buNone/>
            </a:pPr>
            <a:r>
              <a:rPr lang="en-US" sz="950" b="1" dirty="0">
                <a:solidFill>
                  <a:srgbClr val="000000"/>
                </a:solidFill>
                <a:latin typeface="Heebo" pitchFamily="34" charset="0"/>
                <a:ea typeface="Heebo" pitchFamily="34" charset="-122"/>
                <a:cs typeface="Heebo" pitchFamily="34" charset="-120"/>
              </a:rPr>
              <a:t>failed completely</a:t>
            </a:r>
            <a:pPr algn="l" indent="0" marL="0">
              <a:lnSpc>
                <a:spcPts val="1300"/>
              </a:lnSpc>
              <a:buNone/>
            </a:pPr>
            <a:r>
              <a:rPr lang="en-US" sz="950" dirty="0">
                <a:solidFill>
                  <a:srgbClr val="000000"/>
                </a:solidFill>
                <a:latin typeface="Heebo" pitchFamily="34" charset="0"/>
                <a:ea typeface="Heebo" pitchFamily="34" charset="-122"/>
                <a:cs typeface="Heebo" pitchFamily="34" charset="-120"/>
              </a:rPr>
              <a:t> — the payload was intercepted by the plant's internal </a:t>
            </a:r>
            <a:pPr algn="l" indent="0" marL="0">
              <a:lnSpc>
                <a:spcPts val="1300"/>
              </a:lnSpc>
              <a:buNone/>
            </a:pPr>
            <a:r>
              <a:rPr lang="en-US" sz="950" b="1" dirty="0">
                <a:solidFill>
                  <a:srgbClr val="000000"/>
                </a:solidFill>
                <a:latin typeface="Heebo" pitchFamily="34" charset="0"/>
                <a:ea typeface="Heebo" pitchFamily="34" charset="-122"/>
                <a:cs typeface="Heebo" pitchFamily="34" charset="-120"/>
              </a:rPr>
              <a:t>EDR software</a:t>
            </a:r>
            <a:pPr algn="l" indent="0" marL="0">
              <a:lnSpc>
                <a:spcPts val="1300"/>
              </a:lnSpc>
              <a:buNone/>
            </a:pPr>
            <a:r>
              <a:rPr lang="en-US" sz="950" dirty="0">
                <a:solidFill>
                  <a:srgbClr val="000000"/>
                </a:solidFill>
                <a:latin typeface="Heebo" pitchFamily="34" charset="0"/>
                <a:ea typeface="Heebo" pitchFamily="34" charset="-122"/>
                <a:cs typeface="Heebo" pitchFamily="34" charset="-120"/>
              </a:rPr>
              <a:t>. Financial impact was contained to incident response costs, forensic investigations, and capital-intensive replacement of permanently bricked edge devices.</a:t>
            </a:r>
            <a:endParaRPr lang="en-US" sz="950" dirty="0"/>
          </a:p>
        </p:txBody>
      </p:sp>
      <p:sp>
        <p:nvSpPr>
          <p:cNvPr id="31" name="Text 28"/>
          <p:cNvSpPr/>
          <p:nvPr/>
        </p:nvSpPr>
        <p:spPr>
          <a:xfrm>
            <a:off x="776526" y="5685711"/>
            <a:ext cx="2524006" cy="315516"/>
          </a:xfrm>
          <a:prstGeom prst="rect">
            <a:avLst/>
          </a:prstGeom>
          <a:noFill/>
          <a:ln/>
        </p:spPr>
        <p:txBody>
          <a:bodyPr wrap="none" lIns="0" tIns="0" rIns="0" bIns="0" rtlCol="0" anchor="t"/>
          <a:lstStyle/>
          <a:p>
            <a:pPr algn="l" indent="0" marL="0">
              <a:lnSpc>
                <a:spcPts val="2450"/>
              </a:lnSpc>
              <a:buNone/>
            </a:pPr>
            <a:r>
              <a:rPr lang="en-US" sz="1950" dirty="0">
                <a:solidFill>
                  <a:srgbClr val="00674F"/>
                </a:solidFill>
                <a:latin typeface="Crimson Pro Semi Bold" pitchFamily="34" charset="0"/>
                <a:ea typeface="Crimson Pro Semi Bold" pitchFamily="34" charset="-122"/>
                <a:cs typeface="Crimson Pro Semi Bold" pitchFamily="34" charset="-120"/>
              </a:rPr>
              <a:t>Key Lessons Learned</a:t>
            </a:r>
            <a:endParaRPr lang="en-US" sz="1950" dirty="0"/>
          </a:p>
        </p:txBody>
      </p:sp>
      <p:sp>
        <p:nvSpPr>
          <p:cNvPr id="32" name="Shape 29"/>
          <p:cNvSpPr/>
          <p:nvPr/>
        </p:nvSpPr>
        <p:spPr>
          <a:xfrm>
            <a:off x="776526" y="6310789"/>
            <a:ext cx="3209092" cy="1362551"/>
          </a:xfrm>
          <a:prstGeom prst="roundRect">
            <a:avLst>
              <a:gd name="adj" fmla="val 5369"/>
            </a:avLst>
          </a:prstGeom>
          <a:solidFill>
            <a:srgbClr val="FFFFFF"/>
          </a:solidFill>
          <a:ln/>
        </p:spPr>
      </p:sp>
      <p:sp>
        <p:nvSpPr>
          <p:cNvPr id="33" name="Shape 30"/>
          <p:cNvSpPr/>
          <p:nvPr/>
        </p:nvSpPr>
        <p:spPr>
          <a:xfrm>
            <a:off x="776526" y="6295549"/>
            <a:ext cx="3209092" cy="60960"/>
          </a:xfrm>
          <a:prstGeom prst="roundRect">
            <a:avLst>
              <a:gd name="adj" fmla="val 31054"/>
            </a:avLst>
          </a:prstGeom>
          <a:solidFill>
            <a:srgbClr val="00674F"/>
          </a:solidFill>
          <a:ln/>
        </p:spPr>
      </p:sp>
      <p:sp>
        <p:nvSpPr>
          <p:cNvPr id="34" name="Shape 31"/>
          <p:cNvSpPr/>
          <p:nvPr/>
        </p:nvSpPr>
        <p:spPr>
          <a:xfrm>
            <a:off x="2191762" y="6121598"/>
            <a:ext cx="378500" cy="378500"/>
          </a:xfrm>
          <a:prstGeom prst="roundRect">
            <a:avLst>
              <a:gd name="adj" fmla="val 241585"/>
            </a:avLst>
          </a:prstGeom>
          <a:solidFill>
            <a:srgbClr val="00674F"/>
          </a:solidFill>
          <a:ln/>
        </p:spPr>
      </p:sp>
      <p:sp>
        <p:nvSpPr>
          <p:cNvPr id="35" name="Text 32"/>
          <p:cNvSpPr/>
          <p:nvPr/>
        </p:nvSpPr>
        <p:spPr>
          <a:xfrm>
            <a:off x="2305348" y="6216253"/>
            <a:ext cx="151328" cy="189190"/>
          </a:xfrm>
          <a:prstGeom prst="rect">
            <a:avLst/>
          </a:prstGeom>
          <a:noFill/>
          <a:ln/>
        </p:spPr>
        <p:txBody>
          <a:bodyPr wrap="none" lIns="0" tIns="0" rIns="0" bIns="0" rtlCol="0" anchor="t"/>
          <a:lstStyle/>
          <a:p>
            <a:pPr algn="l" indent="0" marL="0">
              <a:lnSpc>
                <a:spcPts val="1550"/>
              </a:lnSpc>
              <a:buNone/>
            </a:pPr>
            <a:r>
              <a:rPr lang="en-US" sz="1150" dirty="0">
                <a:solidFill>
                  <a:srgbClr val="FFFFFF"/>
                </a:solidFill>
                <a:latin typeface="Crimson Pro Semi Bold" pitchFamily="34" charset="0"/>
                <a:ea typeface="Crimson Pro Semi Bold" pitchFamily="34" charset="-122"/>
                <a:cs typeface="Crimson Pro Semi Bold" pitchFamily="34" charset="-120"/>
              </a:rPr>
              <a:t>1</a:t>
            </a:r>
            <a:endParaRPr lang="en-US" sz="1150" dirty="0"/>
          </a:p>
        </p:txBody>
      </p:sp>
      <p:sp>
        <p:nvSpPr>
          <p:cNvPr id="36" name="Text 33"/>
          <p:cNvSpPr/>
          <p:nvPr/>
        </p:nvSpPr>
        <p:spPr>
          <a:xfrm>
            <a:off x="917853" y="6626185"/>
            <a:ext cx="2016562" cy="197168"/>
          </a:xfrm>
          <a:prstGeom prst="rect">
            <a:avLst/>
          </a:prstGeom>
          <a:noFill/>
          <a:ln/>
        </p:spPr>
        <p:txBody>
          <a:bodyPr wrap="none" lIns="0" tIns="0" rIns="0" bIns="0" rtlCol="0" anchor="t"/>
          <a:lstStyle/>
          <a:p>
            <a:pPr algn="l" indent="0" marL="0">
              <a:lnSpc>
                <a:spcPts val="1550"/>
              </a:lnSpc>
              <a:buNone/>
            </a:pPr>
            <a:r>
              <a:rPr lang="en-US" sz="1200" dirty="0">
                <a:solidFill>
                  <a:srgbClr val="000000"/>
                </a:solidFill>
                <a:latin typeface="Crimson Pro Semi Bold" pitchFamily="34" charset="0"/>
                <a:ea typeface="Crimson Pro Semi Bold" pitchFamily="34" charset="-122"/>
                <a:cs typeface="Crimson Pro Semi Bold" pitchFamily="34" charset="-120"/>
              </a:rPr>
              <a:t>Retire Vulnerable Edge Devices</a:t>
            </a:r>
            <a:endParaRPr lang="en-US" sz="1200" dirty="0"/>
          </a:p>
        </p:txBody>
      </p:sp>
      <p:sp>
        <p:nvSpPr>
          <p:cNvPr id="37" name="Text 34"/>
          <p:cNvSpPr/>
          <p:nvPr/>
        </p:nvSpPr>
        <p:spPr>
          <a:xfrm>
            <a:off x="917853" y="6871454"/>
            <a:ext cx="2926437" cy="495419"/>
          </a:xfrm>
          <a:prstGeom prst="rect">
            <a:avLst/>
          </a:prstGeom>
          <a:noFill/>
          <a:ln/>
        </p:spPr>
        <p:txBody>
          <a:bodyPr wrap="square" lIns="0" tIns="0" rIns="0" bIns="0" rtlCol="0" anchor="t"/>
          <a:lstStyle/>
          <a:p>
            <a:pPr algn="l" indent="0" marL="0">
              <a:lnSpc>
                <a:spcPts val="1300"/>
              </a:lnSpc>
              <a:buNone/>
            </a:pPr>
            <a:r>
              <a:rPr lang="en-US" sz="950" dirty="0">
                <a:solidFill>
                  <a:srgbClr val="000000"/>
                </a:solidFill>
                <a:latin typeface="Heebo" pitchFamily="34" charset="0"/>
                <a:ea typeface="Heebo" pitchFamily="34" charset="-122"/>
                <a:cs typeface="Heebo" pitchFamily="34" charset="-120"/>
              </a:rPr>
              <a:t>Internet-facing, end-of-support hardware that cannot support modern cryptographic standards must be aggressively identified and retired.</a:t>
            </a:r>
            <a:endParaRPr lang="en-US" sz="950" dirty="0"/>
          </a:p>
        </p:txBody>
      </p:sp>
      <p:sp>
        <p:nvSpPr>
          <p:cNvPr id="38" name="Shape 35"/>
          <p:cNvSpPr/>
          <p:nvPr/>
        </p:nvSpPr>
        <p:spPr>
          <a:xfrm>
            <a:off x="4065865" y="6310789"/>
            <a:ext cx="3209211" cy="1362551"/>
          </a:xfrm>
          <a:prstGeom prst="roundRect">
            <a:avLst>
              <a:gd name="adj" fmla="val 5369"/>
            </a:avLst>
          </a:prstGeom>
          <a:solidFill>
            <a:srgbClr val="FFFFFF"/>
          </a:solidFill>
          <a:ln/>
        </p:spPr>
      </p:sp>
      <p:sp>
        <p:nvSpPr>
          <p:cNvPr id="39" name="Shape 36"/>
          <p:cNvSpPr/>
          <p:nvPr/>
        </p:nvSpPr>
        <p:spPr>
          <a:xfrm>
            <a:off x="4065865" y="6295549"/>
            <a:ext cx="3209211" cy="60960"/>
          </a:xfrm>
          <a:prstGeom prst="roundRect">
            <a:avLst>
              <a:gd name="adj" fmla="val 31054"/>
            </a:avLst>
          </a:prstGeom>
          <a:solidFill>
            <a:srgbClr val="00674F"/>
          </a:solidFill>
          <a:ln/>
        </p:spPr>
      </p:sp>
      <p:sp>
        <p:nvSpPr>
          <p:cNvPr id="40" name="Shape 37"/>
          <p:cNvSpPr/>
          <p:nvPr/>
        </p:nvSpPr>
        <p:spPr>
          <a:xfrm>
            <a:off x="5481221" y="6121598"/>
            <a:ext cx="378500" cy="378500"/>
          </a:xfrm>
          <a:prstGeom prst="roundRect">
            <a:avLst>
              <a:gd name="adj" fmla="val 241585"/>
            </a:avLst>
          </a:prstGeom>
          <a:solidFill>
            <a:srgbClr val="00674F"/>
          </a:solidFill>
          <a:ln/>
        </p:spPr>
      </p:sp>
      <p:sp>
        <p:nvSpPr>
          <p:cNvPr id="41" name="Text 38"/>
          <p:cNvSpPr/>
          <p:nvPr/>
        </p:nvSpPr>
        <p:spPr>
          <a:xfrm>
            <a:off x="5594806" y="6216253"/>
            <a:ext cx="151328" cy="189190"/>
          </a:xfrm>
          <a:prstGeom prst="rect">
            <a:avLst/>
          </a:prstGeom>
          <a:noFill/>
          <a:ln/>
        </p:spPr>
        <p:txBody>
          <a:bodyPr wrap="none" lIns="0" tIns="0" rIns="0" bIns="0" rtlCol="0" anchor="t"/>
          <a:lstStyle/>
          <a:p>
            <a:pPr algn="l" indent="0" marL="0">
              <a:lnSpc>
                <a:spcPts val="1550"/>
              </a:lnSpc>
              <a:buNone/>
            </a:pPr>
            <a:r>
              <a:rPr lang="en-US" sz="1150" dirty="0">
                <a:solidFill>
                  <a:srgbClr val="FFFFFF"/>
                </a:solidFill>
                <a:latin typeface="Crimson Pro Semi Bold" pitchFamily="34" charset="0"/>
                <a:ea typeface="Crimson Pro Semi Bold" pitchFamily="34" charset="-122"/>
                <a:cs typeface="Crimson Pro Semi Bold" pitchFamily="34" charset="-120"/>
              </a:rPr>
              <a:t>2</a:t>
            </a:r>
            <a:endParaRPr lang="en-US" sz="1150" dirty="0"/>
          </a:p>
        </p:txBody>
      </p:sp>
      <p:sp>
        <p:nvSpPr>
          <p:cNvPr id="42" name="Text 39"/>
          <p:cNvSpPr/>
          <p:nvPr/>
        </p:nvSpPr>
        <p:spPr>
          <a:xfrm>
            <a:off x="4207193" y="6626185"/>
            <a:ext cx="1713428" cy="197168"/>
          </a:xfrm>
          <a:prstGeom prst="rect">
            <a:avLst/>
          </a:prstGeom>
          <a:noFill/>
          <a:ln/>
        </p:spPr>
        <p:txBody>
          <a:bodyPr wrap="none" lIns="0" tIns="0" rIns="0" bIns="0" rtlCol="0" anchor="t"/>
          <a:lstStyle/>
          <a:p>
            <a:pPr algn="l" indent="0" marL="0">
              <a:lnSpc>
                <a:spcPts val="1550"/>
              </a:lnSpc>
              <a:buNone/>
            </a:pPr>
            <a:r>
              <a:rPr lang="en-US" sz="1200" dirty="0">
                <a:solidFill>
                  <a:srgbClr val="000000"/>
                </a:solidFill>
                <a:latin typeface="Crimson Pro Semi Bold" pitchFamily="34" charset="0"/>
                <a:ea typeface="Crimson Pro Semi Bold" pitchFamily="34" charset="-122"/>
                <a:cs typeface="Crimson Pro Semi Bold" pitchFamily="34" charset="-120"/>
              </a:rPr>
              <a:t>Hardware-Based Recovery</a:t>
            </a:r>
            <a:endParaRPr lang="en-US" sz="1200" dirty="0"/>
          </a:p>
        </p:txBody>
      </p:sp>
      <p:sp>
        <p:nvSpPr>
          <p:cNvPr id="43" name="Text 40"/>
          <p:cNvSpPr/>
          <p:nvPr/>
        </p:nvSpPr>
        <p:spPr>
          <a:xfrm>
            <a:off x="4207193" y="6871454"/>
            <a:ext cx="2926556" cy="495419"/>
          </a:xfrm>
          <a:prstGeom prst="rect">
            <a:avLst/>
          </a:prstGeom>
          <a:noFill/>
          <a:ln/>
        </p:spPr>
        <p:txBody>
          <a:bodyPr wrap="square" lIns="0" tIns="0" rIns="0" bIns="0" rtlCol="0" anchor="t"/>
          <a:lstStyle/>
          <a:p>
            <a:pPr algn="l" indent="0" marL="0">
              <a:lnSpc>
                <a:spcPts val="1300"/>
              </a:lnSpc>
              <a:buNone/>
            </a:pPr>
            <a:r>
              <a:rPr lang="en-US" sz="950" dirty="0">
                <a:solidFill>
                  <a:srgbClr val="000000"/>
                </a:solidFill>
                <a:latin typeface="Heebo" pitchFamily="34" charset="0"/>
                <a:ea typeface="Heebo" pitchFamily="34" charset="-122"/>
                <a:cs typeface="Heebo" pitchFamily="34" charset="-120"/>
              </a:rPr>
              <a:t>OT devices lacking firmware verification are subject to permanent physical destruction — offline backup and recovery strategies are essential.</a:t>
            </a:r>
            <a:endParaRPr lang="en-US" sz="950" dirty="0"/>
          </a:p>
        </p:txBody>
      </p:sp>
      <p:sp>
        <p:nvSpPr>
          <p:cNvPr id="44" name="Shape 41"/>
          <p:cNvSpPr/>
          <p:nvPr/>
        </p:nvSpPr>
        <p:spPr>
          <a:xfrm>
            <a:off x="7355324" y="6310789"/>
            <a:ext cx="3209092" cy="1362551"/>
          </a:xfrm>
          <a:prstGeom prst="roundRect">
            <a:avLst>
              <a:gd name="adj" fmla="val 5369"/>
            </a:avLst>
          </a:prstGeom>
          <a:solidFill>
            <a:srgbClr val="FFFFFF"/>
          </a:solidFill>
          <a:ln/>
        </p:spPr>
      </p:sp>
      <p:sp>
        <p:nvSpPr>
          <p:cNvPr id="45" name="Shape 42"/>
          <p:cNvSpPr/>
          <p:nvPr/>
        </p:nvSpPr>
        <p:spPr>
          <a:xfrm>
            <a:off x="7355324" y="6295549"/>
            <a:ext cx="3209092" cy="60960"/>
          </a:xfrm>
          <a:prstGeom prst="roundRect">
            <a:avLst>
              <a:gd name="adj" fmla="val 31054"/>
            </a:avLst>
          </a:prstGeom>
          <a:solidFill>
            <a:srgbClr val="00674F"/>
          </a:solidFill>
          <a:ln/>
        </p:spPr>
      </p:sp>
      <p:sp>
        <p:nvSpPr>
          <p:cNvPr id="46" name="Shape 43"/>
          <p:cNvSpPr/>
          <p:nvPr/>
        </p:nvSpPr>
        <p:spPr>
          <a:xfrm>
            <a:off x="8770560" y="6121598"/>
            <a:ext cx="378500" cy="378500"/>
          </a:xfrm>
          <a:prstGeom prst="roundRect">
            <a:avLst>
              <a:gd name="adj" fmla="val 241585"/>
            </a:avLst>
          </a:prstGeom>
          <a:solidFill>
            <a:srgbClr val="00674F"/>
          </a:solidFill>
          <a:ln/>
        </p:spPr>
      </p:sp>
      <p:sp>
        <p:nvSpPr>
          <p:cNvPr id="47" name="Text 44"/>
          <p:cNvSpPr/>
          <p:nvPr/>
        </p:nvSpPr>
        <p:spPr>
          <a:xfrm>
            <a:off x="8884146" y="6216253"/>
            <a:ext cx="151328" cy="189190"/>
          </a:xfrm>
          <a:prstGeom prst="rect">
            <a:avLst/>
          </a:prstGeom>
          <a:noFill/>
          <a:ln/>
        </p:spPr>
        <p:txBody>
          <a:bodyPr wrap="none" lIns="0" tIns="0" rIns="0" bIns="0" rtlCol="0" anchor="t"/>
          <a:lstStyle/>
          <a:p>
            <a:pPr algn="l" indent="0" marL="0">
              <a:lnSpc>
                <a:spcPts val="1550"/>
              </a:lnSpc>
              <a:buNone/>
            </a:pPr>
            <a:r>
              <a:rPr lang="en-US" sz="1150" dirty="0">
                <a:solidFill>
                  <a:srgbClr val="FFFFFF"/>
                </a:solidFill>
                <a:latin typeface="Crimson Pro Semi Bold" pitchFamily="34" charset="0"/>
                <a:ea typeface="Crimson Pro Semi Bold" pitchFamily="34" charset="-122"/>
                <a:cs typeface="Crimson Pro Semi Bold" pitchFamily="34" charset="-120"/>
              </a:rPr>
              <a:t>3</a:t>
            </a:r>
            <a:endParaRPr lang="en-US" sz="1150" dirty="0"/>
          </a:p>
        </p:txBody>
      </p:sp>
      <p:sp>
        <p:nvSpPr>
          <p:cNvPr id="48" name="Text 45"/>
          <p:cNvSpPr/>
          <p:nvPr/>
        </p:nvSpPr>
        <p:spPr>
          <a:xfrm>
            <a:off x="7496651" y="6626185"/>
            <a:ext cx="1592461" cy="197168"/>
          </a:xfrm>
          <a:prstGeom prst="rect">
            <a:avLst/>
          </a:prstGeom>
          <a:noFill/>
          <a:ln/>
        </p:spPr>
        <p:txBody>
          <a:bodyPr wrap="none" lIns="0" tIns="0" rIns="0" bIns="0" rtlCol="0" anchor="t"/>
          <a:lstStyle/>
          <a:p>
            <a:pPr algn="l" indent="0" marL="0">
              <a:lnSpc>
                <a:spcPts val="1550"/>
              </a:lnSpc>
              <a:buNone/>
            </a:pPr>
            <a:r>
              <a:rPr lang="en-US" sz="1200" dirty="0">
                <a:solidFill>
                  <a:srgbClr val="000000"/>
                </a:solidFill>
                <a:latin typeface="Crimson Pro Semi Bold" pitchFamily="34" charset="0"/>
                <a:ea typeface="Crimson Pro Semi Bold" pitchFamily="34" charset="-122"/>
                <a:cs typeface="Crimson Pro Semi Bold" pitchFamily="34" charset="-120"/>
              </a:rPr>
              <a:t>EDR at the OT Boundary</a:t>
            </a:r>
            <a:endParaRPr lang="en-US" sz="1200" dirty="0"/>
          </a:p>
        </p:txBody>
      </p:sp>
      <p:sp>
        <p:nvSpPr>
          <p:cNvPr id="49" name="Text 46"/>
          <p:cNvSpPr/>
          <p:nvPr/>
        </p:nvSpPr>
        <p:spPr>
          <a:xfrm>
            <a:off x="7496651" y="6871454"/>
            <a:ext cx="2926437" cy="660559"/>
          </a:xfrm>
          <a:prstGeom prst="rect">
            <a:avLst/>
          </a:prstGeom>
          <a:noFill/>
          <a:ln/>
        </p:spPr>
        <p:txBody>
          <a:bodyPr wrap="square" lIns="0" tIns="0" rIns="0" bIns="0" rtlCol="0" anchor="t"/>
          <a:lstStyle/>
          <a:p>
            <a:pPr algn="l" indent="0" marL="0">
              <a:lnSpc>
                <a:spcPts val="1300"/>
              </a:lnSpc>
              <a:buNone/>
            </a:pPr>
            <a:r>
              <a:rPr lang="en-US" sz="950" dirty="0">
                <a:solidFill>
                  <a:srgbClr val="000000"/>
                </a:solidFill>
                <a:latin typeface="Heebo" pitchFamily="34" charset="0"/>
                <a:ea typeface="Heebo" pitchFamily="34" charset="-122"/>
                <a:cs typeface="Heebo" pitchFamily="34" charset="-120"/>
              </a:rPr>
              <a:t>The CHP plant's successful containment was entirely dependent on properly configured EDR — deep network visibility is mandatory in legacy environments.</a:t>
            </a:r>
            <a:endParaRPr lang="en-US" sz="950" dirty="0"/>
          </a:p>
        </p:txBody>
      </p:sp>
      <p:sp>
        <p:nvSpPr>
          <p:cNvPr id="50" name="Shape 47"/>
          <p:cNvSpPr/>
          <p:nvPr/>
        </p:nvSpPr>
        <p:spPr>
          <a:xfrm>
            <a:off x="10644664" y="6310789"/>
            <a:ext cx="3209211" cy="1362551"/>
          </a:xfrm>
          <a:prstGeom prst="roundRect">
            <a:avLst>
              <a:gd name="adj" fmla="val 5369"/>
            </a:avLst>
          </a:prstGeom>
          <a:solidFill>
            <a:srgbClr val="FFFFFF"/>
          </a:solidFill>
          <a:ln/>
        </p:spPr>
      </p:sp>
      <p:sp>
        <p:nvSpPr>
          <p:cNvPr id="51" name="Shape 48"/>
          <p:cNvSpPr/>
          <p:nvPr/>
        </p:nvSpPr>
        <p:spPr>
          <a:xfrm>
            <a:off x="10644664" y="6295549"/>
            <a:ext cx="3209211" cy="60960"/>
          </a:xfrm>
          <a:prstGeom prst="roundRect">
            <a:avLst>
              <a:gd name="adj" fmla="val 31054"/>
            </a:avLst>
          </a:prstGeom>
          <a:solidFill>
            <a:srgbClr val="00674F"/>
          </a:solidFill>
          <a:ln/>
        </p:spPr>
      </p:sp>
      <p:sp>
        <p:nvSpPr>
          <p:cNvPr id="52" name="Shape 49"/>
          <p:cNvSpPr/>
          <p:nvPr/>
        </p:nvSpPr>
        <p:spPr>
          <a:xfrm>
            <a:off x="12060019" y="6121598"/>
            <a:ext cx="378500" cy="378500"/>
          </a:xfrm>
          <a:prstGeom prst="roundRect">
            <a:avLst>
              <a:gd name="adj" fmla="val 241585"/>
            </a:avLst>
          </a:prstGeom>
          <a:solidFill>
            <a:srgbClr val="00674F"/>
          </a:solidFill>
          <a:ln/>
        </p:spPr>
      </p:sp>
      <p:sp>
        <p:nvSpPr>
          <p:cNvPr id="53" name="Text 50"/>
          <p:cNvSpPr/>
          <p:nvPr/>
        </p:nvSpPr>
        <p:spPr>
          <a:xfrm>
            <a:off x="12173605" y="6216253"/>
            <a:ext cx="151328" cy="189190"/>
          </a:xfrm>
          <a:prstGeom prst="rect">
            <a:avLst/>
          </a:prstGeom>
          <a:noFill/>
          <a:ln/>
        </p:spPr>
        <p:txBody>
          <a:bodyPr wrap="none" lIns="0" tIns="0" rIns="0" bIns="0" rtlCol="0" anchor="t"/>
          <a:lstStyle/>
          <a:p>
            <a:pPr algn="l" indent="0" marL="0">
              <a:lnSpc>
                <a:spcPts val="1550"/>
              </a:lnSpc>
              <a:buNone/>
            </a:pPr>
            <a:r>
              <a:rPr lang="en-US" sz="1150" dirty="0">
                <a:solidFill>
                  <a:srgbClr val="FFFFFF"/>
                </a:solidFill>
                <a:latin typeface="Crimson Pro Semi Bold" pitchFamily="34" charset="0"/>
                <a:ea typeface="Crimson Pro Semi Bold" pitchFamily="34" charset="-122"/>
                <a:cs typeface="Crimson Pro Semi Bold" pitchFamily="34" charset="-120"/>
              </a:rPr>
              <a:t>4</a:t>
            </a:r>
            <a:endParaRPr lang="en-US" sz="1150" dirty="0"/>
          </a:p>
        </p:txBody>
      </p:sp>
      <p:sp>
        <p:nvSpPr>
          <p:cNvPr id="54" name="Text 51"/>
          <p:cNvSpPr/>
          <p:nvPr/>
        </p:nvSpPr>
        <p:spPr>
          <a:xfrm>
            <a:off x="10785991" y="6626185"/>
            <a:ext cx="1654850" cy="197168"/>
          </a:xfrm>
          <a:prstGeom prst="rect">
            <a:avLst/>
          </a:prstGeom>
          <a:noFill/>
          <a:ln/>
        </p:spPr>
        <p:txBody>
          <a:bodyPr wrap="none" lIns="0" tIns="0" rIns="0" bIns="0" rtlCol="0" anchor="t"/>
          <a:lstStyle/>
          <a:p>
            <a:pPr algn="l" indent="0" marL="0">
              <a:lnSpc>
                <a:spcPts val="1550"/>
              </a:lnSpc>
              <a:buNone/>
            </a:pPr>
            <a:r>
              <a:rPr lang="en-US" sz="1200" dirty="0">
                <a:solidFill>
                  <a:srgbClr val="000000"/>
                </a:solidFill>
                <a:latin typeface="Crimson Pro Semi Bold" pitchFamily="34" charset="0"/>
                <a:ea typeface="Crimson Pro Semi Bold" pitchFamily="34" charset="-122"/>
                <a:cs typeface="Crimson Pro Semi Bold" pitchFamily="34" charset="-120"/>
              </a:rPr>
              <a:t>Proactive Threat Hunting</a:t>
            </a:r>
            <a:endParaRPr lang="en-US" sz="1200" dirty="0"/>
          </a:p>
        </p:txBody>
      </p:sp>
      <p:sp>
        <p:nvSpPr>
          <p:cNvPr id="55" name="Text 52"/>
          <p:cNvSpPr/>
          <p:nvPr/>
        </p:nvSpPr>
        <p:spPr>
          <a:xfrm>
            <a:off x="10785991" y="6871454"/>
            <a:ext cx="2926556" cy="495419"/>
          </a:xfrm>
          <a:prstGeom prst="rect">
            <a:avLst/>
          </a:prstGeom>
          <a:noFill/>
          <a:ln/>
        </p:spPr>
        <p:txBody>
          <a:bodyPr wrap="square" lIns="0" tIns="0" rIns="0" bIns="0" rtlCol="0" anchor="t"/>
          <a:lstStyle/>
          <a:p>
            <a:pPr algn="l" indent="0" marL="0">
              <a:lnSpc>
                <a:spcPts val="1300"/>
              </a:lnSpc>
              <a:buNone/>
            </a:pPr>
            <a:r>
              <a:rPr lang="en-US" sz="950" dirty="0">
                <a:solidFill>
                  <a:srgbClr val="000000"/>
                </a:solidFill>
                <a:latin typeface="Heebo" pitchFamily="34" charset="0"/>
                <a:ea typeface="Heebo" pitchFamily="34" charset="-122"/>
                <a:cs typeface="Heebo" pitchFamily="34" charset="-120"/>
              </a:rPr>
              <a:t>Adversaries dwell within critical networks for nearly a year — shift from reactive perimeter defense to continuous exposure management.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43545" y="919758"/>
            <a:ext cx="796409" cy="196810"/>
          </a:xfrm>
          <a:prstGeom prst="roundRect">
            <a:avLst>
              <a:gd name="adj" fmla="val 7368"/>
            </a:avLst>
          </a:prstGeom>
          <a:solidFill>
            <a:srgbClr val="CCFFF3"/>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5935" y="969883"/>
            <a:ext cx="96560" cy="96560"/>
          </a:xfrm>
          <a:prstGeom prst="rect">
            <a:avLst/>
          </a:prstGeom>
        </p:spPr>
      </p:pic>
      <p:sp>
        <p:nvSpPr>
          <p:cNvPr id="4" name="Text 1"/>
          <p:cNvSpPr/>
          <p:nvPr/>
        </p:nvSpPr>
        <p:spPr>
          <a:xfrm>
            <a:off x="960715" y="955953"/>
            <a:ext cx="506849" cy="124420"/>
          </a:xfrm>
          <a:prstGeom prst="rect">
            <a:avLst/>
          </a:prstGeom>
          <a:noFill/>
          <a:ln/>
        </p:spPr>
        <p:txBody>
          <a:bodyPr wrap="none" lIns="0" tIns="0" rIns="0" bIns="0" rtlCol="0" anchor="t"/>
          <a:lstStyle/>
          <a:p>
            <a:pPr algn="l" indent="0" marL="0">
              <a:lnSpc>
                <a:spcPts val="950"/>
              </a:lnSpc>
              <a:buNone/>
            </a:pPr>
            <a:r>
              <a:rPr lang="en-US" sz="750" dirty="0">
                <a:solidFill>
                  <a:srgbClr val="000000"/>
                </a:solidFill>
                <a:latin typeface="Heebo" pitchFamily="34" charset="0"/>
                <a:ea typeface="Heebo" pitchFamily="34" charset="-122"/>
                <a:cs typeface="Heebo" pitchFamily="34" charset="-120"/>
              </a:rPr>
              <a:t>CHAPTER 5</a:t>
            </a:r>
            <a:endParaRPr lang="en-US" sz="750" dirty="0"/>
          </a:p>
        </p:txBody>
      </p:sp>
      <p:sp>
        <p:nvSpPr>
          <p:cNvPr id="5" name="Text 2"/>
          <p:cNvSpPr/>
          <p:nvPr/>
        </p:nvSpPr>
        <p:spPr>
          <a:xfrm>
            <a:off x="1600319" y="955953"/>
            <a:ext cx="1109543" cy="124420"/>
          </a:xfrm>
          <a:prstGeom prst="rect">
            <a:avLst/>
          </a:prstGeom>
          <a:noFill/>
          <a:ln/>
        </p:spPr>
        <p:txBody>
          <a:bodyPr wrap="none" lIns="0" tIns="0" rIns="0" bIns="0" rtlCol="0" anchor="t"/>
          <a:lstStyle/>
          <a:p>
            <a:pPr algn="l" indent="0" marL="0">
              <a:lnSpc>
                <a:spcPts val="950"/>
              </a:lnSpc>
              <a:buNone/>
            </a:pPr>
            <a:r>
              <a:rPr lang="en-US" sz="750" dirty="0">
                <a:solidFill>
                  <a:srgbClr val="00674F"/>
                </a:solidFill>
                <a:latin typeface="Heebo" pitchFamily="34" charset="0"/>
                <a:ea typeface="Heebo" pitchFamily="34" charset="-122"/>
                <a:cs typeface="Heebo" pitchFamily="34" charset="-120"/>
              </a:rPr>
              <a:t>MITIGATION STRATEGIES</a:t>
            </a:r>
            <a:endParaRPr lang="en-US" sz="750" dirty="0"/>
          </a:p>
        </p:txBody>
      </p:sp>
      <p:sp>
        <p:nvSpPr>
          <p:cNvPr id="6" name="Text 3"/>
          <p:cNvSpPr/>
          <p:nvPr/>
        </p:nvSpPr>
        <p:spPr>
          <a:xfrm>
            <a:off x="743545" y="1145977"/>
            <a:ext cx="7251144" cy="377547"/>
          </a:xfrm>
          <a:prstGeom prst="rect">
            <a:avLst/>
          </a:prstGeom>
          <a:noFill/>
          <a:ln/>
        </p:spPr>
        <p:txBody>
          <a:bodyPr wrap="none" lIns="0" tIns="0" rIns="0" bIns="0" rtlCol="0" anchor="t"/>
          <a:lstStyle/>
          <a:p>
            <a:pPr algn="l" indent="0" marL="0">
              <a:lnSpc>
                <a:spcPts val="2950"/>
              </a:lnSpc>
              <a:buNone/>
            </a:pPr>
            <a:r>
              <a:rPr lang="en-US" sz="2350" dirty="0">
                <a:solidFill>
                  <a:srgbClr val="00674F"/>
                </a:solidFill>
                <a:latin typeface="Crimson Pro Semi Bold" pitchFamily="34" charset="0"/>
                <a:ea typeface="Crimson Pro Semi Bold" pitchFamily="34" charset="-122"/>
                <a:cs typeface="Crimson Pro Semi Bold" pitchFamily="34" charset="-120"/>
              </a:rPr>
              <a:t>Evidence-Based Cybersecurity Strategies for Utilities 2026</a:t>
            </a:r>
            <a:endParaRPr lang="en-US" sz="2350" dirty="0"/>
          </a:p>
        </p:txBody>
      </p:sp>
      <p:sp>
        <p:nvSpPr>
          <p:cNvPr id="7" name="Text 4"/>
          <p:cNvSpPr/>
          <p:nvPr/>
        </p:nvSpPr>
        <p:spPr>
          <a:xfrm>
            <a:off x="743545" y="1633776"/>
            <a:ext cx="13143309" cy="155496"/>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Utilities must abandon legacy compliance-based approaches and adopt fundamentally aggressive, evidence-based mitigation strategies. Cybersecurity is now a core pillar of </a:t>
            </a:r>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operational resilience, capital preservation, and regulatory adherence</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a:t>
            </a:r>
            <a:endParaRPr lang="en-US" sz="950" dirty="0"/>
          </a:p>
        </p:txBody>
      </p:sp>
      <p:sp>
        <p:nvSpPr>
          <p:cNvPr id="8" name="Text 5"/>
          <p:cNvSpPr/>
          <p:nvPr/>
        </p:nvSpPr>
        <p:spPr>
          <a:xfrm>
            <a:off x="743545" y="1899523"/>
            <a:ext cx="4282440" cy="302062"/>
          </a:xfrm>
          <a:prstGeom prst="rect">
            <a:avLst/>
          </a:prstGeom>
          <a:noFill/>
          <a:ln/>
        </p:spPr>
        <p:txBody>
          <a:bodyPr wrap="none" lIns="0" tIns="0" rIns="0" bIns="0" rtlCol="0" anchor="t"/>
          <a:lstStyle/>
          <a:p>
            <a:pPr algn="l" indent="0" marL="0">
              <a:lnSpc>
                <a:spcPts val="2350"/>
              </a:lnSpc>
              <a:buNone/>
            </a:pPr>
            <a:r>
              <a:rPr lang="en-US" sz="1900" dirty="0">
                <a:solidFill>
                  <a:srgbClr val="00674F"/>
                </a:solidFill>
                <a:latin typeface="Crimson Pro Semi Bold" pitchFamily="34" charset="0"/>
                <a:ea typeface="Crimson Pro Semi Bold" pitchFamily="34" charset="-122"/>
                <a:cs typeface="Crimson Pro Semi Bold" pitchFamily="34" charset="-120"/>
              </a:rPr>
              <a:t>NIS2 Directive: The Regulatory Foundation</a:t>
            </a:r>
            <a:endParaRPr lang="en-US" sz="1900" dirty="0"/>
          </a:p>
        </p:txBody>
      </p:sp>
      <p:sp>
        <p:nvSpPr>
          <p:cNvPr id="9" name="Text 6"/>
          <p:cNvSpPr/>
          <p:nvPr/>
        </p:nvSpPr>
        <p:spPr>
          <a:xfrm>
            <a:off x="743545" y="2378035"/>
            <a:ext cx="7767995" cy="466487"/>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The </a:t>
            </a:r>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NIS2 Directive</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(mandatory since October 2024) classifies energy, water, wastewater, and digital infrastructure as </a:t>
            </a:r>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"Sectors of High Criticality"</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It mandates all-hazards cyber risk management including incident handling, supply chain security, cryptography, and continuous vulnerability auditing.</a:t>
            </a:r>
            <a:endParaRPr lang="en-US" sz="950" dirty="0"/>
          </a:p>
        </p:txBody>
      </p:sp>
      <p:sp>
        <p:nvSpPr>
          <p:cNvPr id="10" name="Text 7"/>
          <p:cNvSpPr/>
          <p:nvPr/>
        </p:nvSpPr>
        <p:spPr>
          <a:xfrm>
            <a:off x="743545" y="2910721"/>
            <a:ext cx="7767995"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NIS2 establishes </a:t>
            </a:r>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direct personal legal liability</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for C-level executives and boards for gross negligence, enforced alongside penalties of up to </a:t>
            </a:r>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€10M or 2% of global annual revenue</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Initial IT/OT gap bridging frequently consumes up to </a:t>
            </a:r>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70% of first-year compliance budget</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a:t>
            </a:r>
            <a:endParaRPr lang="en-US" sz="950" dirty="0"/>
          </a:p>
        </p:txBody>
      </p:sp>
      <p:sp>
        <p:nvSpPr>
          <p:cNvPr id="11" name="Shape 8"/>
          <p:cNvSpPr/>
          <p:nvPr/>
        </p:nvSpPr>
        <p:spPr>
          <a:xfrm>
            <a:off x="8813959" y="2394585"/>
            <a:ext cx="5080397" cy="696635"/>
          </a:xfrm>
          <a:prstGeom prst="roundRect">
            <a:avLst>
              <a:gd name="adj" fmla="val 2602"/>
            </a:avLst>
          </a:prstGeom>
          <a:solidFill>
            <a:srgbClr val="B3FFED"/>
          </a:solidFill>
          <a:ln/>
        </p:spPr>
      </p:sp>
      <p:pic>
        <p:nvPicPr>
          <p:cNvPr id="12" name="Image 1" descr="preencoded.png">    </p:cNvPr>
          <p:cNvPicPr>
            <a:picLocks noChangeAspect="1"/>
          </p:cNvPicPr>
          <p:nvPr/>
        </p:nvPicPr>
        <p:blipFill>
          <a:blip r:embed="rId3"/>
          <a:stretch>
            <a:fillRect/>
          </a:stretch>
        </p:blipFill>
        <p:spPr>
          <a:xfrm>
            <a:off x="8934688" y="2554010"/>
            <a:ext cx="150971" cy="120729"/>
          </a:xfrm>
          <a:prstGeom prst="rect">
            <a:avLst/>
          </a:prstGeom>
        </p:spPr>
      </p:pic>
      <p:sp>
        <p:nvSpPr>
          <p:cNvPr id="13" name="Text 9"/>
          <p:cNvSpPr/>
          <p:nvPr/>
        </p:nvSpPr>
        <p:spPr>
          <a:xfrm>
            <a:off x="9206389" y="2498169"/>
            <a:ext cx="4567238" cy="466487"/>
          </a:xfrm>
          <a:prstGeom prst="rect">
            <a:avLst/>
          </a:prstGeom>
          <a:noFill/>
          <a:ln/>
        </p:spPr>
        <p:txBody>
          <a:bodyPr wrap="squar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Critical:</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Regulatory compliance does not equal active security. True cyber resilience demands evidence-based controls that yield quantifiable, verifiable risk reduction beyond NIS2 minimums.</a:t>
            </a:r>
            <a:endParaRPr lang="en-US" sz="950" dirty="0"/>
          </a:p>
        </p:txBody>
      </p:sp>
      <p:sp>
        <p:nvSpPr>
          <p:cNvPr id="14" name="Text 10"/>
          <p:cNvSpPr/>
          <p:nvPr/>
        </p:nvSpPr>
        <p:spPr>
          <a:xfrm>
            <a:off x="743545" y="3398163"/>
            <a:ext cx="2452211" cy="302062"/>
          </a:xfrm>
          <a:prstGeom prst="rect">
            <a:avLst/>
          </a:prstGeom>
          <a:noFill/>
          <a:ln/>
        </p:spPr>
        <p:txBody>
          <a:bodyPr wrap="none" lIns="0" tIns="0" rIns="0" bIns="0" rtlCol="0" anchor="t"/>
          <a:lstStyle/>
          <a:p>
            <a:pPr algn="l" indent="0" marL="0">
              <a:lnSpc>
                <a:spcPts val="2350"/>
              </a:lnSpc>
              <a:buNone/>
            </a:pPr>
            <a:r>
              <a:rPr lang="en-US" sz="1900" dirty="0">
                <a:solidFill>
                  <a:srgbClr val="00674F"/>
                </a:solidFill>
                <a:latin typeface="Crimson Pro Semi Bold" pitchFamily="34" charset="0"/>
                <a:ea typeface="Crimson Pro Semi Bold" pitchFamily="34" charset="-122"/>
                <a:cs typeface="Crimson Pro Semi Bold" pitchFamily="34" charset="-120"/>
              </a:rPr>
              <a:t>Implementation Metrics</a:t>
            </a:r>
            <a:endParaRPr lang="en-US" sz="1900" dirty="0"/>
          </a:p>
        </p:txBody>
      </p:sp>
      <p:sp>
        <p:nvSpPr>
          <p:cNvPr id="15" name="Shape 11"/>
          <p:cNvSpPr/>
          <p:nvPr/>
        </p:nvSpPr>
        <p:spPr>
          <a:xfrm>
            <a:off x="743545" y="3810476"/>
            <a:ext cx="13143309" cy="2086928"/>
          </a:xfrm>
          <a:prstGeom prst="roundRect">
            <a:avLst>
              <a:gd name="adj" fmla="val 869"/>
            </a:avLst>
          </a:prstGeom>
          <a:noFill/>
          <a:ln w="7620">
            <a:solidFill>
              <a:srgbClr val="000000">
                <a:alpha val="8000"/>
              </a:srgbClr>
            </a:solidFill>
            <a:prstDash val="solid"/>
          </a:ln>
        </p:spPr>
      </p:sp>
      <p:sp>
        <p:nvSpPr>
          <p:cNvPr id="16" name="Shape 12"/>
          <p:cNvSpPr/>
          <p:nvPr/>
        </p:nvSpPr>
        <p:spPr>
          <a:xfrm>
            <a:off x="751165" y="3818096"/>
            <a:ext cx="13128069" cy="258842"/>
          </a:xfrm>
          <a:prstGeom prst="rect">
            <a:avLst/>
          </a:prstGeom>
          <a:solidFill>
            <a:srgbClr val="FFFFFF">
              <a:alpha val="4000"/>
            </a:srgbClr>
          </a:solidFill>
          <a:ln/>
        </p:spPr>
      </p:sp>
      <p:sp>
        <p:nvSpPr>
          <p:cNvPr id="17" name="Text 13"/>
          <p:cNvSpPr/>
          <p:nvPr/>
        </p:nvSpPr>
        <p:spPr>
          <a:xfrm>
            <a:off x="872133" y="3869769"/>
            <a:ext cx="2380298"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Strategy</a:t>
            </a:r>
            <a:endParaRPr lang="en-US" sz="950" dirty="0"/>
          </a:p>
        </p:txBody>
      </p:sp>
      <p:sp>
        <p:nvSpPr>
          <p:cNvPr id="18" name="Text 14"/>
          <p:cNvSpPr/>
          <p:nvPr/>
        </p:nvSpPr>
        <p:spPr>
          <a:xfrm>
            <a:off x="3501509" y="3869769"/>
            <a:ext cx="3426738"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Effectiveness</a:t>
            </a:r>
            <a:endParaRPr lang="en-US" sz="950" dirty="0"/>
          </a:p>
        </p:txBody>
      </p:sp>
      <p:sp>
        <p:nvSpPr>
          <p:cNvPr id="19" name="Text 15"/>
          <p:cNvSpPr/>
          <p:nvPr/>
        </p:nvSpPr>
        <p:spPr>
          <a:xfrm>
            <a:off x="7177326" y="3869769"/>
            <a:ext cx="2639020"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Implementation Cost</a:t>
            </a:r>
            <a:endParaRPr lang="en-US" sz="950" dirty="0"/>
          </a:p>
        </p:txBody>
      </p:sp>
      <p:sp>
        <p:nvSpPr>
          <p:cNvPr id="20" name="Text 16"/>
          <p:cNvSpPr/>
          <p:nvPr/>
        </p:nvSpPr>
        <p:spPr>
          <a:xfrm>
            <a:off x="10065425" y="3869769"/>
            <a:ext cx="3693081"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Expected ROI</a:t>
            </a:r>
            <a:endParaRPr lang="en-US" sz="950" dirty="0"/>
          </a:p>
        </p:txBody>
      </p:sp>
      <p:sp>
        <p:nvSpPr>
          <p:cNvPr id="21" name="Shape 17"/>
          <p:cNvSpPr/>
          <p:nvPr/>
        </p:nvSpPr>
        <p:spPr>
          <a:xfrm>
            <a:off x="751165" y="4076938"/>
            <a:ext cx="13128069" cy="414338"/>
          </a:xfrm>
          <a:prstGeom prst="rect">
            <a:avLst/>
          </a:prstGeom>
          <a:solidFill>
            <a:srgbClr val="000000">
              <a:alpha val="4000"/>
            </a:srgbClr>
          </a:solidFill>
          <a:ln/>
        </p:spPr>
      </p:sp>
      <p:sp>
        <p:nvSpPr>
          <p:cNvPr id="22" name="Text 18"/>
          <p:cNvSpPr/>
          <p:nvPr/>
        </p:nvSpPr>
        <p:spPr>
          <a:xfrm>
            <a:off x="872133" y="4128611"/>
            <a:ext cx="2380298"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Micro-Segmentation &amp; Purdue Model</a:t>
            </a:r>
            <a:endParaRPr lang="en-US" sz="950" dirty="0"/>
          </a:p>
        </p:txBody>
      </p:sp>
      <p:sp>
        <p:nvSpPr>
          <p:cNvPr id="23" name="Text 19"/>
          <p:cNvSpPr/>
          <p:nvPr/>
        </p:nvSpPr>
        <p:spPr>
          <a:xfrm>
            <a:off x="3501509" y="4128611"/>
            <a:ext cx="3426738"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Cryptographically isolates PLCs/SCADA from corporate IT. Prevents lateral ransomware movement into physical plant.</a:t>
            </a:r>
            <a:endParaRPr lang="en-US" sz="950" dirty="0"/>
          </a:p>
        </p:txBody>
      </p:sp>
      <p:sp>
        <p:nvSpPr>
          <p:cNvPr id="24" name="Text 20"/>
          <p:cNvSpPr/>
          <p:nvPr/>
        </p:nvSpPr>
        <p:spPr>
          <a:xfrm>
            <a:off x="7177326" y="4128611"/>
            <a:ext cx="2639020"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High upfront CAPEX. Full architecture redesign, industrial firewalls, planned OT downtime.</a:t>
            </a:r>
            <a:endParaRPr lang="en-US" sz="950" dirty="0"/>
          </a:p>
        </p:txBody>
      </p:sp>
      <p:sp>
        <p:nvSpPr>
          <p:cNvPr id="25" name="Text 21"/>
          <p:cNvSpPr/>
          <p:nvPr/>
        </p:nvSpPr>
        <p:spPr>
          <a:xfrm>
            <a:off x="10065425" y="4128611"/>
            <a:ext cx="3693081" cy="310991"/>
          </a:xfrm>
          <a:prstGeom prst="rect">
            <a:avLst/>
          </a:prstGeom>
          <a:noFill/>
          <a:ln/>
        </p:spPr>
        <p:txBody>
          <a:bodyPr wrap="squar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High (4x–10x):</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Modeled $850K ransomware incident averted by $200K investment.</a:t>
            </a:r>
            <a:endParaRPr lang="en-US" sz="950" dirty="0"/>
          </a:p>
        </p:txBody>
      </p:sp>
      <p:sp>
        <p:nvSpPr>
          <p:cNvPr id="26" name="Shape 22"/>
          <p:cNvSpPr/>
          <p:nvPr/>
        </p:nvSpPr>
        <p:spPr>
          <a:xfrm>
            <a:off x="751165" y="4491276"/>
            <a:ext cx="13128069" cy="414338"/>
          </a:xfrm>
          <a:prstGeom prst="rect">
            <a:avLst/>
          </a:prstGeom>
          <a:solidFill>
            <a:srgbClr val="FFFFFF">
              <a:alpha val="4000"/>
            </a:srgbClr>
          </a:solidFill>
          <a:ln/>
        </p:spPr>
      </p:sp>
      <p:sp>
        <p:nvSpPr>
          <p:cNvPr id="27" name="Text 23"/>
          <p:cNvSpPr/>
          <p:nvPr/>
        </p:nvSpPr>
        <p:spPr>
          <a:xfrm>
            <a:off x="872133" y="4542949"/>
            <a:ext cx="2380298"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MFA &amp; Secure Remote Access</a:t>
            </a:r>
            <a:endParaRPr lang="en-US" sz="950" dirty="0"/>
          </a:p>
        </p:txBody>
      </p:sp>
      <p:sp>
        <p:nvSpPr>
          <p:cNvPr id="28" name="Text 24"/>
          <p:cNvSpPr/>
          <p:nvPr/>
        </p:nvSpPr>
        <p:spPr>
          <a:xfrm>
            <a:off x="3501509" y="4542949"/>
            <a:ext cx="3426738"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Neutralizes credential harvesting and unauthorized vendor access. Top insurer-ranked control.</a:t>
            </a:r>
            <a:endParaRPr lang="en-US" sz="950" dirty="0"/>
          </a:p>
        </p:txBody>
      </p:sp>
      <p:sp>
        <p:nvSpPr>
          <p:cNvPr id="29" name="Text 25"/>
          <p:cNvSpPr/>
          <p:nvPr/>
        </p:nvSpPr>
        <p:spPr>
          <a:xfrm>
            <a:off x="7177326" y="4542949"/>
            <a:ext cx="2639020"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Low-to-Medium. Identity management licensing, hardware tokens for restricted environments.</a:t>
            </a:r>
            <a:endParaRPr lang="en-US" sz="950" dirty="0"/>
          </a:p>
        </p:txBody>
      </p:sp>
      <p:sp>
        <p:nvSpPr>
          <p:cNvPr id="30" name="Text 26"/>
          <p:cNvSpPr/>
          <p:nvPr/>
        </p:nvSpPr>
        <p:spPr>
          <a:xfrm>
            <a:off x="10065425" y="4542949"/>
            <a:ext cx="3693081" cy="310991"/>
          </a:xfrm>
          <a:prstGeom prst="rect">
            <a:avLst/>
          </a:prstGeom>
          <a:noFill/>
          <a:ln/>
        </p:spPr>
        <p:txBody>
          <a:bodyPr wrap="squar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Very High:</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Closes primary vector for ~90% of identity-driven intrusions.</a:t>
            </a:r>
            <a:endParaRPr lang="en-US" sz="950" dirty="0"/>
          </a:p>
        </p:txBody>
      </p:sp>
      <p:sp>
        <p:nvSpPr>
          <p:cNvPr id="31" name="Shape 27"/>
          <p:cNvSpPr/>
          <p:nvPr/>
        </p:nvSpPr>
        <p:spPr>
          <a:xfrm>
            <a:off x="751165" y="4905613"/>
            <a:ext cx="13128069" cy="414338"/>
          </a:xfrm>
          <a:prstGeom prst="rect">
            <a:avLst/>
          </a:prstGeom>
          <a:solidFill>
            <a:srgbClr val="000000">
              <a:alpha val="4000"/>
            </a:srgbClr>
          </a:solidFill>
          <a:ln/>
        </p:spPr>
      </p:sp>
      <p:sp>
        <p:nvSpPr>
          <p:cNvPr id="32" name="Text 28"/>
          <p:cNvSpPr/>
          <p:nvPr/>
        </p:nvSpPr>
        <p:spPr>
          <a:xfrm>
            <a:off x="872133" y="4957286"/>
            <a:ext cx="2380298"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Passive OT Monitoring &amp; Asset Inventory</a:t>
            </a:r>
            <a:endParaRPr lang="en-US" sz="950" dirty="0"/>
          </a:p>
        </p:txBody>
      </p:sp>
      <p:sp>
        <p:nvSpPr>
          <p:cNvPr id="33" name="Text 29"/>
          <p:cNvSpPr/>
          <p:nvPr/>
        </p:nvSpPr>
        <p:spPr>
          <a:xfrm>
            <a:off x="3501509" y="4957286"/>
            <a:ext cx="3426738"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100% real-time visibility into edge devices. Detects anomalous Modbus/DNP3 traffic without disrupting operations.</a:t>
            </a:r>
            <a:endParaRPr lang="en-US" sz="950" dirty="0"/>
          </a:p>
        </p:txBody>
      </p:sp>
      <p:sp>
        <p:nvSpPr>
          <p:cNvPr id="34" name="Text 30"/>
          <p:cNvSpPr/>
          <p:nvPr/>
        </p:nvSpPr>
        <p:spPr>
          <a:xfrm>
            <a:off x="7177326" y="4957286"/>
            <a:ext cx="2639020"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Medium. Ruggedized OT sensors, traffic mirroring, continuous SOC analyst engagement.</a:t>
            </a:r>
            <a:endParaRPr lang="en-US" sz="950" dirty="0"/>
          </a:p>
        </p:txBody>
      </p:sp>
      <p:sp>
        <p:nvSpPr>
          <p:cNvPr id="35" name="Text 31"/>
          <p:cNvSpPr/>
          <p:nvPr/>
        </p:nvSpPr>
        <p:spPr>
          <a:xfrm>
            <a:off x="10065425" y="4957286"/>
            <a:ext cx="3693081" cy="310991"/>
          </a:xfrm>
          <a:prstGeom prst="rect">
            <a:avLst/>
          </a:prstGeom>
          <a:noFill/>
          <a:ln/>
        </p:spPr>
        <p:txBody>
          <a:bodyPr wrap="squar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Medium-High:</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Slashes MTTD — contains threats in minutes vs. months.</a:t>
            </a:r>
            <a:endParaRPr lang="en-US" sz="950" dirty="0"/>
          </a:p>
        </p:txBody>
      </p:sp>
      <p:sp>
        <p:nvSpPr>
          <p:cNvPr id="36" name="Shape 32"/>
          <p:cNvSpPr/>
          <p:nvPr/>
        </p:nvSpPr>
        <p:spPr>
          <a:xfrm>
            <a:off x="751165" y="5319951"/>
            <a:ext cx="13128069" cy="569833"/>
          </a:xfrm>
          <a:prstGeom prst="rect">
            <a:avLst/>
          </a:prstGeom>
          <a:solidFill>
            <a:srgbClr val="FFFFFF">
              <a:alpha val="4000"/>
            </a:srgbClr>
          </a:solidFill>
          <a:ln/>
        </p:spPr>
      </p:sp>
      <p:sp>
        <p:nvSpPr>
          <p:cNvPr id="37" name="Text 33"/>
          <p:cNvSpPr/>
          <p:nvPr/>
        </p:nvSpPr>
        <p:spPr>
          <a:xfrm>
            <a:off x="872133" y="5371624"/>
            <a:ext cx="2380298" cy="155496"/>
          </a:xfrm>
          <a:prstGeom prst="rect">
            <a:avLst/>
          </a:prstGeom>
          <a:noFill/>
          <a:ln/>
        </p:spPr>
        <p:txBody>
          <a:bodyPr wrap="non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CEM &amp; EDR Deployment</a:t>
            </a:r>
            <a:endParaRPr lang="en-US" sz="950" dirty="0"/>
          </a:p>
        </p:txBody>
      </p:sp>
      <p:sp>
        <p:nvSpPr>
          <p:cNvPr id="38" name="Text 34"/>
          <p:cNvSpPr/>
          <p:nvPr/>
        </p:nvSpPr>
        <p:spPr>
          <a:xfrm>
            <a:off x="3501509" y="5371624"/>
            <a:ext cx="3426738" cy="310991"/>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Predicts attack paths and neutralizes malware at endpoints before reaching control logic. Proven in Poland CHP case.</a:t>
            </a:r>
            <a:endParaRPr lang="en-US" sz="950" dirty="0"/>
          </a:p>
        </p:txBody>
      </p:sp>
      <p:sp>
        <p:nvSpPr>
          <p:cNvPr id="39" name="Text 35"/>
          <p:cNvSpPr/>
          <p:nvPr/>
        </p:nvSpPr>
        <p:spPr>
          <a:xfrm>
            <a:off x="7177326" y="5371624"/>
            <a:ext cx="2639020" cy="466487"/>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Medium-High. AI-driven platforms, skilled threat hunters for tuning and false positive management.</a:t>
            </a:r>
            <a:endParaRPr lang="en-US" sz="950" dirty="0"/>
          </a:p>
        </p:txBody>
      </p:sp>
      <p:sp>
        <p:nvSpPr>
          <p:cNvPr id="40" name="Text 36"/>
          <p:cNvSpPr/>
          <p:nvPr/>
        </p:nvSpPr>
        <p:spPr>
          <a:xfrm>
            <a:off x="10065425" y="5371624"/>
            <a:ext cx="3693081" cy="310991"/>
          </a:xfrm>
          <a:prstGeom prst="rect">
            <a:avLst/>
          </a:prstGeom>
          <a:noFill/>
          <a:ln/>
        </p:spPr>
        <p:txBody>
          <a:bodyPr wrap="square" lIns="0" tIns="0" rIns="0" bIns="0" rtlCol="0" anchor="t"/>
          <a:lstStyle/>
          <a:p>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High:</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3x less likely to suffer breaches. Avoids NIS2 penalties and preserves credit ratings.</a:t>
            </a:r>
            <a:endParaRPr lang="en-US" sz="950" dirty="0"/>
          </a:p>
        </p:txBody>
      </p:sp>
      <p:sp>
        <p:nvSpPr>
          <p:cNvPr id="41" name="Text 37"/>
          <p:cNvSpPr/>
          <p:nvPr/>
        </p:nvSpPr>
        <p:spPr>
          <a:xfrm>
            <a:off x="743545" y="6007656"/>
            <a:ext cx="2454712" cy="302062"/>
          </a:xfrm>
          <a:prstGeom prst="rect">
            <a:avLst/>
          </a:prstGeom>
          <a:noFill/>
          <a:ln/>
        </p:spPr>
        <p:txBody>
          <a:bodyPr wrap="none" lIns="0" tIns="0" rIns="0" bIns="0" rtlCol="0" anchor="t"/>
          <a:lstStyle/>
          <a:p>
            <a:pPr algn="l" indent="0" marL="0">
              <a:lnSpc>
                <a:spcPts val="2350"/>
              </a:lnSpc>
              <a:buNone/>
            </a:pPr>
            <a:r>
              <a:rPr lang="en-US" sz="1900" dirty="0">
                <a:solidFill>
                  <a:srgbClr val="00674F"/>
                </a:solidFill>
                <a:latin typeface="Crimson Pro Semi Bold" pitchFamily="34" charset="0"/>
                <a:ea typeface="Crimson Pro Semi Bold" pitchFamily="34" charset="-122"/>
                <a:cs typeface="Crimson Pro Semi Bold" pitchFamily="34" charset="-120"/>
              </a:rPr>
              <a:t>Security ROI Framework</a:t>
            </a:r>
            <a:endParaRPr lang="en-US" sz="1900" dirty="0"/>
          </a:p>
        </p:txBody>
      </p:sp>
      <p:sp>
        <p:nvSpPr>
          <p:cNvPr id="42" name="Text 38"/>
          <p:cNvSpPr/>
          <p:nvPr/>
        </p:nvSpPr>
        <p:spPr>
          <a:xfrm>
            <a:off x="743545" y="6513076"/>
            <a:ext cx="5752267" cy="388620"/>
          </a:xfrm>
          <a:prstGeom prst="rect">
            <a:avLst/>
          </a:prstGeom>
          <a:noFill/>
          <a:ln/>
        </p:spPr>
        <p:txBody>
          <a:bodyPr wrap="square" lIns="0" tIns="0" rIns="0" bIns="0" rtlCol="0" anchor="t"/>
          <a:lstStyle/>
          <a:p>
            <a:pPr algn="l" indent="0" marL="0">
              <a:lnSpc>
                <a:spcPts val="1350"/>
              </a:lnSpc>
              <a:buNone/>
            </a:pPr>
            <a:endParaRPr lang="en-US" sz="1050" dirty="0"/>
          </a:p>
        </p:txBody>
      </p:sp>
      <p:pic>
        <p:nvPicPr>
          <p:cNvPr id="43" name="Image 2" descr="preencoded.png">    </p:cNvPr>
          <p:cNvPicPr>
            <a:picLocks noChangeAspect="1"/>
          </p:cNvPicPr>
          <p:nvPr/>
        </p:nvPicPr>
        <p:blipFill>
          <a:blip r:embed="rId4"/>
          <a:stretch>
            <a:fillRect/>
          </a:stretch>
        </p:blipFill>
        <p:spPr>
          <a:xfrm>
            <a:off x="743545" y="6513076"/>
            <a:ext cx="5752267" cy="388620"/>
          </a:xfrm>
          <a:prstGeom prst="rect">
            <a:avLst/>
          </a:prstGeom>
        </p:spPr>
      </p:pic>
      <p:sp>
        <p:nvSpPr>
          <p:cNvPr id="44" name="Text 39"/>
          <p:cNvSpPr/>
          <p:nvPr/>
        </p:nvSpPr>
        <p:spPr>
          <a:xfrm>
            <a:off x="743545" y="6994803"/>
            <a:ext cx="5752267" cy="248841"/>
          </a:xfrm>
          <a:prstGeom prst="rect">
            <a:avLst/>
          </a:prstGeom>
          <a:noFill/>
          <a:ln/>
        </p:spPr>
        <p:txBody>
          <a:bodyPr wrap="square" lIns="0" tIns="0" rIns="0" bIns="0" rtlCol="0" anchor="t"/>
          <a:lstStyle/>
          <a:p>
            <a:pPr algn="l" indent="0" marL="0">
              <a:lnSpc>
                <a:spcPts val="950"/>
              </a:lnSpc>
              <a:buNone/>
            </a:pPr>
            <a:r>
              <a:rPr lang="en-US" sz="750" b="1" dirty="0">
                <a:solidFill>
                  <a:srgbClr val="000000"/>
                </a:solidFill>
                <a:latin typeface="Heebo" pitchFamily="34" charset="0"/>
                <a:ea typeface="Heebo" pitchFamily="34" charset="-122"/>
                <a:cs typeface="Heebo" pitchFamily="34" charset="-120"/>
              </a:rPr>
              <a:t>Risk Reduction Value</a:t>
            </a:r>
            <a:pPr algn="l" indent="0" marL="0">
              <a:lnSpc>
                <a:spcPts val="950"/>
              </a:lnSpc>
              <a:buNone/>
            </a:pPr>
            <a:r>
              <a:rPr lang="en-US" sz="750" dirty="0">
                <a:solidFill>
                  <a:srgbClr val="000000"/>
                </a:solidFill>
                <a:latin typeface="Heebo" pitchFamily="34" charset="0"/>
                <a:ea typeface="Heebo" pitchFamily="34" charset="-122"/>
                <a:cs typeface="Heebo" pitchFamily="34" charset="-120"/>
              </a:rPr>
              <a:t> = Probability of incident × Total estimated financial damage (regulatory fines + operational downtime + asset replacement + reputational loss)</a:t>
            </a:r>
            <a:endParaRPr lang="en-US" sz="750" dirty="0"/>
          </a:p>
        </p:txBody>
      </p:sp>
      <p:sp>
        <p:nvSpPr>
          <p:cNvPr id="45" name="Text 40"/>
          <p:cNvSpPr/>
          <p:nvPr/>
        </p:nvSpPr>
        <p:spPr>
          <a:xfrm>
            <a:off x="6979444" y="6502718"/>
            <a:ext cx="6914912" cy="466487"/>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Heebo" pitchFamily="34" charset="0"/>
                <a:ea typeface="Heebo" pitchFamily="34" charset="-122"/>
                <a:cs typeface="Heebo" pitchFamily="34" charset="-120"/>
              </a:rPr>
              <a:t>The shift toward proactive, intelligence-driven defense is not merely a technological upgrade — it is a </a:t>
            </a:r>
            <a:pPr algn="l" indent="0" marL="0">
              <a:lnSpc>
                <a:spcPts val="1200"/>
              </a:lnSpc>
              <a:buNone/>
            </a:pPr>
            <a:r>
              <a:rPr lang="en-US" sz="950" b="1" dirty="0">
                <a:solidFill>
                  <a:srgbClr val="000000"/>
                </a:solidFill>
                <a:latin typeface="Heebo" pitchFamily="34" charset="0"/>
                <a:ea typeface="Heebo" pitchFamily="34" charset="-122"/>
                <a:cs typeface="Heebo" pitchFamily="34" charset="-120"/>
              </a:rPr>
              <a:t>fundamental economic requirement</a:t>
            </a:r>
            <a:pPr algn="l" indent="0" marL="0">
              <a:lnSpc>
                <a:spcPts val="1200"/>
              </a:lnSpc>
              <a:buNone/>
            </a:pPr>
            <a:r>
              <a:rPr lang="en-US" sz="950" dirty="0">
                <a:solidFill>
                  <a:srgbClr val="000000"/>
                </a:solidFill>
                <a:latin typeface="Heebo" pitchFamily="34" charset="0"/>
                <a:ea typeface="Heebo" pitchFamily="34" charset="-122"/>
                <a:cs typeface="Heebo" pitchFamily="34" charset="-120"/>
              </a:rPr>
              <a:t> for the survival of the utilities sector. Translating cyber risks into quantifiable financial metrics ensures continuous, safe operation while protecting financial solvency in an increasingly hostile and heavily regulated digital landscape.</a:t>
            </a:r>
            <a:endParaRPr lang="en-US" sz="950" dirty="0"/>
          </a:p>
        </p:txBody>
      </p:sp>
      <p:sp>
        <p:nvSpPr>
          <p:cNvPr id="46" name="Shape 41"/>
          <p:cNvSpPr/>
          <p:nvPr/>
        </p:nvSpPr>
        <p:spPr>
          <a:xfrm>
            <a:off x="6798231" y="6502718"/>
            <a:ext cx="15240" cy="466487"/>
          </a:xfrm>
          <a:prstGeom prst="rect">
            <a:avLst/>
          </a:prstGeom>
          <a:solidFill>
            <a:srgbClr val="00674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2026-02-25T14:31:37Z</dcterms:created>
  <dcterms:modified xsi:type="dcterms:W3CDTF">2026-02-25T14:31:37Z</dcterms:modified>
</cp:coreProperties>
</file>