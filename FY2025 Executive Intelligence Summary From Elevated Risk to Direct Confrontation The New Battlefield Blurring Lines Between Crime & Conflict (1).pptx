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26212800" cy="14630400"/>
  <p:notesSz cx="6858000" cy="9144000"/>
  <p:embeddedFontLst>
    <p:embeddedFont>
      <p:font typeface="Barlow Bold" charset="1" panose="00000800000000000000"/>
      <p:regular r:id="rId10"/>
    </p:embeddedFont>
    <p:embeddedFont>
      <p:font typeface="Barlow Medium" charset="1" panose="00000600000000000000"/>
      <p:regular r:id="rId11"/>
    </p:embeddedFont>
    <p:embeddedFont>
      <p:font typeface="Roboto" charset="1" panose="02000000000000000000"/>
      <p:regular r:id="rId12"/>
    </p:embeddedFont>
    <p:embeddedFont>
      <p:font typeface="Anonymous Pro" charset="1" panose="02060609030202000504"/>
      <p:regular r:id="rId13"/>
    </p:embeddedFont>
    <p:embeddedFont>
      <p:font typeface="KG Primary Penmanship" charset="1" panose="02000506000000020003"/>
      <p:regular r:id="rId14"/>
    </p:embeddedFont>
    <p:embeddedFont>
      <p:font typeface="Courier Prime" charset="1" panose="00000509000000000000"/>
      <p:regular r:id="rId15"/>
    </p:embeddedFont>
    <p:embeddedFont>
      <p:font typeface="Arial MT Pro" charset="1" panose="020B0502020202020204"/>
      <p:regular r:id="rId16"/>
    </p:embeddedFont>
    <p:embeddedFont>
      <p:font typeface="Aleo" charset="1" panose="020F05020202040302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6212805" cy="14630400"/>
          </a:xfrm>
          <a:custGeom>
            <a:avLst/>
            <a:gdLst/>
            <a:ahLst/>
            <a:cxnLst/>
            <a:rect r="r" b="b" t="t" l="l"/>
            <a:pathLst>
              <a:path h="14630400" w="26212805">
                <a:moveTo>
                  <a:pt x="0" y="0"/>
                </a:moveTo>
                <a:lnTo>
                  <a:pt x="26212805" y="0"/>
                </a:lnTo>
                <a:lnTo>
                  <a:pt x="26212805" y="14630400"/>
                </a:lnTo>
                <a:lnTo>
                  <a:pt x="0" y="14630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14657" y="1152525"/>
            <a:ext cx="16916400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300">
                <a:solidFill>
                  <a:srgbClr val="171717"/>
                </a:solidFill>
                <a:latin typeface="Barlow Bold"/>
                <a:ea typeface="Barlow Bold"/>
                <a:cs typeface="Barlow Bold"/>
                <a:sym typeface="Barlow Bold"/>
              </a:rPr>
              <a:t>Regional Contagion: Escalation in French Public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95309" y="2143008"/>
            <a:ext cx="5800725" cy="105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12"/>
              </a:lnSpc>
            </a:pPr>
            <a:r>
              <a:rPr lang="en-US" sz="6151">
                <a:solidFill>
                  <a:srgbClr val="171717"/>
                </a:solidFill>
                <a:latin typeface="Barlow Medium"/>
                <a:ea typeface="Barlow Medium"/>
                <a:cs typeface="Barlow Medium"/>
                <a:sym typeface="Barlow Medium"/>
              </a:rPr>
              <a:t>Sector Targeting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8114" y="5891670"/>
            <a:ext cx="6410325" cy="368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4"/>
              </a:lnSpc>
            </a:pPr>
            <a:r>
              <a:rPr lang="en-US" sz="3600">
                <a:solidFill>
                  <a:srgbClr val="171717"/>
                </a:solidFill>
                <a:latin typeface="Barlow Medium"/>
                <a:ea typeface="Barlow Medium"/>
                <a:cs typeface="Barlow Medium"/>
                <a:sym typeface="Barlow Medium"/>
              </a:rPr>
              <a:t>Logistics Disruption (La Poste)</a:t>
            </a:r>
          </a:p>
          <a:p>
            <a:pPr algn="l">
              <a:lnSpc>
                <a:spcPts val="5014"/>
              </a:lnSpc>
            </a:pPr>
            <a:r>
              <a:rPr lang="en-US" sz="3600">
                <a:solidFill>
                  <a:srgbClr val="171717"/>
                </a:solidFill>
                <a:latin typeface="Barlow Medium"/>
                <a:ea typeface="Barlow Medium"/>
                <a:cs typeface="Barlow Medium"/>
                <a:sym typeface="Barlow Medium"/>
              </a:rPr>
              <a:t>Dec 23: Massive DDoS paralyzed</a:t>
            </a:r>
          </a:p>
          <a:p>
            <a:pPr algn="l">
              <a:lnSpc>
                <a:spcPts val="5014"/>
              </a:lnSpc>
            </a:pPr>
            <a:r>
              <a:rPr lang="en-US" sz="3600">
                <a:solidFill>
                  <a:srgbClr val="171717"/>
                </a:solidFill>
                <a:latin typeface="Barlow Medium"/>
                <a:ea typeface="Barlow Medium"/>
                <a:cs typeface="Barlow Medium"/>
                <a:sym typeface="Barlow Medium"/>
              </a:rPr>
              <a:t>national postal service and</a:t>
            </a:r>
          </a:p>
          <a:p>
            <a:pPr algn="l">
              <a:lnSpc>
                <a:spcPts val="5014"/>
              </a:lnSpc>
            </a:pPr>
            <a:r>
              <a:rPr lang="en-US" sz="3600">
                <a:solidFill>
                  <a:srgbClr val="171717"/>
                </a:solidFill>
                <a:latin typeface="Barlow Medium"/>
                <a:ea typeface="Barlow Medium"/>
                <a:cs typeface="Barlow Medium"/>
                <a:sym typeface="Barlow Medium"/>
              </a:rPr>
              <a:t>banking arm during pre-</a:t>
            </a:r>
          </a:p>
          <a:p>
            <a:pPr algn="l">
              <a:lnSpc>
                <a:spcPts val="4596"/>
              </a:lnSpc>
            </a:pPr>
            <a:r>
              <a:rPr lang="en-US" sz="3300">
                <a:solidFill>
                  <a:srgbClr val="171717"/>
                </a:solidFill>
                <a:latin typeface="Barlow Medium"/>
                <a:ea typeface="Barlow Medium"/>
                <a:cs typeface="Barlow Medium"/>
                <a:sym typeface="Barlow Medium"/>
              </a:rPr>
              <a:t>Christmas window. Disrupted</a:t>
            </a:r>
          </a:p>
          <a:p>
            <a:pPr algn="l">
              <a:lnSpc>
                <a:spcPts val="4805"/>
              </a:lnSpc>
            </a:pPr>
            <a:r>
              <a:rPr lang="en-US" sz="3450">
                <a:solidFill>
                  <a:srgbClr val="171717"/>
                </a:solidFill>
                <a:latin typeface="Barlow Medium"/>
                <a:ea typeface="Barlow Medium"/>
                <a:cs typeface="Barlow Medium"/>
                <a:sym typeface="Barlow Medium"/>
              </a:rPr>
              <a:t>parcel distribution and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5944" y="9782175"/>
            <a:ext cx="1857375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>
                <a:solidFill>
                  <a:srgbClr val="171717"/>
                </a:solidFill>
                <a:latin typeface="Barlow Medium"/>
                <a:ea typeface="Barlow Medium"/>
                <a:cs typeface="Barlow Medium"/>
                <a:sym typeface="Barlow Medium"/>
              </a:rPr>
              <a:t>payments.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20116" y="5857874"/>
            <a:ext cx="3886200" cy="598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US" sz="3450">
                <a:solidFill>
                  <a:srgbClr val="171717"/>
                </a:solidFill>
                <a:latin typeface="Barlow Medium"/>
                <a:ea typeface="Barlow Medium"/>
                <a:cs typeface="Barlow Medium"/>
                <a:sym typeface="Barlow Medium"/>
              </a:rPr>
              <a:t>Academic Targeting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4989" y="6943725"/>
            <a:ext cx="6553200" cy="213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4"/>
              </a:lnSpc>
            </a:pPr>
            <a:r>
              <a:rPr lang="en-US" sz="3450">
                <a:solidFill>
                  <a:srgbClr val="171717"/>
                </a:solidFill>
                <a:latin typeface="Barlow Medium"/>
                <a:ea typeface="Barlow Medium"/>
                <a:cs typeface="Barlow Medium"/>
                <a:sym typeface="Barlow Medium"/>
              </a:rPr>
              <a:t>Late Dec: University of Lille &amp;</a:t>
            </a:r>
          </a:p>
          <a:p>
            <a:pPr algn="l">
              <a:lnSpc>
                <a:spcPts val="4440"/>
              </a:lnSpc>
            </a:pPr>
            <a:r>
              <a:rPr lang="en-US" sz="3750">
                <a:solidFill>
                  <a:srgbClr val="171717"/>
                </a:solidFill>
                <a:latin typeface="Barlow Medium"/>
                <a:ea typeface="Barlow Medium"/>
                <a:cs typeface="Barlow Medium"/>
                <a:sym typeface="Barlow Medium"/>
              </a:rPr>
              <a:t>Grenoble École de Management</a:t>
            </a:r>
          </a:p>
          <a:p>
            <a:pPr algn="l">
              <a:lnSpc>
                <a:spcPts val="4262"/>
              </a:lnSpc>
            </a:pPr>
            <a:r>
              <a:rPr lang="en-US" sz="3600">
                <a:solidFill>
                  <a:srgbClr val="171717"/>
                </a:solidFill>
                <a:latin typeface="Barlow Medium"/>
                <a:ea typeface="Barlow Medium"/>
                <a:cs typeface="Barlow Medium"/>
                <a:sym typeface="Barlow Medium"/>
              </a:rPr>
              <a:t>targeted. Campaign to</a:t>
            </a:r>
          </a:p>
          <a:p>
            <a:pPr algn="l">
              <a:lnSpc>
                <a:spcPts val="4084"/>
              </a:lnSpc>
            </a:pPr>
            <a:r>
              <a:rPr lang="en-US" sz="3450">
                <a:solidFill>
                  <a:srgbClr val="171717"/>
                </a:solidFill>
                <a:latin typeface="Barlow Medium"/>
                <a:ea typeface="Barlow Medium"/>
                <a:cs typeface="Barlow Medium"/>
                <a:sym typeface="Barlow Medium"/>
              </a:rPr>
              <a:t>destabilize public trust.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716629" y="5857875"/>
            <a:ext cx="6267450" cy="598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US" sz="3450">
                <a:solidFill>
                  <a:srgbClr val="171717"/>
                </a:solidFill>
                <a:latin typeface="Barlow Medium"/>
                <a:ea typeface="Barlow Medium"/>
                <a:cs typeface="Barlow Medium"/>
                <a:sym typeface="Barlow Medium"/>
              </a:rPr>
              <a:t>Mass Data Leaks (France Travail)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116553" y="6924675"/>
            <a:ext cx="5638800" cy="206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8"/>
              </a:lnSpc>
            </a:pPr>
            <a:r>
              <a:rPr lang="en-US" sz="3600">
                <a:solidFill>
                  <a:srgbClr val="171717"/>
                </a:solidFill>
                <a:latin typeface="Barlow Medium"/>
                <a:ea typeface="Barlow Medium"/>
                <a:cs typeface="Barlow Medium"/>
                <a:sym typeface="Barlow Medium"/>
              </a:rPr>
              <a:t>Breach impacted 1 million+</a:t>
            </a:r>
          </a:p>
          <a:p>
            <a:pPr algn="l">
              <a:lnSpc>
                <a:spcPts val="3882"/>
              </a:lnSpc>
            </a:pPr>
            <a:r>
              <a:rPr lang="en-US" sz="3000">
                <a:solidFill>
                  <a:srgbClr val="171717"/>
                </a:solidFill>
                <a:latin typeface="Barlow Medium"/>
                <a:ea typeface="Barlow Medium"/>
                <a:cs typeface="Barlow Medium"/>
                <a:sym typeface="Barlow Medium"/>
              </a:rPr>
              <a:t>individuals. Dark web saturation</a:t>
            </a:r>
          </a:p>
          <a:p>
            <a:pPr algn="l">
              <a:lnSpc>
                <a:spcPts val="4076"/>
              </a:lnSpc>
            </a:pPr>
            <a:r>
              <a:rPr lang="en-US" sz="3150">
                <a:solidFill>
                  <a:srgbClr val="171717"/>
                </a:solidFill>
                <a:latin typeface="Barlow Medium"/>
                <a:ea typeface="Barlow Medium"/>
                <a:cs typeface="Barlow Medium"/>
                <a:sym typeface="Barlow Medium"/>
              </a:rPr>
              <a:t>of French PII usable for financial</a:t>
            </a:r>
          </a:p>
          <a:p>
            <a:pPr algn="l">
              <a:lnSpc>
                <a:spcPts val="3882"/>
              </a:lnSpc>
            </a:pPr>
            <a:r>
              <a:rPr lang="en-US" sz="3000">
                <a:solidFill>
                  <a:srgbClr val="171717"/>
                </a:solidFill>
                <a:latin typeface="Barlow Medium"/>
                <a:ea typeface="Barlow Medium"/>
                <a:cs typeface="Barlow Medium"/>
                <a:sym typeface="Barlow Medium"/>
              </a:rPr>
              <a:t>fraud.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6850" y="11582400"/>
            <a:ext cx="21421725" cy="1341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5"/>
              </a:lnSpc>
            </a:pPr>
            <a:r>
              <a:rPr lang="en-US" sz="4350">
                <a:solidFill>
                  <a:srgbClr val="23795D"/>
                </a:solidFill>
                <a:latin typeface="Barlow Medium"/>
                <a:ea typeface="Barlow Medium"/>
                <a:cs typeface="Barlow Medium"/>
                <a:sym typeface="Barlow Medium"/>
              </a:rPr>
              <a:t>Key Risk for Bank Leadership: Third-Party Exposure</a:t>
            </a:r>
          </a:p>
          <a:p>
            <a:pPr algn="l">
              <a:lnSpc>
                <a:spcPts val="4927"/>
              </a:lnSpc>
            </a:pPr>
            <a:r>
              <a:rPr lang="en-US" sz="3750">
                <a:solidFill>
                  <a:srgbClr val="171717"/>
                </a:solidFill>
                <a:latin typeface="Barlow Medium"/>
                <a:ea typeface="Barlow Medium"/>
                <a:cs typeface="Barlow Medium"/>
                <a:sym typeface="Barlow Medium"/>
              </a:rPr>
              <a:t>Destabilization of national infrastructure providers increases 'ripple effect' disruptions to bank logistics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9239" y="13011150"/>
            <a:ext cx="8124825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171717"/>
                </a:solidFill>
                <a:latin typeface="Barlow Medium"/>
                <a:ea typeface="Barlow Medium"/>
                <a:cs typeface="Barlow Medium"/>
                <a:sym typeface="Barlow Medium"/>
              </a:rPr>
              <a:t>(card delivery) and payroll operations.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" y="0"/>
            <a:ext cx="26212805" cy="14630400"/>
          </a:xfrm>
          <a:custGeom>
            <a:avLst/>
            <a:gdLst/>
            <a:ahLst/>
            <a:cxnLst/>
            <a:rect r="r" b="b" t="t" l="l"/>
            <a:pathLst>
              <a:path h="14630400" w="26212805">
                <a:moveTo>
                  <a:pt x="0" y="0"/>
                </a:moveTo>
                <a:lnTo>
                  <a:pt x="26212805" y="0"/>
                </a:lnTo>
                <a:lnTo>
                  <a:pt x="26212805" y="14630400"/>
                </a:lnTo>
                <a:lnTo>
                  <a:pt x="0" y="14630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85910" y="1215329"/>
            <a:ext cx="9344025" cy="2700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1"/>
              </a:lnSpc>
            </a:pPr>
            <a:r>
              <a:rPr lang="en-US" sz="5460">
                <a:solidFill>
                  <a:srgbClr val="0C0C0C"/>
                </a:solidFill>
                <a:latin typeface="Barlow Bold"/>
                <a:ea typeface="Barlow Bold"/>
                <a:cs typeface="Barlow Bold"/>
                <a:sym typeface="Barlow Bold"/>
              </a:rPr>
              <a:t>Critical Infrastructure Breach:</a:t>
            </a:r>
          </a:p>
          <a:p>
            <a:pPr algn="l">
              <a:lnSpc>
                <a:spcPts val="7191"/>
              </a:lnSpc>
            </a:pPr>
            <a:r>
              <a:rPr lang="en-US" sz="5460">
                <a:solidFill>
                  <a:srgbClr val="0C0C0C"/>
                </a:solidFill>
                <a:latin typeface="Barlow Bold"/>
                <a:ea typeface="Barlow Bold"/>
                <a:cs typeface="Barlow Bold"/>
                <a:sym typeface="Barlow Bold"/>
              </a:rPr>
              <a:t>French Ministry of the</a:t>
            </a:r>
          </a:p>
          <a:p>
            <a:pPr algn="l">
              <a:lnSpc>
                <a:spcPts val="7191"/>
              </a:lnSpc>
            </a:pPr>
            <a:r>
              <a:rPr lang="en-US" sz="5460">
                <a:solidFill>
                  <a:srgbClr val="0C0C0C"/>
                </a:solidFill>
                <a:latin typeface="Barlow Bold"/>
                <a:ea typeface="Barlow Bold"/>
                <a:cs typeface="Barlow Bold"/>
                <a:sym typeface="Barlow Bold"/>
              </a:rPr>
              <a:t>Interior ('Beauvau')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878053" y="1323975"/>
            <a:ext cx="105727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1F1F1F"/>
                </a:solidFill>
                <a:latin typeface="Barlow Bold"/>
                <a:ea typeface="Barlow Bold"/>
                <a:cs typeface="Barlow Bold"/>
                <a:sym typeface="Barlow Bold"/>
              </a:rPr>
              <a:t>Dec 11-12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231259" y="1314446"/>
            <a:ext cx="75247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1F1F1F"/>
                </a:solidFill>
                <a:latin typeface="Barlow Bold"/>
                <a:ea typeface="Barlow Bold"/>
                <a:cs typeface="Barlow Bold"/>
                <a:sym typeface="Barlow Bold"/>
              </a:rPr>
              <a:t>Dec 17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436411" y="1323974"/>
            <a:ext cx="10287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>
                <a:solidFill>
                  <a:srgbClr val="1F1F1F"/>
                </a:solidFill>
                <a:latin typeface="Barlow Bold"/>
                <a:ea typeface="Barlow Bold"/>
                <a:cs typeface="Barlow Bold"/>
                <a:sym typeface="Barlow Bold"/>
              </a:rPr>
              <a:t>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21163" y="2750500"/>
            <a:ext cx="3352800" cy="1312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0"/>
              </a:lnSpc>
            </a:pPr>
            <a:r>
              <a:rPr lang="en-US" sz="3633" spc="228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Initial Breach</a:t>
            </a:r>
          </a:p>
          <a:p>
            <a:pPr algn="ctr">
              <a:lnSpc>
                <a:spcPts val="3403"/>
              </a:lnSpc>
            </a:pPr>
            <a:r>
              <a:rPr lang="en-US" sz="3131" spc="275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Detected (Email</a:t>
            </a:r>
          </a:p>
          <a:p>
            <a:pPr algn="ctr">
              <a:lnSpc>
                <a:spcPts val="2927"/>
              </a:lnSpc>
            </a:pPr>
            <a:r>
              <a:rPr lang="en-US" sz="2692" spc="234">
                <a:solidFill>
                  <a:srgbClr val="1F1F1F"/>
                </a:solidFill>
                <a:latin typeface="Anonymous Pro"/>
                <a:ea typeface="Anonymous Pro"/>
                <a:cs typeface="Anonymous Pro"/>
                <a:sym typeface="Anonymous Pro"/>
              </a:rPr>
              <a:t>Infrastructure)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702445" y="2838449"/>
            <a:ext cx="1809750" cy="798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2"/>
              </a:lnSpc>
            </a:pPr>
            <a:r>
              <a:rPr lang="en-US" sz="2550">
                <a:solidFill>
                  <a:srgbClr val="1F1F1F"/>
                </a:solidFill>
                <a:latin typeface="Barlow Bold"/>
                <a:ea typeface="Barlow Bold"/>
                <a:cs typeface="Barlow Bold"/>
                <a:sym typeface="Barlow Bold"/>
              </a:rPr>
              <a:t>Suspect</a:t>
            </a:r>
          </a:p>
          <a:p>
            <a:pPr algn="ctr">
              <a:lnSpc>
                <a:spcPts val="3388"/>
              </a:lnSpc>
            </a:pPr>
            <a:r>
              <a:rPr lang="en-US" sz="3083" spc="299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Arrested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745704" y="2775648"/>
            <a:ext cx="2447925" cy="127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3239" spc="174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Exposure of</a:t>
            </a:r>
          </a:p>
          <a:p>
            <a:pPr algn="ctr">
              <a:lnSpc>
                <a:spcPts val="4204"/>
              </a:lnSpc>
            </a:pPr>
            <a:r>
              <a:rPr lang="en-US" sz="4062" spc="138">
                <a:solidFill>
                  <a:srgbClr val="1F1F1F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TAJ &amp; FPR</a:t>
            </a:r>
          </a:p>
          <a:p>
            <a:pPr algn="ctr">
              <a:lnSpc>
                <a:spcPts val="2433"/>
              </a:lnSpc>
            </a:pPr>
            <a:r>
              <a:rPr lang="en-US" sz="2351" spc="373">
                <a:solidFill>
                  <a:srgbClr val="1F1F1F"/>
                </a:solidFill>
                <a:latin typeface="Courier Prime"/>
                <a:ea typeface="Courier Prime"/>
                <a:cs typeface="Courier Prime"/>
                <a:sym typeface="Courier Prime"/>
              </a:rPr>
              <a:t>Files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1205" y="5905500"/>
            <a:ext cx="175260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C0C0C"/>
                </a:solidFill>
                <a:latin typeface="Barlow Bold"/>
                <a:ea typeface="Barlow Bold"/>
                <a:cs typeface="Barlow Bold"/>
                <a:sym typeface="Barlow Bold"/>
              </a:rPr>
              <a:t>Root Cause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6409" y="6914660"/>
            <a:ext cx="6010275" cy="275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5"/>
              </a:lnSpc>
            </a:pPr>
            <a:r>
              <a:rPr lang="en-US" sz="4057" spc="36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Not a Zero-Day. Driven by</a:t>
            </a:r>
          </a:p>
          <a:p>
            <a:pPr algn="l">
              <a:lnSpc>
                <a:spcPts val="4272"/>
              </a:lnSpc>
            </a:pPr>
            <a:r>
              <a:rPr lang="en-US" sz="3563">
                <a:solidFill>
                  <a:srgbClr val="1F1F1F"/>
                </a:solidFill>
                <a:latin typeface="Barlow Bold"/>
                <a:ea typeface="Barlow Bold"/>
                <a:cs typeface="Barlow Bold"/>
                <a:sym typeface="Barlow Bold"/>
              </a:rPr>
              <a:t>credential negligence and</a:t>
            </a:r>
          </a:p>
          <a:p>
            <a:pPr algn="l">
              <a:lnSpc>
                <a:spcPts val="4272"/>
              </a:lnSpc>
            </a:pPr>
            <a:r>
              <a:rPr lang="en-US" sz="3563">
                <a:solidFill>
                  <a:srgbClr val="1F1F1F"/>
                </a:solidFill>
                <a:latin typeface="Barlow Bold"/>
                <a:ea typeface="Barlow Bold"/>
                <a:cs typeface="Barlow Bold"/>
                <a:sym typeface="Barlow Bold"/>
              </a:rPr>
              <a:t>fundamental hygiene failures,</a:t>
            </a:r>
          </a:p>
          <a:p>
            <a:pPr algn="l">
              <a:lnSpc>
                <a:spcPts val="4272"/>
              </a:lnSpc>
            </a:pPr>
            <a:r>
              <a:rPr lang="en-US" sz="3563">
                <a:solidFill>
                  <a:srgbClr val="1F1F1F"/>
                </a:solidFill>
                <a:latin typeface="Barlow Bold"/>
                <a:ea typeface="Barlow Bold"/>
                <a:cs typeface="Barlow Bold"/>
                <a:sym typeface="Barlow Bold"/>
              </a:rPr>
              <a:t>exposing fragility in</a:t>
            </a:r>
          </a:p>
          <a:p>
            <a:pPr algn="l">
              <a:lnSpc>
                <a:spcPts val="4272"/>
              </a:lnSpc>
            </a:pPr>
            <a:r>
              <a:rPr lang="en-US" sz="3563">
                <a:solidFill>
                  <a:srgbClr val="1F1F1F"/>
                </a:solidFill>
                <a:latin typeface="Barlow Bold"/>
                <a:ea typeface="Barlow Bold"/>
                <a:cs typeface="Barlow Bold"/>
                <a:sym typeface="Barlow Bold"/>
              </a:rPr>
              <a:t>state-level perimeters.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48865" y="5915025"/>
            <a:ext cx="44958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C0C0C"/>
                </a:solidFill>
                <a:latin typeface="Barlow Bold"/>
                <a:ea typeface="Barlow Bold"/>
                <a:cs typeface="Barlow Bold"/>
                <a:sym typeface="Barlow Bold"/>
              </a:rPr>
              <a:t>Data Exposure Impact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10553" y="6892866"/>
            <a:ext cx="6248400" cy="1614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3650" spc="164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Access to Criminal Records</a:t>
            </a:r>
          </a:p>
          <a:p>
            <a:pPr algn="l">
              <a:lnSpc>
                <a:spcPts val="4178"/>
              </a:lnSpc>
            </a:pPr>
            <a:r>
              <a:rPr lang="en-US" sz="3453">
                <a:solidFill>
                  <a:srgbClr val="1F1F1F"/>
                </a:solidFill>
                <a:latin typeface="Barlow Bold"/>
                <a:ea typeface="Barlow Bold"/>
                <a:cs typeface="Barlow Bold"/>
                <a:sym typeface="Barlow Bold"/>
              </a:rPr>
              <a:t>Processing System (TAJ) and</a:t>
            </a:r>
          </a:p>
          <a:p>
            <a:pPr algn="l">
              <a:lnSpc>
                <a:spcPts val="4178"/>
              </a:lnSpc>
            </a:pPr>
            <a:r>
              <a:rPr lang="en-US" sz="3453">
                <a:solidFill>
                  <a:srgbClr val="1F1F1F"/>
                </a:solidFill>
                <a:latin typeface="Barlow Bold"/>
                <a:ea typeface="Barlow Bold"/>
                <a:cs typeface="Barlow Bold"/>
                <a:sym typeface="Barlow Bold"/>
              </a:rPr>
              <a:t>Wanted Persons File (FPR).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30857" y="10068602"/>
            <a:ext cx="6467475" cy="180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5"/>
              </a:lnSpc>
            </a:pPr>
            <a:r>
              <a:rPr lang="en-US" sz="7050">
                <a:solidFill>
                  <a:srgbClr val="0F885F"/>
                </a:solidFill>
                <a:latin typeface="Barlow Bold"/>
                <a:ea typeface="Barlow Bold"/>
                <a:cs typeface="Barlow Bold"/>
                <a:sym typeface="Barlow Bold"/>
              </a:rPr>
              <a:t>16.4 Million</a:t>
            </a:r>
          </a:p>
          <a:p>
            <a:pPr algn="l">
              <a:lnSpc>
                <a:spcPts val="4813"/>
              </a:lnSpc>
            </a:pPr>
            <a:r>
              <a:rPr lang="en-US" sz="3600">
                <a:solidFill>
                  <a:srgbClr val="1F1F1F"/>
                </a:solidFill>
                <a:latin typeface="Barlow Bold"/>
                <a:ea typeface="Barlow Bold"/>
                <a:cs typeface="Barlow Bold"/>
                <a:sym typeface="Barlow Bold"/>
              </a:rPr>
              <a:t>Citizens' PII Potentially Exposed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673766" y="5867400"/>
            <a:ext cx="59436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C0C0C"/>
                </a:solidFill>
                <a:latin typeface="Barlow Bold"/>
                <a:ea typeface="Barlow Bold"/>
                <a:cs typeface="Barlow Bold"/>
                <a:sym typeface="Barlow Bold"/>
              </a:rPr>
              <a:t>Key Risk for Bank Leadership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135428" y="6906646"/>
            <a:ext cx="6372225" cy="4410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6"/>
              </a:lnSpc>
            </a:pPr>
            <a:r>
              <a:rPr lang="en-US" sz="3294">
                <a:solidFill>
                  <a:srgbClr val="0C0C0C"/>
                </a:solidFill>
                <a:latin typeface="Barlow Bold"/>
                <a:ea typeface="Barlow Bold"/>
                <a:cs typeface="Barlow Bold"/>
                <a:sym typeface="Barlow Bold"/>
              </a:rPr>
              <a:t>KYC/AML Integrity: The</a:t>
            </a:r>
          </a:p>
          <a:p>
            <a:pPr algn="l">
              <a:lnSpc>
                <a:spcPts val="4306"/>
              </a:lnSpc>
            </a:pPr>
            <a:r>
              <a:rPr lang="en-US" sz="3294">
                <a:solidFill>
                  <a:srgbClr val="0C0C0C"/>
                </a:solidFill>
                <a:latin typeface="Barlow Bold"/>
                <a:ea typeface="Barlow Bold"/>
                <a:cs typeface="Barlow Bold"/>
                <a:sym typeface="Barlow Bold"/>
              </a:rPr>
              <a:t>compromise of official</a:t>
            </a:r>
          </a:p>
          <a:p>
            <a:pPr algn="l">
              <a:lnSpc>
                <a:spcPts val="4306"/>
              </a:lnSpc>
            </a:pPr>
            <a:r>
              <a:rPr lang="en-US" sz="3294">
                <a:solidFill>
                  <a:srgbClr val="0C0C0C"/>
                </a:solidFill>
                <a:latin typeface="Barlow Bold"/>
                <a:ea typeface="Barlow Bold"/>
                <a:cs typeface="Barlow Bold"/>
                <a:sym typeface="Barlow Bold"/>
              </a:rPr>
              <a:t>watchlists undermines</a:t>
            </a:r>
          </a:p>
          <a:p>
            <a:pPr algn="l">
              <a:lnSpc>
                <a:spcPts val="4306"/>
              </a:lnSpc>
            </a:pPr>
            <a:r>
              <a:rPr lang="en-US" sz="3294">
                <a:solidFill>
                  <a:srgbClr val="0C0C0C"/>
                </a:solidFill>
                <a:latin typeface="Barlow Bold"/>
                <a:ea typeface="Barlow Bold"/>
                <a:cs typeface="Barlow Bold"/>
                <a:sym typeface="Barlow Bold"/>
              </a:rPr>
              <a:t>automated background</a:t>
            </a:r>
          </a:p>
          <a:p>
            <a:pPr algn="l">
              <a:lnSpc>
                <a:spcPts val="4306"/>
              </a:lnSpc>
            </a:pPr>
            <a:r>
              <a:rPr lang="en-US" sz="3294">
                <a:solidFill>
                  <a:srgbClr val="0C0C0C"/>
                </a:solidFill>
                <a:latin typeface="Barlow Bold"/>
                <a:ea typeface="Barlow Bold"/>
                <a:cs typeface="Barlow Bold"/>
                <a:sym typeface="Barlow Bold"/>
              </a:rPr>
              <a:t>checks. Risk of sanctioned</a:t>
            </a:r>
          </a:p>
          <a:p>
            <a:pPr algn="l">
              <a:lnSpc>
                <a:spcPts val="4306"/>
              </a:lnSpc>
            </a:pPr>
            <a:r>
              <a:rPr lang="en-US" sz="3294">
                <a:solidFill>
                  <a:srgbClr val="0C0C0C"/>
                </a:solidFill>
                <a:latin typeface="Barlow Bold"/>
                <a:ea typeface="Barlow Bold"/>
                <a:cs typeface="Barlow Bold"/>
                <a:sym typeface="Barlow Bold"/>
              </a:rPr>
              <a:t>entities bypassing</a:t>
            </a:r>
          </a:p>
          <a:p>
            <a:pPr algn="l">
              <a:lnSpc>
                <a:spcPts val="4306"/>
              </a:lnSpc>
            </a:pPr>
            <a:r>
              <a:rPr lang="en-US" sz="3294">
                <a:solidFill>
                  <a:srgbClr val="0C0C0C"/>
                </a:solidFill>
                <a:latin typeface="Barlow Bold"/>
                <a:ea typeface="Barlow Bold"/>
                <a:cs typeface="Barlow Bold"/>
                <a:sym typeface="Barlow Bold"/>
              </a:rPr>
              <a:t>compliance filters using 'clean'</a:t>
            </a:r>
          </a:p>
          <a:p>
            <a:pPr algn="l">
              <a:lnSpc>
                <a:spcPts val="4819"/>
              </a:lnSpc>
            </a:pPr>
            <a:r>
              <a:rPr lang="en-US" sz="3687" spc="195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'identities derived from this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145547" y="11411363"/>
            <a:ext cx="1781175" cy="607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0"/>
              </a:lnSpc>
            </a:pPr>
            <a:r>
              <a:rPr lang="en-US" sz="3443" spc="347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breach.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" y="0"/>
            <a:ext cx="26212805" cy="14630400"/>
          </a:xfrm>
          <a:custGeom>
            <a:avLst/>
            <a:gdLst/>
            <a:ahLst/>
            <a:cxnLst/>
            <a:rect r="r" b="b" t="t" l="l"/>
            <a:pathLst>
              <a:path h="14630400" w="26212805">
                <a:moveTo>
                  <a:pt x="0" y="0"/>
                </a:moveTo>
                <a:lnTo>
                  <a:pt x="26212805" y="0"/>
                </a:lnTo>
                <a:lnTo>
                  <a:pt x="26212805" y="14630400"/>
                </a:lnTo>
                <a:lnTo>
                  <a:pt x="0" y="14630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9115" y="161356"/>
            <a:ext cx="21945600" cy="1369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92"/>
              </a:lnSpc>
            </a:pPr>
            <a:r>
              <a:rPr lang="en-US" sz="7208" spc="187">
                <a:solidFill>
                  <a:srgbClr val="0B0B0B"/>
                </a:solidFill>
                <a:latin typeface="Arial MT Pro"/>
                <a:ea typeface="Arial MT Pro"/>
                <a:cs typeface="Arial MT Pro"/>
                <a:sym typeface="Arial MT Pro"/>
              </a:rPr>
              <a:t>Validated Threat Trends: December 2025 Statistics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163553" y="2802002"/>
            <a:ext cx="10163175" cy="73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3"/>
              </a:lnSpc>
            </a:pPr>
            <a:r>
              <a:rPr lang="en-US" sz="3873" spc="236">
                <a:solidFill>
                  <a:srgbClr val="223A2F"/>
                </a:solidFill>
                <a:latin typeface="Arial MT Pro"/>
                <a:ea typeface="Arial MT Pro"/>
                <a:cs typeface="Arial MT Pro"/>
                <a:sym typeface="Arial MT Pro"/>
              </a:rPr>
              <a:t>Surge in 'ClickFix' PowerShell technique.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85361" y="3536857"/>
            <a:ext cx="12601575" cy="415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1"/>
              </a:lnSpc>
            </a:pPr>
            <a:r>
              <a:rPr lang="en-US" sz="3861" spc="266">
                <a:solidFill>
                  <a:srgbClr val="2B5744"/>
                </a:solidFill>
                <a:latin typeface="Arial MT Pro"/>
                <a:ea typeface="Arial MT Pro"/>
                <a:cs typeface="Arial MT Pro"/>
                <a:sym typeface="Arial MT Pro"/>
              </a:rPr>
              <a:t>839 Verified Victims (2nd highest month).</a:t>
            </a:r>
          </a:p>
          <a:p>
            <a:pPr algn="l">
              <a:lnSpc>
                <a:spcPts val="6561"/>
              </a:lnSpc>
            </a:pPr>
            <a:r>
              <a:rPr lang="en-US" sz="3861" spc="266">
                <a:solidFill>
                  <a:srgbClr val="2B5744"/>
                </a:solidFill>
                <a:latin typeface="Arial MT Pro"/>
                <a:ea typeface="Arial MT Pro"/>
                <a:cs typeface="Arial MT Pro"/>
                <a:sym typeface="Arial MT Pro"/>
              </a:rPr>
              <a:t>Anatsa targeting 831 financial institutions.</a:t>
            </a:r>
          </a:p>
          <a:p>
            <a:pPr algn="l">
              <a:lnSpc>
                <a:spcPts val="6561"/>
              </a:lnSpc>
            </a:pPr>
            <a:r>
              <a:rPr lang="en-US" sz="3861" spc="266">
                <a:solidFill>
                  <a:srgbClr val="2B5744"/>
                </a:solidFill>
                <a:latin typeface="Arial MT Pro"/>
                <a:ea typeface="Arial MT Pro"/>
                <a:cs typeface="Arial MT Pro"/>
                <a:sym typeface="Arial MT Pro"/>
              </a:rPr>
              <a:t>Multi-terabit floods (La Poste, UK).</a:t>
            </a:r>
          </a:p>
          <a:p>
            <a:pPr algn="l">
              <a:lnSpc>
                <a:spcPts val="6561"/>
              </a:lnSpc>
            </a:pPr>
            <a:r>
              <a:rPr lang="en-US" sz="3861" spc="266">
                <a:solidFill>
                  <a:srgbClr val="2B5744"/>
                </a:solidFill>
                <a:latin typeface="Arial MT Pro"/>
                <a:ea typeface="Arial MT Pro"/>
                <a:cs typeface="Arial MT Pro"/>
                <a:sym typeface="Arial MT Pro"/>
              </a:rPr>
              <a:t>Rise in AI-fabricated email chains &amp; voice cloning.</a:t>
            </a:r>
          </a:p>
          <a:p>
            <a:pPr algn="l">
              <a:lnSpc>
                <a:spcPts val="6561"/>
              </a:lnSpc>
            </a:pPr>
            <a:r>
              <a:rPr lang="en-US" sz="3861" spc="266">
                <a:solidFill>
                  <a:srgbClr val="2B5744"/>
                </a:solidFill>
                <a:latin typeface="Arial MT Pro"/>
                <a:ea typeface="Arial MT Pro"/>
                <a:cs typeface="Arial MT Pro"/>
                <a:sym typeface="Arial MT Pro"/>
              </a:rPr>
              <a:t>520% surge in automated traffic to retail.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9613" y="8637383"/>
            <a:ext cx="9753600" cy="167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578" spc="55">
                <a:solidFill>
                  <a:srgbClr val="2B7556"/>
                </a:solidFill>
                <a:latin typeface="Arial MT Pro"/>
                <a:ea typeface="Arial MT Pro"/>
                <a:cs typeface="Arial MT Pro"/>
                <a:sym typeface="Arial MT Pro"/>
              </a:rPr>
              <a:t>Key Risk for Bank Leadership:</a:t>
            </a:r>
          </a:p>
          <a:p>
            <a:pPr algn="l">
              <a:lnSpc>
                <a:spcPts val="6124"/>
              </a:lnSpc>
            </a:pPr>
            <a:r>
              <a:rPr lang="en-US" sz="5578" spc="55">
                <a:solidFill>
                  <a:srgbClr val="2B7556"/>
                </a:solidFill>
                <a:latin typeface="Arial MT Pro"/>
                <a:ea typeface="Arial MT Pro"/>
                <a:cs typeface="Arial MT Pro"/>
                <a:sym typeface="Arial MT Pro"/>
              </a:rPr>
              <a:t>Convergence of Scale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8554" y="10995079"/>
            <a:ext cx="10229850" cy="1912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9"/>
              </a:lnSpc>
            </a:pPr>
            <a:r>
              <a:rPr lang="en-US" sz="4299" spc="300">
                <a:solidFill>
                  <a:srgbClr val="223A2F"/>
                </a:solidFill>
                <a:latin typeface="Arial MT Pro"/>
                <a:ea typeface="Arial MT Pro"/>
                <a:cs typeface="Arial MT Pro"/>
                <a:sym typeface="Arial MT Pro"/>
              </a:rPr>
              <a:t>Simultaneous increases across all</a:t>
            </a:r>
          </a:p>
          <a:p>
            <a:pPr algn="l">
              <a:lnSpc>
                <a:spcPts val="4729"/>
              </a:lnSpc>
            </a:pPr>
            <a:r>
              <a:rPr lang="en-US" sz="4299" spc="300">
                <a:solidFill>
                  <a:srgbClr val="223A2F"/>
                </a:solidFill>
                <a:latin typeface="Arial MT Pro"/>
                <a:ea typeface="Arial MT Pro"/>
                <a:cs typeface="Arial MT Pro"/>
                <a:sym typeface="Arial MT Pro"/>
              </a:rPr>
              <a:t>vectors driven by automation require</a:t>
            </a:r>
          </a:p>
          <a:p>
            <a:pPr algn="l">
              <a:lnSpc>
                <a:spcPts val="4868"/>
              </a:lnSpc>
            </a:pPr>
            <a:r>
              <a:rPr lang="en-US" sz="4425" spc="225">
                <a:solidFill>
                  <a:srgbClr val="2B7556"/>
                </a:solidFill>
                <a:latin typeface="Arial MT Pro"/>
                <a:ea typeface="Arial MT Pro"/>
                <a:cs typeface="Arial MT Pro"/>
                <a:sym typeface="Arial MT Pro"/>
              </a:rPr>
              <a:t>integrated fraud and cyber defense.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2221" y="7312707"/>
            <a:ext cx="3981450" cy="663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4"/>
              </a:lnSpc>
            </a:pPr>
            <a:r>
              <a:rPr lang="en-US" sz="3489" spc="191">
                <a:solidFill>
                  <a:srgbClr val="1E1E1E"/>
                </a:solidFill>
                <a:latin typeface="Arial MT Pro"/>
                <a:ea typeface="Arial MT Pro"/>
                <a:cs typeface="Arial MT Pro"/>
                <a:sym typeface="Arial MT Pro"/>
              </a:rPr>
              <a:t>Account Takeover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82114" y="7376315"/>
            <a:ext cx="1943100" cy="538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2"/>
              </a:lnSpc>
            </a:pPr>
            <a:r>
              <a:rPr lang="en-US" sz="2787" spc="105">
                <a:solidFill>
                  <a:srgbClr val="2B7556"/>
                </a:solidFill>
                <a:latin typeface="Arial MT Pro"/>
                <a:ea typeface="Arial MT Pro"/>
                <a:cs typeface="Arial MT Pro"/>
                <a:sym typeface="Arial MT Pro"/>
              </a:rPr>
              <a:t>INCREASE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5800" y="6514878"/>
            <a:ext cx="771525" cy="48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4"/>
              </a:lnSpc>
            </a:pPr>
            <a:r>
              <a:rPr lang="en-US" sz="2553" spc="224">
                <a:solidFill>
                  <a:srgbClr val="1E1E1E"/>
                </a:solidFill>
                <a:latin typeface="Arial MT Pro"/>
                <a:ea typeface="Arial MT Pro"/>
                <a:cs typeface="Arial MT Pro"/>
                <a:sym typeface="Arial MT Pro"/>
              </a:rPr>
              <a:t>BEC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82001" y="6479101"/>
            <a:ext cx="2000250" cy="53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3"/>
              </a:lnSpc>
            </a:pPr>
            <a:r>
              <a:rPr lang="en-US" sz="2816" spc="149">
                <a:solidFill>
                  <a:srgbClr val="2B7556"/>
                </a:solidFill>
                <a:latin typeface="Arial MT Pro"/>
                <a:ea typeface="Arial MT Pro"/>
                <a:cs typeface="Arial MT Pro"/>
                <a:sym typeface="Arial MT Pro"/>
              </a:rPr>
              <a:t>INCREASE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1513" y="5587625"/>
            <a:ext cx="1028700" cy="53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8"/>
              </a:lnSpc>
            </a:pPr>
            <a:r>
              <a:rPr lang="en-US" sz="2755" spc="148">
                <a:solidFill>
                  <a:srgbClr val="1E1E1E"/>
                </a:solidFill>
                <a:latin typeface="Arial MT Pro"/>
                <a:ea typeface="Arial MT Pro"/>
                <a:cs typeface="Arial MT Pro"/>
                <a:sym typeface="Arial MT Pro"/>
              </a:rPr>
              <a:t>DDoS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63044" y="5574227"/>
            <a:ext cx="2000250" cy="53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3"/>
              </a:lnSpc>
            </a:pPr>
            <a:r>
              <a:rPr lang="en-US" sz="2816" spc="149">
                <a:solidFill>
                  <a:srgbClr val="2B7556"/>
                </a:solidFill>
                <a:latin typeface="Arial MT Pro"/>
                <a:ea typeface="Arial MT Pro"/>
                <a:cs typeface="Arial MT Pro"/>
                <a:sym typeface="Arial MT Pro"/>
              </a:rPr>
              <a:t>INCREASE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1988" y="4657425"/>
            <a:ext cx="3771900" cy="65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454" spc="304">
                <a:solidFill>
                  <a:srgbClr val="1E1E1E"/>
                </a:solidFill>
                <a:latin typeface="Arial MT Pro"/>
                <a:ea typeface="Arial MT Pro"/>
                <a:cs typeface="Arial MT Pro"/>
                <a:sym typeface="Arial MT Pro"/>
              </a:rPr>
              <a:t>Banking Trojans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77352" y="4686330"/>
            <a:ext cx="1990725" cy="51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spc="213">
                <a:solidFill>
                  <a:srgbClr val="2B7556"/>
                </a:solidFill>
                <a:latin typeface="Arial MT Pro"/>
                <a:ea typeface="Arial MT Pro"/>
                <a:cs typeface="Arial MT Pro"/>
                <a:sym typeface="Arial MT Pro"/>
              </a:rPr>
              <a:t>INCREASE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5800" y="3785953"/>
            <a:ext cx="2486025" cy="55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0"/>
              </a:lnSpc>
            </a:pPr>
            <a:r>
              <a:rPr lang="en-US" sz="2928" spc="213">
                <a:solidFill>
                  <a:srgbClr val="1E1E1E"/>
                </a:solidFill>
                <a:latin typeface="Arial MT Pro"/>
                <a:ea typeface="Arial MT Pro"/>
                <a:cs typeface="Arial MT Pro"/>
                <a:sym typeface="Arial MT Pro"/>
              </a:rPr>
              <a:t>Ransomware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58282" y="3783527"/>
            <a:ext cx="2028825" cy="53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3"/>
              </a:lnSpc>
            </a:pPr>
            <a:r>
              <a:rPr lang="en-US" sz="2816" spc="169">
                <a:solidFill>
                  <a:srgbClr val="2B7556"/>
                </a:solidFill>
                <a:latin typeface="Arial MT Pro"/>
                <a:ea typeface="Arial MT Pro"/>
                <a:cs typeface="Arial MT Pro"/>
                <a:sym typeface="Arial MT Pro"/>
              </a:rPr>
              <a:t>INCREASE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7225" y="2848484"/>
            <a:ext cx="2028825" cy="665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8"/>
              </a:lnSpc>
            </a:pPr>
            <a:r>
              <a:rPr lang="en-US" sz="3441" spc="320">
                <a:solidFill>
                  <a:srgbClr val="1E1E1E"/>
                </a:solidFill>
                <a:latin typeface="Arial MT Pro"/>
                <a:ea typeface="Arial MT Pro"/>
                <a:cs typeface="Arial MT Pro"/>
                <a:sym typeface="Arial MT Pro"/>
              </a:rPr>
              <a:t>Phishing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63064" y="2865400"/>
            <a:ext cx="2000250" cy="55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5"/>
              </a:lnSpc>
            </a:pPr>
            <a:r>
              <a:rPr lang="en-US" sz="2875" spc="106">
                <a:solidFill>
                  <a:srgbClr val="2B7556"/>
                </a:solidFill>
                <a:latin typeface="Arial MT Pro"/>
                <a:ea typeface="Arial MT Pro"/>
                <a:cs typeface="Arial MT Pro"/>
                <a:sym typeface="Arial MT Pro"/>
              </a:rPr>
              <a:t>INCREASE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8110" y="1864429"/>
            <a:ext cx="3267075" cy="72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4"/>
              </a:lnSpc>
            </a:pPr>
            <a:r>
              <a:rPr lang="en-US" sz="3788" spc="197">
                <a:solidFill>
                  <a:srgbClr val="1E1E1E"/>
                </a:solidFill>
                <a:latin typeface="Arial MT Pro"/>
                <a:ea typeface="Arial MT Pro"/>
                <a:cs typeface="Arial MT Pro"/>
                <a:sym typeface="Arial MT Pro"/>
              </a:rPr>
              <a:t>Threat Vector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92128" y="1855348"/>
            <a:ext cx="1552575" cy="757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4"/>
              </a:lnSpc>
            </a:pPr>
            <a:r>
              <a:rPr lang="en-US" sz="3931" spc="326">
                <a:solidFill>
                  <a:srgbClr val="1E1E1E"/>
                </a:solidFill>
                <a:latin typeface="Arial MT Pro"/>
                <a:ea typeface="Arial MT Pro"/>
                <a:cs typeface="Arial MT Pro"/>
                <a:sym typeface="Arial MT Pro"/>
              </a:rPr>
              <a:t>Detail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20252" y="1931620"/>
            <a:ext cx="1266825" cy="62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3"/>
              </a:lnSpc>
            </a:pPr>
            <a:r>
              <a:rPr lang="en-US" sz="3330" spc="223">
                <a:solidFill>
                  <a:srgbClr val="1E1E1E"/>
                </a:solidFill>
                <a:latin typeface="Arial MT Pro"/>
                <a:ea typeface="Arial MT Pro"/>
                <a:cs typeface="Arial MT Pro"/>
                <a:sym typeface="Arial MT Pro"/>
              </a:rPr>
              <a:t>Trend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" y="0"/>
            <a:ext cx="26212805" cy="14630400"/>
          </a:xfrm>
          <a:custGeom>
            <a:avLst/>
            <a:gdLst/>
            <a:ahLst/>
            <a:cxnLst/>
            <a:rect r="r" b="b" t="t" l="l"/>
            <a:pathLst>
              <a:path h="14630400" w="26212805">
                <a:moveTo>
                  <a:pt x="0" y="0"/>
                </a:moveTo>
                <a:lnTo>
                  <a:pt x="26212805" y="0"/>
                </a:lnTo>
                <a:lnTo>
                  <a:pt x="26212805" y="14630400"/>
                </a:lnTo>
                <a:lnTo>
                  <a:pt x="0" y="14630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35888" y="2977861"/>
            <a:ext cx="3552825" cy="89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0"/>
              </a:lnSpc>
            </a:pPr>
            <a:r>
              <a:rPr lang="en-US" sz="2754">
                <a:solidFill>
                  <a:srgbClr val="3A8F6E"/>
                </a:solidFill>
                <a:latin typeface="Aleo"/>
                <a:ea typeface="Aleo"/>
                <a:cs typeface="Aleo"/>
                <a:sym typeface="Aleo"/>
              </a:rPr>
              <a:t>Dominant Threat: 22%</a:t>
            </a:r>
          </a:p>
          <a:p>
            <a:pPr algn="l">
              <a:lnSpc>
                <a:spcPts val="3550"/>
              </a:lnSpc>
            </a:pPr>
            <a:r>
              <a:rPr lang="en-US" sz="2754">
                <a:solidFill>
                  <a:srgbClr val="3A8F6E"/>
                </a:solidFill>
                <a:latin typeface="Aleo"/>
                <a:ea typeface="Aleo"/>
                <a:cs typeface="Aleo"/>
                <a:sym typeface="Aleo"/>
              </a:rPr>
              <a:t>of global volume.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52640" y="619125"/>
            <a:ext cx="18421350" cy="101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9"/>
              </a:lnSpc>
            </a:pPr>
            <a:r>
              <a:rPr lang="en-US" sz="5850">
                <a:solidFill>
                  <a:srgbClr val="1F1F1F"/>
                </a:solidFill>
                <a:latin typeface="Aleo"/>
                <a:ea typeface="Aleo"/>
                <a:cs typeface="Aleo"/>
                <a:sym typeface="Aleo"/>
              </a:rPr>
              <a:t>Adversary Leaderboard: Top Groups &amp; Targeted Sectors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3989" y="2219325"/>
            <a:ext cx="902970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0"/>
              </a:lnSpc>
            </a:pPr>
            <a:r>
              <a:rPr lang="en-US" sz="3750">
                <a:solidFill>
                  <a:srgbClr val="1F1F1F"/>
                </a:solidFill>
                <a:latin typeface="Aleo"/>
                <a:ea typeface="Aleo"/>
                <a:cs typeface="Aleo"/>
                <a:sym typeface="Aleo"/>
              </a:rPr>
              <a:t>Top Ransomware Groups (December 2025)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9213" y="7629525"/>
            <a:ext cx="4343400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US" sz="3450">
                <a:solidFill>
                  <a:srgbClr val="1F1F1F"/>
                </a:solidFill>
                <a:latin typeface="Aleo"/>
                <a:ea typeface="Aleo"/>
                <a:cs typeface="Aleo"/>
                <a:sym typeface="Aleo"/>
              </a:rPr>
              <a:t>Most Targeted Sectors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5363" y="12954983"/>
            <a:ext cx="21221700" cy="1012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134">
                <a:solidFill>
                  <a:srgbClr val="1F4939"/>
                </a:solidFill>
                <a:latin typeface="Aleo"/>
                <a:ea typeface="Aleo"/>
                <a:cs typeface="Aleo"/>
                <a:sym typeface="Aleo"/>
              </a:rPr>
              <a:t>Key Risk for Bank Leadership: Supply Chain Concentration</a:t>
            </a:r>
          </a:p>
          <a:p>
            <a:pPr algn="l">
              <a:lnSpc>
                <a:spcPts val="4040"/>
              </a:lnSpc>
            </a:pPr>
            <a:r>
              <a:rPr lang="en-US" sz="3134">
                <a:solidFill>
                  <a:srgbClr val="1F4939"/>
                </a:solidFill>
                <a:latin typeface="Aleo"/>
                <a:ea typeface="Aleo"/>
                <a:cs typeface="Aleo"/>
                <a:sym typeface="Aleo"/>
              </a:rPr>
              <a:t>Heavy targeting of Manufacturing (146 victims) poses direct credit risk to commercial loan portfolios in these industries.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DAG90k9mLsE</dc:identifier>
  <dcterms:modified xsi:type="dcterms:W3CDTF">2011-08-01T06:04:30Z</dcterms:modified>
  <cp:revision>1</cp:revision>
  <dc:title>FY2025 Executive Intelligence Summary: From Elevated Risk to Direct Confrontation The New Battlefield: Blurring Lines Between Crime &amp; Conflict</dc:title>
</cp:coreProperties>
</file>