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embeddedFontLst>
    <p:embeddedFont>
      <p:font typeface="Crimson Pro Medium"/>
      <p:regular r:id="rId201314"/>
    </p:embeddedFont>
    <p:embeddedFont>
      <p:font typeface="Crimson Pro ExtraBold"/>
      <p:regular r:id="rId201315"/>
    </p:embeddedFont>
    <p:embeddedFont>
      <p:font typeface="Crimson Pro Black"/>
      <p:regular r:id="rId201316"/>
    </p:embeddedFont>
    <p:embeddedFont>
      <p:font typeface="Crimson Pro ExtraLight"/>
      <p:regular r:id="rId201317"/>
    </p:embeddedFont>
    <p:embeddedFont>
      <p:font typeface="Crimson Pro Light"/>
      <p:regular r:id="rId201318"/>
    </p:embeddedFont>
    <p:embeddedFont>
      <p:font typeface="Crimson Pro"/>
      <p:regular r:id="rId201319"/>
    </p:embeddedFont>
    <p:embeddedFont>
      <p:font typeface="Crimson Pro SemiBold"/>
      <p:regular r:id="rId201320"/>
    </p:embeddedFont>
    <p:embeddedFont>
      <p:font typeface="Crimson Pro Bold"/>
      <p:regular r:id="rId201321"/>
    </p:embeddedFont>
    <p:embeddedFont>
      <p:font typeface="Heebo Thin"/>
      <p:regular r:id="rId201322"/>
    </p:embeddedFont>
    <p:embeddedFont>
      <p:font typeface="Heebo ExtraLight"/>
      <p:regular r:id="rId201323"/>
    </p:embeddedFont>
    <p:embeddedFont>
      <p:font typeface="Heebo Light"/>
      <p:regular r:id="rId201324"/>
    </p:embeddedFont>
    <p:embeddedFont>
      <p:font typeface="Heebo"/>
      <p:regular r:id="rId201325"/>
    </p:embeddedFont>
    <p:embeddedFont>
      <p:font typeface="Heebo Medium"/>
      <p:regular r:id="rId201326"/>
    </p:embeddedFont>
    <p:embeddedFont>
      <p:font typeface="Heebo SemiBold"/>
      <p:regular r:id="rId201327"/>
    </p:embeddedFont>
    <p:embeddedFont>
      <p:font typeface="Heebo Bold"/>
      <p:regular r:id="rId201328"/>
    </p:embeddedFont>
    <p:embeddedFont>
      <p:font typeface="Heebo ExtraBold"/>
      <p:regular r:id="rId201329"/>
    </p:embeddedFont>
    <p:embeddedFont>
      <p:font typeface="Heebo Black"/>
      <p:regular r:id="rId20133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Relationship Id="rId201332" Target="fonts/201332.fntdata" Type="http://schemas.openxmlformats.org/officeDocument/2006/relationships/font"/><Relationship Id="rId201333" Target="fonts/201333.fntdata" Type="http://schemas.openxmlformats.org/officeDocument/2006/relationships/font"/><Relationship Id="rId201334" Target="fonts/201334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1.png"/><Relationship Id="rId4" Type="http://schemas.openxmlformats.org/officeDocument/2006/relationships/image" Target="../media/image-1-2.svg"/><Relationship Id="rId5" Type="http://schemas.openxmlformats.org/officeDocument/2006/relationships/image" Target="../media/image-1-1.png"/><Relationship Id="rId6" Type="http://schemas.openxmlformats.org/officeDocument/2006/relationships/image" Target="../media/image-1-2.svg"/><Relationship Id="rId7" Type="http://schemas.openxmlformats.org/officeDocument/2006/relationships/image" Target="../media/image-1-1.png"/><Relationship Id="rId8" Type="http://schemas.openxmlformats.org/officeDocument/2006/relationships/image" Target="../media/image-1-2.svg"/><Relationship Id="rId9" Type="http://schemas.openxmlformats.org/officeDocument/2006/relationships/image" Target="../media/image-1-1.png"/><Relationship Id="rId10" Type="http://schemas.openxmlformats.org/officeDocument/2006/relationships/image" Target="../media/image-1-2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3.png"/><Relationship Id="rId6" Type="http://schemas.openxmlformats.org/officeDocument/2006/relationships/image" Target="../media/image-5-4.svg"/><Relationship Id="rId7" Type="http://schemas.openxmlformats.org/officeDocument/2006/relationships/image" Target="../media/image-5-1.png"/><Relationship Id="rId8" Type="http://schemas.openxmlformats.org/officeDocument/2006/relationships/image" Target="../media/image-5-2.svg"/><Relationship Id="rId9" Type="http://schemas.openxmlformats.org/officeDocument/2006/relationships/image" Target="../media/image-5-3.png"/><Relationship Id="rId10" Type="http://schemas.openxmlformats.org/officeDocument/2006/relationships/image" Target="../media/image-5-4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65473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Top 5 Cybersecurity Threats Facing European Utilities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61475" y="1390551"/>
            <a:ext cx="1147833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EU utilities sector faces unprecedented cyber threats in 2025–2026. Advanced actors have shifted from reconnaissance to active operational disruption.</a:t>
            </a:r>
            <a:endParaRPr lang="en-US" sz="1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700113"/>
            <a:ext cx="10868745" cy="79384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45918" y="1972965"/>
            <a:ext cx="19843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1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1315508" y="1851422"/>
            <a:ext cx="1006340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State-Aligned Cyber-Sabotage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315508" y="2121595"/>
            <a:ext cx="1006340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Nation-state groups (ELECTRUM, Static Tundra) deploy wiper malware (DynoWiper, LazyWiper) to corrupt firmware and disable critical facilities during peak demand.</a:t>
            </a:r>
            <a:endParaRPr lang="en-US" sz="10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599730"/>
            <a:ext cx="10868745" cy="79384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45918" y="2872581"/>
            <a:ext cx="19843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2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1315508" y="2751038"/>
            <a:ext cx="1006340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Ransomware with OT Consequences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315508" y="3021211"/>
            <a:ext cx="1006340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Industrial ransomware surged </a:t>
            </a:r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915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64% YoY</a:t>
            </a:r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 </a:t>
            </a:r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915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75%</a:t>
            </a:r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of incidents cause partial OT shutdowns; </a:t>
            </a:r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915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25%</a:t>
            </a:r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cause full operational halts.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499346"/>
            <a:ext cx="10868745" cy="79384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45918" y="3772198"/>
            <a:ext cx="19843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3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1315508" y="3650655"/>
            <a:ext cx="1006340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Edge Infrastructure Exploitation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315508" y="3920827"/>
            <a:ext cx="1006340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Edge devices (firewalls, VPNs) are compromised within hours of vulnerability disclosure. CVE-2023-28771 (CVSS 9.8) served as a primary entry point into energy networks.</a:t>
            </a:r>
            <a:endParaRPr lang="en-US" sz="10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4398963"/>
            <a:ext cx="10868745" cy="79384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45918" y="4671814"/>
            <a:ext cx="19843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4</a:t>
            </a:r>
            <a:endParaRPr lang="en-US" sz="1550" dirty="0"/>
          </a:p>
        </p:txBody>
      </p:sp>
      <p:sp>
        <p:nvSpPr>
          <p:cNvPr id="18" name="Text 12"/>
          <p:cNvSpPr/>
          <p:nvPr/>
        </p:nvSpPr>
        <p:spPr>
          <a:xfrm>
            <a:off x="1315508" y="4550271"/>
            <a:ext cx="1006340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Supply Chain Compromise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1315508" y="4820444"/>
            <a:ext cx="1006340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Threat actors exploit trusted software updates, open-source repositories, and contractor maintenance tunnels to inject malicious code into SCADA platforms.</a:t>
            </a:r>
            <a:endParaRPr lang="en-US" sz="10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1475" y="5298579"/>
            <a:ext cx="10868745" cy="793849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45918" y="5571430"/>
            <a:ext cx="19843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5</a:t>
            </a:r>
            <a:endParaRPr lang="en-US" sz="1550" dirty="0"/>
          </a:p>
        </p:txBody>
      </p:sp>
      <p:sp>
        <p:nvSpPr>
          <p:cNvPr id="22" name="Text 15"/>
          <p:cNvSpPr/>
          <p:nvPr/>
        </p:nvSpPr>
        <p:spPr>
          <a:xfrm>
            <a:off x="1315508" y="5449888"/>
            <a:ext cx="1006340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AI-Powered Social Engineering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1315508" y="5720060"/>
            <a:ext cx="1006340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Over </a:t>
            </a:r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915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80%</a:t>
            </a:r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of phishing campaigns now use generative AI. Social engineering represents </a:t>
            </a:r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915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~60%</a:t>
            </a:r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of all successful compromises.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7745"/>
            <a:ext cx="10868745" cy="46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Financial Impact of Cyber Incidents in Utilities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928962" y="1335187"/>
            <a:ext cx="4815561" cy="4912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8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$4.83M</a:t>
            </a:r>
            <a:endParaRPr lang="en-US" sz="3850" dirty="0"/>
          </a:p>
        </p:txBody>
      </p:sp>
      <p:sp>
        <p:nvSpPr>
          <p:cNvPr id="4" name="Text 2"/>
          <p:cNvSpPr/>
          <p:nvPr/>
        </p:nvSpPr>
        <p:spPr>
          <a:xfrm>
            <a:off x="661475" y="2001242"/>
            <a:ext cx="5350634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Avg. Breach Cost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61475" y="2314079"/>
            <a:ext cx="5350634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Energy &amp; utilities sector average, well above the global cross-industry average of $4.44M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446974" y="1335187"/>
            <a:ext cx="4815660" cy="4912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8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$2.48M</a:t>
            </a:r>
            <a:endParaRPr lang="en-US" sz="3850" dirty="0"/>
          </a:p>
        </p:txBody>
      </p:sp>
      <p:sp>
        <p:nvSpPr>
          <p:cNvPr id="7" name="Text 5"/>
          <p:cNvSpPr/>
          <p:nvPr/>
        </p:nvSpPr>
        <p:spPr>
          <a:xfrm>
            <a:off x="6179487" y="2001242"/>
            <a:ext cx="5350733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Per-Hour Downtime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179487" y="2314079"/>
            <a:ext cx="5350733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Unplanned energy industry downtime cost per hour — scaling exponentially with duration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28962" y="3108821"/>
            <a:ext cx="4815561" cy="4912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8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241</a:t>
            </a:r>
            <a:endParaRPr lang="en-US" sz="3850" dirty="0"/>
          </a:p>
        </p:txBody>
      </p:sp>
      <p:sp>
        <p:nvSpPr>
          <p:cNvPr id="10" name="Text 8"/>
          <p:cNvSpPr/>
          <p:nvPr/>
        </p:nvSpPr>
        <p:spPr>
          <a:xfrm>
            <a:off x="661475" y="3774877"/>
            <a:ext cx="5350634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Days to Contain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61475" y="4087713"/>
            <a:ext cx="5350634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Average breach lifecycle: 181 days to identify + 60 days to contain globally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46974" y="3108821"/>
            <a:ext cx="4815660" cy="4912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8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$1.88M</a:t>
            </a:r>
            <a:endParaRPr lang="en-US" sz="3850" dirty="0"/>
          </a:p>
        </p:txBody>
      </p:sp>
      <p:sp>
        <p:nvSpPr>
          <p:cNvPr id="13" name="Text 11"/>
          <p:cNvSpPr/>
          <p:nvPr/>
        </p:nvSpPr>
        <p:spPr>
          <a:xfrm>
            <a:off x="6179487" y="3774877"/>
            <a:ext cx="5350733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Cost Avoidance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179487" y="4087713"/>
            <a:ext cx="5350733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Saved when breaches are contained under 200 days ($3.61M vs. $5.49M)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61475" y="4598591"/>
            <a:ext cx="5252807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Cost Amplifiers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61475" y="4965005"/>
            <a:ext cx="5252807" cy="13184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33680" indent="-233680">
              <a:lnSpc>
                <a:spcPct val="127000"/>
              </a:lnSpc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Supply chain breaches: </a:t>
            </a:r>
            <a:pPr algn="l" marL="233680" indent="-233680">
              <a:lnSpc>
                <a:spcPct val="127000"/>
              </a:lnSpc>
              <a:buSzPct val="100000"/>
              <a:buChar char="•"/>
            </a:pPr>
            <a:r>
              <a:rPr lang="en-US" sz="115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+$227K</a:t>
            </a:r>
            <a:endParaRPr lang="en-US" sz="1150" dirty="0"/>
          </a:p>
          <a:p>
            <a:pPr algn="l" marL="233680" indent="-233680">
              <a:lnSpc>
                <a:spcPct val="127000"/>
              </a:lnSpc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Third-party/vendor compromise: </a:t>
            </a:r>
            <a:pPr algn="l" marL="233680" indent="-233680">
              <a:lnSpc>
                <a:spcPct val="127000"/>
              </a:lnSpc>
              <a:buSzPct val="100000"/>
              <a:buChar char="•"/>
            </a:pPr>
            <a:r>
              <a:rPr lang="en-US" sz="115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+$4.91M avg.</a:t>
            </a:r>
            <a:endParaRPr lang="en-US" sz="1150" dirty="0"/>
          </a:p>
          <a:p>
            <a:pPr algn="l" marL="233680" indent="-233680">
              <a:lnSpc>
                <a:spcPct val="127000"/>
              </a:lnSpc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Malicious insider attacks: </a:t>
            </a:r>
            <a:pPr algn="l" marL="233680" indent="-233680">
              <a:lnSpc>
                <a:spcPct val="127000"/>
              </a:lnSpc>
              <a:buSzPct val="100000"/>
              <a:buChar char="•"/>
            </a:pPr>
            <a:r>
              <a:rPr lang="en-US" sz="115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+$4.92M avg.</a:t>
            </a:r>
            <a:endParaRPr lang="en-US" sz="1150" dirty="0"/>
          </a:p>
          <a:p>
            <a:pPr algn="l" marL="233680" indent="-233680">
              <a:lnSpc>
                <a:spcPct val="127000"/>
              </a:lnSpc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Shadow AI (high usage): </a:t>
            </a:r>
            <a:pPr algn="l" marL="233680" indent="-233680">
              <a:lnSpc>
                <a:spcPct val="127000"/>
              </a:lnSpc>
              <a:buSzPct val="100000"/>
              <a:buChar char="•"/>
            </a:pPr>
            <a:r>
              <a:rPr lang="en-US" sz="115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+$670K</a:t>
            </a:r>
            <a:endParaRPr lang="en-US" sz="1150" dirty="0"/>
          </a:p>
          <a:p>
            <a:pPr algn="l" marL="233680" indent="-233680">
              <a:lnSpc>
                <a:spcPct val="127000"/>
              </a:lnSpc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Security system complexity: </a:t>
            </a:r>
            <a:pPr algn="l" marL="233680" indent="-233680">
              <a:lnSpc>
                <a:spcPct val="127000"/>
              </a:lnSpc>
              <a:buSzPct val="100000"/>
              <a:buChar char="•"/>
            </a:pPr>
            <a:r>
              <a:rPr lang="en-US" sz="115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+$208K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283763" y="4598591"/>
            <a:ext cx="5252807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Cost Mitigators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283763" y="4965005"/>
            <a:ext cx="5252807" cy="13184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33680" indent="-233680">
              <a:lnSpc>
                <a:spcPct val="127000"/>
              </a:lnSpc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Tested incident response plan: </a:t>
            </a:r>
            <a:pPr algn="l" marL="233680" indent="-233680">
              <a:lnSpc>
                <a:spcPct val="127000"/>
              </a:lnSpc>
              <a:buSzPct val="100000"/>
              <a:buChar char="•"/>
            </a:pPr>
            <a:r>
              <a:rPr lang="en-US" sz="1150" b="1" dirty="0">
                <a:solidFill>
                  <a:srgbClr val="00915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−$2.66M</a:t>
            </a:r>
            <a:endParaRPr lang="en-US" sz="1150" dirty="0"/>
          </a:p>
          <a:p>
            <a:pPr algn="l" marL="233680" indent="-233680">
              <a:lnSpc>
                <a:spcPct val="127000"/>
              </a:lnSpc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Security AI &amp; automation: </a:t>
            </a:r>
            <a:pPr algn="l" marL="233680" indent="-233680">
              <a:lnSpc>
                <a:spcPct val="127000"/>
              </a:lnSpc>
              <a:buSzPct val="100000"/>
              <a:buChar char="•"/>
            </a:pPr>
            <a:r>
              <a:rPr lang="en-US" sz="1150" b="1" dirty="0">
                <a:solidFill>
                  <a:srgbClr val="00915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−$1.90M</a:t>
            </a:r>
            <a:endParaRPr lang="en-US" sz="1150" dirty="0"/>
          </a:p>
          <a:p>
            <a:pPr algn="l" marL="233680" indent="-233680">
              <a:lnSpc>
                <a:spcPct val="127000"/>
              </a:lnSpc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Zero Trust Architecture: </a:t>
            </a:r>
            <a:pPr algn="l" marL="233680" indent="-233680">
              <a:lnSpc>
                <a:spcPct val="127000"/>
              </a:lnSpc>
              <a:buSzPct val="100000"/>
              <a:buChar char="•"/>
            </a:pPr>
            <a:r>
              <a:rPr lang="en-US" sz="1150" b="1" dirty="0">
                <a:solidFill>
                  <a:srgbClr val="00915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−$1.76M</a:t>
            </a:r>
            <a:endParaRPr lang="en-US" sz="1150" dirty="0"/>
          </a:p>
          <a:p>
            <a:pPr algn="l" marL="233680" indent="-233680">
              <a:lnSpc>
                <a:spcPct val="127000"/>
              </a:lnSpc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Threat intelligence sharing: </a:t>
            </a:r>
            <a:pPr algn="l" marL="233680" indent="-233680">
              <a:lnSpc>
                <a:spcPct val="127000"/>
              </a:lnSpc>
              <a:buSzPct val="100000"/>
              <a:buChar char="•"/>
            </a:pPr>
            <a:r>
              <a:rPr lang="en-US" sz="1150" b="1" dirty="0">
                <a:solidFill>
                  <a:srgbClr val="00915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−$212K</a:t>
            </a:r>
            <a:endParaRPr lang="en-US" sz="1150" dirty="0"/>
          </a:p>
          <a:p>
            <a:pPr algn="l" marL="233680" indent="-233680">
              <a:lnSpc>
                <a:spcPct val="127000"/>
              </a:lnSpc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Comprehensive encryption: </a:t>
            </a:r>
            <a:pPr algn="l" marL="233680" indent="-233680">
              <a:lnSpc>
                <a:spcPct val="127000"/>
              </a:lnSpc>
              <a:buSzPct val="100000"/>
              <a:buChar char="•"/>
            </a:pPr>
            <a:r>
              <a:rPr lang="en-US" sz="1150" b="1" dirty="0">
                <a:solidFill>
                  <a:srgbClr val="00915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−$208K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92534"/>
            <a:ext cx="10868745" cy="46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Worst-Case Scenarios &amp; Long-Term Financial Consequences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61475" y="1325563"/>
            <a:ext cx="11478330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Under a </a:t>
            </a:r>
            <a:pPr algn="l" indent="0" marL="0">
              <a:lnSpc>
                <a:spcPct val="127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1:250 tail scenario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(0.4% annual probability), global financial assets at risk from an uncontained OT cyber event are estimated at </a:t>
            </a:r>
            <a:pPr algn="l" indent="0" marL="0">
              <a:lnSpc>
                <a:spcPct val="127000"/>
              </a:lnSpc>
              <a:buNone/>
            </a:pPr>
            <a:r>
              <a:rPr lang="en-US" sz="1150" b="1" dirty="0">
                <a:solidFill>
                  <a:srgbClr val="00915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$329.5 billion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61475" y="1702495"/>
            <a:ext cx="3533587" cy="1515368"/>
          </a:xfrm>
          <a:prstGeom prst="roundRect">
            <a:avLst>
              <a:gd name="adj" fmla="val 1473"/>
            </a:avLst>
          </a:prstGeom>
          <a:solidFill>
            <a:srgbClr val="F2EEEE"/>
          </a:solidFill>
          <a:ln/>
        </p:spPr>
      </p:sp>
      <p:sp>
        <p:nvSpPr>
          <p:cNvPr id="5" name="Text 3"/>
          <p:cNvSpPr/>
          <p:nvPr/>
        </p:nvSpPr>
        <p:spPr>
          <a:xfrm>
            <a:off x="810299" y="1851323"/>
            <a:ext cx="3235939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Grid Collapse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10299" y="2164159"/>
            <a:ext cx="3235939" cy="678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Coordinated attacks on ENTSO-E transmission could trigger cascading, trans-border blackouts across multiple EU member states.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29004" y="1702495"/>
            <a:ext cx="3533587" cy="1515368"/>
          </a:xfrm>
          <a:prstGeom prst="roundRect">
            <a:avLst>
              <a:gd name="adj" fmla="val 1473"/>
            </a:avLst>
          </a:prstGeom>
          <a:solidFill>
            <a:srgbClr val="F2EEEE"/>
          </a:solidFill>
          <a:ln/>
        </p:spPr>
      </p:sp>
      <p:sp>
        <p:nvSpPr>
          <p:cNvPr id="8" name="Text 6"/>
          <p:cNvSpPr/>
          <p:nvPr/>
        </p:nvSpPr>
        <p:spPr>
          <a:xfrm>
            <a:off x="4477829" y="1851323"/>
            <a:ext cx="3235939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Physical Asset Destruction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477829" y="2164159"/>
            <a:ext cx="3235939" cy="678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Corrupting turbine governor firmware or IED safety files can cause catastrophic mechanical failure and long-term generation deficits.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996534" y="1702495"/>
            <a:ext cx="3533587" cy="1515368"/>
          </a:xfrm>
          <a:prstGeom prst="roundRect">
            <a:avLst>
              <a:gd name="adj" fmla="val 1473"/>
            </a:avLst>
          </a:prstGeom>
          <a:solidFill>
            <a:srgbClr val="F2EEEE"/>
          </a:solidFill>
          <a:ln/>
        </p:spPr>
      </p:sp>
      <p:sp>
        <p:nvSpPr>
          <p:cNvPr id="11" name="Text 9"/>
          <p:cNvSpPr/>
          <p:nvPr/>
        </p:nvSpPr>
        <p:spPr>
          <a:xfrm>
            <a:off x="8145358" y="1851323"/>
            <a:ext cx="3235939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Operational Blindness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145358" y="2164159"/>
            <a:ext cx="3235939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Wiper attacks on SCADA/HMIs eliminate real-time telemetry, extending recovery from hours to weeks due to geographic dispersion of unmanned facilities.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61475" y="3418780"/>
            <a:ext cx="10868745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Long-Term Financial Consequences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61475" y="3852168"/>
            <a:ext cx="11478330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b="1" dirty="0">
                <a:solidFill>
                  <a:srgbClr val="00915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70%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of total OT breach loss stems from secondary, long-term consequences.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61475" y="4229100"/>
            <a:ext cx="10868745" cy="2036366"/>
          </a:xfrm>
          <a:prstGeom prst="roundRect">
            <a:avLst>
              <a:gd name="adj" fmla="val 1096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1475" y="4638278"/>
            <a:ext cx="10868745" cy="930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61475" y="5044281"/>
            <a:ext cx="10868745" cy="930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61475" y="5450284"/>
            <a:ext cx="10868745" cy="930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61475" y="5856288"/>
            <a:ext cx="10868745" cy="930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816748" y="4322167"/>
            <a:ext cx="5197147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Regulatory Sanctions (NIS2 &amp; GDPR)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701959" y="4322167"/>
            <a:ext cx="6282672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Up to 4% of global annual turnover or €10M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16748" y="4728170"/>
            <a:ext cx="5197147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SLA &amp; Contract Fines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701959" y="4728170"/>
            <a:ext cx="6282672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0.5%–1% of contract value per week; capped at 10%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16748" y="5134173"/>
            <a:ext cx="5197147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Physical Replacement Surcharges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701959" y="5134173"/>
            <a:ext cx="6282672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1.5x–3x standard costs; 12–24 month lead times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16748" y="5540177"/>
            <a:ext cx="5197147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Customer Churn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701959" y="5540177"/>
            <a:ext cx="6282672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Affects 40% of public outage victims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16748" y="5946180"/>
            <a:ext cx="5197147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Insurance Premium Increases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701959" y="5946180"/>
            <a:ext cx="6282672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+30% to +100% on renewals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98773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Coordinated Cyber-Sabotage of the Polish Energy Grid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61475" y="1123851"/>
            <a:ext cx="1086874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During extreme winter conditions, </a:t>
            </a:r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Static Tundra</a:t>
            </a:r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(Berserk Bear) executed a destructive campaign against </a:t>
            </a:r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915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30+ wind/solar farms</a:t>
            </a:r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and a CHP plant serving </a:t>
            </a:r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915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~500,000 customers</a:t>
            </a:r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exploiting unpatched FortiGate gateways lacking MFA. Dwell time: </a:t>
            </a:r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5–9 months</a:t>
            </a:r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1663601"/>
            <a:ext cx="10868745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Attack Phases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086323" y="2029023"/>
            <a:ext cx="19050" cy="3160415"/>
          </a:xfrm>
          <a:prstGeom prst="roundRect">
            <a:avLst>
              <a:gd name="adj" fmla="val 104183"/>
            </a:avLst>
          </a:prstGeom>
          <a:solidFill>
            <a:srgbClr val="D8D4D4"/>
          </a:solidFill>
          <a:ln/>
        </p:spPr>
      </p:sp>
      <p:sp>
        <p:nvSpPr>
          <p:cNvPr id="6" name="Shape 4"/>
          <p:cNvSpPr/>
          <p:nvPr/>
        </p:nvSpPr>
        <p:spPr>
          <a:xfrm>
            <a:off x="5850287" y="2168327"/>
            <a:ext cx="264610" cy="19050"/>
          </a:xfrm>
          <a:prstGeom prst="roundRect">
            <a:avLst>
              <a:gd name="adj" fmla="val 104183"/>
            </a:avLst>
          </a:prstGeom>
          <a:solidFill>
            <a:srgbClr val="D8D4D4"/>
          </a:solidFill>
          <a:ln/>
        </p:spPr>
      </p:sp>
      <p:sp>
        <p:nvSpPr>
          <p:cNvPr id="7" name="Shape 5"/>
          <p:cNvSpPr/>
          <p:nvPr/>
        </p:nvSpPr>
        <p:spPr>
          <a:xfrm>
            <a:off x="6046239" y="2128242"/>
            <a:ext cx="99216" cy="99219"/>
          </a:xfrm>
          <a:prstGeom prst="ellipse">
            <a:avLst/>
          </a:prstGeom>
          <a:solidFill>
            <a:srgbClr val="00674F"/>
          </a:solidFill>
          <a:ln/>
        </p:spPr>
      </p:sp>
      <p:sp>
        <p:nvSpPr>
          <p:cNvPr id="8" name="Text 6"/>
          <p:cNvSpPr/>
          <p:nvPr/>
        </p:nvSpPr>
        <p:spPr>
          <a:xfrm>
            <a:off x="661475" y="2074466"/>
            <a:ext cx="4905153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Phase I–II: Infiltration &amp; Credential Harvesting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61475" y="2344638"/>
            <a:ext cx="490515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Exfiltrated Active Directory; confirmed default credential access on RTU controllers.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076798" y="2909193"/>
            <a:ext cx="264610" cy="19050"/>
          </a:xfrm>
          <a:prstGeom prst="roundRect">
            <a:avLst>
              <a:gd name="adj" fmla="val 104183"/>
            </a:avLst>
          </a:prstGeom>
          <a:solidFill>
            <a:srgbClr val="D8D4D4"/>
          </a:solidFill>
          <a:ln/>
        </p:spPr>
      </p:sp>
      <p:sp>
        <p:nvSpPr>
          <p:cNvPr id="11" name="Shape 9"/>
          <p:cNvSpPr/>
          <p:nvPr/>
        </p:nvSpPr>
        <p:spPr>
          <a:xfrm>
            <a:off x="6046239" y="2869109"/>
            <a:ext cx="99216" cy="99219"/>
          </a:xfrm>
          <a:prstGeom prst="ellipse">
            <a:avLst/>
          </a:prstGeom>
          <a:solidFill>
            <a:srgbClr val="00674F"/>
          </a:solidFill>
          <a:ln/>
        </p:spPr>
      </p:sp>
      <p:sp>
        <p:nvSpPr>
          <p:cNvPr id="12" name="Text 10"/>
          <p:cNvSpPr/>
          <p:nvPr/>
        </p:nvSpPr>
        <p:spPr>
          <a:xfrm>
            <a:off x="6625067" y="2815332"/>
            <a:ext cx="4905153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Phase III–IV: Wind &amp; Solar Destruction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25067" y="3085505"/>
            <a:ext cx="490515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Corrupted Hitachi RTU firmware; deleted boot files on Relion 650 relays, permanently bricking hardware.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850287" y="3566914"/>
            <a:ext cx="264610" cy="19050"/>
          </a:xfrm>
          <a:prstGeom prst="roundRect">
            <a:avLst>
              <a:gd name="adj" fmla="val 104183"/>
            </a:avLst>
          </a:prstGeom>
          <a:solidFill>
            <a:srgbClr val="D8D4D4"/>
          </a:solidFill>
          <a:ln/>
        </p:spPr>
      </p:sp>
      <p:sp>
        <p:nvSpPr>
          <p:cNvPr id="15" name="Shape 13"/>
          <p:cNvSpPr/>
          <p:nvPr/>
        </p:nvSpPr>
        <p:spPr>
          <a:xfrm>
            <a:off x="6046239" y="3526830"/>
            <a:ext cx="99216" cy="99219"/>
          </a:xfrm>
          <a:prstGeom prst="ellipse">
            <a:avLst/>
          </a:prstGeom>
          <a:solidFill>
            <a:srgbClr val="00674F"/>
          </a:solidFill>
          <a:ln/>
        </p:spPr>
      </p:sp>
      <p:sp>
        <p:nvSpPr>
          <p:cNvPr id="16" name="Text 14"/>
          <p:cNvSpPr/>
          <p:nvPr/>
        </p:nvSpPr>
        <p:spPr>
          <a:xfrm>
            <a:off x="661475" y="3473053"/>
            <a:ext cx="4905153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Phase V: Forensics Delay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61475" y="3743226"/>
            <a:ext cx="490515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Reset Moxa serial servers to factory defaults with unreachable IPs, erasing logs.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76798" y="4224734"/>
            <a:ext cx="264610" cy="19050"/>
          </a:xfrm>
          <a:prstGeom prst="roundRect">
            <a:avLst>
              <a:gd name="adj" fmla="val 104183"/>
            </a:avLst>
          </a:prstGeom>
          <a:solidFill>
            <a:srgbClr val="D8D4D4"/>
          </a:solidFill>
          <a:ln/>
        </p:spPr>
      </p:sp>
      <p:sp>
        <p:nvSpPr>
          <p:cNvPr id="19" name="Shape 17"/>
          <p:cNvSpPr/>
          <p:nvPr/>
        </p:nvSpPr>
        <p:spPr>
          <a:xfrm>
            <a:off x="6046239" y="4184650"/>
            <a:ext cx="99216" cy="99219"/>
          </a:xfrm>
          <a:prstGeom prst="ellipse">
            <a:avLst/>
          </a:prstGeom>
          <a:solidFill>
            <a:srgbClr val="00674F"/>
          </a:solidFill>
          <a:ln/>
        </p:spPr>
      </p:sp>
      <p:sp>
        <p:nvSpPr>
          <p:cNvPr id="20" name="Text 18"/>
          <p:cNvSpPr/>
          <p:nvPr/>
        </p:nvSpPr>
        <p:spPr>
          <a:xfrm>
            <a:off x="6625067" y="4130873"/>
            <a:ext cx="4905153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Phase VI: CHP Wiper — Blocked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625067" y="4401046"/>
            <a:ext cx="490515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EDR software blocked DynoWiper/LazyWiper at runtime, preventing catastrophic heat loss.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61475" y="5348188"/>
            <a:ext cx="10868745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Key Lessons Learned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61475" y="5713611"/>
            <a:ext cx="10868745" cy="645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3200" indent="-203200">
              <a:lnSpc>
                <a:spcPct val="120000"/>
              </a:lnSpc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Mandate phishing-resistant MFA</a:t>
            </a:r>
            <a:pPr algn="l" marL="203200" indent="-2032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on all perimeter connections; rotate default credentials before commissioning.</a:t>
            </a:r>
            <a:endParaRPr lang="en-US" sz="1000" dirty="0"/>
          </a:p>
          <a:p>
            <a:pPr algn="l" marL="203200" indent="-203200">
              <a:lnSpc>
                <a:spcPct val="120000"/>
              </a:lnSpc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Deploy runtime EDR</a:t>
            </a:r>
            <a:pPr algn="l" marL="203200" indent="-2032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on HMI hosts as the final defense against destructive wiper payloads.</a:t>
            </a:r>
            <a:endParaRPr lang="en-US" sz="1000" dirty="0"/>
          </a:p>
          <a:p>
            <a:pPr algn="l" marL="203200" indent="-203200">
              <a:lnSpc>
                <a:spcPct val="120000"/>
              </a:lnSpc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Implement passive OT network visibility</a:t>
            </a:r>
            <a:pPr algn="l" marL="203200" indent="-2032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to detect lateral movement during long reconnaissance windows.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91542"/>
            <a:ext cx="10868745" cy="439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Evidence-Based Mitigation Strategies for Utilities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661475" y="1269702"/>
            <a:ext cx="11478330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Utility organizations must adopt the </a:t>
            </a:r>
            <a:pPr algn="l" indent="0" marL="0">
              <a:lnSpc>
                <a:spcPct val="12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SANS 5 Critical Controls for OT Cybersecurity</a:t>
            </a:r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prioritizing actions by measured risk-reduction capability.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612106"/>
            <a:ext cx="3543211" cy="1234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97213" y="1771650"/>
            <a:ext cx="3147934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ICS-Specific Incident Response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897213" y="2062857"/>
            <a:ext cx="3147934" cy="6241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Execute playbooks simulating multi-site wiper/ransomware scenarios. </a:t>
            </a:r>
            <a:pPr algn="l" indent="0" marL="0">
              <a:lnSpc>
                <a:spcPct val="123000"/>
              </a:lnSpc>
              <a:buNone/>
            </a:pPr>
            <a:r>
              <a:rPr lang="en-US" sz="1100" b="1" dirty="0">
                <a:solidFill>
                  <a:srgbClr val="00915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Saves $2.66M per breach; 18.46% risk reduction.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24143" y="1612106"/>
            <a:ext cx="3543311" cy="1234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59880" y="1771650"/>
            <a:ext cx="3148033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Defensible Network Architecture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4559880" y="2062857"/>
            <a:ext cx="3148033" cy="6241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Segment IT/OT via Industrial DMZs; block direct internet access to PLCs/RTUs. Enables </a:t>
            </a:r>
            <a:pPr algn="l" indent="0" marL="0">
              <a:lnSpc>
                <a:spcPct val="123000"/>
              </a:lnSpc>
              <a:buNone/>
            </a:pPr>
            <a:r>
              <a:rPr lang="en-US" sz="1100" b="1" dirty="0">
                <a:solidFill>
                  <a:srgbClr val="00915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10x faster</a:t>
            </a:r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control deployment.</a:t>
            </a:r>
            <a:endParaRPr lang="en-US" sz="11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86910" y="1612106"/>
            <a:ext cx="3543311" cy="12344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222647" y="1771650"/>
            <a:ext cx="3148033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Passive OT Network Visibility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8222647" y="2062857"/>
            <a:ext cx="3148033" cy="6241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Monitor Modbus, IEC 60870-5-104, DNP3 via SPAN ports. Reduces OT ransomware containment from </a:t>
            </a:r>
            <a:pPr algn="l" indent="0" marL="0">
              <a:lnSpc>
                <a:spcPct val="123000"/>
              </a:lnSpc>
              <a:buNone/>
            </a:pPr>
            <a:r>
              <a:rPr lang="en-US" sz="1100" b="1" dirty="0">
                <a:solidFill>
                  <a:srgbClr val="00915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42 days to 5 days</a:t>
            </a:r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</a:t>
            </a:r>
            <a:endParaRPr lang="en-US" sz="11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2966045"/>
            <a:ext cx="3543211" cy="123448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97213" y="3125589"/>
            <a:ext cx="3147934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Secure Remote Access + MFA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897213" y="3416796"/>
            <a:ext cx="3147934" cy="6241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Route all connections through IDMZ jump hosts with FIDO2 tokens. Eliminates edge exploits driving </a:t>
            </a:r>
            <a:pPr algn="l" indent="0" marL="0">
              <a:lnSpc>
                <a:spcPct val="123000"/>
              </a:lnSpc>
              <a:buNone/>
            </a:pPr>
            <a:r>
              <a:rPr lang="en-US" sz="1100" b="1" dirty="0">
                <a:solidFill>
                  <a:srgbClr val="00915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77% of utility breaches</a:t>
            </a:r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</a:t>
            </a:r>
            <a:endParaRPr lang="en-US" sz="11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24143" y="2966045"/>
            <a:ext cx="3543311" cy="123448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559880" y="3125589"/>
            <a:ext cx="3148033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Risk-Based Vulnerability Management</a:t>
            </a:r>
            <a:endParaRPr lang="en-US" sz="1350" dirty="0"/>
          </a:p>
        </p:txBody>
      </p:sp>
      <p:sp>
        <p:nvSpPr>
          <p:cNvPr id="18" name="Text 11"/>
          <p:cNvSpPr/>
          <p:nvPr/>
        </p:nvSpPr>
        <p:spPr>
          <a:xfrm>
            <a:off x="4559880" y="3416796"/>
            <a:ext cx="3148033" cy="6241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Prioritize using Dragos "Now, Next, Never" model; remediate only the </a:t>
            </a:r>
            <a:pPr algn="l" indent="0" marL="0">
              <a:lnSpc>
                <a:spcPct val="123000"/>
              </a:lnSpc>
              <a:buNone/>
            </a:pPr>
            <a:r>
              <a:rPr lang="en-US" sz="1100" b="1" dirty="0">
                <a:solidFill>
                  <a:srgbClr val="00915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~2%</a:t>
            </a:r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of vulnerabilities with direct OT exploitability.</a:t>
            </a:r>
            <a:endParaRPr lang="en-US" sz="1100" dirty="0"/>
          </a:p>
        </p:txBody>
      </p:sp>
      <p:sp>
        <p:nvSpPr>
          <p:cNvPr id="19" name="Text 12"/>
          <p:cNvSpPr/>
          <p:nvPr/>
        </p:nvSpPr>
        <p:spPr>
          <a:xfrm>
            <a:off x="661475" y="4379714"/>
            <a:ext cx="10868745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EU Regulatory Compliance Deadlines</a:t>
            </a:r>
            <a:endParaRPr lang="en-US" sz="1350" dirty="0"/>
          </a:p>
        </p:txBody>
      </p:sp>
      <p:sp>
        <p:nvSpPr>
          <p:cNvPr id="20" name="Shape 13"/>
          <p:cNvSpPr/>
          <p:nvPr/>
        </p:nvSpPr>
        <p:spPr>
          <a:xfrm>
            <a:off x="661475" y="4778474"/>
            <a:ext cx="10868745" cy="1487884"/>
          </a:xfrm>
          <a:prstGeom prst="roundRect">
            <a:avLst>
              <a:gd name="adj" fmla="val 1417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1" name="Shape 14"/>
          <p:cNvSpPr/>
          <p:nvPr/>
        </p:nvSpPr>
        <p:spPr>
          <a:xfrm>
            <a:off x="661475" y="5152033"/>
            <a:ext cx="10868745" cy="878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2" name="Shape 15"/>
          <p:cNvSpPr/>
          <p:nvPr/>
        </p:nvSpPr>
        <p:spPr>
          <a:xfrm>
            <a:off x="661475" y="5522416"/>
            <a:ext cx="10868745" cy="878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3" name="Shape 16"/>
          <p:cNvSpPr/>
          <p:nvPr/>
        </p:nvSpPr>
        <p:spPr>
          <a:xfrm>
            <a:off x="661475" y="5892800"/>
            <a:ext cx="10868745" cy="878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4" name="Text 17"/>
          <p:cNvSpPr/>
          <p:nvPr/>
        </p:nvSpPr>
        <p:spPr>
          <a:xfrm>
            <a:off x="808414" y="4862810"/>
            <a:ext cx="3585378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Framework</a:t>
            </a:r>
            <a:endParaRPr lang="en-US" sz="1100" dirty="0"/>
          </a:p>
        </p:txBody>
      </p:sp>
      <p:sp>
        <p:nvSpPr>
          <p:cNvPr id="25" name="Text 18"/>
          <p:cNvSpPr/>
          <p:nvPr/>
        </p:nvSpPr>
        <p:spPr>
          <a:xfrm>
            <a:off x="4065188" y="4862810"/>
            <a:ext cx="4128190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Key Requirement</a:t>
            </a:r>
            <a:endParaRPr lang="en-US" sz="1100" dirty="0"/>
          </a:p>
        </p:txBody>
      </p:sp>
      <p:sp>
        <p:nvSpPr>
          <p:cNvPr id="26" name="Text 19"/>
          <p:cNvSpPr/>
          <p:nvPr/>
        </p:nvSpPr>
        <p:spPr>
          <a:xfrm>
            <a:off x="7864774" y="4862810"/>
            <a:ext cx="4128190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Deadline</a:t>
            </a:r>
            <a:endParaRPr lang="en-US" sz="1100" dirty="0"/>
          </a:p>
        </p:txBody>
      </p:sp>
      <p:sp>
        <p:nvSpPr>
          <p:cNvPr id="27" name="Text 20"/>
          <p:cNvSpPr/>
          <p:nvPr/>
        </p:nvSpPr>
        <p:spPr>
          <a:xfrm>
            <a:off x="808414" y="5233194"/>
            <a:ext cx="3585378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NIS2 Directive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4065188" y="5233194"/>
            <a:ext cx="4128190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24h early warning; 72h formal notice; 1-month report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7864774" y="5233194"/>
            <a:ext cx="4128190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Compliance audits by June 30, 2026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808414" y="5603577"/>
            <a:ext cx="3585378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CER Directive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4065188" y="5603577"/>
            <a:ext cx="4128190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National risk assessment; physical protections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7864774" y="5603577"/>
            <a:ext cx="4128190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Full physical compliance by May 2027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808414" y="5973961"/>
            <a:ext cx="3585378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DORA / CS&amp;R Bill</a:t>
            </a:r>
            <a:endParaRPr lang="en-US" sz="1100" dirty="0"/>
          </a:p>
        </p:txBody>
      </p:sp>
      <p:sp>
        <p:nvSpPr>
          <p:cNvPr id="34" name="Text 27"/>
          <p:cNvSpPr/>
          <p:nvPr/>
        </p:nvSpPr>
        <p:spPr>
          <a:xfrm>
            <a:off x="4065188" y="5973961"/>
            <a:ext cx="4128190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4-hour major incident notification (MTTD target)</a:t>
            </a:r>
            <a:endParaRPr lang="en-US" sz="1100" dirty="0"/>
          </a:p>
        </p:txBody>
      </p:sp>
      <p:sp>
        <p:nvSpPr>
          <p:cNvPr id="35" name="Text 28"/>
          <p:cNvSpPr/>
          <p:nvPr/>
        </p:nvSpPr>
        <p:spPr>
          <a:xfrm>
            <a:off x="7864774" y="5973961"/>
            <a:ext cx="4128190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Ongoing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2026-07-16T14:07:06Z</dcterms:created>
  <dcterms:modified xsi:type="dcterms:W3CDTF">2026-07-16T14:07:06Z</dcterms:modified>
</cp:coreProperties>
</file>