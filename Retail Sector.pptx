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Crimson Pro Semi Bold"/>
      <p:regular r:id="rId16"/>
    </p:embeddedFont>
    <p:embeddedFont>
      <p:font typeface="Heebo"/>
      <p:regular r:id="rId17"/>
    </p:embeddedFont>
    <p:embeddedFont>
      <p:font typeface="Heeb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484596"/>
            <a:ext cx="2802374" cy="373142"/>
          </a:xfrm>
          <a:prstGeom prst="roundRect">
            <a:avLst>
              <a:gd name="adj" fmla="val 6383"/>
            </a:avLst>
          </a:prstGeom>
          <a:solidFill>
            <a:srgbClr val="CCFFF3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852" y="2591753"/>
            <a:ext cx="158710" cy="1587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50858" y="2544128"/>
            <a:ext cx="232624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CYBERSECURITY BRIEFING 2026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93790" y="293703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Retail Sector Cyber Risk: Threats, Impact &amp; Resilience</a:t>
            </a:r>
            <a:endParaRPr lang="en-US" sz="3900" dirty="0"/>
          </a:p>
        </p:txBody>
      </p:sp>
      <p:sp>
        <p:nvSpPr>
          <p:cNvPr id="7" name="Text 3"/>
          <p:cNvSpPr/>
          <p:nvPr/>
        </p:nvSpPr>
        <p:spPr>
          <a:xfrm>
            <a:off x="793790" y="447484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combination of high financial reward, vast repositories of monetizable PII, and the critical necessity for uninterrupted operations renders the retail industry a highly preferred and continuously targeted hunting ground for sophisticated cyber threat actors.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3340" y="789503"/>
            <a:ext cx="6545342" cy="500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Top Cyber Attack Vectors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003340" y="1547813"/>
            <a:ext cx="12623721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Retail's sprawling digital and physical footprint creates a uniquely fragmented attack surface. From legacy POS terminals to API-heavy e-commerce platforms and deeply interconnected supply chains, threat actors exploit architectural weaknesses at every layer.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3340" y="2155746"/>
            <a:ext cx="4121825" cy="2182177"/>
          </a:xfrm>
          <a:prstGeom prst="roundRect">
            <a:avLst>
              <a:gd name="adj" fmla="val 110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163360" y="2315766"/>
            <a:ext cx="480179" cy="480179"/>
          </a:xfrm>
          <a:prstGeom prst="roundRect">
            <a:avLst>
              <a:gd name="adj" fmla="val 19040994"/>
            </a:avLst>
          </a:prstGeom>
          <a:solidFill>
            <a:srgbClr val="0067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5400" y="2447687"/>
            <a:ext cx="216098" cy="2160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3360" y="2925008"/>
            <a:ext cx="200096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 Malware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63360" y="3252549"/>
            <a:ext cx="3801785" cy="92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RAM-scraping malware targets unencrypted magnetic stripe data on legacy systems across dispersed locations with inconsistent physical security.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54228" y="2155746"/>
            <a:ext cx="4121825" cy="2182177"/>
          </a:xfrm>
          <a:prstGeom prst="roundRect">
            <a:avLst>
              <a:gd name="adj" fmla="val 1100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14248" y="2315766"/>
            <a:ext cx="480179" cy="480179"/>
          </a:xfrm>
          <a:prstGeom prst="roundRect">
            <a:avLst>
              <a:gd name="adj" fmla="val 19040994"/>
            </a:avLst>
          </a:prstGeom>
          <a:solidFill>
            <a:srgbClr val="0067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6288" y="2447687"/>
            <a:ext cx="216098" cy="2160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4248" y="2925008"/>
            <a:ext cx="200096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E-Commerce Exploits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14248" y="3252549"/>
            <a:ext cx="3801785" cy="69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Misconfigured APIs, credential stuffing, and massive DDoS attacks overwhelm platforms during peak seasons, causing immediate revenue cessation.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505117" y="2155746"/>
            <a:ext cx="4121944" cy="2182177"/>
          </a:xfrm>
          <a:prstGeom prst="roundRect">
            <a:avLst>
              <a:gd name="adj" fmla="val 110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665137" y="2315766"/>
            <a:ext cx="480179" cy="480179"/>
          </a:xfrm>
          <a:prstGeom prst="roundRect">
            <a:avLst>
              <a:gd name="adj" fmla="val 19040994"/>
            </a:avLst>
          </a:prstGeom>
          <a:solidFill>
            <a:srgbClr val="0067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7177" y="2447687"/>
            <a:ext cx="216098" cy="2160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65137" y="2925008"/>
            <a:ext cx="2210157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Compromise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665137" y="3252549"/>
            <a:ext cx="3801904" cy="92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Vendor email compromise and zero-day exploits in unmonitored vendor portals provide lateral access into core retail networks for ransomware deployment.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3340" y="4531519"/>
            <a:ext cx="5200055" cy="400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Retail-Specific Vulnerability Landscape</a:t>
            </a:r>
            <a:endParaRPr lang="en-US" sz="2500" dirty="0"/>
          </a:p>
        </p:txBody>
      </p:sp>
      <p:sp>
        <p:nvSpPr>
          <p:cNvPr id="20" name="Shape 15"/>
          <p:cNvSpPr/>
          <p:nvPr/>
        </p:nvSpPr>
        <p:spPr>
          <a:xfrm>
            <a:off x="1003340" y="5125283"/>
            <a:ext cx="12623721" cy="2314694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0960" y="5132903"/>
            <a:ext cx="12608481" cy="4013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171099" y="5217914"/>
            <a:ext cx="244994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Domain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948708" y="5217914"/>
            <a:ext cx="4463534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Architectural Weakness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739902" y="5217914"/>
            <a:ext cx="4719518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&amp; Systemic Impact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1010960" y="5534263"/>
            <a:ext cx="12608481" cy="6326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1171099" y="5619274"/>
            <a:ext cx="244994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 Systems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948708" y="5619274"/>
            <a:ext cx="4463534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Heterogeneous devices, legacy OS, dispersed locations, inconsistent physical security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739902" y="5619274"/>
            <a:ext cx="4719518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 exposure, PCI-DSS fines, reputational damage, card replacement costs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1010960" y="6166961"/>
            <a:ext cx="12608481" cy="6326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1171099" y="6251972"/>
            <a:ext cx="244994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3948708" y="6251972"/>
            <a:ext cx="4463534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Heavy API reliance, fast-tracked rollouts bypassing secure-by-design principles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739902" y="6251972"/>
            <a:ext cx="4719518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loss, cart abandonment, GDPR penalties, erosion of digital trust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1010960" y="6799659"/>
            <a:ext cx="12608481" cy="6326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1171099" y="6884670"/>
            <a:ext cx="244994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Chains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3948708" y="6884670"/>
            <a:ext cx="4463534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Fragmented attack surface via 3PL providers, cloud infrastructure, franchisee systems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8739902" y="6884670"/>
            <a:ext cx="4719518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Cascading failures, stockouts, operational paralysis, financial contagion to banking networks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6349" y="1053346"/>
            <a:ext cx="481536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 in Retail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3176349" y="1492329"/>
            <a:ext cx="8277701" cy="25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 was once a localized IT expense has evolved into a material financial event capable of eroding enterprise value and threatening corporate solvency. In early 2026, the global average cost of a data breach stands at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 million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while U.S. breaches have surged to a record </a:t>
            </a:r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$10.22 million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incident.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76349" y="1866900"/>
            <a:ext cx="209942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Financial Metrics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176349" y="2243971"/>
            <a:ext cx="2184083" cy="34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$3.54M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12356" y="2684264"/>
            <a:ext cx="1312069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Retail Breach 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76349" y="2903696"/>
            <a:ext cx="2184083" cy="12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 from $3.48M, with a 17% YoY increase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29726" y="2243971"/>
            <a:ext cx="2184083" cy="34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$48B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865733" y="2684264"/>
            <a:ext cx="1312069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E-Commerce Fraud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29726" y="2903696"/>
            <a:ext cx="2184083" cy="12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Projected global extraction from the sector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76349" y="3195399"/>
            <a:ext cx="2184083" cy="34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$343B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612356" y="3635693"/>
            <a:ext cx="1312069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Payment Fraud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76349" y="3855125"/>
            <a:ext cx="2184083" cy="12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Cumulative cost 2023–2027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29726" y="3195399"/>
            <a:ext cx="2184083" cy="34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197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865733" y="3635693"/>
            <a:ext cx="1312069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to Identify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29726" y="3855125"/>
            <a:ext cx="2184083" cy="128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identification time in retail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77413" y="1866900"/>
            <a:ext cx="2099429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Retail vs. All Industries</a:t>
            </a:r>
            <a:endParaRPr lang="en-US" sz="16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7413" y="2238707"/>
            <a:ext cx="3581400" cy="196034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77413" y="4261009"/>
            <a:ext cx="3584138" cy="20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87%</a:t>
            </a:r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consumers will permanently leave a brand after a data mishandling incident. </a:t>
            </a:r>
            <a:pPr algn="l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76%</a:t>
            </a:r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organizations need 100+ days to restore operations post-breach.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176349" y="4599384"/>
            <a:ext cx="2503170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3176349" y="4944904"/>
            <a:ext cx="4111109" cy="1087874"/>
          </a:xfrm>
          <a:prstGeom prst="roundRect">
            <a:avLst>
              <a:gd name="adj" fmla="val 144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91589" y="4960144"/>
            <a:ext cx="4080629" cy="31480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Text 20"/>
          <p:cNvSpPr/>
          <p:nvPr/>
        </p:nvSpPr>
        <p:spPr>
          <a:xfrm>
            <a:off x="5153144" y="5019080"/>
            <a:ext cx="157401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96483" y="5330428"/>
            <a:ext cx="2450187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Lost Business &amp; Downtime — $1.47M (33.1%)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96483" y="5527596"/>
            <a:ext cx="387084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revenue loss from e-commerce outages, cart abandonment, mass customer attrition, and exorbitant marketing costs to replace churned demographics. Exponentially amplified during peak seasons.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342942" y="4944904"/>
            <a:ext cx="4111109" cy="1087874"/>
          </a:xfrm>
          <a:prstGeom prst="roundRect">
            <a:avLst>
              <a:gd name="adj" fmla="val 144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58182" y="4960144"/>
            <a:ext cx="4080629" cy="31480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8" name="Text 25"/>
          <p:cNvSpPr/>
          <p:nvPr/>
        </p:nvSpPr>
        <p:spPr>
          <a:xfrm>
            <a:off x="9319736" y="5019080"/>
            <a:ext cx="157401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63076" y="5330428"/>
            <a:ext cx="2235756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&amp; Escalation — $1.47M (33.1%)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63076" y="5527596"/>
            <a:ext cx="387084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Specialized forensic investigation, third-party audits, crisis management activation, and premium-priced emergency incident response retainers to halt lateral network movement.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176349" y="6088261"/>
            <a:ext cx="4111109" cy="1087874"/>
          </a:xfrm>
          <a:prstGeom prst="roundRect">
            <a:avLst>
              <a:gd name="adj" fmla="val 144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91589" y="6103501"/>
            <a:ext cx="4080629" cy="31480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3" name="Text 30"/>
          <p:cNvSpPr/>
          <p:nvPr/>
        </p:nvSpPr>
        <p:spPr>
          <a:xfrm>
            <a:off x="5153144" y="6162437"/>
            <a:ext cx="157401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296483" y="6473785"/>
            <a:ext cx="1650683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 — $1.31M (29.5%)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296483" y="6670953"/>
            <a:ext cx="387084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regulatory and consumer communications, legal drafting costs, credit monitoring agency coordination, and staffing of inbound consumer crisis call centers.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342942" y="6088261"/>
            <a:ext cx="4111109" cy="1087874"/>
          </a:xfrm>
          <a:prstGeom prst="roundRect">
            <a:avLst>
              <a:gd name="adj" fmla="val 144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58182" y="6103501"/>
            <a:ext cx="4080629" cy="314801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8" name="Text 35"/>
          <p:cNvSpPr/>
          <p:nvPr/>
        </p:nvSpPr>
        <p:spPr>
          <a:xfrm>
            <a:off x="9319736" y="6162437"/>
            <a:ext cx="157401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463076" y="6473785"/>
            <a:ext cx="2138958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Legal &amp; Remediation — $1.25M (28.1%)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463076" y="6670953"/>
            <a:ext cx="387084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Post-breach legal defense, consumer class-action settlements, PR crisis management, and unbudgeted capital expenditure to replace compromised hardware and fortify network architecture.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0970" y="972264"/>
            <a:ext cx="454235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2025 UK Retail Cyber Attack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3000970" y="1434822"/>
            <a:ext cx="862845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2025 attack on major UK retailers including M&amp;S and Harrods fundamentally altered how corporate risk executives assess enterprise security. Attackers exploited third-party helpdesk staff via social engineering, obtaining privileged credentials to pivot into core infrastructure — resulting in a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£388.5 million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drop in pre-tax profits.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000970" y="1796653"/>
            <a:ext cx="2631758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Impact Timeline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07580" y="2160508"/>
            <a:ext cx="15240" cy="3538061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6879134" y="2275880"/>
            <a:ext cx="328255" cy="15240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7192149" y="2160508"/>
            <a:ext cx="246102" cy="24610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233106" y="2180927"/>
            <a:ext cx="1640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69706" y="2198013"/>
            <a:ext cx="1498402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1–14: Reconnaissance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00970" y="2405063"/>
            <a:ext cx="37671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Covert.</a:t>
            </a:r>
            <a:pPr algn="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Targeted social engineering of third-party helpdesk staff to obtain privileged admin credentials. No operational impact observed.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23011" y="2834164"/>
            <a:ext cx="328255" cy="15240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7192149" y="2718792"/>
            <a:ext cx="246102" cy="24610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233106" y="2739211"/>
            <a:ext cx="1640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2292" y="2756297"/>
            <a:ext cx="1697831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15–21: Lateral Movement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2292" y="2963347"/>
            <a:ext cx="376713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Covert.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Pivot from vendor network into core M&amp;S/Harrods infrastructure. Data silently exfiltrated using legitimate credentials, evading internal security tools.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79134" y="3350895"/>
            <a:ext cx="328255" cy="15240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192149" y="3235523"/>
            <a:ext cx="246102" cy="24610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233106" y="3255943"/>
            <a:ext cx="1640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00437" y="3273028"/>
            <a:ext cx="1367671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 22: Detonation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00970" y="3480078"/>
            <a:ext cx="376713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Catastrophic failure.</a:t>
            </a:r>
            <a:pPr algn="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Ransomware executed across networks. E-commerce crashes, ERP locks, POS degrades. Extortion demands issued with data disclosure threats.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23011" y="3867626"/>
            <a:ext cx="328255" cy="15240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2149" y="3752255"/>
            <a:ext cx="246102" cy="24610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7233106" y="3772674"/>
            <a:ext cx="1640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2292" y="3789759"/>
            <a:ext cx="1465778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23–30: Containment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2292" y="3996809"/>
            <a:ext cx="376713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Severe disruption.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Digital operations halted. Emergency IR firms deployed. Manual paper-based workarounds attempted in stores, causing massive customer friction.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79134" y="4384358"/>
            <a:ext cx="328255" cy="15240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7192149" y="4268986"/>
            <a:ext cx="246102" cy="24610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7233106" y="4289405"/>
            <a:ext cx="1640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00437" y="4306491"/>
            <a:ext cx="1367671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31–90+: Recovery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00970" y="4513540"/>
            <a:ext cx="37671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Degraded operations.</a:t>
            </a:r>
            <a:pPr algn="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Slow restoration from immutable backups. Prolonged delays in supply chain logistics, inventory restocking, and vendor payments.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23011" y="4901089"/>
            <a:ext cx="328255" cy="15240"/>
          </a:xfrm>
          <a:prstGeom prst="roundRect">
            <a:avLst>
              <a:gd name="adj" fmla="val 107696"/>
            </a:avLst>
          </a:prstGeom>
          <a:solidFill>
            <a:srgbClr val="D8D4D4"/>
          </a:solidFill>
          <a:ln/>
        </p:spPr>
      </p:sp>
      <p:sp>
        <p:nvSpPr>
          <p:cNvPr id="32" name="Shape 30"/>
          <p:cNvSpPr/>
          <p:nvPr/>
        </p:nvSpPr>
        <p:spPr>
          <a:xfrm>
            <a:off x="7192149" y="4785717"/>
            <a:ext cx="246102" cy="246102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7233106" y="4806136"/>
            <a:ext cx="164068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2292" y="4823222"/>
            <a:ext cx="1501854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Month 6: Financial Fallout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2292" y="5030272"/>
            <a:ext cx="37671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 shock.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Mandatory disclosure of £388.5M profit drop to shareholders and regulators, triggering immediate downward equity valuation pressure.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00970" y="5788938"/>
            <a:ext cx="300037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Three Paradigm-Shifting Lessons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000970" y="6152793"/>
            <a:ext cx="2835950" cy="1104543"/>
          </a:xfrm>
          <a:prstGeom prst="roundRect">
            <a:avLst>
              <a:gd name="adj" fmla="val 23775"/>
            </a:avLst>
          </a:prstGeom>
          <a:solidFill>
            <a:srgbClr val="F2EEEE"/>
          </a:solidFill>
          <a:ln/>
        </p:spPr>
      </p:sp>
      <p:sp>
        <p:nvSpPr>
          <p:cNvPr id="38" name="Text 36"/>
          <p:cNvSpPr/>
          <p:nvPr/>
        </p:nvSpPr>
        <p:spPr>
          <a:xfrm>
            <a:off x="3110389" y="6262211"/>
            <a:ext cx="1661755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Identity Is the New Perimeter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10389" y="6469261"/>
            <a:ext cx="261711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hacked human psychology, not firewalls. Traditional perimeter defenses are ineffective against socially engineered credentials. Security must pivot to continuous identity verification and Zero Trust.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97166" y="6152793"/>
            <a:ext cx="2835950" cy="1104543"/>
          </a:xfrm>
          <a:prstGeom prst="roundRect">
            <a:avLst>
              <a:gd name="adj" fmla="val 23775"/>
            </a:avLst>
          </a:prstGeom>
          <a:solidFill>
            <a:srgbClr val="F2EEEE"/>
          </a:solidFill>
          <a:ln/>
        </p:spPr>
      </p:sp>
      <p:sp>
        <p:nvSpPr>
          <p:cNvPr id="41" name="Text 39"/>
          <p:cNvSpPr/>
          <p:nvPr/>
        </p:nvSpPr>
        <p:spPr>
          <a:xfrm>
            <a:off x="6006584" y="6262211"/>
            <a:ext cx="162067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Concentration Risk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06584" y="6469261"/>
            <a:ext cx="261711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Reliance on a single third-party provider for core IT creates a massive single point of failure. Interconnected supplier ecosystems leave retailers deeply and dangerously exposed.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793361" y="6152793"/>
            <a:ext cx="2835950" cy="1104543"/>
          </a:xfrm>
          <a:prstGeom prst="roundRect">
            <a:avLst>
              <a:gd name="adj" fmla="val 23775"/>
            </a:avLst>
          </a:prstGeom>
          <a:solidFill>
            <a:srgbClr val="F2EEEE"/>
          </a:solidFill>
          <a:ln/>
        </p:spPr>
      </p:sp>
      <p:sp>
        <p:nvSpPr>
          <p:cNvPr id="44" name="Text 42"/>
          <p:cNvSpPr/>
          <p:nvPr/>
        </p:nvSpPr>
        <p:spPr>
          <a:xfrm>
            <a:off x="8902779" y="6262211"/>
            <a:ext cx="1695093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DORA Is a Survival Imperative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902779" y="6469261"/>
            <a:ext cx="261711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are legally responsible for vendor cyber resilience. Vendor oversight requires continuous real-time threat intelligence, auditing, and stringent contractual security mandates — not annual questionnaires.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8380" y="1412438"/>
            <a:ext cx="560189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 &amp; Implementation Framework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28380" y="1844516"/>
            <a:ext cx="817364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Retail organizations must aggressively transition from reactive, perimeter-based security to proactive, risk-based operational resilience. The optimal defense requires a holistic synthesis of Zero Trust principles, AI-driven automation, and rigorous regulatory adherence.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28380" y="2178010"/>
            <a:ext cx="378714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Strategy Effectiveness &amp; Investment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28380" y="2518172"/>
            <a:ext cx="8173641" cy="1677353"/>
          </a:xfrm>
          <a:prstGeom prst="roundRect">
            <a:avLst>
              <a:gd name="adj" fmla="val 92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36000" y="2525792"/>
            <a:ext cx="8158401" cy="2062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40060" y="2565797"/>
            <a:ext cx="125741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12268" y="2565797"/>
            <a:ext cx="157995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Technical Focus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07016" y="2565797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Budget 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85948" y="2565797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Annual Cost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64880" y="2565797"/>
            <a:ext cx="2725936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 &amp; ROI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36000" y="2732008"/>
            <a:ext cx="8158401" cy="3324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40060" y="2772013"/>
            <a:ext cx="125741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Architecture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12268" y="2772013"/>
            <a:ext cx="157995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IAM, Phishing-resistant MFA, Micro-segmentation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07016" y="2772013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35–55%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85948" y="2772013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$15K–$45K+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64880" y="2772013"/>
            <a:ext cx="272593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76% reduction in breaches, 89% decrease in MTTD. Prevents $2M+ in uncontained losses.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36000" y="3064431"/>
            <a:ext cx="8158401" cy="4586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40060" y="3104436"/>
            <a:ext cx="125741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AI-Driven XDR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12268" y="3104436"/>
            <a:ext cx="1579959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containment, predictive threat intel, advanced SIEM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07016" y="3104436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25–40%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85948" y="3104436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$8K–$28K+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64880" y="3104436"/>
            <a:ext cx="272593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breach lifecycle by 80 days. Saves $1.9M–$2.2M per breach.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36000" y="3523059"/>
            <a:ext cx="8158401" cy="3324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40060" y="3563064"/>
            <a:ext cx="125741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DORA / TPRM Compliance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12268" y="3563064"/>
            <a:ext cx="157995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vendor monitoring, live RoI software, pen testing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07016" y="3563064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10–15%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85948" y="3563064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$5K–$18K+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64880" y="3563064"/>
            <a:ext cx="272593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Closes supply chain vulnerabilities. Avoids $5M–$8M third-party breach scenarios.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36000" y="3855482"/>
            <a:ext cx="8158401" cy="3324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40060" y="3895487"/>
            <a:ext cx="1257419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Employee Training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12268" y="3895487"/>
            <a:ext cx="157995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Phishing simulations, anti-social engineering protocols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07016" y="3895487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8–12%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5948" y="3895487"/>
            <a:ext cx="764143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$2.5K–$8K+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64880" y="3895487"/>
            <a:ext cx="272593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phishing click rates to &lt;8%. Prevents ~$150K per avoided BEC incident.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53728" y="4256365"/>
            <a:ext cx="4109680" cy="2560796"/>
          </a:xfrm>
          <a:prstGeom prst="roundRect">
            <a:avLst>
              <a:gd name="adj" fmla="val 607"/>
            </a:avLst>
          </a:prstGeom>
          <a:solidFill>
            <a:srgbClr val="00674F"/>
          </a:solidFill>
          <a:ln/>
        </p:spPr>
      </p:sp>
      <p:sp>
        <p:nvSpPr>
          <p:cNvPr id="37" name="Text 35"/>
          <p:cNvSpPr/>
          <p:nvPr/>
        </p:nvSpPr>
        <p:spPr>
          <a:xfrm>
            <a:off x="3257312" y="4310420"/>
            <a:ext cx="20301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Return on Security Investment (ROSI)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57312" y="4526399"/>
            <a:ext cx="390251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Cybersecurity ROI measures </a:t>
            </a:r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avoidance of catastrophic loss</a:t>
            </a:r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direct revenue generation. Using standard actuarial risk modeling: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57312" y="4827508"/>
            <a:ext cx="3902512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ROSI = (ALEbaseline × M − C) / 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57312" y="5002411"/>
            <a:ext cx="390251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Applied to retail: this calculation yields an immense </a:t>
            </a:r>
            <a:pPr algn="l" indent="0" marL="0">
              <a:lnSpc>
                <a:spcPts val="9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 of 414%</a:t>
            </a:r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demonstrating that strategic cybersecurity investments deliver exceptionally high capital efficiency.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49264" y="4310420"/>
            <a:ext cx="189095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Retail-Specific Security Framework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49264" y="4533186"/>
            <a:ext cx="103584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49264" y="4694039"/>
            <a:ext cx="3960376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44" name="Text 42"/>
          <p:cNvSpPr/>
          <p:nvPr/>
        </p:nvSpPr>
        <p:spPr>
          <a:xfrm>
            <a:off x="7449264" y="4776311"/>
            <a:ext cx="136874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DORA Operationalization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49264" y="4992291"/>
            <a:ext cx="396037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Board-approved resilience plans, threat-led penetration testing, stringent incident reporting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49264" y="5376386"/>
            <a:ext cx="103584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49264" y="5537240"/>
            <a:ext cx="3960376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48" name="Text 46"/>
          <p:cNvSpPr/>
          <p:nvPr/>
        </p:nvSpPr>
        <p:spPr>
          <a:xfrm>
            <a:off x="7449264" y="5619512"/>
            <a:ext cx="145899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Alignment (Sep 2026)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49264" y="5835491"/>
            <a:ext cx="3960376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ECCF certification shifts from voluntary to mandatory compliance instrument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49264" y="6093381"/>
            <a:ext cx="103584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49264" y="6254234"/>
            <a:ext cx="3960376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52" name="Text 50"/>
          <p:cNvSpPr/>
          <p:nvPr/>
        </p:nvSpPr>
        <p:spPr>
          <a:xfrm>
            <a:off x="7449264" y="6336506"/>
            <a:ext cx="16154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CRA Preparedness (Late 2026)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49264" y="6552486"/>
            <a:ext cx="3960376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reporting of exploited IoT vulnerabilities, enforceable from Sep 11,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066" y="774978"/>
            <a:ext cx="7554039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Building Cyber Resilience for Retail 2026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8066" y="1660684"/>
            <a:ext cx="13194268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adopting a deeply integrated, mathematically risk-quantified approach, retail organizations and their financial banking partners can navigate the asymmetric threat landscape of 2026 — ensuring operational continuity, protecting brand equity, and satisfying the most stringent EU regulatory mandates.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066" y="2390299"/>
            <a:ext cx="6597134" cy="7180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493" y="3270647"/>
            <a:ext cx="2243971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Identity-First Security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97493" y="3648551"/>
            <a:ext cx="6238280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architecture with continuous verification replaces obsolete perimeter defenses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90299"/>
            <a:ext cx="6597134" cy="7180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4627" y="3270647"/>
            <a:ext cx="2243971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AI-Powered Defense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494627" y="3648551"/>
            <a:ext cx="623828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detection and containment reduces breach lifecycle by 80 days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66" y="4374952"/>
            <a:ext cx="6597134" cy="7180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7493" y="5255300"/>
            <a:ext cx="2243971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Vendor Resilience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97493" y="5633204"/>
            <a:ext cx="6238280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third-party monitoring avoids $5M–$8M supply chain breach scenarios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374952"/>
            <a:ext cx="6597134" cy="7180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4627" y="5255300"/>
            <a:ext cx="2243971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Alignment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494627" y="5633204"/>
            <a:ext cx="6238280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DORA, NIS2, and CRA compliance as foundational business survival imperatives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87266" y="6724888"/>
            <a:ext cx="12925068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87% of consumers will permanently leave a brand after a data breach. With a 414% ROSI, strategic cybersecurity investment is not a cost — it is the highest-yield capital allocation available to retail enterprises.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718066" y="6542246"/>
            <a:ext cx="22860" cy="912257"/>
          </a:xfrm>
          <a:prstGeom prst="rect">
            <a:avLst/>
          </a:prstGeom>
          <a:solidFill>
            <a:srgbClr val="0067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2026-02-24T15:09:53Z</dcterms:created>
  <dcterms:modified xsi:type="dcterms:W3CDTF">2026-02-24T15:09:53Z</dcterms:modified>
</cp:coreProperties>
</file>