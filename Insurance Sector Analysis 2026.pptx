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embeddedFontLst>
    <p:embeddedFont>
      <p:font typeface="Crimson Pro Medium"/>
      <p:regular r:id="rId201314"/>
    </p:embeddedFont>
    <p:embeddedFont>
      <p:font typeface="Crimson Pro ExtraBold"/>
      <p:regular r:id="rId201315"/>
    </p:embeddedFont>
    <p:embeddedFont>
      <p:font typeface="Crimson Pro Black"/>
      <p:regular r:id="rId201316"/>
    </p:embeddedFont>
    <p:embeddedFont>
      <p:font typeface="Crimson Pro ExtraLight"/>
      <p:regular r:id="rId201317"/>
    </p:embeddedFont>
    <p:embeddedFont>
      <p:font typeface="Crimson Pro Light"/>
      <p:regular r:id="rId201318"/>
    </p:embeddedFont>
    <p:embeddedFont>
      <p:font typeface="Crimson Pro"/>
      <p:regular r:id="rId201319"/>
    </p:embeddedFont>
    <p:embeddedFont>
      <p:font typeface="Crimson Pro SemiBold"/>
      <p:regular r:id="rId201320"/>
    </p:embeddedFont>
    <p:embeddedFont>
      <p:font typeface="Crimson Pro Bold"/>
      <p:regular r:id="rId201321"/>
    </p:embeddedFont>
    <p:embeddedFont>
      <p:font typeface="Heebo Thin"/>
      <p:regular r:id="rId201322"/>
    </p:embeddedFont>
    <p:embeddedFont>
      <p:font typeface="Heebo ExtraLight"/>
      <p:regular r:id="rId201323"/>
    </p:embeddedFont>
    <p:embeddedFont>
      <p:font typeface="Heebo Light"/>
      <p:regular r:id="rId201324"/>
    </p:embeddedFont>
    <p:embeddedFont>
      <p:font typeface="Heebo"/>
      <p:regular r:id="rId201325"/>
    </p:embeddedFont>
    <p:embeddedFont>
      <p:font typeface="Heebo Medium"/>
      <p:regular r:id="rId201326"/>
    </p:embeddedFont>
    <p:embeddedFont>
      <p:font typeface="Heebo SemiBold"/>
      <p:regular r:id="rId201327"/>
    </p:embeddedFont>
    <p:embeddedFont>
      <p:font typeface="Heebo Bold"/>
      <p:regular r:id="rId201328"/>
    </p:embeddedFont>
    <p:embeddedFont>
      <p:font typeface="Heebo ExtraBold"/>
      <p:regular r:id="rId201329"/>
    </p:embeddedFont>
    <p:embeddedFont>
      <p:font typeface="Heebo Black"/>
      <p:regular r:id="rId20133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Relationship Id="rId201318" Target="fonts/201318.fntdata" Type="http://schemas.openxmlformats.org/officeDocument/2006/relationships/font"/><Relationship Id="rId201319" Target="fonts/201319.fntdata" Type="http://schemas.openxmlformats.org/officeDocument/2006/relationships/font"/><Relationship Id="rId201320" Target="fonts/201320.fntdata" Type="http://schemas.openxmlformats.org/officeDocument/2006/relationships/font"/><Relationship Id="rId201321" Target="fonts/201321.fntdata" Type="http://schemas.openxmlformats.org/officeDocument/2006/relationships/font"/><Relationship Id="rId201322" Target="fonts/201322.fntdata" Type="http://schemas.openxmlformats.org/officeDocument/2006/relationships/font"/><Relationship Id="rId201323" Target="fonts/201323.fntdata" Type="http://schemas.openxmlformats.org/officeDocument/2006/relationships/font"/><Relationship Id="rId201324" Target="fonts/201324.fntdata" Type="http://schemas.openxmlformats.org/officeDocument/2006/relationships/font"/><Relationship Id="rId201325" Target="fonts/201325.fntdata" Type="http://schemas.openxmlformats.org/officeDocument/2006/relationships/font"/><Relationship Id="rId201326" Target="fonts/201326.fntdata" Type="http://schemas.openxmlformats.org/officeDocument/2006/relationships/font"/><Relationship Id="rId201327" Target="fonts/201327.fntdata" Type="http://schemas.openxmlformats.org/officeDocument/2006/relationships/font"/><Relationship Id="rId201328" Target="fonts/201328.fntdata" Type="http://schemas.openxmlformats.org/officeDocument/2006/relationships/font"/><Relationship Id="rId201329" Target="fonts/201329.fntdata" Type="http://schemas.openxmlformats.org/officeDocument/2006/relationships/font"/><Relationship Id="rId201330" Target="fonts/201330.fntdata" Type="http://schemas.openxmlformats.org/officeDocument/2006/relationships/font"/><Relationship Id="rId201331" Target="fonts/201331.fntdata" Type="http://schemas.openxmlformats.org/officeDocument/2006/relationships/font"/><Relationship Id="rId201332" Target="fonts/201332.fntdata" Type="http://schemas.openxmlformats.org/officeDocument/2006/relationships/font"/><Relationship Id="rId201333" Target="fonts/201333.fntdata" Type="http://schemas.openxmlformats.org/officeDocument/2006/relationships/font"/><Relationship Id="rId201334" Target="fonts/201334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1.png"/><Relationship Id="rId6" Type="http://schemas.openxmlformats.org/officeDocument/2006/relationships/image" Target="../media/image-1-2.svg"/><Relationship Id="rId7" Type="http://schemas.openxmlformats.org/officeDocument/2006/relationships/image" Target="../media/image-1-7.png"/><Relationship Id="rId8" Type="http://schemas.openxmlformats.org/officeDocument/2006/relationships/image" Target="../media/image-1-8.svg"/><Relationship Id="rId9" Type="http://schemas.openxmlformats.org/officeDocument/2006/relationships/image" Target="../media/image-1-1.png"/><Relationship Id="rId10" Type="http://schemas.openxmlformats.org/officeDocument/2006/relationships/image" Target="../media/image-1-2.svg"/><Relationship Id="rId11" Type="http://schemas.openxmlformats.org/officeDocument/2006/relationships/image" Target="../media/image-1-11.png"/><Relationship Id="rId12" Type="http://schemas.openxmlformats.org/officeDocument/2006/relationships/image" Target="../media/image-1-12.svg"/><Relationship Id="rId13" Type="http://schemas.openxmlformats.org/officeDocument/2006/relationships/image" Target="../media/image-1-1.png"/><Relationship Id="rId14" Type="http://schemas.openxmlformats.org/officeDocument/2006/relationships/image" Target="../media/image-1-2.svg"/><Relationship Id="rId15" Type="http://schemas.openxmlformats.org/officeDocument/2006/relationships/image" Target="../media/image-1-15.png"/><Relationship Id="rId16" Type="http://schemas.openxmlformats.org/officeDocument/2006/relationships/image" Target="../media/image-1-16.svg"/><Relationship Id="rId17" Type="http://schemas.openxmlformats.org/officeDocument/2006/relationships/image" Target="../media/image-1-1.png"/><Relationship Id="rId18" Type="http://schemas.openxmlformats.org/officeDocument/2006/relationships/image" Target="../media/image-1-2.svg"/><Relationship Id="rId19" Type="http://schemas.openxmlformats.org/officeDocument/2006/relationships/image" Target="../media/image-1-19.png"/><Relationship Id="rId20" Type="http://schemas.openxmlformats.org/officeDocument/2006/relationships/image" Target="../media/image-1-20.svg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1.png"/><Relationship Id="rId4" Type="http://schemas.openxmlformats.org/officeDocument/2006/relationships/image" Target="../media/image-2-2.svg"/><Relationship Id="rId5" Type="http://schemas.openxmlformats.org/officeDocument/2006/relationships/image" Target="../media/image-2-1.png"/><Relationship Id="rId6" Type="http://schemas.openxmlformats.org/officeDocument/2006/relationships/image" Target="../media/image-2-2.svg"/><Relationship Id="rId7" Type="http://schemas.openxmlformats.org/officeDocument/2006/relationships/image" Target="../media/image-2-1.png"/><Relationship Id="rId8" Type="http://schemas.openxmlformats.org/officeDocument/2006/relationships/image" Target="../media/image-2-2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1.png"/><Relationship Id="rId4" Type="http://schemas.openxmlformats.org/officeDocument/2006/relationships/image" Target="../media/image-3-2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5.png"/><Relationship Id="rId8" Type="http://schemas.openxmlformats.org/officeDocument/2006/relationships/image" Target="../media/image-3-6.sv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1.png"/><Relationship Id="rId4" Type="http://schemas.openxmlformats.org/officeDocument/2006/relationships/image" Target="../media/image-4-2.svg"/><Relationship Id="rId5" Type="http://schemas.openxmlformats.org/officeDocument/2006/relationships/image" Target="../media/image-4-1.png"/><Relationship Id="rId6" Type="http://schemas.openxmlformats.org/officeDocument/2006/relationships/image" Target="../media/image-4-2.svg"/><Relationship Id="rId7" Type="http://schemas.openxmlformats.org/officeDocument/2006/relationships/image" Target="../media/image-4-1.png"/><Relationship Id="rId8" Type="http://schemas.openxmlformats.org/officeDocument/2006/relationships/image" Target="../media/image-4-2.svg"/><Relationship Id="rId9" Type="http://schemas.openxmlformats.org/officeDocument/2006/relationships/image" Target="../media/image-4-1.png"/><Relationship Id="rId10" Type="http://schemas.openxmlformats.org/officeDocument/2006/relationships/image" Target="../media/image-4-2.svg"/><Relationship Id="rId11" Type="http://schemas.openxmlformats.org/officeDocument/2006/relationships/image" Target="../media/image-4-1.png"/><Relationship Id="rId12" Type="http://schemas.openxmlformats.org/officeDocument/2006/relationships/image" Target="../media/image-4-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371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300" dirty="0">
                <a:solidFill>
                  <a:srgbClr val="00674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Key Threats &amp; Top 5 Cyber Attacks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661475" y="1041499"/>
            <a:ext cx="1147833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The insurance sector faces an escalating threat landscape driven by AI-powered adversaries, systemic supply chain vulnerabilities, and the unique density of high-value data insurers hold.</a:t>
            </a:r>
            <a:endParaRPr lang="en-US" sz="9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1280914"/>
            <a:ext cx="10868745" cy="714077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00" y="1548705"/>
            <a:ext cx="178490" cy="17849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25122" y="1412577"/>
            <a:ext cx="10173438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Autonomous AI &amp; Adaptive Malware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1225122" y="1643559"/>
            <a:ext cx="10173438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"Agentic" AI coordinates multi-stage campaigns and fabricates self-evolving malware, bypassing signature-based detection.</a:t>
            </a:r>
            <a:endParaRPr lang="en-US" sz="9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2069902"/>
            <a:ext cx="10868745" cy="714077"/>
          </a:xfrm>
          <a:prstGeom prst="rect">
            <a:avLst/>
          </a:prstGeom>
        </p:spPr>
      </p:pic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00" y="2337693"/>
            <a:ext cx="178490" cy="17849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225122" y="2201565"/>
            <a:ext cx="10173438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Portfolio Extortion &amp; Data Suppression</a:t>
            </a:r>
            <a:endParaRPr lang="en-US" sz="1150" dirty="0"/>
          </a:p>
        </p:txBody>
      </p:sp>
      <p:sp>
        <p:nvSpPr>
          <p:cNvPr id="11" name="Text 5"/>
          <p:cNvSpPr/>
          <p:nvPr/>
        </p:nvSpPr>
        <p:spPr>
          <a:xfrm>
            <a:off x="1225122" y="2432546"/>
            <a:ext cx="10173438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Ransomware targets insurers </a:t>
            </a:r>
            <a:pPr algn="l" indent="0" marL="0">
              <a:lnSpc>
                <a:spcPct val="10900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and</a:t>
            </a:r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their entire subsidiary/supplier network. Attackers increasingly skip encryption — focusing on theft and </a:t>
            </a:r>
            <a:pPr algn="l" indent="0" marL="0">
              <a:lnSpc>
                <a:spcPct val="109000"/>
              </a:lnSpc>
              <a:buNone/>
            </a:pPr>
            <a:r>
              <a:rPr lang="en-US" sz="900" b="1" dirty="0">
                <a:solidFill>
                  <a:srgbClr val="00674F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threatening public release</a:t>
            </a:r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</a:t>
            </a:r>
            <a:endParaRPr lang="en-US" sz="9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1475" y="2858889"/>
            <a:ext cx="10868745" cy="714077"/>
          </a:xfrm>
          <a:prstGeom prst="rect">
            <a:avLst/>
          </a:prstGeom>
        </p:spPr>
      </p:pic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2900" y="3126680"/>
            <a:ext cx="178490" cy="178495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1225122" y="2990552"/>
            <a:ext cx="10173438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Deepfake Social Engineering</a:t>
            </a:r>
            <a:endParaRPr lang="en-US" sz="1150" dirty="0"/>
          </a:p>
        </p:txBody>
      </p:sp>
      <p:sp>
        <p:nvSpPr>
          <p:cNvPr id="15" name="Text 7"/>
          <p:cNvSpPr/>
          <p:nvPr/>
        </p:nvSpPr>
        <p:spPr>
          <a:xfrm>
            <a:off x="1225122" y="3221534"/>
            <a:ext cx="10173438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AI deepfakes bypass biometric and voice-verification systems in claims processing and craft highly targeted phishing lures.</a:t>
            </a:r>
            <a:endParaRPr lang="en-US" sz="900" dirty="0"/>
          </a:p>
        </p:txBody>
      </p:sp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1475" y="3647877"/>
            <a:ext cx="10868745" cy="714077"/>
          </a:xfrm>
          <a:prstGeom prst="rect">
            <a:avLst/>
          </a:prstGeom>
        </p:spPr>
      </p:pic>
      <p:pic>
        <p:nvPicPr>
          <p:cNvPr id="17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22900" y="3915668"/>
            <a:ext cx="178490" cy="178495"/>
          </a:xfrm>
          <a:prstGeom prst="rect">
            <a:avLst/>
          </a:prstGeom>
        </p:spPr>
      </p:pic>
      <p:sp>
        <p:nvSpPr>
          <p:cNvPr id="18" name="Text 8"/>
          <p:cNvSpPr/>
          <p:nvPr/>
        </p:nvSpPr>
        <p:spPr>
          <a:xfrm>
            <a:off x="1225122" y="3779540"/>
            <a:ext cx="10173438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Supply Chain &amp; Cloud Concentration</a:t>
            </a:r>
            <a:endParaRPr lang="en-US" sz="1150" dirty="0"/>
          </a:p>
        </p:txBody>
      </p:sp>
      <p:sp>
        <p:nvSpPr>
          <p:cNvPr id="19" name="Text 9"/>
          <p:cNvSpPr/>
          <p:nvPr/>
        </p:nvSpPr>
        <p:spPr>
          <a:xfrm>
            <a:off x="1225122" y="4010521"/>
            <a:ext cx="10173438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 single MSP or SaaS vendor breach can cascade to impact </a:t>
            </a:r>
            <a:pPr algn="l" indent="0" marL="0">
              <a:lnSpc>
                <a:spcPct val="109000"/>
              </a:lnSpc>
              <a:buNone/>
            </a:pPr>
            <a:r>
              <a:rPr lang="en-US" sz="900" b="1" dirty="0">
                <a:solidFill>
                  <a:srgbClr val="00674F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thousands of downstream insurance entities</a:t>
            </a:r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</a:t>
            </a:r>
            <a:endParaRPr lang="en-US" sz="900" dirty="0"/>
          </a:p>
        </p:txBody>
      </p:sp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61475" y="4436864"/>
            <a:ext cx="10868745" cy="714077"/>
          </a:xfrm>
          <a:prstGeom prst="rect">
            <a:avLst/>
          </a:prstGeom>
        </p:spPr>
      </p:pic>
      <p:pic>
        <p:nvPicPr>
          <p:cNvPr id="21" name="Image 9" descr="preencoded.png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22900" y="4704655"/>
            <a:ext cx="178490" cy="178495"/>
          </a:xfrm>
          <a:prstGeom prst="rect">
            <a:avLst/>
          </a:prstGeom>
        </p:spPr>
      </p:pic>
      <p:sp>
        <p:nvSpPr>
          <p:cNvPr id="22" name="Text 10"/>
          <p:cNvSpPr/>
          <p:nvPr/>
        </p:nvSpPr>
        <p:spPr>
          <a:xfrm>
            <a:off x="1225122" y="4568527"/>
            <a:ext cx="10173438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Adversarial AI &amp; Model Integrity</a:t>
            </a:r>
            <a:endParaRPr lang="en-US" sz="1150" dirty="0"/>
          </a:p>
        </p:txBody>
      </p:sp>
      <p:sp>
        <p:nvSpPr>
          <p:cNvPr id="23" name="Text 11"/>
          <p:cNvSpPr/>
          <p:nvPr/>
        </p:nvSpPr>
        <p:spPr>
          <a:xfrm>
            <a:off x="1225122" y="4799509"/>
            <a:ext cx="10173438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Data poisoning and model inversion attacks manipulate underwriting AI, leading to mispriced policies or </a:t>
            </a:r>
            <a:pPr algn="l" indent="0" marL="0">
              <a:lnSpc>
                <a:spcPct val="109000"/>
              </a:lnSpc>
              <a:buNone/>
            </a:pPr>
            <a:r>
              <a:rPr lang="en-US" sz="900" b="1" dirty="0">
                <a:solidFill>
                  <a:srgbClr val="00674F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fraudulent payouts</a:t>
            </a:r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</a:t>
            </a:r>
            <a:endParaRPr lang="en-US" sz="900" dirty="0"/>
          </a:p>
        </p:txBody>
      </p:sp>
      <p:sp>
        <p:nvSpPr>
          <p:cNvPr id="24" name="Text 12"/>
          <p:cNvSpPr/>
          <p:nvPr/>
        </p:nvSpPr>
        <p:spPr>
          <a:xfrm>
            <a:off x="661475" y="5263356"/>
            <a:ext cx="10868745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674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Insurance-Specific Vulnerabilities</a:t>
            </a:r>
            <a:endParaRPr lang="en-US" sz="1150" dirty="0"/>
          </a:p>
        </p:txBody>
      </p:sp>
      <p:sp>
        <p:nvSpPr>
          <p:cNvPr id="25" name="Shape 13"/>
          <p:cNvSpPr/>
          <p:nvPr/>
        </p:nvSpPr>
        <p:spPr>
          <a:xfrm>
            <a:off x="661475" y="5561806"/>
            <a:ext cx="3572976" cy="779264"/>
          </a:xfrm>
          <a:prstGeom prst="roundRect">
            <a:avLst>
              <a:gd name="adj" fmla="val 2291"/>
            </a:avLst>
          </a:prstGeom>
          <a:solidFill>
            <a:srgbClr val="F2EEEE"/>
          </a:solidFill>
          <a:ln/>
        </p:spPr>
      </p:sp>
      <p:sp>
        <p:nvSpPr>
          <p:cNvPr id="26" name="Text 14"/>
          <p:cNvSpPr/>
          <p:nvPr/>
        </p:nvSpPr>
        <p:spPr>
          <a:xfrm>
            <a:off x="780435" y="5680770"/>
            <a:ext cx="3335056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🗄️</a:t>
            </a:r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 High-Value Data Density</a:t>
            </a:r>
            <a:endParaRPr lang="en-US" sz="1150" dirty="0"/>
          </a:p>
        </p:txBody>
      </p:sp>
      <p:sp>
        <p:nvSpPr>
          <p:cNvPr id="27" name="Text 15"/>
          <p:cNvSpPr/>
          <p:nvPr/>
        </p:nvSpPr>
        <p:spPr>
          <a:xfrm>
            <a:off x="780435" y="5911751"/>
            <a:ext cx="3335056" cy="310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Centralized PII, PHI, and financial repositories offer </a:t>
            </a:r>
            <a:pPr algn="l" indent="0" marL="0">
              <a:lnSpc>
                <a:spcPct val="109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maximum extortion leverage</a:t>
            </a:r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</a:t>
            </a:r>
            <a:endParaRPr lang="en-US" sz="900" dirty="0"/>
          </a:p>
        </p:txBody>
      </p:sp>
      <p:sp>
        <p:nvSpPr>
          <p:cNvPr id="28" name="Shape 16"/>
          <p:cNvSpPr/>
          <p:nvPr/>
        </p:nvSpPr>
        <p:spPr>
          <a:xfrm>
            <a:off x="4309359" y="5561806"/>
            <a:ext cx="3572976" cy="779264"/>
          </a:xfrm>
          <a:prstGeom prst="roundRect">
            <a:avLst>
              <a:gd name="adj" fmla="val 2291"/>
            </a:avLst>
          </a:prstGeom>
          <a:solidFill>
            <a:srgbClr val="F2EEEE"/>
          </a:solidFill>
          <a:ln/>
        </p:spPr>
      </p:sp>
      <p:sp>
        <p:nvSpPr>
          <p:cNvPr id="29" name="Text 17"/>
          <p:cNvSpPr/>
          <p:nvPr/>
        </p:nvSpPr>
        <p:spPr>
          <a:xfrm>
            <a:off x="4428320" y="5680770"/>
            <a:ext cx="3335056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📋</a:t>
            </a:r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 "Pre-Fill" Quoting Exploit</a:t>
            </a:r>
            <a:endParaRPr lang="en-US" sz="1150" dirty="0"/>
          </a:p>
        </p:txBody>
      </p:sp>
      <p:sp>
        <p:nvSpPr>
          <p:cNvPr id="30" name="Text 18"/>
          <p:cNvSpPr/>
          <p:nvPr/>
        </p:nvSpPr>
        <p:spPr>
          <a:xfrm>
            <a:off x="4428320" y="5911751"/>
            <a:ext cx="3335056" cy="310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Automated quoting tools pre-filling broker-purchased data enable </a:t>
            </a:r>
            <a:pPr algn="l" indent="0" marL="0">
              <a:lnSpc>
                <a:spcPct val="109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large-scale record harvesting</a:t>
            </a:r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</a:t>
            </a:r>
            <a:endParaRPr lang="en-US" sz="900" dirty="0"/>
          </a:p>
        </p:txBody>
      </p:sp>
      <p:sp>
        <p:nvSpPr>
          <p:cNvPr id="31" name="Shape 19"/>
          <p:cNvSpPr/>
          <p:nvPr/>
        </p:nvSpPr>
        <p:spPr>
          <a:xfrm>
            <a:off x="7957244" y="5561806"/>
            <a:ext cx="3572976" cy="779264"/>
          </a:xfrm>
          <a:prstGeom prst="roundRect">
            <a:avLst>
              <a:gd name="adj" fmla="val 2291"/>
            </a:avLst>
          </a:prstGeom>
          <a:solidFill>
            <a:srgbClr val="F2EEEE"/>
          </a:solidFill>
          <a:ln/>
        </p:spPr>
      </p:sp>
      <p:sp>
        <p:nvSpPr>
          <p:cNvPr id="32" name="Text 20"/>
          <p:cNvSpPr/>
          <p:nvPr/>
        </p:nvSpPr>
        <p:spPr>
          <a:xfrm>
            <a:off x="8076204" y="5680770"/>
            <a:ext cx="3335056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⚠️</a:t>
            </a:r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 Silent Cyber Exposure</a:t>
            </a:r>
            <a:endParaRPr lang="en-US" sz="1150" dirty="0"/>
          </a:p>
        </p:txBody>
      </p:sp>
      <p:sp>
        <p:nvSpPr>
          <p:cNvPr id="33" name="Text 21"/>
          <p:cNvSpPr/>
          <p:nvPr/>
        </p:nvSpPr>
        <p:spPr>
          <a:xfrm>
            <a:off x="8076204" y="5911751"/>
            <a:ext cx="3335056" cy="310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P&amp;C policies lacking explicit cyber exclusions create </a:t>
            </a:r>
            <a:pPr algn="l" indent="0" marL="0">
              <a:lnSpc>
                <a:spcPct val="109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massive hidden accumulation risks</a:t>
            </a:r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on balance sheets.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68821"/>
            <a:ext cx="1407581" cy="258465"/>
          </a:xfrm>
          <a:prstGeom prst="roundRect">
            <a:avLst>
              <a:gd name="adj" fmla="val 7898"/>
            </a:avLst>
          </a:prstGeom>
          <a:solidFill>
            <a:srgbClr val="CCFFF3"/>
          </a:solidFill>
          <a:ln/>
        </p:spPr>
      </p:sp>
      <p:sp>
        <p:nvSpPr>
          <p:cNvPr id="3" name="Text 1"/>
          <p:cNvSpPr/>
          <p:nvPr/>
        </p:nvSpPr>
        <p:spPr>
          <a:xfrm>
            <a:off x="763469" y="619820"/>
            <a:ext cx="1813177" cy="1564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FINANCIAL IMPACT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475" y="888504"/>
            <a:ext cx="10868745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300" dirty="0">
                <a:solidFill>
                  <a:srgbClr val="00674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The Cost of a Breach in Insurance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90158" y="1734741"/>
            <a:ext cx="2316303" cy="561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$6.40M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61475" y="2495947"/>
            <a:ext cx="2573670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Avg. Breach Cost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61475" y="2853432"/>
            <a:ext cx="2573670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Finance &amp; insurance sector — among the highest globally.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555117" y="1734741"/>
            <a:ext cx="2316303" cy="561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$375M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426434" y="2495947"/>
            <a:ext cx="2573769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Mega-Breach Cost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426434" y="2853432"/>
            <a:ext cx="2573769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Average cost for incidents involving 50M+ records.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20175" y="1734741"/>
            <a:ext cx="2316303" cy="561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$10.22M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191492" y="2495947"/>
            <a:ext cx="2573670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U.S. Record High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191492" y="2853432"/>
            <a:ext cx="2573670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Average breach cost across all U.S. sectors — a record.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85134" y="1734741"/>
            <a:ext cx="2316303" cy="561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168 days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956451" y="2495947"/>
            <a:ext cx="2573769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Mean Time to Identify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8956451" y="2853432"/>
            <a:ext cx="2573769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MTTC: 51 days. Combined dwell is a critical exposure window.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1475" y="3600152"/>
            <a:ext cx="10868745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00674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Cost Breakdown Per Breach (Global Avg.)</a:t>
            </a:r>
            <a:endParaRPr lang="en-US" sz="165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2425" y="4076402"/>
            <a:ext cx="5357778" cy="654149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69631" y="4095452"/>
            <a:ext cx="5130572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Detection &amp; Escalation</a:t>
            </a:r>
            <a:endParaRPr lang="en-US" sz="1650" dirty="0"/>
          </a:p>
        </p:txBody>
      </p:sp>
      <p:sp>
        <p:nvSpPr>
          <p:cNvPr id="20" name="Text 17"/>
          <p:cNvSpPr/>
          <p:nvPr/>
        </p:nvSpPr>
        <p:spPr>
          <a:xfrm>
            <a:off x="869631" y="4452938"/>
            <a:ext cx="5130572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Forensics, crisis management — </a:t>
            </a:r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$1.47M</a:t>
            </a:r>
            <a:endParaRPr lang="en-US" sz="13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2442" y="4076402"/>
            <a:ext cx="5357778" cy="654149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399648" y="4095452"/>
            <a:ext cx="5130572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Lost Business</a:t>
            </a:r>
            <a:endParaRPr lang="en-US" sz="1650" dirty="0"/>
          </a:p>
        </p:txBody>
      </p:sp>
      <p:sp>
        <p:nvSpPr>
          <p:cNvPr id="23" name="Text 19"/>
          <p:cNvSpPr/>
          <p:nvPr/>
        </p:nvSpPr>
        <p:spPr>
          <a:xfrm>
            <a:off x="6399648" y="4452938"/>
            <a:ext cx="5130572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Downtime, customer churn — </a:t>
            </a:r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$1.38M</a:t>
            </a:r>
            <a:endParaRPr lang="en-US" sz="13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2425" y="4998641"/>
            <a:ext cx="5357778" cy="654149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69631" y="5017691"/>
            <a:ext cx="5130572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Post-Breach Response</a:t>
            </a:r>
            <a:endParaRPr lang="en-US" sz="1650" dirty="0"/>
          </a:p>
        </p:txBody>
      </p:sp>
      <p:sp>
        <p:nvSpPr>
          <p:cNvPr id="26" name="Text 21"/>
          <p:cNvSpPr/>
          <p:nvPr/>
        </p:nvSpPr>
        <p:spPr>
          <a:xfrm>
            <a:off x="869631" y="5375176"/>
            <a:ext cx="5130572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Regulatory fines, settlements — </a:t>
            </a:r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$1.20M</a:t>
            </a:r>
            <a:endParaRPr lang="en-US" sz="13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72442" y="4998641"/>
            <a:ext cx="5357778" cy="654149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399648" y="5017691"/>
            <a:ext cx="5130572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Notification</a:t>
            </a:r>
            <a:endParaRPr lang="en-US" sz="1650" dirty="0"/>
          </a:p>
        </p:txBody>
      </p:sp>
      <p:sp>
        <p:nvSpPr>
          <p:cNvPr id="29" name="Text 23"/>
          <p:cNvSpPr/>
          <p:nvPr/>
        </p:nvSpPr>
        <p:spPr>
          <a:xfrm>
            <a:off x="6399648" y="5375176"/>
            <a:ext cx="5130572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Emails, regulatory filings — </a:t>
            </a:r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$0.39M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661475" y="5848449"/>
            <a:ext cx="10868745" cy="19050"/>
          </a:xfrm>
          <a:prstGeom prst="roundRect">
            <a:avLst>
              <a:gd name="adj" fmla="val 59999"/>
            </a:avLst>
          </a:prstGeom>
          <a:solidFill>
            <a:srgbClr val="000000">
              <a:alpha val="50000"/>
            </a:srgbClr>
          </a:solidFill>
          <a:ln/>
        </p:spPr>
      </p:sp>
      <p:sp>
        <p:nvSpPr>
          <p:cNvPr id="31" name="Text 25"/>
          <p:cNvSpPr/>
          <p:nvPr/>
        </p:nvSpPr>
        <p:spPr>
          <a:xfrm>
            <a:off x="661475" y="6082209"/>
            <a:ext cx="11478330" cy="206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Cost per compromised record: </a:t>
            </a:r>
            <a:pPr algn="l" indent="0" marL="0">
              <a:lnSpc>
                <a:spcPct val="127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$408</a:t>
            </a:r>
            <a:pPr algn="l" indent="0" marL="0">
              <a:lnSpc>
                <a:spcPct val="127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(finance/insurance) vs. </a:t>
            </a:r>
            <a:pPr algn="l" indent="0" marL="0">
              <a:lnSpc>
                <a:spcPct val="127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$173</a:t>
            </a:r>
            <a:pPr algn="l" indent="0" marL="0">
              <a:lnSpc>
                <a:spcPct val="127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global average. PHI records reach </a:t>
            </a:r>
            <a:pPr algn="l" indent="0" marL="0">
              <a:lnSpc>
                <a:spcPct val="127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$429</a:t>
            </a:r>
            <a:pPr algn="l" indent="0" marL="0">
              <a:lnSpc>
                <a:spcPct val="127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per record.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644723"/>
            <a:ext cx="1691637" cy="243979"/>
          </a:xfrm>
          <a:prstGeom prst="roundRect">
            <a:avLst>
              <a:gd name="adj" fmla="val 7902"/>
            </a:avLst>
          </a:prstGeom>
          <a:solidFill>
            <a:srgbClr val="CCFFF3"/>
          </a:solidFill>
          <a:ln/>
        </p:spPr>
      </p:sp>
      <p:sp>
        <p:nvSpPr>
          <p:cNvPr id="3" name="Text 1"/>
          <p:cNvSpPr/>
          <p:nvPr/>
        </p:nvSpPr>
        <p:spPr>
          <a:xfrm>
            <a:off x="757814" y="692845"/>
            <a:ext cx="2108544" cy="147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WORST CASE SCENARIOS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475" y="943273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dirty="0">
                <a:solidFill>
                  <a:srgbClr val="00674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Catastrophic Cyber Event Risk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661475" y="1786632"/>
            <a:ext cx="523842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00674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Catastrophic Scenarios</a:t>
            </a:r>
            <a:endParaRPr lang="en-US" sz="15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2191246"/>
            <a:ext cx="2550949" cy="289976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7354" y="2370931"/>
            <a:ext cx="2115390" cy="502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Systemic Aggregation Event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917354" y="3009503"/>
            <a:ext cx="2115390" cy="1901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00674F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"1-in-250-year"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event — such as a massive cloud outage or widespread ransomware worm hitting multiple vendors simultaneously — could trigger an estimated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00674F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$30 billion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in insured losses.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48946" y="2191246"/>
            <a:ext cx="2550949" cy="289976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04825" y="2370931"/>
            <a:ext cx="2115390" cy="502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Critical Infrastructure Disruption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3604825" y="3009503"/>
            <a:ext cx="2115390" cy="16640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An attack on global clearing systems, communication backbones, or power grids could paralyze financial operations and claims processing across the entire sector.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298149" y="1786632"/>
            <a:ext cx="523842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00674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Long-Term Financial Consequences</a:t>
            </a:r>
            <a:endParaRPr lang="en-US" sz="15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98149" y="2191246"/>
            <a:ext cx="2550949" cy="242431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54028" y="2370931"/>
            <a:ext cx="2115390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Severe Capital Depletion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6554028" y="2758480"/>
            <a:ext cx="2115390" cy="16640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Simultaneous triggering of millions of policies globally could exceed reinsurance capacity, threatening insurer solvency and triggering a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systemic macro-financial crisis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</a:t>
            </a:r>
            <a:endParaRPr lang="en-US" sz="12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85621" y="2191246"/>
            <a:ext cx="2550949" cy="2424311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241499" y="2370931"/>
            <a:ext cx="2115390" cy="502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Market Contraction &amp; Uninsurability</a:t>
            </a:r>
            <a:endParaRPr lang="en-US" sz="1550" dirty="0"/>
          </a:p>
        </p:txBody>
      </p:sp>
      <p:sp>
        <p:nvSpPr>
          <p:cNvPr id="18" name="Text 12"/>
          <p:cNvSpPr/>
          <p:nvPr/>
        </p:nvSpPr>
        <p:spPr>
          <a:xfrm>
            <a:off x="9241499" y="3009503"/>
            <a:ext cx="2115390" cy="1426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Insurers may radically restrict capacity, drive up premiums, and enforce absolute exclusions — leaving the broader economy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unprotected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61475" y="5398195"/>
            <a:ext cx="10868745" cy="814983"/>
          </a:xfrm>
          <a:prstGeom prst="roundRect">
            <a:avLst>
              <a:gd name="adj" fmla="val 2957"/>
            </a:avLst>
          </a:prstGeom>
          <a:solidFill>
            <a:srgbClr val="CCFFF3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106" y="5617071"/>
            <a:ext cx="200814" cy="160635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183551" y="5574804"/>
            <a:ext cx="10186038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 single systemic cyber event could simultaneously breach reinsurance limits, destabilize primary insurers, and render entire risk categories uninsurable — a scenario with no historical precedent in the industry.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7270"/>
            <a:ext cx="10868745" cy="371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300" dirty="0">
                <a:solidFill>
                  <a:srgbClr val="00674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Allianz Life Data Breach (July 2025)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661475" y="1058962"/>
            <a:ext cx="11478330" cy="124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The analysis of the Allianz Life Data Breach of July 2025 serves as a representative forensic model for the 2025-2026 threat environment, highlighting the systemic dangers of third-party dependencies and the speed of modern adversarial exfiltration.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661475" y="1342231"/>
            <a:ext cx="528921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674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Major Recent Attack Profile</a:t>
            </a:r>
            <a:endParaRPr lang="en-US" sz="11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1612503"/>
            <a:ext cx="5289219" cy="8346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3934" y="1744166"/>
            <a:ext cx="4975101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Target and Incident Date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43934" y="2005112"/>
            <a:ext cx="4975101" cy="310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Allianz Life Insurance Company of North America</a:t>
            </a:r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(subsidiary of Allianz SE) was impacted on </a:t>
            </a:r>
            <a:pPr algn="l" indent="0" marL="0">
              <a:lnSpc>
                <a:spcPct val="109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July 16, 2025</a:t>
            </a:r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</a:t>
            </a:r>
            <a:endParaRPr lang="en-US" sz="9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522041"/>
            <a:ext cx="5289219" cy="8346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43934" y="2653705"/>
            <a:ext cx="4975101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Initial Vector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43934" y="2914650"/>
            <a:ext cx="4975101" cy="310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Attackers compromised a </a:t>
            </a:r>
            <a:pPr algn="l" indent="0" marL="0">
              <a:lnSpc>
                <a:spcPct val="109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third-party cloud-based CRM system</a:t>
            </a:r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, using social engineering to obtain admin credentials before exploiting vendor vulnerabilities for automated data scraping.</a:t>
            </a:r>
            <a:endParaRPr lang="en-US" sz="9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3431580"/>
            <a:ext cx="5289219" cy="8346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43934" y="3563243"/>
            <a:ext cx="4975101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Scope of Exposure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843934" y="3824188"/>
            <a:ext cx="4975101" cy="310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Unauthorized access affected sensitive personal information for the </a:t>
            </a:r>
            <a:pPr algn="l" indent="0" marL="0">
              <a:lnSpc>
                <a:spcPct val="109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majority of 1.4 million customers</a:t>
            </a:r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6247351" y="1342231"/>
            <a:ext cx="528921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674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Financial Impact Analysis</a:t>
            </a:r>
            <a:endParaRPr lang="en-US" sz="11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47351" y="1612503"/>
            <a:ext cx="5289219" cy="83462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429809" y="1744166"/>
            <a:ext cx="4975101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Primary Crisis Services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6429809" y="2005112"/>
            <a:ext cx="4975101" cy="310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Forensic investigation, legal counsel, and crisis PR were required immediately to stabilize the incident response and communications posture.</a:t>
            </a:r>
            <a:endParaRPr lang="en-US" sz="9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47351" y="2522041"/>
            <a:ext cx="5289219" cy="83462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429809" y="2653705"/>
            <a:ext cx="4975101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Notification and Remediation</a:t>
            </a:r>
            <a:endParaRPr lang="en-US" sz="1150" dirty="0"/>
          </a:p>
        </p:txBody>
      </p:sp>
      <p:sp>
        <p:nvSpPr>
          <p:cNvPr id="20" name="Text 13"/>
          <p:cNvSpPr/>
          <p:nvPr/>
        </p:nvSpPr>
        <p:spPr>
          <a:xfrm>
            <a:off x="6429809" y="2914650"/>
            <a:ext cx="4975101" cy="310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Regulatory filings were required within </a:t>
            </a:r>
            <a:pPr algn="l" indent="0" marL="0">
              <a:lnSpc>
                <a:spcPct val="109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10 days</a:t>
            </a:r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, alongside credit monitoring and identity theft protection for </a:t>
            </a:r>
            <a:pPr algn="l" indent="0" marL="0">
              <a:lnSpc>
                <a:spcPct val="109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1M+ individuals</a:t>
            </a:r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, generating costs in the several-million-dollar range.</a:t>
            </a:r>
            <a:endParaRPr lang="en-US" sz="9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247351" y="3431580"/>
            <a:ext cx="5289219" cy="834628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429809" y="3563243"/>
            <a:ext cx="4975101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Regulatory Scrutiny</a:t>
            </a:r>
            <a:endParaRPr lang="en-US" sz="1150" dirty="0"/>
          </a:p>
        </p:txBody>
      </p:sp>
      <p:sp>
        <p:nvSpPr>
          <p:cNvPr id="23" name="Text 15"/>
          <p:cNvSpPr/>
          <p:nvPr/>
        </p:nvSpPr>
        <p:spPr>
          <a:xfrm>
            <a:off x="6429809" y="3824188"/>
            <a:ext cx="4975101" cy="310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Potential exposure includes fines under </a:t>
            </a:r>
            <a:pPr algn="l" indent="0" marL="0">
              <a:lnSpc>
                <a:spcPct val="109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NYDFS Part 500</a:t>
            </a:r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and the </a:t>
            </a:r>
            <a:pPr algn="l" indent="0" marL="0">
              <a:lnSpc>
                <a:spcPct val="109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EU DORA</a:t>
            </a:r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framework, with possible personal liability for senior management.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661475" y="4462859"/>
            <a:ext cx="10868745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00674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Operational Impact Timeline</a:t>
            </a:r>
            <a:endParaRPr lang="en-US" sz="1150" dirty="0"/>
          </a:p>
        </p:txBody>
      </p:sp>
      <p:sp>
        <p:nvSpPr>
          <p:cNvPr id="25" name="Shape 17"/>
          <p:cNvSpPr/>
          <p:nvPr/>
        </p:nvSpPr>
        <p:spPr>
          <a:xfrm>
            <a:off x="661475" y="4761309"/>
            <a:ext cx="10868745" cy="1559322"/>
          </a:xfrm>
          <a:prstGeom prst="roundRect">
            <a:avLst>
              <a:gd name="adj" fmla="val 1145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667825" y="4767659"/>
            <a:ext cx="10856046" cy="25777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7" name="Text 19"/>
          <p:cNvSpPr/>
          <p:nvPr/>
        </p:nvSpPr>
        <p:spPr>
          <a:xfrm>
            <a:off x="786884" y="4818955"/>
            <a:ext cx="232255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Date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2744124" y="4818955"/>
            <a:ext cx="318781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Event/Phase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5566628" y="4818955"/>
            <a:ext cx="6447867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Action Taken</a:t>
            </a:r>
            <a:endParaRPr lang="en-US" sz="900" dirty="0"/>
          </a:p>
        </p:txBody>
      </p:sp>
      <p:sp>
        <p:nvSpPr>
          <p:cNvPr id="30" name="Shape 22"/>
          <p:cNvSpPr/>
          <p:nvPr/>
        </p:nvSpPr>
        <p:spPr>
          <a:xfrm>
            <a:off x="667825" y="5025430"/>
            <a:ext cx="10856046" cy="257770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1" name="Text 23"/>
          <p:cNvSpPr/>
          <p:nvPr/>
        </p:nvSpPr>
        <p:spPr>
          <a:xfrm>
            <a:off x="786884" y="5076726"/>
            <a:ext cx="232255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July 16, 2025</a:t>
            </a:r>
            <a:endParaRPr lang="en-US" sz="900" dirty="0"/>
          </a:p>
        </p:txBody>
      </p:sp>
      <p:sp>
        <p:nvSpPr>
          <p:cNvPr id="32" name="Text 24"/>
          <p:cNvSpPr/>
          <p:nvPr/>
        </p:nvSpPr>
        <p:spPr>
          <a:xfrm>
            <a:off x="2744124" y="5076726"/>
            <a:ext cx="318781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Initial Compromise</a:t>
            </a:r>
            <a:endParaRPr lang="en-US" sz="900" dirty="0"/>
          </a:p>
        </p:txBody>
      </p:sp>
      <p:sp>
        <p:nvSpPr>
          <p:cNvPr id="33" name="Text 25"/>
          <p:cNvSpPr/>
          <p:nvPr/>
        </p:nvSpPr>
        <p:spPr>
          <a:xfrm>
            <a:off x="5566628" y="5076726"/>
            <a:ext cx="6447867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Attackers gain access via social engineering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667825" y="5283200"/>
            <a:ext cx="10856046" cy="25777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5" name="Text 27"/>
          <p:cNvSpPr/>
          <p:nvPr/>
        </p:nvSpPr>
        <p:spPr>
          <a:xfrm>
            <a:off x="786884" y="5334496"/>
            <a:ext cx="232255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July 17, 2025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2744124" y="5334496"/>
            <a:ext cx="318781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Discovery &amp; Containment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5566628" y="5334496"/>
            <a:ext cx="6447867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Breach identified, containment initiated, FBI notified</a:t>
            </a:r>
            <a:endParaRPr lang="en-US" sz="900" dirty="0"/>
          </a:p>
        </p:txBody>
      </p:sp>
      <p:sp>
        <p:nvSpPr>
          <p:cNvPr id="38" name="Shape 30"/>
          <p:cNvSpPr/>
          <p:nvPr/>
        </p:nvSpPr>
        <p:spPr>
          <a:xfrm>
            <a:off x="667825" y="5540970"/>
            <a:ext cx="10856046" cy="257770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786884" y="5592266"/>
            <a:ext cx="232255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July 18-25, 2025</a:t>
            </a:r>
            <a:endParaRPr lang="en-US" sz="900" dirty="0"/>
          </a:p>
        </p:txBody>
      </p:sp>
      <p:sp>
        <p:nvSpPr>
          <p:cNvPr id="40" name="Text 32"/>
          <p:cNvSpPr/>
          <p:nvPr/>
        </p:nvSpPr>
        <p:spPr>
          <a:xfrm>
            <a:off x="2744124" y="5592266"/>
            <a:ext cx="318781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Forensic Investigation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5566628" y="5592266"/>
            <a:ext cx="6447867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Analysis reveals exfiltration of names, SSNs, DOB, policy numbers</a:t>
            </a:r>
            <a:endParaRPr lang="en-US" sz="900" dirty="0"/>
          </a:p>
        </p:txBody>
      </p:sp>
      <p:sp>
        <p:nvSpPr>
          <p:cNvPr id="42" name="Shape 34"/>
          <p:cNvSpPr/>
          <p:nvPr/>
        </p:nvSpPr>
        <p:spPr>
          <a:xfrm>
            <a:off x="667825" y="5798741"/>
            <a:ext cx="10856046" cy="25777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3" name="Text 35"/>
          <p:cNvSpPr/>
          <p:nvPr/>
        </p:nvSpPr>
        <p:spPr>
          <a:xfrm>
            <a:off x="786884" y="5850037"/>
            <a:ext cx="232255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July 26-27, 2025</a:t>
            </a:r>
            <a:endParaRPr lang="en-US" sz="900" dirty="0"/>
          </a:p>
        </p:txBody>
      </p:sp>
      <p:sp>
        <p:nvSpPr>
          <p:cNvPr id="44" name="Text 36"/>
          <p:cNvSpPr/>
          <p:nvPr/>
        </p:nvSpPr>
        <p:spPr>
          <a:xfrm>
            <a:off x="2744124" y="5850037"/>
            <a:ext cx="318781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Public Disclosure</a:t>
            </a:r>
            <a:endParaRPr lang="en-US" sz="900" dirty="0"/>
          </a:p>
        </p:txBody>
      </p:sp>
      <p:sp>
        <p:nvSpPr>
          <p:cNvPr id="45" name="Text 37"/>
          <p:cNvSpPr/>
          <p:nvPr/>
        </p:nvSpPr>
        <p:spPr>
          <a:xfrm>
            <a:off x="5566628" y="5850037"/>
            <a:ext cx="6447867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Regulatory filings made; public media strategy launched</a:t>
            </a:r>
            <a:endParaRPr lang="en-US" sz="900" dirty="0"/>
          </a:p>
        </p:txBody>
      </p:sp>
      <p:sp>
        <p:nvSpPr>
          <p:cNvPr id="46" name="Shape 38"/>
          <p:cNvSpPr/>
          <p:nvPr/>
        </p:nvSpPr>
        <p:spPr>
          <a:xfrm>
            <a:off x="667825" y="6056511"/>
            <a:ext cx="10856046" cy="257770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47" name="Text 39"/>
          <p:cNvSpPr/>
          <p:nvPr/>
        </p:nvSpPr>
        <p:spPr>
          <a:xfrm>
            <a:off x="786884" y="6107807"/>
            <a:ext cx="232255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August 2025+</a:t>
            </a:r>
            <a:endParaRPr lang="en-US" sz="900" dirty="0"/>
          </a:p>
        </p:txBody>
      </p:sp>
      <p:sp>
        <p:nvSpPr>
          <p:cNvPr id="48" name="Text 40"/>
          <p:cNvSpPr/>
          <p:nvPr/>
        </p:nvSpPr>
        <p:spPr>
          <a:xfrm>
            <a:off x="2744124" y="6107807"/>
            <a:ext cx="318781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Remediation &amp; Litigation</a:t>
            </a:r>
            <a:endParaRPr lang="en-US" sz="900" dirty="0"/>
          </a:p>
        </p:txBody>
      </p:sp>
      <p:sp>
        <p:nvSpPr>
          <p:cNvPr id="49" name="Text 41"/>
          <p:cNvSpPr/>
          <p:nvPr/>
        </p:nvSpPr>
        <p:spPr>
          <a:xfrm>
            <a:off x="5566628" y="6107807"/>
            <a:ext cx="6447867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Notification letters sent; multi-jurisdictional lawsuits filed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706140"/>
            <a:ext cx="1374145" cy="201116"/>
          </a:xfrm>
          <a:prstGeom prst="roundRect">
            <a:avLst>
              <a:gd name="adj" fmla="val 7895"/>
            </a:avLst>
          </a:prstGeom>
          <a:solidFill>
            <a:srgbClr val="CCFFF3"/>
          </a:solidFill>
          <a:ln/>
        </p:spPr>
      </p:sp>
      <p:sp>
        <p:nvSpPr>
          <p:cNvPr id="3" name="Text 1"/>
          <p:cNvSpPr/>
          <p:nvPr/>
        </p:nvSpPr>
        <p:spPr>
          <a:xfrm>
            <a:off x="740848" y="745827"/>
            <a:ext cx="1824984" cy="121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MITIGATION STRATEGIES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61475" y="944265"/>
            <a:ext cx="10868745" cy="4134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dirty="0">
                <a:solidFill>
                  <a:srgbClr val="00674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Evidence-Based Cybersecurity for Insurers</a:t>
            </a:r>
            <a:endParaRPr lang="en-US" sz="2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1496616"/>
            <a:ext cx="330688" cy="3306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61475" y="1943001"/>
            <a:ext cx="5376530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Zero Trust Architecture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61475" y="2205236"/>
            <a:ext cx="5376530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"Never Trust, Always Verify" — deep micro-segmentation and phishing-resistant identity validation. </a:t>
            </a:r>
            <a:pPr algn="l" indent="0" marL="0">
              <a:lnSpc>
                <a:spcPct val="113000"/>
              </a:lnSpc>
              <a:buNone/>
            </a:pPr>
            <a:r>
              <a:rPr lang="en-US" sz="1000" b="1" dirty="0">
                <a:solidFill>
                  <a:srgbClr val="00674F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62% reduction</a:t>
            </a:r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in ransomware incidents. ROI: </a:t>
            </a:r>
            <a:pPr algn="l" indent="0" marL="0">
              <a:lnSpc>
                <a:spcPct val="113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184%</a:t>
            </a:r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(payback in 3 months).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3691" y="1496616"/>
            <a:ext cx="330688" cy="3306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153691" y="1943001"/>
            <a:ext cx="5376530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Agentic SOC &amp; AI Detection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153691" y="2205236"/>
            <a:ext cx="5376530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AI/ML automates Tier 1 alert triage and real-time anomaly detection. Saves avg. </a:t>
            </a:r>
            <a:pPr algn="l" indent="0" marL="0">
              <a:lnSpc>
                <a:spcPct val="113000"/>
              </a:lnSpc>
              <a:buNone/>
            </a:pPr>
            <a:r>
              <a:rPr lang="en-US" sz="1000" b="1" dirty="0">
                <a:solidFill>
                  <a:srgbClr val="00674F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$2.22M</a:t>
            </a:r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per breach. ROI: </a:t>
            </a:r>
            <a:pPr algn="l" indent="0" marL="0">
              <a:lnSpc>
                <a:spcPct val="113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257%</a:t>
            </a:r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(payback in &lt;6 months).</a:t>
            </a:r>
            <a:endParaRPr lang="en-US" sz="10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2750443"/>
            <a:ext cx="330688" cy="33069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61475" y="3196828"/>
            <a:ext cx="5376530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24/7 Threat Monitoring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61475" y="3459063"/>
            <a:ext cx="5376530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Hybrid MDR setup ($50k–$100k/yr) reduces MTTR by </a:t>
            </a:r>
            <a:pPr algn="l" indent="0" marL="0">
              <a:lnSpc>
                <a:spcPct val="113000"/>
              </a:lnSpc>
              <a:buNone/>
            </a:pPr>
            <a:r>
              <a:rPr lang="en-US" sz="1000" b="1" dirty="0">
                <a:solidFill>
                  <a:srgbClr val="00674F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85%</a:t>
            </a:r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 ROI: </a:t>
            </a:r>
            <a:pPr algn="l" indent="0" marL="0">
              <a:lnSpc>
                <a:spcPct val="113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210%–549%</a:t>
            </a:r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vs. internal SOC floor of $1.5M/year.</a:t>
            </a:r>
            <a:endParaRPr lang="en-US" sz="10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53691" y="2750443"/>
            <a:ext cx="330688" cy="33069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153691" y="3196828"/>
            <a:ext cx="5376530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Tabletop Exercises (TTX)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6153691" y="3459063"/>
            <a:ext cx="5376530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Executive-level IR stress testing ($30k–$100k/exercise) secures insurability and delivers </a:t>
            </a:r>
            <a:pPr algn="l" indent="0" marL="0">
              <a:lnSpc>
                <a:spcPct val="113000"/>
              </a:lnSpc>
              <a:buNone/>
            </a:pPr>
            <a:r>
              <a:rPr lang="en-US" sz="1000" b="1" dirty="0">
                <a:solidFill>
                  <a:srgbClr val="00674F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15–30%</a:t>
            </a:r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cyber premium reductions.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661475" y="3956248"/>
            <a:ext cx="10868745" cy="19050"/>
          </a:xfrm>
          <a:prstGeom prst="roundRect">
            <a:avLst>
              <a:gd name="adj" fmla="val 59999"/>
            </a:avLst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8" name="Text 12"/>
          <p:cNvSpPr/>
          <p:nvPr/>
        </p:nvSpPr>
        <p:spPr>
          <a:xfrm>
            <a:off x="661475" y="4205089"/>
            <a:ext cx="6951687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00674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Implementation Metrics at a Glance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661475" y="4515941"/>
            <a:ext cx="6951687" cy="1531739"/>
          </a:xfrm>
          <a:prstGeom prst="roundRect">
            <a:avLst>
              <a:gd name="adj" fmla="val 1296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67825" y="4522291"/>
            <a:ext cx="6938987" cy="30380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1" name="Text 15"/>
          <p:cNvSpPr/>
          <p:nvPr/>
        </p:nvSpPr>
        <p:spPr>
          <a:xfrm>
            <a:off x="800179" y="4584204"/>
            <a:ext cx="3117474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Strategy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3578929" y="4584204"/>
            <a:ext cx="2073422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ROI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5313626" y="4584204"/>
            <a:ext cx="2770515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Cost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67825" y="4826099"/>
            <a:ext cx="6938987" cy="303808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5" name="Text 19"/>
          <p:cNvSpPr/>
          <p:nvPr/>
        </p:nvSpPr>
        <p:spPr>
          <a:xfrm>
            <a:off x="800179" y="4888012"/>
            <a:ext cx="3117474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AI-SIEM &amp; Automation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3578929" y="4888012"/>
            <a:ext cx="2073422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257%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5313626" y="4888012"/>
            <a:ext cx="2770515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$1.8M+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667825" y="5129907"/>
            <a:ext cx="6938987" cy="30380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800179" y="5191820"/>
            <a:ext cx="3117474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24/7 MDR Monitoring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3578929" y="5191820"/>
            <a:ext cx="2073422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210–549%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5313626" y="5191820"/>
            <a:ext cx="2770515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$50k–$100k/yr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667825" y="5433715"/>
            <a:ext cx="6938987" cy="303808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3" name="Text 27"/>
          <p:cNvSpPr/>
          <p:nvPr/>
        </p:nvSpPr>
        <p:spPr>
          <a:xfrm>
            <a:off x="800179" y="5495627"/>
            <a:ext cx="3117474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Zero Trust &amp; Micro-seg.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3578929" y="5495627"/>
            <a:ext cx="2073422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184%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5313626" y="5495627"/>
            <a:ext cx="2770515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$1M–$1.2M</a:t>
            </a:r>
            <a:endParaRPr lang="en-US" sz="1000" dirty="0"/>
          </a:p>
        </p:txBody>
      </p:sp>
      <p:sp>
        <p:nvSpPr>
          <p:cNvPr id="36" name="Shape 30"/>
          <p:cNvSpPr/>
          <p:nvPr/>
        </p:nvSpPr>
        <p:spPr>
          <a:xfrm>
            <a:off x="667825" y="5737523"/>
            <a:ext cx="6938987" cy="30380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7" name="Text 31"/>
          <p:cNvSpPr/>
          <p:nvPr/>
        </p:nvSpPr>
        <p:spPr>
          <a:xfrm>
            <a:off x="800179" y="5799435"/>
            <a:ext cx="3117474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TTX &amp; Basic Hygiene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3578929" y="5799435"/>
            <a:ext cx="2073422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674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15–30% premium ↓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313626" y="5799435"/>
            <a:ext cx="2770515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$30k–$100k</a:t>
            </a:r>
            <a:endParaRPr lang="en-US" sz="1000" dirty="0"/>
          </a:p>
        </p:txBody>
      </p:sp>
      <p:sp>
        <p:nvSpPr>
          <p:cNvPr id="40" name="Shape 34"/>
          <p:cNvSpPr/>
          <p:nvPr/>
        </p:nvSpPr>
        <p:spPr>
          <a:xfrm>
            <a:off x="7846915" y="4112518"/>
            <a:ext cx="3784803" cy="2039342"/>
          </a:xfrm>
          <a:prstGeom prst="roundRect">
            <a:avLst>
              <a:gd name="adj" fmla="val 973"/>
            </a:avLst>
          </a:prstGeom>
          <a:solidFill>
            <a:srgbClr val="00674F"/>
          </a:solidFill>
          <a:ln/>
        </p:spPr>
      </p:sp>
      <p:sp>
        <p:nvSpPr>
          <p:cNvPr id="41" name="Text 35"/>
          <p:cNvSpPr/>
          <p:nvPr/>
        </p:nvSpPr>
        <p:spPr>
          <a:xfrm>
            <a:off x="7979171" y="4205089"/>
            <a:ext cx="3520292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DORA Compliance</a:t>
            </a:r>
            <a:endParaRPr lang="en-US" sz="1300" dirty="0"/>
          </a:p>
        </p:txBody>
      </p:sp>
      <p:sp>
        <p:nvSpPr>
          <p:cNvPr id="42" name="Text 36"/>
          <p:cNvSpPr/>
          <p:nvPr/>
        </p:nvSpPr>
        <p:spPr>
          <a:xfrm>
            <a:off x="7979171" y="4504333"/>
            <a:ext cx="3520292" cy="719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Fully enforceable across the EU as of </a:t>
            </a:r>
            <a:pPr algn="l" indent="0" marL="0">
              <a:lnSpc>
                <a:spcPct val="113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January 17, 2025</a:t>
            </a:r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 Mandates a strict Register of Information (ROI) for all third-party ICT providers, Threat-Led Penetration Testing (TLPT), and rigorous incident reporting timelines.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2026-07-09T13:57:31Z</dcterms:created>
  <dcterms:modified xsi:type="dcterms:W3CDTF">2026-07-09T13:57:31Z</dcterms:modified>
</cp:coreProperties>
</file>