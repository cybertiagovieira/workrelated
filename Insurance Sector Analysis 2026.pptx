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Crimson Pro Semi Bold"/>
      <p:regular r:id="rId12"/>
    </p:embeddedFont>
    <p:embeddedFont>
      <p:font typeface="Crimson Pro Semi Bold"/>
      <p:regular r:id="rId13"/>
    </p:embeddedFont>
    <p:embeddedFont>
      <p:font typeface="Crimson Pro Semi Bold"/>
      <p:regular r:id="rId14"/>
    </p:embeddedFont>
    <p:embeddedFont>
      <p:font typeface="Crimson Pro Semi Bold"/>
      <p:regular r:id="rId15"/>
    </p:embeddedFont>
    <p:embeddedFont>
      <p:font typeface="Heebo"/>
      <p:regular r:id="rId16"/>
    </p:embeddedFont>
    <p:embeddedFont>
      <p:font typeface="Heebo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906" y="622816"/>
            <a:ext cx="5060037" cy="44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Threats &amp; Top 5 Cyber Attacks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68906" y="1248847"/>
            <a:ext cx="13092589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insurance sector faces an escalating threat landscape driven by AI-powered adversaries, systemic supply chain vulnerabilities, and the unique density of high-value data insurers hold.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68906" y="1536025"/>
            <a:ext cx="13092589" cy="85677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4146" y="1551265"/>
            <a:ext cx="571143" cy="826294"/>
          </a:xfrm>
          <a:prstGeom prst="roundRect">
            <a:avLst>
              <a:gd name="adj" fmla="val 549"/>
            </a:avLst>
          </a:prstGeom>
          <a:solidFill>
            <a:srgbClr val="F2EE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620" y="1857256"/>
            <a:ext cx="214193" cy="2141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5181" y="1694021"/>
            <a:ext cx="2693194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Autonomous AI &amp; Adaptive Malware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45181" y="1970961"/>
            <a:ext cx="12258318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"Agentic" AI coordinates multi-stage campaigns and fabricates self-evolving malware, bypassing signature-based detection.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8906" y="2482691"/>
            <a:ext cx="13092589" cy="85677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4146" y="2497931"/>
            <a:ext cx="571143" cy="826294"/>
          </a:xfrm>
          <a:prstGeom prst="roundRect">
            <a:avLst>
              <a:gd name="adj" fmla="val 549"/>
            </a:avLst>
          </a:prstGeom>
          <a:solidFill>
            <a:srgbClr val="F2EE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620" y="2803922"/>
            <a:ext cx="214193" cy="2141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45181" y="2640687"/>
            <a:ext cx="2884408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Portfolio Extortion &amp; Data Suppression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45181" y="2917627"/>
            <a:ext cx="12258318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Ransomware targets insurers </a:t>
            </a:r>
            <a:pPr algn="l" indent="0" marL="0">
              <a:lnSpc>
                <a:spcPts val="145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and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their entire subsidiary/supplier network. Attackers increasingly skip encryption — focusing on theft and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threatening public release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68906" y="3429357"/>
            <a:ext cx="13092589" cy="85677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4146" y="3444597"/>
            <a:ext cx="571143" cy="826294"/>
          </a:xfrm>
          <a:prstGeom prst="roundRect">
            <a:avLst>
              <a:gd name="adj" fmla="val 549"/>
            </a:avLst>
          </a:prstGeom>
          <a:solidFill>
            <a:srgbClr val="F2EE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620" y="3750588"/>
            <a:ext cx="214193" cy="2141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45181" y="3587353"/>
            <a:ext cx="2108597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Deepfake Social Engineering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45181" y="3864293"/>
            <a:ext cx="12258318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deepfakes bypass biometric and voice-verification systems in claims processing and craft highly targeted phishing lures.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68906" y="4376023"/>
            <a:ext cx="13092589" cy="85677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84146" y="4391263"/>
            <a:ext cx="571143" cy="826294"/>
          </a:xfrm>
          <a:prstGeom prst="roundRect">
            <a:avLst>
              <a:gd name="adj" fmla="val 549"/>
            </a:avLst>
          </a:prstGeom>
          <a:solidFill>
            <a:srgbClr val="F2EE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2620" y="4697254"/>
            <a:ext cx="214193" cy="2141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5181" y="4534019"/>
            <a:ext cx="2736890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Supply Chain &amp; Cloud Concentration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45181" y="4810958"/>
            <a:ext cx="12258318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single MSP or SaaS vendor breach can cascade to impact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thousands of downstream insurance entities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68906" y="5322689"/>
            <a:ext cx="13092589" cy="85677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84146" y="5337929"/>
            <a:ext cx="571143" cy="826294"/>
          </a:xfrm>
          <a:prstGeom prst="roundRect">
            <a:avLst>
              <a:gd name="adj" fmla="val 549"/>
            </a:avLst>
          </a:prstGeom>
          <a:solidFill>
            <a:srgbClr val="F2EEE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2620" y="5643920"/>
            <a:ext cx="214193" cy="2141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45181" y="5480685"/>
            <a:ext cx="2391013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Adversarial AI &amp; Model Integrity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445181" y="5757624"/>
            <a:ext cx="12258318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poisoning and model inversion attacks manipulate underwriting AI, leading to mispriced policies or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fraudulent payouts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68906" y="6314242"/>
            <a:ext cx="2504718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Insurance-Specific Vulnerabilities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68906" y="6672024"/>
            <a:ext cx="4304228" cy="934641"/>
          </a:xfrm>
          <a:prstGeom prst="roundRect">
            <a:avLst>
              <a:gd name="adj" fmla="val 2292"/>
            </a:avLst>
          </a:prstGeom>
          <a:solidFill>
            <a:srgbClr val="F2EEEE"/>
          </a:solidFill>
          <a:ln/>
        </p:spPr>
      </p:sp>
      <p:sp>
        <p:nvSpPr>
          <p:cNvPr id="31" name="Text 24"/>
          <p:cNvSpPr/>
          <p:nvPr/>
        </p:nvSpPr>
        <p:spPr>
          <a:xfrm>
            <a:off x="911662" y="6814780"/>
            <a:ext cx="2078355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🗄️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High-Value Data Density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911662" y="7091720"/>
            <a:ext cx="4018717" cy="372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Centralized PII, PHI, and financial repositories offer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maximum extortion leverage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163026" y="6672024"/>
            <a:ext cx="4304228" cy="934641"/>
          </a:xfrm>
          <a:prstGeom prst="roundRect">
            <a:avLst>
              <a:gd name="adj" fmla="val 2292"/>
            </a:avLst>
          </a:prstGeom>
          <a:solidFill>
            <a:srgbClr val="F2EEEE"/>
          </a:solidFill>
          <a:ln/>
        </p:spPr>
      </p:sp>
      <p:sp>
        <p:nvSpPr>
          <p:cNvPr id="34" name="Text 27"/>
          <p:cNvSpPr/>
          <p:nvPr/>
        </p:nvSpPr>
        <p:spPr>
          <a:xfrm>
            <a:off x="5305782" y="6814780"/>
            <a:ext cx="2190988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📋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"Pre-Fill" Quoting Exploit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5305782" y="7091720"/>
            <a:ext cx="4018717" cy="372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quoting tools pre-filling broker-purchased data enable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large-scale record harvesting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9557147" y="6672024"/>
            <a:ext cx="4304348" cy="934641"/>
          </a:xfrm>
          <a:prstGeom prst="roundRect">
            <a:avLst>
              <a:gd name="adj" fmla="val 2292"/>
            </a:avLst>
          </a:prstGeom>
          <a:solidFill>
            <a:srgbClr val="F2EEEE"/>
          </a:solidFill>
          <a:ln/>
        </p:spPr>
      </p:sp>
      <p:sp>
        <p:nvSpPr>
          <p:cNvPr id="37" name="Text 30"/>
          <p:cNvSpPr/>
          <p:nvPr/>
        </p:nvSpPr>
        <p:spPr>
          <a:xfrm>
            <a:off x="9699903" y="6814780"/>
            <a:ext cx="1875711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⚠️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Silent Cyber Exposure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9699903" y="7091720"/>
            <a:ext cx="4018836" cy="372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P&amp;C policies lacking explicit cyber exclusions create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massive hidden accumulation risks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balance sheets.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47224"/>
            <a:ext cx="1689140" cy="370642"/>
          </a:xfrm>
          <a:prstGeom prst="roundRect">
            <a:avLst>
              <a:gd name="adj" fmla="val 6609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916186" y="708422"/>
            <a:ext cx="1444347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IMPACT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091327"/>
            <a:ext cx="6996827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Cost of a Breach in Insurance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48214" y="2106811"/>
            <a:ext cx="2779633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$6.40M</a:t>
            </a:r>
            <a:endParaRPr lang="en-US" sz="5300" dirty="0"/>
          </a:p>
        </p:txBody>
      </p:sp>
      <p:sp>
        <p:nvSpPr>
          <p:cNvPr id="6" name="Text 4"/>
          <p:cNvSpPr/>
          <p:nvPr/>
        </p:nvSpPr>
        <p:spPr>
          <a:xfrm>
            <a:off x="1062157" y="302025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Avg. Breach Cost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3790" y="3449241"/>
            <a:ext cx="308848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Finance &amp; insurance sector — among the highest globally.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66248" y="2106811"/>
            <a:ext cx="2779633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$375M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4380190" y="302025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Mega-Breach Cost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1823" y="3449241"/>
            <a:ext cx="308860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cost for incidents involving 50M+ records.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84400" y="2106811"/>
            <a:ext cx="2779633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$10.22M</a:t>
            </a:r>
            <a:endParaRPr lang="en-US" sz="5300" dirty="0"/>
          </a:p>
        </p:txBody>
      </p:sp>
      <p:sp>
        <p:nvSpPr>
          <p:cNvPr id="12" name="Text 10"/>
          <p:cNvSpPr/>
          <p:nvPr/>
        </p:nvSpPr>
        <p:spPr>
          <a:xfrm>
            <a:off x="7698343" y="302025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U.S. Record High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29976" y="3449241"/>
            <a:ext cx="308848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breach cost across all U.S. sectors — a record.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02434" y="2106811"/>
            <a:ext cx="2779633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168 days</a:t>
            </a:r>
            <a:endParaRPr lang="en-US" sz="5300" dirty="0"/>
          </a:p>
        </p:txBody>
      </p:sp>
      <p:sp>
        <p:nvSpPr>
          <p:cNvPr id="15" name="Text 13"/>
          <p:cNvSpPr/>
          <p:nvPr/>
        </p:nvSpPr>
        <p:spPr>
          <a:xfrm>
            <a:off x="11016377" y="302025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Mean Time to Identify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48010" y="3449241"/>
            <a:ext cx="308860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MTTC: 51 days. Combined dwell is a critical exposure window.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3790" y="4345305"/>
            <a:ext cx="433387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Cost Breakdown Per Breach (Global Avg.)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70930" y="4916805"/>
            <a:ext cx="45720" cy="784979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19" name="Text 17"/>
          <p:cNvSpPr/>
          <p:nvPr/>
        </p:nvSpPr>
        <p:spPr>
          <a:xfrm>
            <a:off x="1043583" y="493966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Detection &amp; Escalation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43583" y="5368647"/>
            <a:ext cx="615684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Forensics, crisis management —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$1.47M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07116" y="4916805"/>
            <a:ext cx="45720" cy="784979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22" name="Text 20"/>
          <p:cNvSpPr/>
          <p:nvPr/>
        </p:nvSpPr>
        <p:spPr>
          <a:xfrm>
            <a:off x="7679769" y="493966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Lost Business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79769" y="5368647"/>
            <a:ext cx="615684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Downtime, customer churn —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$1.38M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0930" y="6023491"/>
            <a:ext cx="45720" cy="784979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25" name="Text 23"/>
          <p:cNvSpPr/>
          <p:nvPr/>
        </p:nvSpPr>
        <p:spPr>
          <a:xfrm>
            <a:off x="1043583" y="604635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Post-Breach Response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43583" y="6475333"/>
            <a:ext cx="615684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Regulatory fines, settlements —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$1.20M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07116" y="6023491"/>
            <a:ext cx="45720" cy="784979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28" name="Text 26"/>
          <p:cNvSpPr/>
          <p:nvPr/>
        </p:nvSpPr>
        <p:spPr>
          <a:xfrm>
            <a:off x="7679769" y="604635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Notification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679769" y="6475333"/>
            <a:ext cx="615684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Emails, regulatory filings —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$0.39M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3790" y="7094298"/>
            <a:ext cx="13042821" cy="33099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93790" y="7334012"/>
            <a:ext cx="1304282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Cost per compromised record: </a:t>
            </a:r>
            <a:pPr algn="l" indent="0" marL="0">
              <a:lnSpc>
                <a:spcPts val="19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$408</a:t>
            </a:r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(finance/insurance) vs. </a:t>
            </a:r>
            <a:pPr algn="l" indent="0" marL="0">
              <a:lnSpc>
                <a:spcPts val="19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$173</a:t>
            </a:r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global average. PHI records reach </a:t>
            </a:r>
            <a:pPr algn="l" indent="0" marL="0">
              <a:lnSpc>
                <a:spcPts val="19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$429</a:t>
            </a:r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record.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4138"/>
            <a:ext cx="2030016" cy="343614"/>
          </a:xfrm>
          <a:prstGeom prst="roundRect">
            <a:avLst>
              <a:gd name="adj" fmla="val 6733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909399" y="781883"/>
            <a:ext cx="1798796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WORST CASE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3790" y="1133237"/>
            <a:ext cx="6019919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Catastrophic Cyber Event Risk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93790" y="214526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Catastrophic Scenarios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93790" y="2630805"/>
            <a:ext cx="3061216" cy="3479721"/>
          </a:xfrm>
          <a:prstGeom prst="roundRect">
            <a:avLst>
              <a:gd name="adj" fmla="val 358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2630805"/>
            <a:ext cx="91440" cy="3479721"/>
          </a:xfrm>
          <a:prstGeom prst="roundRect">
            <a:avLst>
              <a:gd name="adj" fmla="val 31628"/>
            </a:avLst>
          </a:prstGeom>
          <a:solidFill>
            <a:srgbClr val="00674F"/>
          </a:solidFill>
          <a:ln/>
        </p:spPr>
      </p:sp>
      <p:sp>
        <p:nvSpPr>
          <p:cNvPr id="8" name="Text 6"/>
          <p:cNvSpPr/>
          <p:nvPr/>
        </p:nvSpPr>
        <p:spPr>
          <a:xfrm>
            <a:off x="1077992" y="2846427"/>
            <a:ext cx="2561392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Systemic Aggregation Event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77992" y="3612713"/>
            <a:ext cx="2561392" cy="2282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"1-in-250-year"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event — such as a massive cloud outage or widespread ransomware worm hitting multiple vendors simultaneously — could trigger an estimated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$30 billion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insured losses.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18836" y="2630805"/>
            <a:ext cx="3061216" cy="3479721"/>
          </a:xfrm>
          <a:prstGeom prst="roundRect">
            <a:avLst>
              <a:gd name="adj" fmla="val 358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95976" y="2630805"/>
            <a:ext cx="91440" cy="3479721"/>
          </a:xfrm>
          <a:prstGeom prst="roundRect">
            <a:avLst>
              <a:gd name="adj" fmla="val 31628"/>
            </a:avLst>
          </a:prstGeom>
          <a:solidFill>
            <a:srgbClr val="00674F"/>
          </a:solidFill>
          <a:ln/>
        </p:spPr>
      </p:sp>
      <p:sp>
        <p:nvSpPr>
          <p:cNvPr id="12" name="Text 10"/>
          <p:cNvSpPr/>
          <p:nvPr/>
        </p:nvSpPr>
        <p:spPr>
          <a:xfrm>
            <a:off x="4303038" y="2846427"/>
            <a:ext cx="2561392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Critical Infrastructure Disruption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4303038" y="3612713"/>
            <a:ext cx="2561392" cy="199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attack on global clearing systems, communication backbones, or power grids could paralyze financial operations and claims processing across the entire sector.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57968" y="2145268"/>
            <a:ext cx="355865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Long-Term Financial Consequences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7557968" y="2630805"/>
            <a:ext cx="3061216" cy="2909173"/>
          </a:xfrm>
          <a:prstGeom prst="roundRect">
            <a:avLst>
              <a:gd name="adj" fmla="val 377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35108" y="2630805"/>
            <a:ext cx="91440" cy="2909173"/>
          </a:xfrm>
          <a:prstGeom prst="roundRect">
            <a:avLst>
              <a:gd name="adj" fmla="val 31628"/>
            </a:avLst>
          </a:prstGeom>
          <a:solidFill>
            <a:srgbClr val="00674F"/>
          </a:solidFill>
          <a:ln/>
        </p:spPr>
      </p:sp>
      <p:sp>
        <p:nvSpPr>
          <p:cNvPr id="17" name="Text 15"/>
          <p:cNvSpPr/>
          <p:nvPr/>
        </p:nvSpPr>
        <p:spPr>
          <a:xfrm>
            <a:off x="7842171" y="2846427"/>
            <a:ext cx="244590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Severe Capital Depletion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842171" y="3311485"/>
            <a:ext cx="2561392" cy="199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Simultaneous triggering of millions of policies globally could exceed reinsurance capacity, threatening insurer solvency and triggering a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systemic macro-financial crisis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783014" y="2630805"/>
            <a:ext cx="3061216" cy="2909173"/>
          </a:xfrm>
          <a:prstGeom prst="roundRect">
            <a:avLst>
              <a:gd name="adj" fmla="val 377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60154" y="2630805"/>
            <a:ext cx="91440" cy="2909173"/>
          </a:xfrm>
          <a:prstGeom prst="roundRect">
            <a:avLst>
              <a:gd name="adj" fmla="val 31628"/>
            </a:avLst>
          </a:prstGeom>
          <a:solidFill>
            <a:srgbClr val="00674F"/>
          </a:solidFill>
          <a:ln/>
        </p:spPr>
      </p:sp>
      <p:sp>
        <p:nvSpPr>
          <p:cNvPr id="21" name="Text 19"/>
          <p:cNvSpPr/>
          <p:nvPr/>
        </p:nvSpPr>
        <p:spPr>
          <a:xfrm>
            <a:off x="11067217" y="2846427"/>
            <a:ext cx="2561392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Market Contraction &amp; Uninsurability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1067217" y="3612713"/>
            <a:ext cx="2561392" cy="171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Insurers may radically restrict capacity, drive up premiums, and enforce absolute exclusions — leaving the broader economy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unprotected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3790" y="6479143"/>
            <a:ext cx="13042821" cy="1026200"/>
          </a:xfrm>
          <a:prstGeom prst="roundRect">
            <a:avLst>
              <a:gd name="adj" fmla="val 2818"/>
            </a:avLst>
          </a:prstGeom>
          <a:solidFill>
            <a:srgbClr val="B3FFED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552" y="6749415"/>
            <a:ext cx="240983" cy="19276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20297" y="6691074"/>
            <a:ext cx="1222355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single systemic cyber event could simultaneously breach reinsurance limits, destabilize primary insurers, and render entire risk categories uninsurable — a scenario with no historical precedent in the industry.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403" y="754856"/>
            <a:ext cx="5148977" cy="43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Allianz Life Data Breach (July 2025)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51403" y="1362551"/>
            <a:ext cx="13127593" cy="144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analysis of the Allianz Life Data Breach of July 2025 serves as a representative forensic model for the 2025-2026 threat environment, highlighting the systemic dangers of third-party dependencies and the speed of modern adversarial exfiltration.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51403" y="1689259"/>
            <a:ext cx="1972389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Major Recent Attack Profile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51403" y="2003822"/>
            <a:ext cx="6393656" cy="973931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163" y="2003822"/>
            <a:ext cx="60960" cy="973931"/>
          </a:xfrm>
          <a:prstGeom prst="roundRect">
            <a:avLst>
              <a:gd name="adj" fmla="val 34340"/>
            </a:avLst>
          </a:prstGeom>
          <a:solidFill>
            <a:srgbClr val="00674F"/>
          </a:solidFill>
          <a:ln/>
        </p:spPr>
      </p:sp>
      <p:sp>
        <p:nvSpPr>
          <p:cNvPr id="7" name="Text 5"/>
          <p:cNvSpPr/>
          <p:nvPr/>
        </p:nvSpPr>
        <p:spPr>
          <a:xfrm>
            <a:off x="951905" y="2158603"/>
            <a:ext cx="1793319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Target and Incident Date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51905" y="2462451"/>
            <a:ext cx="6038374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Allianz Life Insurance Company of North America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(subsidiary of Allianz SE) was impacted on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July 16, 2025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1403" y="3063597"/>
            <a:ext cx="6393656" cy="973931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163" y="3063597"/>
            <a:ext cx="60960" cy="973931"/>
          </a:xfrm>
          <a:prstGeom prst="roundRect">
            <a:avLst>
              <a:gd name="adj" fmla="val 34340"/>
            </a:avLst>
          </a:prstGeom>
          <a:solidFill>
            <a:srgbClr val="00674F"/>
          </a:solidFill>
          <a:ln/>
        </p:spPr>
      </p:sp>
      <p:sp>
        <p:nvSpPr>
          <p:cNvPr id="11" name="Text 9"/>
          <p:cNvSpPr/>
          <p:nvPr/>
        </p:nvSpPr>
        <p:spPr>
          <a:xfrm>
            <a:off x="951905" y="3218378"/>
            <a:ext cx="1744385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Initial Vector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51905" y="3522226"/>
            <a:ext cx="6038374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Attackers compromised a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third-party cloud-based CRM system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using social engineering to obtain admin credentials before exploiting vendor vulnerabilities for automated data scraping.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1403" y="4123372"/>
            <a:ext cx="6393656" cy="973931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163" y="4123372"/>
            <a:ext cx="60960" cy="973931"/>
          </a:xfrm>
          <a:prstGeom prst="roundRect">
            <a:avLst>
              <a:gd name="adj" fmla="val 34340"/>
            </a:avLst>
          </a:prstGeom>
          <a:solidFill>
            <a:srgbClr val="00674F"/>
          </a:solidFill>
          <a:ln/>
        </p:spPr>
      </p:sp>
      <p:sp>
        <p:nvSpPr>
          <p:cNvPr id="15" name="Text 13"/>
          <p:cNvSpPr/>
          <p:nvPr/>
        </p:nvSpPr>
        <p:spPr>
          <a:xfrm>
            <a:off x="951905" y="4278154"/>
            <a:ext cx="1744385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Scope of Exposure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51905" y="4582001"/>
            <a:ext cx="6038374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Unauthorized access affected sensitive personal information for the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majority of 1.4 million customers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2960" y="1689259"/>
            <a:ext cx="1853446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 Analysis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492960" y="2003822"/>
            <a:ext cx="6393656" cy="973931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7720" y="2003822"/>
            <a:ext cx="60960" cy="973931"/>
          </a:xfrm>
          <a:prstGeom prst="roundRect">
            <a:avLst>
              <a:gd name="adj" fmla="val 34340"/>
            </a:avLst>
          </a:prstGeom>
          <a:solidFill>
            <a:srgbClr val="00674F"/>
          </a:solidFill>
          <a:ln/>
        </p:spPr>
      </p:sp>
      <p:sp>
        <p:nvSpPr>
          <p:cNvPr id="20" name="Text 18"/>
          <p:cNvSpPr/>
          <p:nvPr/>
        </p:nvSpPr>
        <p:spPr>
          <a:xfrm>
            <a:off x="7693462" y="2158603"/>
            <a:ext cx="1744385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Primary Crisis Services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693462" y="2462451"/>
            <a:ext cx="6038374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Forensic investigation, legal counsel, and crisis PR were required immediately to stabilize the incident response and communications posture.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2960" y="3063597"/>
            <a:ext cx="6393656" cy="973931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7720" y="3063597"/>
            <a:ext cx="60960" cy="973931"/>
          </a:xfrm>
          <a:prstGeom prst="roundRect">
            <a:avLst>
              <a:gd name="adj" fmla="val 34340"/>
            </a:avLst>
          </a:prstGeom>
          <a:solidFill>
            <a:srgbClr val="00674F"/>
          </a:solidFill>
          <a:ln/>
        </p:spPr>
      </p:sp>
      <p:sp>
        <p:nvSpPr>
          <p:cNvPr id="24" name="Text 22"/>
          <p:cNvSpPr/>
          <p:nvPr/>
        </p:nvSpPr>
        <p:spPr>
          <a:xfrm>
            <a:off x="7693462" y="3218378"/>
            <a:ext cx="2140148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Notification and Remediation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693462" y="3522226"/>
            <a:ext cx="6038374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Regulatory filings were required within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 days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alongside credit monitoring and identity theft protection for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1M+ individuals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generating costs in the several-million-dollar range.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92960" y="4123372"/>
            <a:ext cx="6393656" cy="973931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77720" y="4123372"/>
            <a:ext cx="60960" cy="973931"/>
          </a:xfrm>
          <a:prstGeom prst="roundRect">
            <a:avLst>
              <a:gd name="adj" fmla="val 34340"/>
            </a:avLst>
          </a:prstGeom>
          <a:solidFill>
            <a:srgbClr val="00674F"/>
          </a:solidFill>
          <a:ln/>
        </p:spPr>
      </p:sp>
      <p:sp>
        <p:nvSpPr>
          <p:cNvPr id="28" name="Text 26"/>
          <p:cNvSpPr/>
          <p:nvPr/>
        </p:nvSpPr>
        <p:spPr>
          <a:xfrm>
            <a:off x="7693462" y="4278154"/>
            <a:ext cx="1744385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Regulatory Scrutiny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693462" y="4582001"/>
            <a:ext cx="6038374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Potential exposure includes fines under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NYDFS Part 500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the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EU DORA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framework, with possible personal liability for senior management.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51403" y="5322570"/>
            <a:ext cx="2097405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Impact Timeline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51403" y="5669280"/>
            <a:ext cx="13127593" cy="1805464"/>
          </a:xfrm>
          <a:prstGeom prst="roundRect">
            <a:avLst>
              <a:gd name="adj" fmla="val 115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9023" y="5676900"/>
            <a:ext cx="13112353" cy="2983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98803" y="5735955"/>
            <a:ext cx="2077283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62789" y="5735955"/>
            <a:ext cx="3122414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Event/Phase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71905" y="5735955"/>
            <a:ext cx="7059930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 Taken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59023" y="5975271"/>
            <a:ext cx="13112353" cy="2983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98803" y="6034326"/>
            <a:ext cx="2077283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July 16, 2025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62789" y="6034326"/>
            <a:ext cx="3122414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Initial Compromise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71905" y="6034326"/>
            <a:ext cx="7059930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Attackers gain access via social engineering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59023" y="6273641"/>
            <a:ext cx="13112353" cy="2983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98803" y="6332696"/>
            <a:ext cx="2077283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July 17, 2025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62789" y="6332696"/>
            <a:ext cx="3122414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Discovery &amp; Containment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71905" y="6332696"/>
            <a:ext cx="7059930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Breach identified, containment initiated, FBI notified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59023" y="6572012"/>
            <a:ext cx="13112353" cy="2983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98803" y="6631067"/>
            <a:ext cx="2077283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July 18-25, 2025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262789" y="6631067"/>
            <a:ext cx="3122414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Forensic Investigation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671905" y="6631067"/>
            <a:ext cx="7059930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Analysis reveals exfiltration of names, SSNs, DOB, policy numbers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59023" y="6870382"/>
            <a:ext cx="13112353" cy="2983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98803" y="6929438"/>
            <a:ext cx="2077283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July 26-27, 2025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262789" y="6929438"/>
            <a:ext cx="3122414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Public Disclosure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671905" y="6929438"/>
            <a:ext cx="7059930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Regulatory filings made; public media strategy launched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59023" y="7168753"/>
            <a:ext cx="13112353" cy="2983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98803" y="7227808"/>
            <a:ext cx="2077283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August 2025+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262789" y="7227808"/>
            <a:ext cx="3122414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Remediation &amp; Litigation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671905" y="7227808"/>
            <a:ext cx="7059930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Notification letters sent; multi-jurisdictional lawsuits filed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31771"/>
            <a:ext cx="1649016" cy="268010"/>
          </a:xfrm>
          <a:prstGeom prst="roundRect">
            <a:avLst>
              <a:gd name="adj" fmla="val 7109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889040" y="879396"/>
            <a:ext cx="1458516" cy="17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 STRATEGIES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3790" y="1144191"/>
            <a:ext cx="695205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Evidence-Based Cybersecurity for Insurers</a:t>
            </a:r>
            <a:endParaRPr lang="en-US" sz="3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1807012"/>
            <a:ext cx="396835" cy="3968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234267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Zero Trust Architecture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2657356"/>
            <a:ext cx="645199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"Never Trust, Always Verify" — deep micro-segmentation and phishing-resistant identity validation.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62% reduction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ransomware incidents. ROI: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184%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(payback in 3 months).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4613" y="1807012"/>
            <a:ext cx="396835" cy="3968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84613" y="2342674"/>
            <a:ext cx="225992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Agentic SOC &amp; AI Detection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384613" y="2657356"/>
            <a:ext cx="645199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AI/ML automates Tier 1 alert triage and real-time anomaly detection. Saves avg.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$2.22M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breach. ROI: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257%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(payback in &lt;6 months).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3311604"/>
            <a:ext cx="396835" cy="3968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790" y="384726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24/7 Threat Monitoring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93790" y="4161949"/>
            <a:ext cx="645199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Hybrid MDR setup ($50k–$100k/yr) reduces MTTR by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85%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ROI: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210%–549%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vs. internal SOC floor of $1.5M/year.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84613" y="3311604"/>
            <a:ext cx="396835" cy="3968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84613" y="3847267"/>
            <a:ext cx="204501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Tabletop Exercises (TTX)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384613" y="4161949"/>
            <a:ext cx="645199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Executive-level IR stress testing ($30k–$100k/exercise) secures insurability and delivers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15–30%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cyber premium reductions.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93790" y="4798266"/>
            <a:ext cx="13042821" cy="2738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793790" y="5061704"/>
            <a:ext cx="294894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Implementation Metrics at a Glance</a:t>
            </a:r>
            <a:endParaRPr lang="en-US" sz="1550" dirty="0"/>
          </a:p>
        </p:txBody>
      </p:sp>
      <p:sp>
        <p:nvSpPr>
          <p:cNvPr id="19" name="Shape 13"/>
          <p:cNvSpPr/>
          <p:nvPr/>
        </p:nvSpPr>
        <p:spPr>
          <a:xfrm>
            <a:off x="793790" y="5434727"/>
            <a:ext cx="8342233" cy="1838087"/>
          </a:xfrm>
          <a:prstGeom prst="roundRect">
            <a:avLst>
              <a:gd name="adj" fmla="val 129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01410" y="5442347"/>
            <a:ext cx="8326993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960239" y="5516642"/>
            <a:ext cx="300954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Strategy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294823" y="5516642"/>
            <a:ext cx="175664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ROI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376511" y="5516642"/>
            <a:ext cx="259318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Cost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01410" y="5806916"/>
            <a:ext cx="8326993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960239" y="5881211"/>
            <a:ext cx="300954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AI-SIEM &amp; Automation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294823" y="5881211"/>
            <a:ext cx="175664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257%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376511" y="5881211"/>
            <a:ext cx="259318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$1.8M+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801410" y="6171486"/>
            <a:ext cx="8326993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960239" y="6245781"/>
            <a:ext cx="300954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24/7 MDR Monitoring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294823" y="6245781"/>
            <a:ext cx="175664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210–549%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376511" y="6245781"/>
            <a:ext cx="259318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$50k–$100k/yr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801410" y="6536055"/>
            <a:ext cx="8326993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960239" y="6610350"/>
            <a:ext cx="300954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Trust &amp; Micro-seg.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4294823" y="6610350"/>
            <a:ext cx="175664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184%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6376511" y="6610350"/>
            <a:ext cx="259318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$1M–$1.2M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801410" y="6900624"/>
            <a:ext cx="8326993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960239" y="6974919"/>
            <a:ext cx="300954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TTX &amp; Basic Hygiene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4294823" y="6974919"/>
            <a:ext cx="175664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15–30% premium ↓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6376511" y="6974919"/>
            <a:ext cx="259318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$30k–$100k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9416534" y="4950619"/>
            <a:ext cx="4541877" cy="2447211"/>
          </a:xfrm>
          <a:prstGeom prst="roundRect">
            <a:avLst>
              <a:gd name="adj" fmla="val 973"/>
            </a:avLst>
          </a:prstGeom>
          <a:solidFill>
            <a:srgbClr val="00674F"/>
          </a:solidFill>
          <a:ln/>
        </p:spPr>
      </p:sp>
      <p:sp>
        <p:nvSpPr>
          <p:cNvPr id="41" name="Text 35"/>
          <p:cNvSpPr/>
          <p:nvPr/>
        </p:nvSpPr>
        <p:spPr>
          <a:xfrm>
            <a:off x="9575244" y="506170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DORA Compliance</a:t>
            </a:r>
            <a:endParaRPr lang="en-US" sz="1550" dirty="0"/>
          </a:p>
        </p:txBody>
      </p:sp>
      <p:sp>
        <p:nvSpPr>
          <p:cNvPr id="42" name="Text 36"/>
          <p:cNvSpPr/>
          <p:nvPr/>
        </p:nvSpPr>
        <p:spPr>
          <a:xfrm>
            <a:off x="9575244" y="5420797"/>
            <a:ext cx="4224457" cy="86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Fully enforceable across the EU as of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January 17, 2025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Mandates a strict Register of Information (ROI) for all third-party ICT providers, Threat-Led Penetration Testing (TLPT), and rigorous incident reporting timelines.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2026-03-27T16:57:49Z</dcterms:created>
  <dcterms:modified xsi:type="dcterms:W3CDTF">2026-03-27T16:57:49Z</dcterms:modified>
</cp:coreProperties>
</file>