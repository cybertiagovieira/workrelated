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embeddedFontLst>
    <p:embeddedFont>
      <p:font typeface="Crimson Pro Medium"/>
      <p:regular r:id="rId201314"/>
    </p:embeddedFont>
    <p:embeddedFont>
      <p:font typeface="Crimson Pro ExtraBold"/>
      <p:regular r:id="rId201315"/>
    </p:embeddedFont>
    <p:embeddedFont>
      <p:font typeface="Crimson Pro Black"/>
      <p:regular r:id="rId201316"/>
    </p:embeddedFont>
    <p:embeddedFont>
      <p:font typeface="Crimson Pro ExtraLight"/>
      <p:regular r:id="rId201317"/>
    </p:embeddedFont>
    <p:embeddedFont>
      <p:font typeface="Crimson Pro Light"/>
      <p:regular r:id="rId201318"/>
    </p:embeddedFont>
    <p:embeddedFont>
      <p:font typeface="Crimson Pro"/>
      <p:regular r:id="rId201319"/>
    </p:embeddedFont>
    <p:embeddedFont>
      <p:font typeface="Crimson Pro SemiBold"/>
      <p:regular r:id="rId201320"/>
    </p:embeddedFont>
    <p:embeddedFont>
      <p:font typeface="Crimson Pro Bold"/>
      <p:regular r:id="rId201321"/>
    </p:embeddedFont>
    <p:embeddedFont>
      <p:font typeface="Heebo Thin"/>
      <p:regular r:id="rId201322"/>
    </p:embeddedFont>
    <p:embeddedFont>
      <p:font typeface="Heebo ExtraLight"/>
      <p:regular r:id="rId201323"/>
    </p:embeddedFont>
    <p:embeddedFont>
      <p:font typeface="Heebo Light"/>
      <p:regular r:id="rId201324"/>
    </p:embeddedFont>
    <p:embeddedFont>
      <p:font typeface="Heebo"/>
      <p:regular r:id="rId201325"/>
    </p:embeddedFont>
    <p:embeddedFont>
      <p:font typeface="Heebo Medium"/>
      <p:regular r:id="rId201326"/>
    </p:embeddedFont>
    <p:embeddedFont>
      <p:font typeface="Heebo SemiBold"/>
      <p:regular r:id="rId201327"/>
    </p:embeddedFont>
    <p:embeddedFont>
      <p:font typeface="Heebo Bold"/>
      <p:regular r:id="rId201328"/>
    </p:embeddedFont>
    <p:embeddedFont>
      <p:font typeface="Heebo ExtraBold"/>
      <p:regular r:id="rId201329"/>
    </p:embeddedFont>
    <p:embeddedFont>
      <p:font typeface="Heebo Black"/>
      <p:regular r:id="rId2013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 Id="rId201334" Target="fonts/201334.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1"/>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9.png"/><Relationship Id="rId12" Type="http://schemas.openxmlformats.org/officeDocument/2006/relationships/image" Target="../media/image-5-10.svg"/><Relationship Id="rId13" Type="http://schemas.openxmlformats.org/officeDocument/2006/relationships/image" Target="../media/image-5-9.png"/><Relationship Id="rId14" Type="http://schemas.openxmlformats.org/officeDocument/2006/relationships/image" Target="../media/image-5-10.svg"/><Relationship Id="rId15" Type="http://schemas.openxmlformats.org/officeDocument/2006/relationships/slideLayout" Target="../slideLayouts/slideLayout2.xml"/><Relationship Id="rId1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1475" y="493018"/>
            <a:ext cx="3028577" cy="226219"/>
          </a:xfrm>
          <a:prstGeom prst="roundRect">
            <a:avLst>
              <a:gd name="adj" fmla="val 7896"/>
            </a:avLst>
          </a:prstGeom>
          <a:solidFill>
            <a:srgbClr val="CCFFF3"/>
          </a:solidFill>
          <a:ln/>
        </p:spPr>
      </p:sp>
      <p:sp>
        <p:nvSpPr>
          <p:cNvPr id="3" name="Text 1"/>
          <p:cNvSpPr/>
          <p:nvPr/>
        </p:nvSpPr>
        <p:spPr>
          <a:xfrm>
            <a:off x="750769" y="537666"/>
            <a:ext cx="3459572" cy="136922"/>
          </a:xfrm>
          <a:prstGeom prst="rect">
            <a:avLst/>
          </a:prstGeom>
          <a:noFill/>
          <a:ln/>
        </p:spPr>
        <p:txBody>
          <a:bodyPr wrap="none" lIns="0" tIns="0" rIns="0" bIns="0" rtlCol="0" anchor="t"/>
          <a:lstStyle/>
          <a:p>
            <a:pPr algn="l" indent="0" marL="0">
              <a:lnSpc>
                <a:spcPct val="96000"/>
              </a:lnSpc>
              <a:buNone/>
            </a:pPr>
            <a:r>
              <a:rPr lang="en-US" sz="900" dirty="0">
                <a:solidFill>
                  <a:srgbClr val="000000"/>
                </a:solidFill>
                <a:latin typeface="Heebo" pitchFamily="34" charset="0"/>
                <a:ea typeface="Heebo" pitchFamily="34" charset="-122"/>
                <a:cs typeface="Heebo" pitchFamily="34" charset="-120"/>
              </a:rPr>
              <a:t>BIENNIAL RISK &amp; THREAT ASSESSMENT · 2025–2026</a:t>
            </a:r>
            <a:endParaRPr lang="en-US" sz="900" dirty="0"/>
          </a:p>
        </p:txBody>
      </p:sp>
      <p:sp>
        <p:nvSpPr>
          <p:cNvPr id="4" name="Text 2"/>
          <p:cNvSpPr/>
          <p:nvPr/>
        </p:nvSpPr>
        <p:spPr>
          <a:xfrm>
            <a:off x="661475" y="772815"/>
            <a:ext cx="10868745" cy="465138"/>
          </a:xfrm>
          <a:prstGeom prst="rect">
            <a:avLst/>
          </a:prstGeom>
          <a:noFill/>
          <a:ln/>
        </p:spPr>
        <p:txBody>
          <a:bodyPr wrap="none" lIns="0" tIns="0" rIns="0" bIns="0" rtlCol="0" anchor="t"/>
          <a:lstStyle/>
          <a:p>
            <a:pPr algn="l" indent="0" marL="0">
              <a:lnSpc>
                <a:spcPct val="104000"/>
              </a:lnSpc>
              <a:buNone/>
            </a:pPr>
            <a:r>
              <a:rPr lang="en-US" sz="2900" dirty="0">
                <a:solidFill>
                  <a:srgbClr val="00674F"/>
                </a:solidFill>
                <a:latin typeface="Crimson Pro SemiBold" pitchFamily="34" charset="0"/>
                <a:ea typeface="Crimson Pro SemiBold" pitchFamily="34" charset="-122"/>
                <a:cs typeface="Crimson Pro SemiBold" pitchFamily="34" charset="-120"/>
              </a:rPr>
              <a:t>Key Threats &amp; Top 5 Cyber Attacks</a:t>
            </a:r>
            <a:endParaRPr lang="en-US" sz="2900" dirty="0"/>
          </a:p>
        </p:txBody>
      </p:sp>
      <p:sp>
        <p:nvSpPr>
          <p:cNvPr id="5" name="Text 3"/>
          <p:cNvSpPr/>
          <p:nvPr/>
        </p:nvSpPr>
        <p:spPr>
          <a:xfrm>
            <a:off x="661475" y="1438870"/>
            <a:ext cx="10868745"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EU communication services face convergent pressure from industrialized cybercriminal networks and state-sponsored APT groups. As networks migrate to cloud-native topologies, 5G Standalone cores, and virtualized network functions, the boundary between corporate IT security and telecom signaling security has dissolved.</a:t>
            </a:r>
            <a:endParaRPr lang="en-US" sz="1150" dirty="0"/>
          </a:p>
        </p:txBody>
      </p:sp>
      <p:sp>
        <p:nvSpPr>
          <p:cNvPr id="6" name="Shape 4"/>
          <p:cNvSpPr/>
          <p:nvPr/>
        </p:nvSpPr>
        <p:spPr>
          <a:xfrm>
            <a:off x="661475" y="2042021"/>
            <a:ext cx="3533587" cy="1967805"/>
          </a:xfrm>
          <a:prstGeom prst="roundRect">
            <a:avLst>
              <a:gd name="adj" fmla="val 1135"/>
            </a:avLst>
          </a:prstGeom>
          <a:solidFill>
            <a:srgbClr val="F2EEEE"/>
          </a:solidFill>
          <a:ln/>
        </p:spPr>
      </p:sp>
      <p:sp>
        <p:nvSpPr>
          <p:cNvPr id="7" name="Text 5"/>
          <p:cNvSpPr/>
          <p:nvPr/>
        </p:nvSpPr>
        <p:spPr>
          <a:xfrm>
            <a:off x="810299" y="2190849"/>
            <a:ext cx="3235939" cy="232470"/>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Crimson Pro SemiBold" pitchFamily="34" charset="0"/>
                <a:ea typeface="Crimson Pro SemiBold" pitchFamily="34" charset="-122"/>
                <a:cs typeface="Crimson Pro SemiBold" pitchFamily="34" charset="-120"/>
              </a:rPr>
              <a:t>1. State-Aligned Cyberespionage</a:t>
            </a:r>
            <a:endParaRPr lang="en-US" sz="1450" dirty="0"/>
          </a:p>
        </p:txBody>
      </p:sp>
      <p:sp>
        <p:nvSpPr>
          <p:cNvPr id="8" name="Text 6"/>
          <p:cNvSpPr/>
          <p:nvPr/>
        </p:nvSpPr>
        <p:spPr>
          <a:xfrm>
            <a:off x="810299" y="2503686"/>
            <a:ext cx="3235939" cy="1131094"/>
          </a:xfrm>
          <a:prstGeom prst="rect">
            <a:avLst/>
          </a:prstGeom>
          <a:noFill/>
          <a:ln/>
        </p:spPr>
        <p:txBody>
          <a:bodyPr wrap="square" lIns="0" tIns="0" rIns="0" bIns="0" rtlCol="0" anchor="t">
            <a:normAutofit/>
          </a:bodyPr>
          <a:lstStyle/>
          <a:p>
            <a:pPr algn="l" indent="0" marL="0">
              <a:lnSpc>
                <a:spcPct val="127000"/>
              </a:lnSpc>
              <a:buNone/>
            </a:pPr>
            <a:r>
              <a:rPr lang="en-US" sz="1150" b="1" dirty="0">
                <a:solidFill>
                  <a:srgbClr val="00915E"/>
                </a:solidFill>
                <a:latin typeface="Heebo Bold" pitchFamily="34" charset="0"/>
                <a:ea typeface="Heebo Bold" pitchFamily="34" charset="-122"/>
                <a:cs typeface="Heebo Bold" pitchFamily="34" charset="-120"/>
              </a:rPr>
              <a:t>53.7%</a:t>
            </a:r>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 of state-nexus EU incidents targeted essential entities. Adversaries establish persistent footholds in operational systems, targeting edge routing platforms, CALEA interfaces, and metadata repositories.</a:t>
            </a:r>
            <a:endParaRPr lang="en-US" sz="1150" dirty="0"/>
          </a:p>
        </p:txBody>
      </p:sp>
      <p:sp>
        <p:nvSpPr>
          <p:cNvPr id="9" name="Shape 7"/>
          <p:cNvSpPr/>
          <p:nvPr/>
        </p:nvSpPr>
        <p:spPr>
          <a:xfrm>
            <a:off x="4329004" y="2042021"/>
            <a:ext cx="3533587" cy="1967805"/>
          </a:xfrm>
          <a:prstGeom prst="roundRect">
            <a:avLst>
              <a:gd name="adj" fmla="val 1135"/>
            </a:avLst>
          </a:prstGeom>
          <a:solidFill>
            <a:srgbClr val="F2EEEE"/>
          </a:solidFill>
          <a:ln/>
        </p:spPr>
      </p:sp>
      <p:sp>
        <p:nvSpPr>
          <p:cNvPr id="10" name="Text 8"/>
          <p:cNvSpPr/>
          <p:nvPr/>
        </p:nvSpPr>
        <p:spPr>
          <a:xfrm>
            <a:off x="4477829" y="2190849"/>
            <a:ext cx="3235939" cy="232470"/>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Crimson Pro SemiBold" pitchFamily="34" charset="0"/>
                <a:ea typeface="Crimson Pro SemiBold" pitchFamily="34" charset="-122"/>
                <a:cs typeface="Crimson Pro SemiBold" pitchFamily="34" charset="-120"/>
              </a:rPr>
              <a:t>2. Zero-Day Weaponization</a:t>
            </a:r>
            <a:endParaRPr lang="en-US" sz="1450" dirty="0"/>
          </a:p>
        </p:txBody>
      </p:sp>
      <p:sp>
        <p:nvSpPr>
          <p:cNvPr id="11" name="Text 9"/>
          <p:cNvSpPr/>
          <p:nvPr/>
        </p:nvSpPr>
        <p:spPr>
          <a:xfrm>
            <a:off x="4477829" y="2503686"/>
            <a:ext cx="3235939" cy="1357313"/>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Exploits executed within </a:t>
            </a:r>
            <a:pPr algn="l" indent="0" marL="0">
              <a:lnSpc>
                <a:spcPct val="127000"/>
              </a:lnSpc>
              <a:buNone/>
            </a:pPr>
            <a:r>
              <a:rPr lang="en-US" sz="1150" b="1" dirty="0">
                <a:solidFill>
                  <a:srgbClr val="00915E"/>
                </a:solidFill>
                <a:latin typeface="Heebo Bold" pitchFamily="34" charset="0"/>
                <a:ea typeface="Heebo Bold" pitchFamily="34" charset="-122"/>
                <a:cs typeface="Heebo Bold" pitchFamily="34" charset="-120"/>
              </a:rPr>
              <a:t>days</a:t>
            </a:r>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 of disclosure, accounting for </a:t>
            </a:r>
            <a:pPr algn="l" indent="0" marL="0">
              <a:lnSpc>
                <a:spcPct val="127000"/>
              </a:lnSpc>
              <a:buNone/>
            </a:pPr>
            <a:r>
              <a:rPr lang="en-US" sz="1150" b="1" dirty="0">
                <a:solidFill>
                  <a:srgbClr val="00915E"/>
                </a:solidFill>
                <a:latin typeface="Heebo Bold" pitchFamily="34" charset="0"/>
                <a:ea typeface="Heebo Bold" pitchFamily="34" charset="-122"/>
                <a:cs typeface="Heebo Bold" pitchFamily="34" charset="-120"/>
              </a:rPr>
              <a:t>21.3%</a:t>
            </a:r>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 of intrusions. Targets include unpatched VPN appliances, firewalls, and collaboration platforms (Ivanti, Palo Alto, Fortinet, Citrix, Check Point, Microsoft Exchange).</a:t>
            </a:r>
            <a:endParaRPr lang="en-US" sz="1150" dirty="0"/>
          </a:p>
        </p:txBody>
      </p:sp>
      <p:sp>
        <p:nvSpPr>
          <p:cNvPr id="12" name="Shape 10"/>
          <p:cNvSpPr/>
          <p:nvPr/>
        </p:nvSpPr>
        <p:spPr>
          <a:xfrm>
            <a:off x="7996534" y="2042021"/>
            <a:ext cx="3533587" cy="1967805"/>
          </a:xfrm>
          <a:prstGeom prst="roundRect">
            <a:avLst>
              <a:gd name="adj" fmla="val 1135"/>
            </a:avLst>
          </a:prstGeom>
          <a:solidFill>
            <a:srgbClr val="F2EEEE"/>
          </a:solidFill>
          <a:ln/>
        </p:spPr>
      </p:sp>
      <p:sp>
        <p:nvSpPr>
          <p:cNvPr id="13" name="Text 11"/>
          <p:cNvSpPr/>
          <p:nvPr/>
        </p:nvSpPr>
        <p:spPr>
          <a:xfrm>
            <a:off x="8145358" y="2190849"/>
            <a:ext cx="3235939" cy="232470"/>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Crimson Pro SemiBold" pitchFamily="34" charset="0"/>
                <a:ea typeface="Crimson Pro SemiBold" pitchFamily="34" charset="-122"/>
                <a:cs typeface="Crimson Pro SemiBold" pitchFamily="34" charset="-120"/>
              </a:rPr>
              <a:t>3. AI-Powered Social Engineering</a:t>
            </a:r>
            <a:endParaRPr lang="en-US" sz="1450" dirty="0"/>
          </a:p>
        </p:txBody>
      </p:sp>
      <p:sp>
        <p:nvSpPr>
          <p:cNvPr id="14" name="Text 12"/>
          <p:cNvSpPr/>
          <p:nvPr/>
        </p:nvSpPr>
        <p:spPr>
          <a:xfrm>
            <a:off x="8145358" y="2503686"/>
            <a:ext cx="3235939" cy="1131094"/>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Phishing triggers </a:t>
            </a:r>
            <a:pPr algn="l" indent="0" marL="0">
              <a:lnSpc>
                <a:spcPct val="127000"/>
              </a:lnSpc>
              <a:buNone/>
            </a:pPr>
            <a:r>
              <a:rPr lang="en-US" sz="1150" b="1" dirty="0">
                <a:solidFill>
                  <a:srgbClr val="00915E"/>
                </a:solidFill>
                <a:latin typeface="Heebo Bold" pitchFamily="34" charset="0"/>
                <a:ea typeface="Heebo Bold" pitchFamily="34" charset="-122"/>
                <a:cs typeface="Heebo Bold" pitchFamily="34" charset="-120"/>
              </a:rPr>
              <a:t>~60%</a:t>
            </a:r>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 of incidents. Generative AI is used in </a:t>
            </a:r>
            <a:pPr algn="l" indent="0" marL="0">
              <a:lnSpc>
                <a:spcPct val="127000"/>
              </a:lnSpc>
              <a:buNone/>
            </a:pPr>
            <a:r>
              <a:rPr lang="en-US" sz="1150" b="1" dirty="0">
                <a:solidFill>
                  <a:srgbClr val="00915E"/>
                </a:solidFill>
                <a:latin typeface="Heebo Bold" pitchFamily="34" charset="0"/>
                <a:ea typeface="Heebo Bold" pitchFamily="34" charset="-122"/>
                <a:cs typeface="Heebo Bold" pitchFamily="34" charset="-120"/>
              </a:rPr>
              <a:t>over 80%</a:t>
            </a:r>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 of social engineering attacks. Info-stealing malware (Lumma, Raccoon) harvests admin credentials for high-privilege access.</a:t>
            </a:r>
            <a:endParaRPr lang="en-US" sz="1150" dirty="0"/>
          </a:p>
        </p:txBody>
      </p:sp>
      <p:sp>
        <p:nvSpPr>
          <p:cNvPr id="15" name="Shape 13"/>
          <p:cNvSpPr/>
          <p:nvPr/>
        </p:nvSpPr>
        <p:spPr>
          <a:xfrm>
            <a:off x="661475" y="4143772"/>
            <a:ext cx="5367302" cy="1289149"/>
          </a:xfrm>
          <a:prstGeom prst="roundRect">
            <a:avLst>
              <a:gd name="adj" fmla="val 1732"/>
            </a:avLst>
          </a:prstGeom>
          <a:solidFill>
            <a:srgbClr val="F2EEEE"/>
          </a:solidFill>
          <a:ln/>
        </p:spPr>
      </p:sp>
      <p:sp>
        <p:nvSpPr>
          <p:cNvPr id="16" name="Text 14"/>
          <p:cNvSpPr/>
          <p:nvPr/>
        </p:nvSpPr>
        <p:spPr>
          <a:xfrm>
            <a:off x="810299" y="4292600"/>
            <a:ext cx="5069654" cy="232470"/>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Crimson Pro SemiBold" pitchFamily="34" charset="0"/>
                <a:ea typeface="Crimson Pro SemiBold" pitchFamily="34" charset="-122"/>
                <a:cs typeface="Crimson Pro SemiBold" pitchFamily="34" charset="-120"/>
              </a:rPr>
              <a:t>4. Signaling Protocol Exploitation</a:t>
            </a:r>
            <a:endParaRPr lang="en-US" sz="1450" dirty="0"/>
          </a:p>
        </p:txBody>
      </p:sp>
      <p:sp>
        <p:nvSpPr>
          <p:cNvPr id="17" name="Text 15"/>
          <p:cNvSpPr/>
          <p:nvPr/>
        </p:nvSpPr>
        <p:spPr>
          <a:xfrm>
            <a:off x="810299" y="4605437"/>
            <a:ext cx="5069654"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Adversaries exploit GTP, SS7, and Diameter vulnerabilities. Custom backdoor </a:t>
            </a:r>
            <a:pPr algn="l" indent="0" marL="0">
              <a:lnSpc>
                <a:spcPct val="127000"/>
              </a:lnSpc>
              <a:buNone/>
            </a:pPr>
            <a:r>
              <a:rPr lang="en-US" sz="1150" b="1" dirty="0">
                <a:solidFill>
                  <a:srgbClr val="00915E"/>
                </a:solidFill>
                <a:latin typeface="Heebo Bold" pitchFamily="34" charset="0"/>
                <a:ea typeface="Heebo Bold" pitchFamily="34" charset="-122"/>
                <a:cs typeface="Heebo Bold" pitchFamily="34" charset="-120"/>
              </a:rPr>
              <a:t>GTPDOOR</a:t>
            </a:r>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 establishes covert C2 channels through inter-operator roaming links, bypassing perimeter security and SOC tracking.</a:t>
            </a:r>
            <a:endParaRPr lang="en-US" sz="1150" dirty="0"/>
          </a:p>
        </p:txBody>
      </p:sp>
      <p:sp>
        <p:nvSpPr>
          <p:cNvPr id="18" name="Shape 16"/>
          <p:cNvSpPr/>
          <p:nvPr/>
        </p:nvSpPr>
        <p:spPr>
          <a:xfrm>
            <a:off x="6162719" y="4143772"/>
            <a:ext cx="5367402" cy="1289149"/>
          </a:xfrm>
          <a:prstGeom prst="roundRect">
            <a:avLst>
              <a:gd name="adj" fmla="val 1732"/>
            </a:avLst>
          </a:prstGeom>
          <a:solidFill>
            <a:srgbClr val="F2EEEE"/>
          </a:solidFill>
          <a:ln/>
        </p:spPr>
      </p:sp>
      <p:sp>
        <p:nvSpPr>
          <p:cNvPr id="19" name="Text 17"/>
          <p:cNvSpPr/>
          <p:nvPr/>
        </p:nvSpPr>
        <p:spPr>
          <a:xfrm>
            <a:off x="6311544" y="4292600"/>
            <a:ext cx="5069753" cy="232470"/>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Crimson Pro SemiBold" pitchFamily="34" charset="0"/>
                <a:ea typeface="Crimson Pro SemiBold" pitchFamily="34" charset="-122"/>
                <a:cs typeface="Crimson Pro SemiBold" pitchFamily="34" charset="-120"/>
              </a:rPr>
              <a:t>5. Software Supply Chain Compromise</a:t>
            </a:r>
            <a:endParaRPr lang="en-US" sz="1450" dirty="0"/>
          </a:p>
        </p:txBody>
      </p:sp>
      <p:sp>
        <p:nvSpPr>
          <p:cNvPr id="20" name="Text 18"/>
          <p:cNvSpPr/>
          <p:nvPr/>
        </p:nvSpPr>
        <p:spPr>
          <a:xfrm>
            <a:off x="6311544" y="4605437"/>
            <a:ext cx="5069753"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Containerized microservices and unmanaged third-party vendors create major entry points. A single supply chain compromise enables lateral movement across interconnected ecosystems, multiplying blast radius.</a:t>
            </a:r>
            <a:endParaRPr lang="en-US" sz="1150" dirty="0"/>
          </a:p>
        </p:txBody>
      </p:sp>
      <p:sp>
        <p:nvSpPr>
          <p:cNvPr id="21" name="Shape 19"/>
          <p:cNvSpPr/>
          <p:nvPr/>
        </p:nvSpPr>
        <p:spPr>
          <a:xfrm>
            <a:off x="661475" y="5583634"/>
            <a:ext cx="10868745" cy="781348"/>
          </a:xfrm>
          <a:prstGeom prst="roundRect">
            <a:avLst>
              <a:gd name="adj" fmla="val 2858"/>
            </a:avLst>
          </a:prstGeom>
          <a:solidFill>
            <a:srgbClr val="CCFFF3"/>
          </a:solidFill>
          <a:ln/>
        </p:spPr>
      </p:sp>
      <p:pic>
        <p:nvPicPr>
          <p:cNvPr id="22" name="Image 0" descr="preencoded.png">    </p:cNvPr>
          <p:cNvPicPr>
            <a:picLocks noChangeAspect="1"/>
          </p:cNvPicPr>
          <p:nvPr/>
        </p:nvPicPr>
        <p:blipFill>
          <a:blip r:embed="rId1"/>
          <a:stretch>
            <a:fillRect/>
          </a:stretch>
        </p:blipFill>
        <p:spPr>
          <a:xfrm>
            <a:off x="810299" y="5791795"/>
            <a:ext cx="186031" cy="148828"/>
          </a:xfrm>
          <a:prstGeom prst="rect">
            <a:avLst/>
          </a:prstGeom>
        </p:spPr>
      </p:pic>
      <p:sp>
        <p:nvSpPr>
          <p:cNvPr id="23" name="Text 20"/>
          <p:cNvSpPr/>
          <p:nvPr/>
        </p:nvSpPr>
        <p:spPr>
          <a:xfrm>
            <a:off x="1145154" y="5754787"/>
            <a:ext cx="10236242" cy="452438"/>
          </a:xfrm>
          <a:prstGeom prst="rect">
            <a:avLst/>
          </a:prstGeom>
          <a:noFill/>
          <a:ln/>
        </p:spPr>
        <p:txBody>
          <a:bodyPr wrap="square" lIns="0" tIns="0" rIns="0" bIns="0" rtlCol="0" anchor="t">
            <a:normAutofit/>
          </a:bodyPr>
          <a:lstStyle/>
          <a:p>
            <a:pPr algn="l" indent="0" marL="0">
              <a:lnSpc>
                <a:spcPct val="127000"/>
              </a:lnSpc>
              <a:buNone/>
            </a:pPr>
            <a:r>
              <a:rPr lang="en-US" sz="1150" b="1" dirty="0">
                <a:solidFill>
                  <a:srgbClr val="000000"/>
                </a:solidFill>
                <a:latin typeface="Heebo Bold" pitchFamily="34" charset="0"/>
                <a:ea typeface="Heebo Bold" pitchFamily="34" charset="-122"/>
                <a:cs typeface="Heebo Bold" pitchFamily="34" charset="-120"/>
              </a:rPr>
              <a:t>Structural Vulnerability:</a:t>
            </a:r>
            <a:pPr algn="l" indent="0" marL="0">
              <a:lnSpc>
                <a:spcPct val="127000"/>
              </a:lnSpc>
              <a:buNone/>
            </a:pPr>
            <a:r>
              <a:rPr lang="en-US" sz="1150" dirty="0">
                <a:solidFill>
                  <a:srgbClr val="000000"/>
                </a:solidFill>
                <a:latin typeface="Heebo" pitchFamily="34" charset="0"/>
                <a:ea typeface="Heebo" pitchFamily="34" charset="-122"/>
                <a:cs typeface="Heebo" pitchFamily="34" charset="-120"/>
              </a:rPr>
              <a:t> Hybrid legacy/cloud architectures create inconsistent visibility. 5G network slicing risks cross-slice compromise via MANO layer or hypervisor exploitation.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465931"/>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00674F"/>
                </a:solidFill>
                <a:latin typeface="Crimson Pro SemiBold" pitchFamily="34" charset="0"/>
                <a:ea typeface="Crimson Pro SemiBold" pitchFamily="34" charset="-122"/>
                <a:cs typeface="Crimson Pro SemiBold" pitchFamily="34" charset="-120"/>
              </a:rPr>
              <a:t>Financial Impact</a:t>
            </a:r>
            <a:endParaRPr lang="en-US" sz="2250" dirty="0"/>
          </a:p>
        </p:txBody>
      </p:sp>
      <p:sp>
        <p:nvSpPr>
          <p:cNvPr id="3" name="Text 1"/>
          <p:cNvSpPr/>
          <p:nvPr/>
        </p:nvSpPr>
        <p:spPr>
          <a:xfrm>
            <a:off x="661475" y="989707"/>
            <a:ext cx="10868745"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Cyber incident costs in the communication services sector are compounding, driven by regulatory penalties and operational disruptions. The sector's distributed architectures are more expensive to inspect, remediate, and secure than centralized enterprise IT.</a:t>
            </a:r>
            <a:endParaRPr lang="en-US" sz="900" dirty="0"/>
          </a:p>
        </p:txBody>
      </p:sp>
      <p:sp>
        <p:nvSpPr>
          <p:cNvPr id="4" name="Text 2"/>
          <p:cNvSpPr/>
          <p:nvPr/>
        </p:nvSpPr>
        <p:spPr>
          <a:xfrm>
            <a:off x="1468996" y="1453555"/>
            <a:ext cx="3768532" cy="382091"/>
          </a:xfrm>
          <a:prstGeom prst="rect">
            <a:avLst/>
          </a:prstGeom>
          <a:noFill/>
          <a:ln/>
        </p:spPr>
        <p:txBody>
          <a:bodyPr wrap="none" lIns="0" tIns="0" rIns="0" bIns="0" rtlCol="0" anchor="t"/>
          <a:lstStyle/>
          <a:p>
            <a:pPr algn="ctr" indent="0" marL="0">
              <a:lnSpc>
                <a:spcPct val="83000"/>
              </a:lnSpc>
              <a:buNone/>
            </a:pPr>
            <a:r>
              <a:rPr lang="en-US" sz="3000" dirty="0">
                <a:solidFill>
                  <a:srgbClr val="000000"/>
                </a:solidFill>
                <a:latin typeface="Crimson Pro SemiBold" pitchFamily="34" charset="0"/>
                <a:ea typeface="Crimson Pro SemiBold" pitchFamily="34" charset="-122"/>
                <a:cs typeface="Crimson Pro SemiBold" pitchFamily="34" charset="-120"/>
              </a:rPr>
              <a:t>$4.09M</a:t>
            </a:r>
            <a:endParaRPr lang="en-US" sz="3000" dirty="0"/>
          </a:p>
        </p:txBody>
      </p:sp>
      <p:sp>
        <p:nvSpPr>
          <p:cNvPr id="5" name="Text 3"/>
          <p:cNvSpPr/>
          <p:nvPr/>
        </p:nvSpPr>
        <p:spPr>
          <a:xfrm>
            <a:off x="661475" y="1954213"/>
            <a:ext cx="5383673" cy="180876"/>
          </a:xfrm>
          <a:prstGeom prst="rect">
            <a:avLst/>
          </a:prstGeom>
          <a:noFill/>
          <a:ln/>
        </p:spPr>
        <p:txBody>
          <a:bodyPr wrap="none" lIns="0" tIns="0" rIns="0" bIns="0" rtlCol="0" anchor="t"/>
          <a:lstStyle/>
          <a:p>
            <a:pPr algn="ctr" indent="0" marL="0">
              <a:lnSpc>
                <a:spcPct val="104000"/>
              </a:lnSpc>
              <a:buNone/>
            </a:pPr>
            <a:r>
              <a:rPr lang="en-US" sz="1100" dirty="0">
                <a:solidFill>
                  <a:srgbClr val="000000"/>
                </a:solidFill>
                <a:latin typeface="Crimson Pro SemiBold" pitchFamily="34" charset="0"/>
                <a:ea typeface="Crimson Pro SemiBold" pitchFamily="34" charset="-122"/>
                <a:cs typeface="Crimson Pro SemiBold" pitchFamily="34" charset="-120"/>
              </a:rPr>
              <a:t>Avg. Breach Cost</a:t>
            </a:r>
            <a:endParaRPr lang="en-US" sz="1100" dirty="0"/>
          </a:p>
        </p:txBody>
      </p:sp>
      <p:sp>
        <p:nvSpPr>
          <p:cNvPr id="6" name="Text 4"/>
          <p:cNvSpPr/>
          <p:nvPr/>
        </p:nvSpPr>
        <p:spPr>
          <a:xfrm>
            <a:off x="661475" y="2183705"/>
            <a:ext cx="5383673" cy="157460"/>
          </a:xfrm>
          <a:prstGeom prst="rect">
            <a:avLst/>
          </a:prstGeom>
          <a:noFill/>
          <a:ln/>
        </p:spPr>
        <p:txBody>
          <a:bodyPr wrap="none" lIns="0" tIns="0" rIns="0" bIns="0" rtlCol="0" anchor="t"/>
          <a:lstStyle/>
          <a:p>
            <a:pPr algn="ctr" indent="0" marL="0">
              <a:lnSpc>
                <a:spcPct val="113000"/>
              </a:lnSpc>
              <a:buNone/>
            </a:pPr>
            <a:r>
              <a:rPr lang="en-US" sz="900" dirty="0">
                <a:solidFill>
                  <a:srgbClr val="000000"/>
                </a:solidFill>
                <a:latin typeface="Heebo" pitchFamily="34" charset="0"/>
                <a:ea typeface="Heebo" pitchFamily="34" charset="-122"/>
                <a:cs typeface="Heebo" pitchFamily="34" charset="-120"/>
              </a:rPr>
              <a:t>Communications sector average, rising despite a global all-industries decline to $4.44M.</a:t>
            </a:r>
            <a:endParaRPr lang="en-US" sz="900" dirty="0"/>
          </a:p>
        </p:txBody>
      </p:sp>
      <p:sp>
        <p:nvSpPr>
          <p:cNvPr id="7" name="Text 5"/>
          <p:cNvSpPr/>
          <p:nvPr/>
        </p:nvSpPr>
        <p:spPr>
          <a:xfrm>
            <a:off x="6953969" y="1453555"/>
            <a:ext cx="3768631" cy="382091"/>
          </a:xfrm>
          <a:prstGeom prst="rect">
            <a:avLst/>
          </a:prstGeom>
          <a:noFill/>
          <a:ln/>
        </p:spPr>
        <p:txBody>
          <a:bodyPr wrap="none" lIns="0" tIns="0" rIns="0" bIns="0" rtlCol="0" anchor="t"/>
          <a:lstStyle/>
          <a:p>
            <a:pPr algn="ctr" indent="0" marL="0">
              <a:lnSpc>
                <a:spcPct val="83000"/>
              </a:lnSpc>
              <a:buNone/>
            </a:pPr>
            <a:r>
              <a:rPr lang="en-US" sz="3000" dirty="0">
                <a:solidFill>
                  <a:srgbClr val="000000"/>
                </a:solidFill>
                <a:latin typeface="Crimson Pro SemiBold" pitchFamily="34" charset="0"/>
                <a:ea typeface="Crimson Pro SemiBold" pitchFamily="34" charset="-122"/>
                <a:cs typeface="Crimson Pro SemiBold" pitchFamily="34" charset="-120"/>
              </a:rPr>
              <a:t>$10.22M</a:t>
            </a:r>
            <a:endParaRPr lang="en-US" sz="3000" dirty="0"/>
          </a:p>
        </p:txBody>
      </p:sp>
      <p:sp>
        <p:nvSpPr>
          <p:cNvPr id="8" name="Text 6"/>
          <p:cNvSpPr/>
          <p:nvPr/>
        </p:nvSpPr>
        <p:spPr>
          <a:xfrm>
            <a:off x="6146448" y="1954213"/>
            <a:ext cx="5383772" cy="180876"/>
          </a:xfrm>
          <a:prstGeom prst="rect">
            <a:avLst/>
          </a:prstGeom>
          <a:noFill/>
          <a:ln/>
        </p:spPr>
        <p:txBody>
          <a:bodyPr wrap="none" lIns="0" tIns="0" rIns="0" bIns="0" rtlCol="0" anchor="t"/>
          <a:lstStyle/>
          <a:p>
            <a:pPr algn="ctr" indent="0" marL="0">
              <a:lnSpc>
                <a:spcPct val="104000"/>
              </a:lnSpc>
              <a:buNone/>
            </a:pPr>
            <a:r>
              <a:rPr lang="en-US" sz="1100" dirty="0">
                <a:solidFill>
                  <a:srgbClr val="000000"/>
                </a:solidFill>
                <a:latin typeface="Crimson Pro SemiBold" pitchFamily="34" charset="0"/>
                <a:ea typeface="Crimson Pro SemiBold" pitchFamily="34" charset="-122"/>
                <a:cs typeface="Crimson Pro SemiBold" pitchFamily="34" charset="-120"/>
              </a:rPr>
              <a:t>US Breach Cost</a:t>
            </a:r>
            <a:endParaRPr lang="en-US" sz="1100" dirty="0"/>
          </a:p>
        </p:txBody>
      </p:sp>
      <p:sp>
        <p:nvSpPr>
          <p:cNvPr id="9" name="Text 7"/>
          <p:cNvSpPr/>
          <p:nvPr/>
        </p:nvSpPr>
        <p:spPr>
          <a:xfrm>
            <a:off x="6146448" y="2183705"/>
            <a:ext cx="5383772" cy="157460"/>
          </a:xfrm>
          <a:prstGeom prst="rect">
            <a:avLst/>
          </a:prstGeom>
          <a:noFill/>
          <a:ln/>
        </p:spPr>
        <p:txBody>
          <a:bodyPr wrap="none" lIns="0" tIns="0" rIns="0" bIns="0" rtlCol="0" anchor="t"/>
          <a:lstStyle/>
          <a:p>
            <a:pPr algn="ctr" indent="0" marL="0">
              <a:lnSpc>
                <a:spcPct val="113000"/>
              </a:lnSpc>
              <a:buNone/>
            </a:pPr>
            <a:r>
              <a:rPr lang="en-US" sz="900" dirty="0">
                <a:solidFill>
                  <a:srgbClr val="000000"/>
                </a:solidFill>
                <a:latin typeface="Heebo" pitchFamily="34" charset="0"/>
                <a:ea typeface="Heebo" pitchFamily="34" charset="-122"/>
                <a:cs typeface="Heebo" pitchFamily="34" charset="-120"/>
              </a:rPr>
              <a:t>Highest regional average, driven by strict regulatory requirements, litigation, and notification obligations.</a:t>
            </a:r>
            <a:endParaRPr lang="en-US" sz="900" dirty="0"/>
          </a:p>
        </p:txBody>
      </p:sp>
      <p:sp>
        <p:nvSpPr>
          <p:cNvPr id="10" name="Text 8"/>
          <p:cNvSpPr/>
          <p:nvPr/>
        </p:nvSpPr>
        <p:spPr>
          <a:xfrm>
            <a:off x="1468996" y="2561034"/>
            <a:ext cx="3768532" cy="382091"/>
          </a:xfrm>
          <a:prstGeom prst="rect">
            <a:avLst/>
          </a:prstGeom>
          <a:noFill/>
          <a:ln/>
        </p:spPr>
        <p:txBody>
          <a:bodyPr wrap="none" lIns="0" tIns="0" rIns="0" bIns="0" rtlCol="0" anchor="t"/>
          <a:lstStyle/>
          <a:p>
            <a:pPr algn="ctr" indent="0" marL="0">
              <a:lnSpc>
                <a:spcPct val="83000"/>
              </a:lnSpc>
              <a:buNone/>
            </a:pPr>
            <a:r>
              <a:rPr lang="en-US" sz="3000" dirty="0">
                <a:solidFill>
                  <a:srgbClr val="000000"/>
                </a:solidFill>
                <a:latin typeface="Crimson Pro SemiBold" pitchFamily="34" charset="0"/>
                <a:ea typeface="Crimson Pro SemiBold" pitchFamily="34" charset="-122"/>
                <a:cs typeface="Crimson Pro SemiBold" pitchFamily="34" charset="-120"/>
              </a:rPr>
              <a:t>$6.24M</a:t>
            </a:r>
            <a:endParaRPr lang="en-US" sz="3000" dirty="0"/>
          </a:p>
        </p:txBody>
      </p:sp>
      <p:sp>
        <p:nvSpPr>
          <p:cNvPr id="11" name="Text 9"/>
          <p:cNvSpPr/>
          <p:nvPr/>
        </p:nvSpPr>
        <p:spPr>
          <a:xfrm>
            <a:off x="661475" y="3061692"/>
            <a:ext cx="5383673" cy="180876"/>
          </a:xfrm>
          <a:prstGeom prst="rect">
            <a:avLst/>
          </a:prstGeom>
          <a:noFill/>
          <a:ln/>
        </p:spPr>
        <p:txBody>
          <a:bodyPr wrap="none" lIns="0" tIns="0" rIns="0" bIns="0" rtlCol="0" anchor="t"/>
          <a:lstStyle/>
          <a:p>
            <a:pPr algn="ctr" indent="0" marL="0">
              <a:lnSpc>
                <a:spcPct val="104000"/>
              </a:lnSpc>
              <a:buNone/>
            </a:pPr>
            <a:r>
              <a:rPr lang="en-US" sz="1100" dirty="0">
                <a:solidFill>
                  <a:srgbClr val="000000"/>
                </a:solidFill>
                <a:latin typeface="Crimson Pro SemiBold" pitchFamily="34" charset="0"/>
                <a:ea typeface="Crimson Pro SemiBold" pitchFamily="34" charset="-122"/>
                <a:cs typeface="Crimson Pro SemiBold" pitchFamily="34" charset="-120"/>
              </a:rPr>
              <a:t>Benelux Breach Cost</a:t>
            </a:r>
            <a:endParaRPr lang="en-US" sz="1100" dirty="0"/>
          </a:p>
        </p:txBody>
      </p:sp>
      <p:sp>
        <p:nvSpPr>
          <p:cNvPr id="12" name="Text 10"/>
          <p:cNvSpPr/>
          <p:nvPr/>
        </p:nvSpPr>
        <p:spPr>
          <a:xfrm>
            <a:off x="661475" y="3291185"/>
            <a:ext cx="5383673" cy="157460"/>
          </a:xfrm>
          <a:prstGeom prst="rect">
            <a:avLst/>
          </a:prstGeom>
          <a:noFill/>
          <a:ln/>
        </p:spPr>
        <p:txBody>
          <a:bodyPr wrap="none" lIns="0" tIns="0" rIns="0" bIns="0" rtlCol="0" anchor="t"/>
          <a:lstStyle/>
          <a:p>
            <a:pPr algn="ctr" indent="0" marL="0">
              <a:lnSpc>
                <a:spcPct val="113000"/>
              </a:lnSpc>
              <a:buNone/>
            </a:pPr>
            <a:r>
              <a:rPr lang="en-US" sz="900" dirty="0">
                <a:solidFill>
                  <a:srgbClr val="000000"/>
                </a:solidFill>
                <a:latin typeface="Heebo" pitchFamily="34" charset="0"/>
                <a:ea typeface="Heebo" pitchFamily="34" charset="-122"/>
                <a:cs typeface="Heebo" pitchFamily="34" charset="-120"/>
              </a:rPr>
              <a:t>EU regional average. UK: $4.14M; Germany: $4.03M, reflecting compliance and forensic costs.</a:t>
            </a:r>
            <a:endParaRPr lang="en-US" sz="900" dirty="0"/>
          </a:p>
        </p:txBody>
      </p:sp>
      <p:sp>
        <p:nvSpPr>
          <p:cNvPr id="13" name="Text 11"/>
          <p:cNvSpPr/>
          <p:nvPr/>
        </p:nvSpPr>
        <p:spPr>
          <a:xfrm>
            <a:off x="6953969" y="2561034"/>
            <a:ext cx="3768631" cy="382091"/>
          </a:xfrm>
          <a:prstGeom prst="rect">
            <a:avLst/>
          </a:prstGeom>
          <a:noFill/>
          <a:ln/>
        </p:spPr>
        <p:txBody>
          <a:bodyPr wrap="none" lIns="0" tIns="0" rIns="0" bIns="0" rtlCol="0" anchor="t"/>
          <a:lstStyle/>
          <a:p>
            <a:pPr algn="ctr" indent="0" marL="0">
              <a:lnSpc>
                <a:spcPct val="83000"/>
              </a:lnSpc>
              <a:buNone/>
            </a:pPr>
            <a:r>
              <a:rPr lang="en-US" sz="3000" dirty="0">
                <a:solidFill>
                  <a:srgbClr val="000000"/>
                </a:solidFill>
                <a:latin typeface="Crimson Pro SemiBold" pitchFamily="34" charset="0"/>
                <a:ea typeface="Crimson Pro SemiBold" pitchFamily="34" charset="-122"/>
                <a:cs typeface="Crimson Pro SemiBold" pitchFamily="34" charset="-120"/>
              </a:rPr>
              <a:t>241</a:t>
            </a:r>
            <a:endParaRPr lang="en-US" sz="3000" dirty="0"/>
          </a:p>
        </p:txBody>
      </p:sp>
      <p:sp>
        <p:nvSpPr>
          <p:cNvPr id="14" name="Text 12"/>
          <p:cNvSpPr/>
          <p:nvPr/>
        </p:nvSpPr>
        <p:spPr>
          <a:xfrm>
            <a:off x="6146448" y="3061692"/>
            <a:ext cx="5383772" cy="180876"/>
          </a:xfrm>
          <a:prstGeom prst="rect">
            <a:avLst/>
          </a:prstGeom>
          <a:noFill/>
          <a:ln/>
        </p:spPr>
        <p:txBody>
          <a:bodyPr wrap="none" lIns="0" tIns="0" rIns="0" bIns="0" rtlCol="0" anchor="t"/>
          <a:lstStyle/>
          <a:p>
            <a:pPr algn="ctr" indent="0" marL="0">
              <a:lnSpc>
                <a:spcPct val="104000"/>
              </a:lnSpc>
              <a:buNone/>
            </a:pPr>
            <a:r>
              <a:rPr lang="en-US" sz="1100" dirty="0">
                <a:solidFill>
                  <a:srgbClr val="000000"/>
                </a:solidFill>
                <a:latin typeface="Crimson Pro SemiBold" pitchFamily="34" charset="0"/>
                <a:ea typeface="Crimson Pro SemiBold" pitchFamily="34" charset="-122"/>
                <a:cs typeface="Crimson Pro SemiBold" pitchFamily="34" charset="-120"/>
              </a:rPr>
              <a:t>Days to Contain</a:t>
            </a:r>
            <a:endParaRPr lang="en-US" sz="1100" dirty="0"/>
          </a:p>
        </p:txBody>
      </p:sp>
      <p:sp>
        <p:nvSpPr>
          <p:cNvPr id="15" name="Text 13"/>
          <p:cNvSpPr/>
          <p:nvPr/>
        </p:nvSpPr>
        <p:spPr>
          <a:xfrm>
            <a:off x="6146448" y="3291185"/>
            <a:ext cx="5383772" cy="314920"/>
          </a:xfrm>
          <a:prstGeom prst="rect">
            <a:avLst/>
          </a:prstGeom>
          <a:noFill/>
          <a:ln/>
        </p:spPr>
        <p:txBody>
          <a:bodyPr wrap="square" lIns="0" tIns="0" rIns="0" bIns="0" rtlCol="0" anchor="t">
            <a:normAutofit/>
          </a:bodyPr>
          <a:lstStyle/>
          <a:p>
            <a:pPr algn="ctr" indent="0" marL="0">
              <a:lnSpc>
                <a:spcPct val="113000"/>
              </a:lnSpc>
              <a:buNone/>
            </a:pPr>
            <a:r>
              <a:rPr lang="en-US" sz="900" dirty="0">
                <a:solidFill>
                  <a:srgbClr val="000000"/>
                </a:solidFill>
                <a:latin typeface="Heebo" pitchFamily="34" charset="0"/>
                <a:ea typeface="Heebo" pitchFamily="34" charset="-122"/>
                <a:cs typeface="Heebo" pitchFamily="34" charset="-120"/>
              </a:rPr>
              <a:t>Average breach lifecycle: 181 days to identify, 60 days to contain. Breaches exceeding 200 days cost </a:t>
            </a:r>
            <a:pPr algn="ctr"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$5.01M</a:t>
            </a:r>
            <a:pPr algn="ctr" indent="0" marL="0">
              <a:lnSpc>
                <a:spcPct val="113000"/>
              </a:lnSpc>
              <a:buNone/>
            </a:pPr>
            <a:r>
              <a:rPr lang="en-US" sz="900" dirty="0">
                <a:solidFill>
                  <a:srgbClr val="000000"/>
                </a:solidFill>
                <a:latin typeface="Heebo" pitchFamily="34" charset="0"/>
                <a:ea typeface="Heebo" pitchFamily="34" charset="-122"/>
                <a:cs typeface="Heebo" pitchFamily="34" charset="-120"/>
              </a:rPr>
              <a:t> vs. </a:t>
            </a:r>
            <a:pPr algn="ctr"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$3.87M</a:t>
            </a:r>
            <a:pPr algn="ctr" indent="0" marL="0">
              <a:lnSpc>
                <a:spcPct val="113000"/>
              </a:lnSpc>
              <a:buNone/>
            </a:pPr>
            <a:r>
              <a:rPr lang="en-US" sz="900" dirty="0">
                <a:solidFill>
                  <a:srgbClr val="000000"/>
                </a:solidFill>
                <a:latin typeface="Heebo" pitchFamily="34" charset="0"/>
                <a:ea typeface="Heebo" pitchFamily="34" charset="-122"/>
                <a:cs typeface="Heebo" pitchFamily="34" charset="-120"/>
              </a:rPr>
              <a:t> for faster response.</a:t>
            </a:r>
            <a:endParaRPr lang="en-US" sz="900" dirty="0"/>
          </a:p>
        </p:txBody>
      </p:sp>
      <p:sp>
        <p:nvSpPr>
          <p:cNvPr id="16" name="Text 14"/>
          <p:cNvSpPr/>
          <p:nvPr/>
        </p:nvSpPr>
        <p:spPr>
          <a:xfrm>
            <a:off x="661475" y="3727648"/>
            <a:ext cx="10868745" cy="289421"/>
          </a:xfrm>
          <a:prstGeom prst="rect">
            <a:avLst/>
          </a:prstGeom>
          <a:noFill/>
          <a:ln/>
        </p:spPr>
        <p:txBody>
          <a:bodyPr wrap="none" lIns="0" tIns="0" rIns="0" bIns="0" rtlCol="0" anchor="t"/>
          <a:lstStyle/>
          <a:p>
            <a:pPr algn="l" indent="0" marL="0">
              <a:lnSpc>
                <a:spcPct val="104000"/>
              </a:lnSpc>
              <a:buNone/>
            </a:pPr>
            <a:r>
              <a:rPr lang="en-US" sz="1800" dirty="0">
                <a:solidFill>
                  <a:srgbClr val="00674F"/>
                </a:solidFill>
                <a:latin typeface="Crimson Pro SemiBold" pitchFamily="34" charset="0"/>
                <a:ea typeface="Crimson Pro SemiBold" pitchFamily="34" charset="-122"/>
                <a:cs typeface="Crimson Pro SemiBold" pitchFamily="34" charset="-120"/>
              </a:rPr>
              <a:t>Cost Breakdown by Category</a:t>
            </a:r>
            <a:endParaRPr lang="en-US" sz="1800" dirty="0"/>
          </a:p>
        </p:txBody>
      </p:sp>
      <p:sp>
        <p:nvSpPr>
          <p:cNvPr id="17" name="Shape 15"/>
          <p:cNvSpPr/>
          <p:nvPr/>
        </p:nvSpPr>
        <p:spPr>
          <a:xfrm>
            <a:off x="661475" y="4138612"/>
            <a:ext cx="10868745" cy="2004913"/>
          </a:xfrm>
          <a:prstGeom prst="roundRect">
            <a:avLst>
              <a:gd name="adj" fmla="val 866"/>
            </a:avLst>
          </a:prstGeom>
          <a:noFill/>
          <a:ln w="6350">
            <a:solidFill>
              <a:srgbClr val="000000">
                <a:alpha val="8000"/>
              </a:srgbClr>
            </a:solidFill>
            <a:prstDash val="solid"/>
          </a:ln>
        </p:spPr>
      </p:sp>
      <p:sp>
        <p:nvSpPr>
          <p:cNvPr id="18" name="Shape 16"/>
          <p:cNvSpPr/>
          <p:nvPr/>
        </p:nvSpPr>
        <p:spPr>
          <a:xfrm>
            <a:off x="661475" y="4415532"/>
            <a:ext cx="10868745" cy="7236"/>
          </a:xfrm>
          <a:prstGeom prst="rect">
            <a:avLst/>
          </a:prstGeom>
          <a:solidFill>
            <a:srgbClr val="000000">
              <a:alpha val="8000"/>
            </a:srgbClr>
          </a:solidFill>
          <a:ln/>
        </p:spPr>
      </p:sp>
      <p:sp>
        <p:nvSpPr>
          <p:cNvPr id="19" name="Shape 17"/>
          <p:cNvSpPr/>
          <p:nvPr/>
        </p:nvSpPr>
        <p:spPr>
          <a:xfrm>
            <a:off x="661475" y="4846737"/>
            <a:ext cx="10868745" cy="7236"/>
          </a:xfrm>
          <a:prstGeom prst="rect">
            <a:avLst/>
          </a:prstGeom>
          <a:solidFill>
            <a:srgbClr val="000000">
              <a:alpha val="8000"/>
            </a:srgbClr>
          </a:solidFill>
          <a:ln/>
        </p:spPr>
      </p:sp>
      <p:sp>
        <p:nvSpPr>
          <p:cNvPr id="20" name="Shape 18"/>
          <p:cNvSpPr/>
          <p:nvPr/>
        </p:nvSpPr>
        <p:spPr>
          <a:xfrm>
            <a:off x="661475" y="5277941"/>
            <a:ext cx="10868745" cy="7236"/>
          </a:xfrm>
          <a:prstGeom prst="rect">
            <a:avLst/>
          </a:prstGeom>
          <a:solidFill>
            <a:srgbClr val="000000">
              <a:alpha val="8000"/>
            </a:srgbClr>
          </a:solidFill>
          <a:ln/>
        </p:spPr>
      </p:sp>
      <p:sp>
        <p:nvSpPr>
          <p:cNvPr id="21" name="Shape 19"/>
          <p:cNvSpPr/>
          <p:nvPr/>
        </p:nvSpPr>
        <p:spPr>
          <a:xfrm>
            <a:off x="661475" y="5709146"/>
            <a:ext cx="10868745" cy="7236"/>
          </a:xfrm>
          <a:prstGeom prst="rect">
            <a:avLst/>
          </a:prstGeom>
          <a:solidFill>
            <a:srgbClr val="000000">
              <a:alpha val="8000"/>
            </a:srgbClr>
          </a:solidFill>
          <a:ln/>
        </p:spPr>
      </p:sp>
      <p:sp>
        <p:nvSpPr>
          <p:cNvPr id="22" name="Text 20"/>
          <p:cNvSpPr/>
          <p:nvPr/>
        </p:nvSpPr>
        <p:spPr>
          <a:xfrm>
            <a:off x="783709" y="4199930"/>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Category</a:t>
            </a:r>
            <a:endParaRPr lang="en-US" sz="900" dirty="0"/>
          </a:p>
        </p:txBody>
      </p:sp>
      <p:sp>
        <p:nvSpPr>
          <p:cNvPr id="23" name="Text 21"/>
          <p:cNvSpPr/>
          <p:nvPr/>
        </p:nvSpPr>
        <p:spPr>
          <a:xfrm>
            <a:off x="3497671" y="4199930"/>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Cost</a:t>
            </a:r>
            <a:endParaRPr lang="en-US" sz="900" dirty="0"/>
          </a:p>
        </p:txBody>
      </p:sp>
      <p:sp>
        <p:nvSpPr>
          <p:cNvPr id="24" name="Text 22"/>
          <p:cNvSpPr/>
          <p:nvPr/>
        </p:nvSpPr>
        <p:spPr>
          <a:xfrm>
            <a:off x="6211633" y="4199930"/>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Share</a:t>
            </a:r>
            <a:endParaRPr lang="en-US" sz="900" dirty="0"/>
          </a:p>
        </p:txBody>
      </p:sp>
      <p:sp>
        <p:nvSpPr>
          <p:cNvPr id="25" name="Text 23"/>
          <p:cNvSpPr/>
          <p:nvPr/>
        </p:nvSpPr>
        <p:spPr>
          <a:xfrm>
            <a:off x="8925595" y="4199930"/>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Key Components</a:t>
            </a:r>
            <a:endParaRPr lang="en-US" sz="900" dirty="0"/>
          </a:p>
        </p:txBody>
      </p:sp>
      <p:sp>
        <p:nvSpPr>
          <p:cNvPr id="26" name="Text 24"/>
          <p:cNvSpPr/>
          <p:nvPr/>
        </p:nvSpPr>
        <p:spPr>
          <a:xfrm>
            <a:off x="783709" y="4473674"/>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Detection &amp; Escalation</a:t>
            </a:r>
            <a:endParaRPr lang="en-US" sz="900" dirty="0"/>
          </a:p>
        </p:txBody>
      </p:sp>
      <p:sp>
        <p:nvSpPr>
          <p:cNvPr id="27" name="Text 25"/>
          <p:cNvSpPr/>
          <p:nvPr/>
        </p:nvSpPr>
        <p:spPr>
          <a:xfrm>
            <a:off x="3497671" y="4473674"/>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$1.47M</a:t>
            </a:r>
            <a:endParaRPr lang="en-US" sz="900" dirty="0"/>
          </a:p>
        </p:txBody>
      </p:sp>
      <p:sp>
        <p:nvSpPr>
          <p:cNvPr id="28" name="Text 26"/>
          <p:cNvSpPr/>
          <p:nvPr/>
        </p:nvSpPr>
        <p:spPr>
          <a:xfrm>
            <a:off x="6211633" y="4473674"/>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33%</a:t>
            </a:r>
            <a:endParaRPr lang="en-US" sz="900" dirty="0"/>
          </a:p>
        </p:txBody>
      </p:sp>
      <p:sp>
        <p:nvSpPr>
          <p:cNvPr id="29" name="Text 27"/>
          <p:cNvSpPr/>
          <p:nvPr/>
        </p:nvSpPr>
        <p:spPr>
          <a:xfrm>
            <a:off x="8925595" y="4473674"/>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DFIR consultants, crisis management, log analysis</a:t>
            </a:r>
            <a:endParaRPr lang="en-US" sz="900" dirty="0"/>
          </a:p>
        </p:txBody>
      </p:sp>
      <p:sp>
        <p:nvSpPr>
          <p:cNvPr id="30" name="Text 28"/>
          <p:cNvSpPr/>
          <p:nvPr/>
        </p:nvSpPr>
        <p:spPr>
          <a:xfrm>
            <a:off x="783709" y="4904879"/>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Lost Business</a:t>
            </a:r>
            <a:endParaRPr lang="en-US" sz="900" dirty="0"/>
          </a:p>
        </p:txBody>
      </p:sp>
      <p:sp>
        <p:nvSpPr>
          <p:cNvPr id="31" name="Text 29"/>
          <p:cNvSpPr/>
          <p:nvPr/>
        </p:nvSpPr>
        <p:spPr>
          <a:xfrm>
            <a:off x="3497671" y="4904879"/>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$1.38M</a:t>
            </a:r>
            <a:endParaRPr lang="en-US" sz="900" dirty="0"/>
          </a:p>
        </p:txBody>
      </p:sp>
      <p:sp>
        <p:nvSpPr>
          <p:cNvPr id="32" name="Text 30"/>
          <p:cNvSpPr/>
          <p:nvPr/>
        </p:nvSpPr>
        <p:spPr>
          <a:xfrm>
            <a:off x="6211633" y="4904879"/>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31%</a:t>
            </a:r>
            <a:endParaRPr lang="en-US" sz="900" dirty="0"/>
          </a:p>
        </p:txBody>
      </p:sp>
      <p:sp>
        <p:nvSpPr>
          <p:cNvPr id="33" name="Text 31"/>
          <p:cNvSpPr/>
          <p:nvPr/>
        </p:nvSpPr>
        <p:spPr>
          <a:xfrm>
            <a:off x="8925595" y="4904879"/>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Downtime, SLA penalties, customer churn (81% disengage post-breach)</a:t>
            </a:r>
            <a:endParaRPr lang="en-US" sz="900" dirty="0"/>
          </a:p>
        </p:txBody>
      </p:sp>
      <p:sp>
        <p:nvSpPr>
          <p:cNvPr id="34" name="Text 32"/>
          <p:cNvSpPr/>
          <p:nvPr/>
        </p:nvSpPr>
        <p:spPr>
          <a:xfrm>
            <a:off x="783709" y="5336084"/>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Post-Breach Response</a:t>
            </a:r>
            <a:endParaRPr lang="en-US" sz="900" dirty="0"/>
          </a:p>
        </p:txBody>
      </p:sp>
      <p:sp>
        <p:nvSpPr>
          <p:cNvPr id="35" name="Text 33"/>
          <p:cNvSpPr/>
          <p:nvPr/>
        </p:nvSpPr>
        <p:spPr>
          <a:xfrm>
            <a:off x="3497671" y="5336084"/>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$1.20M</a:t>
            </a:r>
            <a:endParaRPr lang="en-US" sz="900" dirty="0"/>
          </a:p>
        </p:txBody>
      </p:sp>
      <p:sp>
        <p:nvSpPr>
          <p:cNvPr id="36" name="Text 34"/>
          <p:cNvSpPr/>
          <p:nvPr/>
        </p:nvSpPr>
        <p:spPr>
          <a:xfrm>
            <a:off x="6211633" y="5336084"/>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27%</a:t>
            </a:r>
            <a:endParaRPr lang="en-US" sz="900" dirty="0"/>
          </a:p>
        </p:txBody>
      </p:sp>
      <p:sp>
        <p:nvSpPr>
          <p:cNvPr id="37" name="Text 35"/>
          <p:cNvSpPr/>
          <p:nvPr/>
        </p:nvSpPr>
        <p:spPr>
          <a:xfrm>
            <a:off x="8925595" y="5336084"/>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Legal defense, settlements, compliance remediation, credit monitoring</a:t>
            </a:r>
            <a:endParaRPr lang="en-US" sz="900" dirty="0"/>
          </a:p>
        </p:txBody>
      </p:sp>
      <p:sp>
        <p:nvSpPr>
          <p:cNvPr id="38" name="Text 36"/>
          <p:cNvSpPr/>
          <p:nvPr/>
        </p:nvSpPr>
        <p:spPr>
          <a:xfrm>
            <a:off x="783709" y="5767288"/>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Notification</a:t>
            </a:r>
            <a:endParaRPr lang="en-US" sz="900" dirty="0"/>
          </a:p>
        </p:txBody>
      </p:sp>
      <p:sp>
        <p:nvSpPr>
          <p:cNvPr id="39" name="Text 37"/>
          <p:cNvSpPr/>
          <p:nvPr/>
        </p:nvSpPr>
        <p:spPr>
          <a:xfrm>
            <a:off x="3497671" y="5767288"/>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$390K</a:t>
            </a:r>
            <a:endParaRPr lang="en-US" sz="900" dirty="0"/>
          </a:p>
        </p:txBody>
      </p:sp>
      <p:sp>
        <p:nvSpPr>
          <p:cNvPr id="40" name="Text 38"/>
          <p:cNvSpPr/>
          <p:nvPr/>
        </p:nvSpPr>
        <p:spPr>
          <a:xfrm>
            <a:off x="6211633" y="5767288"/>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9%</a:t>
            </a:r>
            <a:endParaRPr lang="en-US" sz="900" dirty="0"/>
          </a:p>
        </p:txBody>
      </p:sp>
      <p:sp>
        <p:nvSpPr>
          <p:cNvPr id="41" name="Text 39"/>
          <p:cNvSpPr/>
          <p:nvPr/>
        </p:nvSpPr>
        <p:spPr>
          <a:xfrm>
            <a:off x="8925595" y="5767288"/>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Regulatory reporting, PR management, multi-jurisdictional disclosures</a:t>
            </a:r>
            <a:endParaRPr lang="en-US" sz="900" dirty="0"/>
          </a:p>
        </p:txBody>
      </p:sp>
      <p:sp>
        <p:nvSpPr>
          <p:cNvPr id="42" name="Text 40"/>
          <p:cNvSpPr/>
          <p:nvPr/>
        </p:nvSpPr>
        <p:spPr>
          <a:xfrm>
            <a:off x="661475" y="6234609"/>
            <a:ext cx="11478330"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Malicious insider attacks are the costliest initial vector at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$4.92M</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Shadow AI compromises add a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+$670,000</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premium. Multi-environment breaches average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$5.05M</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89756"/>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00674F"/>
                </a:solidFill>
                <a:latin typeface="Crimson Pro SemiBold" pitchFamily="34" charset="0"/>
                <a:ea typeface="Crimson Pro SemiBold" pitchFamily="34" charset="-122"/>
                <a:cs typeface="Crimson Pro SemiBold" pitchFamily="34" charset="-120"/>
              </a:rPr>
              <a:t>Financial Impact: Worst-Case Scenarios</a:t>
            </a:r>
            <a:endParaRPr lang="en-US" sz="3050" dirty="0"/>
          </a:p>
        </p:txBody>
      </p:sp>
      <p:sp>
        <p:nvSpPr>
          <p:cNvPr id="3" name="Text 1"/>
          <p:cNvSpPr/>
          <p:nvPr/>
        </p:nvSpPr>
        <p:spPr>
          <a:xfrm>
            <a:off x="661475" y="1379141"/>
            <a:ext cx="10868745"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Catastrophic cyber incidents targeting EU telecom infrastructure could trigger systemic economic damage spanning multiple fiscal years, creating substantial balance-sheet liabilities.</a:t>
            </a:r>
            <a:endParaRPr lang="en-US" sz="12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37358"/>
            <a:ext cx="3523368" cy="2894211"/>
          </a:xfrm>
          <a:prstGeom prst="rect">
            <a:avLst/>
          </a:prstGeom>
        </p:spPr>
      </p:pic>
      <p:sp>
        <p:nvSpPr>
          <p:cNvPr id="5" name="Text 2"/>
          <p:cNvSpPr/>
          <p:nvPr/>
        </p:nvSpPr>
        <p:spPr>
          <a:xfrm>
            <a:off x="913782" y="2213471"/>
            <a:ext cx="3094952" cy="491133"/>
          </a:xfrm>
          <a:prstGeom prst="rect">
            <a:avLst/>
          </a:prstGeom>
          <a:noFill/>
          <a:ln/>
        </p:spPr>
        <p:txBody>
          <a:bodyPr wrap="square" lIns="0" tIns="0" rIns="0" bIns="0" rtlCol="0" anchor="t">
            <a:normAutofit/>
          </a:bodyPr>
          <a:lstStyle/>
          <a:p>
            <a:pPr algn="l" indent="0" marL="0">
              <a:lnSpc>
                <a:spcPct val="104000"/>
              </a:lnSpc>
              <a:buNone/>
            </a:pPr>
            <a:r>
              <a:rPr lang="en-US" sz="1500" dirty="0">
                <a:solidFill>
                  <a:srgbClr val="000000"/>
                </a:solidFill>
                <a:latin typeface="Crimson Pro SemiBold" pitchFamily="34" charset="0"/>
                <a:ea typeface="Crimson Pro SemiBold" pitchFamily="34" charset="-122"/>
                <a:cs typeface="Crimson Pro SemiBold" pitchFamily="34" charset="-120"/>
              </a:rPr>
              <a:t>Scenario 1: Subsea Cable &amp; Optical Transport Sabotage</a:t>
            </a:r>
            <a:endParaRPr lang="en-US" sz="1500" dirty="0"/>
          </a:p>
        </p:txBody>
      </p:sp>
      <p:sp>
        <p:nvSpPr>
          <p:cNvPr id="6" name="Text 3"/>
          <p:cNvSpPr/>
          <p:nvPr/>
        </p:nvSpPr>
        <p:spPr>
          <a:xfrm>
            <a:off x="913782" y="2794099"/>
            <a:ext cx="3094952" cy="1716187"/>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Adversary exploits zero-days in optical transponder software, locking administrators from core switches. Causes </a:t>
            </a:r>
            <a:pPr algn="l" indent="0" marL="0">
              <a:lnSpc>
                <a:spcPct val="130000"/>
              </a:lnSpc>
              <a:buNone/>
            </a:pPr>
            <a:r>
              <a:rPr lang="en-US" sz="1200" b="1" dirty="0">
                <a:solidFill>
                  <a:srgbClr val="00915E"/>
                </a:solidFill>
                <a:latin typeface="Heebo Bold" pitchFamily="34" charset="0"/>
                <a:ea typeface="Heebo Bold" pitchFamily="34" charset="-122"/>
                <a:cs typeface="Heebo Bold" pitchFamily="34" charset="-120"/>
              </a:rPr>
              <a:t>40% capability reduction</a:t>
            </a:r>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 across EU networks for two weeks, cascading into retail, logistics, and maritime operations. Localized GDP impact: </a:t>
            </a:r>
            <a:pPr algn="l" indent="0" marL="0">
              <a:lnSpc>
                <a:spcPct val="130000"/>
              </a:lnSpc>
              <a:buNone/>
            </a:pPr>
            <a:r>
              <a:rPr lang="en-US" sz="1200" b="1" dirty="0">
                <a:solidFill>
                  <a:srgbClr val="00915E"/>
                </a:solidFill>
                <a:latin typeface="Heebo Bold" pitchFamily="34" charset="0"/>
                <a:ea typeface="Heebo Bold" pitchFamily="34" charset="-122"/>
                <a:cs typeface="Heebo Bold" pitchFamily="34" charset="-120"/>
              </a:rPr>
              <a:t>$1.5 billion</a:t>
            </a:r>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a:t>
            </a:r>
            <a:endParaRPr lang="en-US" sz="12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4064" y="2037358"/>
            <a:ext cx="3523467" cy="2894211"/>
          </a:xfrm>
          <a:prstGeom prst="rect">
            <a:avLst/>
          </a:prstGeom>
        </p:spPr>
      </p:pic>
      <p:sp>
        <p:nvSpPr>
          <p:cNvPr id="8" name="Text 4"/>
          <p:cNvSpPr/>
          <p:nvPr/>
        </p:nvSpPr>
        <p:spPr>
          <a:xfrm>
            <a:off x="4586371" y="2213471"/>
            <a:ext cx="3095051" cy="491133"/>
          </a:xfrm>
          <a:prstGeom prst="rect">
            <a:avLst/>
          </a:prstGeom>
          <a:noFill/>
          <a:ln/>
        </p:spPr>
        <p:txBody>
          <a:bodyPr wrap="square" lIns="0" tIns="0" rIns="0" bIns="0" rtlCol="0" anchor="t">
            <a:normAutofit/>
          </a:bodyPr>
          <a:lstStyle/>
          <a:p>
            <a:pPr algn="l" indent="0" marL="0">
              <a:lnSpc>
                <a:spcPct val="104000"/>
              </a:lnSpc>
              <a:buNone/>
            </a:pPr>
            <a:r>
              <a:rPr lang="en-US" sz="1500" dirty="0">
                <a:solidFill>
                  <a:srgbClr val="000000"/>
                </a:solidFill>
                <a:latin typeface="Crimson Pro SemiBold" pitchFamily="34" charset="0"/>
                <a:ea typeface="Crimson Pro SemiBold" pitchFamily="34" charset="-122"/>
                <a:cs typeface="Crimson Pro SemiBold" pitchFamily="34" charset="-120"/>
              </a:rPr>
              <a:t>Scenario 2: MANO Layer Cellular Core Collapse</a:t>
            </a:r>
            <a:endParaRPr lang="en-US" sz="1500" dirty="0"/>
          </a:p>
        </p:txBody>
      </p:sp>
      <p:sp>
        <p:nvSpPr>
          <p:cNvPr id="9" name="Text 5"/>
          <p:cNvSpPr/>
          <p:nvPr/>
        </p:nvSpPr>
        <p:spPr>
          <a:xfrm>
            <a:off x="4586371" y="2794099"/>
            <a:ext cx="3095051" cy="1471017"/>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Malicious CNF updates deploy wiper malware across SGSNs and HSS, disconnecting </a:t>
            </a:r>
            <a:pPr algn="l" indent="0" marL="0">
              <a:lnSpc>
                <a:spcPct val="130000"/>
              </a:lnSpc>
              <a:buNone/>
            </a:pPr>
            <a:r>
              <a:rPr lang="en-US" sz="1200" b="1" dirty="0">
                <a:solidFill>
                  <a:srgbClr val="00915E"/>
                </a:solidFill>
                <a:latin typeface="Heebo Bold" pitchFamily="34" charset="0"/>
                <a:ea typeface="Heebo Bold" pitchFamily="34" charset="-122"/>
                <a:cs typeface="Heebo Bold" pitchFamily="34" charset="-120"/>
              </a:rPr>
              <a:t>24 million subscribers</a:t>
            </a:r>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 Takes offline 30% of POS terminals, blocks SMS authentication. Cascading economic damage: </a:t>
            </a:r>
            <a:pPr algn="l" indent="0" marL="0">
              <a:lnSpc>
                <a:spcPct val="130000"/>
              </a:lnSpc>
              <a:buNone/>
            </a:pPr>
            <a:r>
              <a:rPr lang="en-US" sz="1200" b="1" dirty="0">
                <a:solidFill>
                  <a:srgbClr val="00915E"/>
                </a:solidFill>
                <a:latin typeface="Heebo Bold" pitchFamily="34" charset="0"/>
                <a:ea typeface="Heebo Bold" pitchFamily="34" charset="-122"/>
                <a:cs typeface="Heebo Bold" pitchFamily="34" charset="-120"/>
              </a:rPr>
              <a:t>$24.2B–$47.1B</a:t>
            </a:r>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a:t>
            </a:r>
            <a:endParaRPr lang="en-US" sz="12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6753" y="2037358"/>
            <a:ext cx="3523368" cy="2894211"/>
          </a:xfrm>
          <a:prstGeom prst="rect">
            <a:avLst/>
          </a:prstGeom>
        </p:spPr>
      </p:pic>
      <p:sp>
        <p:nvSpPr>
          <p:cNvPr id="11" name="Text 6"/>
          <p:cNvSpPr/>
          <p:nvPr/>
        </p:nvSpPr>
        <p:spPr>
          <a:xfrm>
            <a:off x="8259060" y="2213471"/>
            <a:ext cx="3094952" cy="491133"/>
          </a:xfrm>
          <a:prstGeom prst="rect">
            <a:avLst/>
          </a:prstGeom>
          <a:noFill/>
          <a:ln/>
        </p:spPr>
        <p:txBody>
          <a:bodyPr wrap="square" lIns="0" tIns="0" rIns="0" bIns="0" rtlCol="0" anchor="t">
            <a:normAutofit/>
          </a:bodyPr>
          <a:lstStyle/>
          <a:p>
            <a:pPr algn="l" indent="0" marL="0">
              <a:lnSpc>
                <a:spcPct val="104000"/>
              </a:lnSpc>
              <a:buNone/>
            </a:pPr>
            <a:r>
              <a:rPr lang="en-US" sz="1500" dirty="0">
                <a:solidFill>
                  <a:srgbClr val="000000"/>
                </a:solidFill>
                <a:latin typeface="Crimson Pro SemiBold" pitchFamily="34" charset="0"/>
                <a:ea typeface="Crimson Pro SemiBold" pitchFamily="34" charset="-122"/>
                <a:cs typeface="Crimson Pro SemiBold" pitchFamily="34" charset="-120"/>
              </a:rPr>
              <a:t>Scenario 3: Satellite Ground Control Hijacking</a:t>
            </a:r>
            <a:endParaRPr lang="en-US" sz="1500" dirty="0"/>
          </a:p>
        </p:txBody>
      </p:sp>
      <p:sp>
        <p:nvSpPr>
          <p:cNvPr id="12" name="Text 7"/>
          <p:cNvSpPr/>
          <p:nvPr/>
        </p:nvSpPr>
        <p:spPr>
          <a:xfrm>
            <a:off x="8259060" y="2794099"/>
            <a:ext cx="3094952" cy="1961356"/>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State-nexus actors exploit unmonitored remote management links to access satellite telemetry and control systems used by emergency services and defense networks. Global cascading operational risk exposure exceeds </a:t>
            </a:r>
            <a:pPr algn="l" indent="0" marL="0">
              <a:lnSpc>
                <a:spcPct val="130000"/>
              </a:lnSpc>
              <a:buNone/>
            </a:pPr>
            <a:r>
              <a:rPr lang="en-US" sz="1200" b="1" dirty="0">
                <a:solidFill>
                  <a:srgbClr val="00915E"/>
                </a:solidFill>
                <a:latin typeface="Heebo Bold" pitchFamily="34" charset="0"/>
                <a:ea typeface="Heebo Bold" pitchFamily="34" charset="-122"/>
                <a:cs typeface="Heebo Bold" pitchFamily="34" charset="-120"/>
              </a:rPr>
              <a:t>$300 billion</a:t>
            </a:r>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 with indirect losses representing up to </a:t>
            </a:r>
            <a:pPr algn="l" indent="0" marL="0">
              <a:lnSpc>
                <a:spcPct val="130000"/>
              </a:lnSpc>
              <a:buNone/>
            </a:pPr>
            <a:r>
              <a:rPr lang="en-US" sz="1200" b="1" dirty="0">
                <a:solidFill>
                  <a:srgbClr val="00915E"/>
                </a:solidFill>
                <a:latin typeface="Heebo Bold" pitchFamily="34" charset="0"/>
                <a:ea typeface="Heebo Bold" pitchFamily="34" charset="-122"/>
                <a:cs typeface="Heebo Bold" pitchFamily="34" charset="-120"/>
              </a:rPr>
              <a:t>70%</a:t>
            </a:r>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 of total impact.</a:t>
            </a:r>
            <a:endParaRPr lang="en-US" sz="1200" dirty="0"/>
          </a:p>
        </p:txBody>
      </p:sp>
      <p:sp>
        <p:nvSpPr>
          <p:cNvPr id="13" name="Shape 8"/>
          <p:cNvSpPr/>
          <p:nvPr/>
        </p:nvSpPr>
        <p:spPr>
          <a:xfrm>
            <a:off x="548269" y="5099447"/>
            <a:ext cx="5469098" cy="1168698"/>
          </a:xfrm>
          <a:prstGeom prst="roundRect">
            <a:avLst>
              <a:gd name="adj" fmla="val 2017"/>
            </a:avLst>
          </a:prstGeom>
          <a:solidFill>
            <a:srgbClr val="00674F"/>
          </a:solidFill>
          <a:ln/>
        </p:spPr>
      </p:sp>
      <p:sp>
        <p:nvSpPr>
          <p:cNvPr id="14" name="Text 9"/>
          <p:cNvSpPr/>
          <p:nvPr/>
        </p:nvSpPr>
        <p:spPr>
          <a:xfrm>
            <a:off x="705328" y="5248672"/>
            <a:ext cx="5154980" cy="245566"/>
          </a:xfrm>
          <a:prstGeom prst="rect">
            <a:avLst/>
          </a:prstGeom>
          <a:noFill/>
          <a:ln/>
        </p:spPr>
        <p:txBody>
          <a:bodyPr wrap="none" lIns="0" tIns="0" rIns="0" bIns="0" rtlCol="0" anchor="t"/>
          <a:lstStyle/>
          <a:p>
            <a:pPr algn="l" indent="0" marL="0">
              <a:lnSpc>
                <a:spcPct val="104000"/>
              </a:lnSpc>
              <a:buNone/>
            </a:pPr>
            <a:r>
              <a:rPr lang="en-US" sz="1500" dirty="0">
                <a:solidFill>
                  <a:srgbClr val="FFFFFF"/>
                </a:solidFill>
                <a:latin typeface="Crimson Pro SemiBold" pitchFamily="34" charset="0"/>
                <a:ea typeface="Crimson Pro SemiBold" pitchFamily="34" charset="-122"/>
                <a:cs typeface="Crimson Pro SemiBold" pitchFamily="34" charset="-120"/>
              </a:rPr>
              <a:t>Regulatory Penalties</a:t>
            </a:r>
            <a:endParaRPr lang="en-US" sz="1500" dirty="0"/>
          </a:p>
        </p:txBody>
      </p:sp>
      <p:sp>
        <p:nvSpPr>
          <p:cNvPr id="15" name="Text 10"/>
          <p:cNvSpPr/>
          <p:nvPr/>
        </p:nvSpPr>
        <p:spPr>
          <a:xfrm>
            <a:off x="705328" y="5643463"/>
            <a:ext cx="5154980"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Heebo" pitchFamily="34" charset="0"/>
                <a:ea typeface="Heebo" pitchFamily="34" charset="-122"/>
                <a:cs typeface="Heebo" pitchFamily="34" charset="-120"/>
              </a:rPr>
              <a:t>NIS2 fines: up to </a:t>
            </a:r>
            <a:pPr algn="l" indent="0" marL="0">
              <a:lnSpc>
                <a:spcPct val="130000"/>
              </a:lnSpc>
              <a:buNone/>
            </a:pPr>
            <a:r>
              <a:rPr lang="en-US" sz="1200" b="1" dirty="0">
                <a:solidFill>
                  <a:srgbClr val="FFFFFF"/>
                </a:solidFill>
                <a:latin typeface="Heebo Bold" pitchFamily="34" charset="0"/>
                <a:ea typeface="Heebo Bold" pitchFamily="34" charset="-122"/>
                <a:cs typeface="Heebo Bold" pitchFamily="34" charset="-120"/>
              </a:rPr>
              <a:t>€10M or 2%</a:t>
            </a:r>
            <a:pPr algn="l" indent="0" marL="0">
              <a:lnSpc>
                <a:spcPct val="130000"/>
              </a:lnSpc>
              <a:buNone/>
            </a:pPr>
            <a:r>
              <a:rPr lang="en-US" sz="1200" dirty="0">
                <a:solidFill>
                  <a:srgbClr val="FFFFFF"/>
                </a:solidFill>
                <a:latin typeface="Heebo" pitchFamily="34" charset="0"/>
                <a:ea typeface="Heebo" pitchFamily="34" charset="-122"/>
                <a:cs typeface="Heebo" pitchFamily="34" charset="-120"/>
              </a:rPr>
              <a:t> of worldwide turnover. GDPR: up to </a:t>
            </a:r>
            <a:pPr algn="l" indent="0" marL="0">
              <a:lnSpc>
                <a:spcPct val="130000"/>
              </a:lnSpc>
              <a:buNone/>
            </a:pPr>
            <a:r>
              <a:rPr lang="en-US" sz="1200" b="1" dirty="0">
                <a:solidFill>
                  <a:srgbClr val="FFFFFF"/>
                </a:solidFill>
                <a:latin typeface="Heebo Bold" pitchFamily="34" charset="0"/>
                <a:ea typeface="Heebo Bold" pitchFamily="34" charset="-122"/>
                <a:cs typeface="Heebo Bold" pitchFamily="34" charset="-120"/>
              </a:rPr>
              <a:t>4%</a:t>
            </a:r>
            <a:pPr algn="l" indent="0" marL="0">
              <a:lnSpc>
                <a:spcPct val="130000"/>
              </a:lnSpc>
              <a:buNone/>
            </a:pPr>
            <a:r>
              <a:rPr lang="en-US" sz="1200" dirty="0">
                <a:solidFill>
                  <a:srgbClr val="FFFFFF"/>
                </a:solidFill>
                <a:latin typeface="Heebo" pitchFamily="34" charset="0"/>
                <a:ea typeface="Heebo" pitchFamily="34" charset="-122"/>
                <a:cs typeface="Heebo" pitchFamily="34" charset="-120"/>
              </a:rPr>
              <a:t> of global revenue for PII leaks.</a:t>
            </a:r>
            <a:endParaRPr lang="en-US" sz="1200" dirty="0"/>
          </a:p>
        </p:txBody>
      </p:sp>
      <p:sp>
        <p:nvSpPr>
          <p:cNvPr id="16" name="Text 11"/>
          <p:cNvSpPr/>
          <p:nvPr/>
        </p:nvSpPr>
        <p:spPr>
          <a:xfrm>
            <a:off x="6293883" y="5248672"/>
            <a:ext cx="5242687" cy="245566"/>
          </a:xfrm>
          <a:prstGeom prst="rect">
            <a:avLst/>
          </a:prstGeom>
          <a:noFill/>
          <a:ln/>
        </p:spPr>
        <p:txBody>
          <a:bodyPr wrap="none" lIns="0" tIns="0" rIns="0" bIns="0" rtlCol="0" anchor="t"/>
          <a:lstStyle/>
          <a:p>
            <a:pPr algn="l" indent="0" marL="0">
              <a:lnSpc>
                <a:spcPct val="104000"/>
              </a:lnSpc>
              <a:buNone/>
            </a:pPr>
            <a:r>
              <a:rPr lang="en-US" sz="1500" dirty="0">
                <a:solidFill>
                  <a:srgbClr val="00674F"/>
                </a:solidFill>
                <a:latin typeface="Crimson Pro SemiBold" pitchFamily="34" charset="0"/>
                <a:ea typeface="Crimson Pro SemiBold" pitchFamily="34" charset="-122"/>
                <a:cs typeface="Crimson Pro SemiBold" pitchFamily="34" charset="-120"/>
              </a:rPr>
              <a:t>Long-Term Liabilities</a:t>
            </a:r>
            <a:endParaRPr lang="en-US" sz="1500" dirty="0"/>
          </a:p>
        </p:txBody>
      </p:sp>
      <p:sp>
        <p:nvSpPr>
          <p:cNvPr id="17" name="Text 12"/>
          <p:cNvSpPr/>
          <p:nvPr/>
        </p:nvSpPr>
        <p:spPr>
          <a:xfrm>
            <a:off x="6293883" y="5643463"/>
            <a:ext cx="5242687"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Systemic downtime costs up to </a:t>
            </a:r>
            <a:pPr algn="l" indent="0" marL="0">
              <a:lnSpc>
                <a:spcPct val="130000"/>
              </a:lnSpc>
              <a:buNone/>
            </a:pPr>
            <a:r>
              <a:rPr lang="en-US" sz="1200" b="1" dirty="0">
                <a:solidFill>
                  <a:srgbClr val="000000"/>
                </a:solidFill>
                <a:latin typeface="Heebo Bold" pitchFamily="34" charset="0"/>
                <a:ea typeface="Heebo Bold" pitchFamily="34" charset="-122"/>
                <a:cs typeface="Heebo Bold" pitchFamily="34" charset="-120"/>
              </a:rPr>
              <a:t>$125,000/hour</a:t>
            </a:r>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 Trust rebuilding, regulatory defense, and class-action costs can exceed </a:t>
            </a:r>
            <a:pPr algn="l" indent="0" marL="0">
              <a:lnSpc>
                <a:spcPct val="130000"/>
              </a:lnSpc>
              <a:buNone/>
            </a:pPr>
            <a:r>
              <a:rPr lang="en-US" sz="1200" b="1" dirty="0">
                <a:solidFill>
                  <a:srgbClr val="000000"/>
                </a:solidFill>
                <a:latin typeface="Heebo Bold" pitchFamily="34" charset="0"/>
                <a:ea typeface="Heebo Bold" pitchFamily="34" charset="-122"/>
                <a:cs typeface="Heebo Bold" pitchFamily="34" charset="-120"/>
              </a:rPr>
              <a:t>$177M</a:t>
            </a:r>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06636"/>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00674F"/>
                </a:solidFill>
                <a:latin typeface="Crimson Pro SemiBold" pitchFamily="34" charset="0"/>
                <a:ea typeface="Crimson Pro SemiBold" pitchFamily="34" charset="-122"/>
                <a:cs typeface="Crimson Pro SemiBold" pitchFamily="34" charset="-120"/>
              </a:rPr>
              <a:t>Case Study</a:t>
            </a:r>
            <a:endParaRPr lang="en-US" sz="2250" dirty="0"/>
          </a:p>
        </p:txBody>
      </p:sp>
      <p:sp>
        <p:nvSpPr>
          <p:cNvPr id="3" name="Text 1"/>
          <p:cNvSpPr/>
          <p:nvPr/>
        </p:nvSpPr>
        <p:spPr>
          <a:xfrm>
            <a:off x="661475" y="1100733"/>
            <a:ext cx="10868745" cy="180876"/>
          </a:xfrm>
          <a:prstGeom prst="rect">
            <a:avLst/>
          </a:prstGeom>
          <a:noFill/>
          <a:ln/>
        </p:spPr>
        <p:txBody>
          <a:bodyPr wrap="none" lIns="0" tIns="0" rIns="0" bIns="0" rtlCol="0" anchor="t"/>
          <a:lstStyle/>
          <a:p>
            <a:pPr algn="l" indent="0" marL="0">
              <a:lnSpc>
                <a:spcPct val="104000"/>
              </a:lnSpc>
              <a:buNone/>
            </a:pPr>
            <a:r>
              <a:rPr lang="en-US" sz="1100" dirty="0">
                <a:solidFill>
                  <a:srgbClr val="00674F"/>
                </a:solidFill>
                <a:latin typeface="Crimson Pro SemiBold" pitchFamily="34" charset="0"/>
                <a:ea typeface="Crimson Pro SemiBold" pitchFamily="34" charset="-122"/>
                <a:cs typeface="Crimson Pro SemiBold" pitchFamily="34" charset="-120"/>
              </a:rPr>
              <a:t>Deep Attack Profile: Salt Typhoon &amp; Orange Spain Outages</a:t>
            </a:r>
            <a:endParaRPr lang="en-US" sz="1100" dirty="0"/>
          </a:p>
        </p:txBody>
      </p:sp>
      <p:sp>
        <p:nvSpPr>
          <p:cNvPr id="4" name="Shape 2"/>
          <p:cNvSpPr/>
          <p:nvPr/>
        </p:nvSpPr>
        <p:spPr>
          <a:xfrm>
            <a:off x="578133" y="1403152"/>
            <a:ext cx="5459871" cy="1045567"/>
          </a:xfrm>
          <a:prstGeom prst="roundRect">
            <a:avLst>
              <a:gd name="adj" fmla="val 1661"/>
            </a:avLst>
          </a:prstGeom>
          <a:solidFill>
            <a:srgbClr val="00674F"/>
          </a:solidFill>
          <a:ln/>
        </p:spPr>
      </p:sp>
      <p:sp>
        <p:nvSpPr>
          <p:cNvPr id="5" name="Text 3"/>
          <p:cNvSpPr/>
          <p:nvPr/>
        </p:nvSpPr>
        <p:spPr>
          <a:xfrm>
            <a:off x="693819" y="1484114"/>
            <a:ext cx="5228499" cy="180876"/>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Crimson Pro SemiBold" pitchFamily="34" charset="0"/>
                <a:ea typeface="Crimson Pro SemiBold" pitchFamily="34" charset="-122"/>
                <a:cs typeface="Crimson Pro SemiBold" pitchFamily="34" charset="-120"/>
              </a:rPr>
              <a:t>Salt Typhoon</a:t>
            </a:r>
            <a:endParaRPr lang="en-US" sz="1100" dirty="0"/>
          </a:p>
        </p:txBody>
      </p:sp>
      <p:sp>
        <p:nvSpPr>
          <p:cNvPr id="6" name="Text 4"/>
          <p:cNvSpPr/>
          <p:nvPr/>
        </p:nvSpPr>
        <p:spPr>
          <a:xfrm>
            <a:off x="693819" y="1745952"/>
            <a:ext cx="5228499" cy="629841"/>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FFFFFF"/>
                </a:solidFill>
                <a:latin typeface="Heebo" pitchFamily="34" charset="0"/>
                <a:ea typeface="Heebo" pitchFamily="34" charset="-122"/>
                <a:cs typeface="Heebo" pitchFamily="34" charset="-120"/>
              </a:rPr>
              <a:t>State-sponsored actor (GhostEmperor, FamousSparrow, Liminal Panda) infiltrated </a:t>
            </a:r>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9+ U.S. carriers</a:t>
            </a:r>
            <a:pPr algn="l" indent="0" marL="0">
              <a:lnSpc>
                <a:spcPct val="113000"/>
              </a:lnSpc>
              <a:buNone/>
            </a:pPr>
            <a:r>
              <a:rPr lang="en-US" sz="900" dirty="0">
                <a:solidFill>
                  <a:srgbClr val="FFFFFF"/>
                </a:solidFill>
                <a:latin typeface="Heebo" pitchFamily="34" charset="0"/>
                <a:ea typeface="Heebo" pitchFamily="34" charset="-122"/>
                <a:cs typeface="Heebo" pitchFamily="34" charset="-120"/>
              </a:rPr>
              <a:t> across </a:t>
            </a:r>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80 countries</a:t>
            </a:r>
            <a:pPr algn="l" indent="0" marL="0">
              <a:lnSpc>
                <a:spcPct val="113000"/>
              </a:lnSpc>
              <a:buNone/>
            </a:pPr>
            <a:r>
              <a:rPr lang="en-US" sz="900" dirty="0">
                <a:solidFill>
                  <a:srgbClr val="FFFFFF"/>
                </a:solidFill>
                <a:latin typeface="Heebo" pitchFamily="34" charset="0"/>
                <a:ea typeface="Heebo" pitchFamily="34" charset="-122"/>
                <a:cs typeface="Heebo" pitchFamily="34" charset="-120"/>
              </a:rPr>
              <a:t>. Targeted CALEA lawful intercept interfaces, harvesting call metadata from </a:t>
            </a:r>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over 1 million users</a:t>
            </a:r>
            <a:pPr algn="l" indent="0" marL="0">
              <a:lnSpc>
                <a:spcPct val="113000"/>
              </a:lnSpc>
              <a:buNone/>
            </a:pPr>
            <a:r>
              <a:rPr lang="en-US" sz="900" dirty="0">
                <a:solidFill>
                  <a:srgbClr val="FFFFFF"/>
                </a:solidFill>
                <a:latin typeface="Heebo" pitchFamily="34" charset="0"/>
                <a:ea typeface="Heebo" pitchFamily="34" charset="-122"/>
                <a:cs typeface="Heebo" pitchFamily="34" charset="-120"/>
              </a:rPr>
              <a:t>. Exploited Ivanti, Fortinet, Palo Alto, and Cisco vulnerabilities. Used </a:t>
            </a:r>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GTPDOOR</a:t>
            </a:r>
            <a:pPr algn="l" indent="0" marL="0">
              <a:lnSpc>
                <a:spcPct val="113000"/>
              </a:lnSpc>
              <a:buNone/>
            </a:pPr>
            <a:r>
              <a:rPr lang="en-US" sz="900" dirty="0">
                <a:solidFill>
                  <a:srgbClr val="FFFFFF"/>
                </a:solidFill>
                <a:latin typeface="Heebo" pitchFamily="34" charset="0"/>
                <a:ea typeface="Heebo" pitchFamily="34" charset="-122"/>
                <a:cs typeface="Heebo" pitchFamily="34" charset="-120"/>
              </a:rPr>
              <a:t> for covert C2 over roaming interfaces.</a:t>
            </a:r>
            <a:endParaRPr lang="en-US" sz="900" dirty="0"/>
          </a:p>
        </p:txBody>
      </p:sp>
      <p:sp>
        <p:nvSpPr>
          <p:cNvPr id="7" name="Text 5"/>
          <p:cNvSpPr/>
          <p:nvPr/>
        </p:nvSpPr>
        <p:spPr>
          <a:xfrm>
            <a:off x="6243382" y="1484114"/>
            <a:ext cx="5293188" cy="180876"/>
          </a:xfrm>
          <a:prstGeom prst="rect">
            <a:avLst/>
          </a:prstGeom>
          <a:noFill/>
          <a:ln/>
        </p:spPr>
        <p:txBody>
          <a:bodyPr wrap="none" lIns="0" tIns="0" rIns="0" bIns="0" rtlCol="0" anchor="t"/>
          <a:lstStyle/>
          <a:p>
            <a:pPr algn="l" indent="0" marL="0">
              <a:lnSpc>
                <a:spcPct val="104000"/>
              </a:lnSpc>
              <a:buNone/>
            </a:pPr>
            <a:r>
              <a:rPr lang="en-US" sz="1100" dirty="0">
                <a:solidFill>
                  <a:srgbClr val="00674F"/>
                </a:solidFill>
                <a:latin typeface="Crimson Pro SemiBold" pitchFamily="34" charset="0"/>
                <a:ea typeface="Crimson Pro SemiBold" pitchFamily="34" charset="-122"/>
                <a:cs typeface="Crimson Pro SemiBold" pitchFamily="34" charset="-120"/>
              </a:rPr>
              <a:t>Orange Spain (Jan 3, 2024)</a:t>
            </a:r>
            <a:endParaRPr lang="en-US" sz="1100" dirty="0"/>
          </a:p>
        </p:txBody>
      </p:sp>
      <p:sp>
        <p:nvSpPr>
          <p:cNvPr id="8" name="Text 6"/>
          <p:cNvSpPr/>
          <p:nvPr/>
        </p:nvSpPr>
        <p:spPr>
          <a:xfrm>
            <a:off x="6243382" y="1745952"/>
            <a:ext cx="5293188" cy="47238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Spain's second-largest mobile operator suffered a BGP routing hijack. Threat actor 'Snow' accessed the RIPE account via </a:t>
            </a:r>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Raccoon Stealer</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credentials harvested Sept 2023. Admin password: </a:t>
            </a:r>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"ripeadmin"</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 no MFA. Modified AS records, causing a </a:t>
            </a:r>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3-hour outage</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and </a:t>
            </a:r>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50% traffic loss</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a:t>
            </a:r>
            <a:endParaRPr lang="en-US" sz="900" dirty="0"/>
          </a:p>
        </p:txBody>
      </p:sp>
      <p:sp>
        <p:nvSpPr>
          <p:cNvPr id="9" name="Text 7"/>
          <p:cNvSpPr/>
          <p:nvPr/>
        </p:nvSpPr>
        <p:spPr>
          <a:xfrm>
            <a:off x="661475" y="2570262"/>
            <a:ext cx="10868745" cy="289421"/>
          </a:xfrm>
          <a:prstGeom prst="rect">
            <a:avLst/>
          </a:prstGeom>
          <a:noFill/>
          <a:ln/>
        </p:spPr>
        <p:txBody>
          <a:bodyPr wrap="none" lIns="0" tIns="0" rIns="0" bIns="0" rtlCol="0" anchor="t"/>
          <a:lstStyle/>
          <a:p>
            <a:pPr algn="l" indent="0" marL="0">
              <a:lnSpc>
                <a:spcPct val="104000"/>
              </a:lnSpc>
              <a:buNone/>
            </a:pPr>
            <a:r>
              <a:rPr lang="en-US" sz="1800" dirty="0">
                <a:solidFill>
                  <a:srgbClr val="00674F"/>
                </a:solidFill>
                <a:latin typeface="Crimson Pro SemiBold" pitchFamily="34" charset="0"/>
                <a:ea typeface="Crimson Pro SemiBold" pitchFamily="34" charset="-122"/>
                <a:cs typeface="Crimson Pro SemiBold" pitchFamily="34" charset="-120"/>
              </a:rPr>
              <a:t>Technical &amp; Operational Timeline</a:t>
            </a:r>
            <a:endParaRPr lang="en-US" sz="1800" dirty="0"/>
          </a:p>
        </p:txBody>
      </p:sp>
      <p:sp>
        <p:nvSpPr>
          <p:cNvPr id="10" name="Shape 8"/>
          <p:cNvSpPr/>
          <p:nvPr/>
        </p:nvSpPr>
        <p:spPr>
          <a:xfrm>
            <a:off x="661475" y="2981226"/>
            <a:ext cx="10868745" cy="2552402"/>
          </a:xfrm>
          <a:prstGeom prst="roundRect">
            <a:avLst>
              <a:gd name="adj" fmla="val 680"/>
            </a:avLst>
          </a:prstGeom>
          <a:noFill/>
          <a:ln w="6350">
            <a:solidFill>
              <a:srgbClr val="000000">
                <a:alpha val="8000"/>
              </a:srgbClr>
            </a:solidFill>
            <a:prstDash val="solid"/>
          </a:ln>
        </p:spPr>
      </p:sp>
      <p:sp>
        <p:nvSpPr>
          <p:cNvPr id="11" name="Shape 9"/>
          <p:cNvSpPr/>
          <p:nvPr/>
        </p:nvSpPr>
        <p:spPr>
          <a:xfrm>
            <a:off x="661475" y="3258145"/>
            <a:ext cx="10868745" cy="7236"/>
          </a:xfrm>
          <a:prstGeom prst="rect">
            <a:avLst/>
          </a:prstGeom>
          <a:solidFill>
            <a:srgbClr val="000000">
              <a:alpha val="8000"/>
            </a:srgbClr>
          </a:solidFill>
          <a:ln/>
        </p:spPr>
      </p:sp>
      <p:sp>
        <p:nvSpPr>
          <p:cNvPr id="12" name="Shape 10"/>
          <p:cNvSpPr/>
          <p:nvPr/>
        </p:nvSpPr>
        <p:spPr>
          <a:xfrm>
            <a:off x="661475" y="3531890"/>
            <a:ext cx="10868745" cy="7236"/>
          </a:xfrm>
          <a:prstGeom prst="rect">
            <a:avLst/>
          </a:prstGeom>
          <a:solidFill>
            <a:srgbClr val="000000">
              <a:alpha val="8000"/>
            </a:srgbClr>
          </a:solidFill>
          <a:ln/>
        </p:spPr>
      </p:sp>
      <p:sp>
        <p:nvSpPr>
          <p:cNvPr id="13" name="Shape 11"/>
          <p:cNvSpPr/>
          <p:nvPr/>
        </p:nvSpPr>
        <p:spPr>
          <a:xfrm>
            <a:off x="661475" y="3963095"/>
            <a:ext cx="10868745" cy="7236"/>
          </a:xfrm>
          <a:prstGeom prst="rect">
            <a:avLst/>
          </a:prstGeom>
          <a:solidFill>
            <a:srgbClr val="000000">
              <a:alpha val="8000"/>
            </a:srgbClr>
          </a:solidFill>
          <a:ln/>
        </p:spPr>
      </p:sp>
      <p:sp>
        <p:nvSpPr>
          <p:cNvPr id="14" name="Shape 12"/>
          <p:cNvSpPr/>
          <p:nvPr/>
        </p:nvSpPr>
        <p:spPr>
          <a:xfrm>
            <a:off x="661475" y="4236839"/>
            <a:ext cx="10868745" cy="7236"/>
          </a:xfrm>
          <a:prstGeom prst="rect">
            <a:avLst/>
          </a:prstGeom>
          <a:solidFill>
            <a:srgbClr val="000000">
              <a:alpha val="8000"/>
            </a:srgbClr>
          </a:solidFill>
          <a:ln/>
        </p:spPr>
      </p:sp>
      <p:sp>
        <p:nvSpPr>
          <p:cNvPr id="15" name="Shape 13"/>
          <p:cNvSpPr/>
          <p:nvPr/>
        </p:nvSpPr>
        <p:spPr>
          <a:xfrm>
            <a:off x="661475" y="4668044"/>
            <a:ext cx="10868745" cy="7236"/>
          </a:xfrm>
          <a:prstGeom prst="rect">
            <a:avLst/>
          </a:prstGeom>
          <a:solidFill>
            <a:srgbClr val="000000">
              <a:alpha val="8000"/>
            </a:srgbClr>
          </a:solidFill>
          <a:ln/>
        </p:spPr>
      </p:sp>
      <p:sp>
        <p:nvSpPr>
          <p:cNvPr id="16" name="Shape 14"/>
          <p:cNvSpPr/>
          <p:nvPr/>
        </p:nvSpPr>
        <p:spPr>
          <a:xfrm>
            <a:off x="661475" y="5099248"/>
            <a:ext cx="10868745" cy="7236"/>
          </a:xfrm>
          <a:prstGeom prst="rect">
            <a:avLst/>
          </a:prstGeom>
          <a:solidFill>
            <a:srgbClr val="000000">
              <a:alpha val="8000"/>
            </a:srgbClr>
          </a:solidFill>
          <a:ln/>
        </p:spPr>
      </p:sp>
      <p:sp>
        <p:nvSpPr>
          <p:cNvPr id="17" name="Text 15"/>
          <p:cNvSpPr/>
          <p:nvPr/>
        </p:nvSpPr>
        <p:spPr>
          <a:xfrm>
            <a:off x="783709" y="3042543"/>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Phase</a:t>
            </a:r>
            <a:endParaRPr lang="en-US" sz="900" dirty="0"/>
          </a:p>
        </p:txBody>
      </p:sp>
      <p:sp>
        <p:nvSpPr>
          <p:cNvPr id="18" name="Text 16"/>
          <p:cNvSpPr/>
          <p:nvPr/>
        </p:nvSpPr>
        <p:spPr>
          <a:xfrm>
            <a:off x="3497671" y="3042543"/>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Systems &amp; Protocols</a:t>
            </a:r>
            <a:endParaRPr lang="en-US" sz="900" dirty="0"/>
          </a:p>
        </p:txBody>
      </p:sp>
      <p:sp>
        <p:nvSpPr>
          <p:cNvPr id="19" name="Text 17"/>
          <p:cNvSpPr/>
          <p:nvPr/>
        </p:nvSpPr>
        <p:spPr>
          <a:xfrm>
            <a:off x="6211633" y="3042543"/>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Compromise Vector</a:t>
            </a:r>
            <a:endParaRPr lang="en-US" sz="900" dirty="0"/>
          </a:p>
        </p:txBody>
      </p:sp>
      <p:sp>
        <p:nvSpPr>
          <p:cNvPr id="20" name="Text 18"/>
          <p:cNvSpPr/>
          <p:nvPr/>
        </p:nvSpPr>
        <p:spPr>
          <a:xfrm>
            <a:off x="8925595" y="3042543"/>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Outcome</a:t>
            </a:r>
            <a:endParaRPr lang="en-US" sz="900" dirty="0"/>
          </a:p>
        </p:txBody>
      </p:sp>
      <p:sp>
        <p:nvSpPr>
          <p:cNvPr id="21" name="Text 19"/>
          <p:cNvSpPr/>
          <p:nvPr/>
        </p:nvSpPr>
        <p:spPr>
          <a:xfrm>
            <a:off x="783709" y="3316288"/>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Sept 2023</a:t>
            </a:r>
            <a:endParaRPr lang="en-US" sz="900" dirty="0"/>
          </a:p>
        </p:txBody>
      </p:sp>
      <p:sp>
        <p:nvSpPr>
          <p:cNvPr id="22" name="Text 20"/>
          <p:cNvSpPr/>
          <p:nvPr/>
        </p:nvSpPr>
        <p:spPr>
          <a:xfrm>
            <a:off x="3497671" y="3316288"/>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End-user device, RIPE Portal</a:t>
            </a:r>
            <a:endParaRPr lang="en-US" sz="900" dirty="0"/>
          </a:p>
        </p:txBody>
      </p:sp>
      <p:sp>
        <p:nvSpPr>
          <p:cNvPr id="23" name="Text 21"/>
          <p:cNvSpPr/>
          <p:nvPr/>
        </p:nvSpPr>
        <p:spPr>
          <a:xfrm>
            <a:off x="6211633" y="3316288"/>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Raccoon Stealer infects employee machine</a:t>
            </a:r>
            <a:endParaRPr lang="en-US" sz="900" dirty="0"/>
          </a:p>
        </p:txBody>
      </p:sp>
      <p:sp>
        <p:nvSpPr>
          <p:cNvPr id="24" name="Text 22"/>
          <p:cNvSpPr/>
          <p:nvPr/>
        </p:nvSpPr>
        <p:spPr>
          <a:xfrm>
            <a:off x="8925595" y="3316288"/>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Orange Spain RIPE credentials harvested</a:t>
            </a:r>
            <a:endParaRPr lang="en-US" sz="900" dirty="0"/>
          </a:p>
        </p:txBody>
      </p:sp>
      <p:sp>
        <p:nvSpPr>
          <p:cNvPr id="25" name="Text 23"/>
          <p:cNvSpPr/>
          <p:nvPr/>
        </p:nvSpPr>
        <p:spPr>
          <a:xfrm>
            <a:off x="783709" y="3590032"/>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Jan 2024</a:t>
            </a:r>
            <a:endParaRPr lang="en-US" sz="900" dirty="0"/>
          </a:p>
        </p:txBody>
      </p:sp>
      <p:sp>
        <p:nvSpPr>
          <p:cNvPr id="26" name="Text 24"/>
          <p:cNvSpPr/>
          <p:nvPr/>
        </p:nvSpPr>
        <p:spPr>
          <a:xfrm>
            <a:off x="3497671" y="3590032"/>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BGP, RPKI, RIPE NCC</a:t>
            </a:r>
            <a:endParaRPr lang="en-US" sz="900" dirty="0"/>
          </a:p>
        </p:txBody>
      </p:sp>
      <p:sp>
        <p:nvSpPr>
          <p:cNvPr id="27" name="Text 25"/>
          <p:cNvSpPr/>
          <p:nvPr/>
        </p:nvSpPr>
        <p:spPr>
          <a:xfrm>
            <a:off x="6211633" y="3590032"/>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Login with "ripeadmin", no 2FA</a:t>
            </a:r>
            <a:endParaRPr lang="en-US" sz="900" dirty="0"/>
          </a:p>
        </p:txBody>
      </p:sp>
      <p:sp>
        <p:nvSpPr>
          <p:cNvPr id="28" name="Text 26"/>
          <p:cNvSpPr/>
          <p:nvPr/>
        </p:nvSpPr>
        <p:spPr>
          <a:xfrm>
            <a:off x="8925595" y="3590032"/>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AS records modified; 3-hour outage, 50% traffic loss</a:t>
            </a:r>
            <a:endParaRPr lang="en-US" sz="900" dirty="0"/>
          </a:p>
        </p:txBody>
      </p:sp>
      <p:sp>
        <p:nvSpPr>
          <p:cNvPr id="29" name="Text 27"/>
          <p:cNvSpPr/>
          <p:nvPr/>
        </p:nvSpPr>
        <p:spPr>
          <a:xfrm>
            <a:off x="783709" y="4021237"/>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March–June 2024</a:t>
            </a:r>
            <a:endParaRPr lang="en-US" sz="900" dirty="0"/>
          </a:p>
        </p:txBody>
      </p:sp>
      <p:sp>
        <p:nvSpPr>
          <p:cNvPr id="30" name="Text 28"/>
          <p:cNvSpPr/>
          <p:nvPr/>
        </p:nvSpPr>
        <p:spPr>
          <a:xfrm>
            <a:off x="3497671" y="4021237"/>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Edge VPNs, Cisco routers, SNMP</a:t>
            </a:r>
            <a:endParaRPr lang="en-US" sz="900" dirty="0"/>
          </a:p>
        </p:txBody>
      </p:sp>
      <p:sp>
        <p:nvSpPr>
          <p:cNvPr id="31" name="Text 29"/>
          <p:cNvSpPr/>
          <p:nvPr/>
        </p:nvSpPr>
        <p:spPr>
          <a:xfrm>
            <a:off x="6211633" y="4021237"/>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Ivanti/Cisco CVEs; custom implants deployed</a:t>
            </a:r>
            <a:endParaRPr lang="en-US" sz="900" dirty="0"/>
          </a:p>
        </p:txBody>
      </p:sp>
      <p:sp>
        <p:nvSpPr>
          <p:cNvPr id="32" name="Text 30"/>
          <p:cNvSpPr/>
          <p:nvPr/>
        </p:nvSpPr>
        <p:spPr>
          <a:xfrm>
            <a:off x="8925595" y="4021237"/>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Persistent entry; admin control of devices</a:t>
            </a:r>
            <a:endParaRPr lang="en-US" sz="900" dirty="0"/>
          </a:p>
        </p:txBody>
      </p:sp>
      <p:sp>
        <p:nvSpPr>
          <p:cNvPr id="33" name="Text 31"/>
          <p:cNvSpPr/>
          <p:nvPr/>
        </p:nvSpPr>
        <p:spPr>
          <a:xfrm>
            <a:off x="783709" y="4294981"/>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Sept–Late 2024</a:t>
            </a:r>
            <a:endParaRPr lang="en-US" sz="900" dirty="0"/>
          </a:p>
        </p:txBody>
      </p:sp>
      <p:sp>
        <p:nvSpPr>
          <p:cNvPr id="34" name="Text 32"/>
          <p:cNvSpPr/>
          <p:nvPr/>
        </p:nvSpPr>
        <p:spPr>
          <a:xfrm>
            <a:off x="3497671" y="4294981"/>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SS7/Diameter, CALEA</a:t>
            </a:r>
            <a:endParaRPr lang="en-US" sz="900" dirty="0"/>
          </a:p>
        </p:txBody>
      </p:sp>
      <p:sp>
        <p:nvSpPr>
          <p:cNvPr id="35" name="Text 33"/>
          <p:cNvSpPr/>
          <p:nvPr/>
        </p:nvSpPr>
        <p:spPr>
          <a:xfrm>
            <a:off x="6211633" y="4294981"/>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Core routing compromised; surveillance databases infiltrated</a:t>
            </a:r>
            <a:endParaRPr lang="en-US" sz="900" dirty="0"/>
          </a:p>
        </p:txBody>
      </p:sp>
      <p:sp>
        <p:nvSpPr>
          <p:cNvPr id="36" name="Text 34"/>
          <p:cNvSpPr/>
          <p:nvPr/>
        </p:nvSpPr>
        <p:spPr>
          <a:xfrm>
            <a:off x="8925595" y="4294981"/>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Call records and government metadata exfiltrated</a:t>
            </a:r>
            <a:endParaRPr lang="en-US" sz="900" dirty="0"/>
          </a:p>
        </p:txBody>
      </p:sp>
      <p:sp>
        <p:nvSpPr>
          <p:cNvPr id="37" name="Text 35"/>
          <p:cNvSpPr/>
          <p:nvPr/>
        </p:nvSpPr>
        <p:spPr>
          <a:xfrm>
            <a:off x="783709" y="4726186"/>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Mid–Late 2025</a:t>
            </a:r>
            <a:endParaRPr lang="en-US" sz="900" dirty="0"/>
          </a:p>
        </p:txBody>
      </p:sp>
      <p:sp>
        <p:nvSpPr>
          <p:cNvPr id="38" name="Text 36"/>
          <p:cNvSpPr/>
          <p:nvPr/>
        </p:nvSpPr>
        <p:spPr>
          <a:xfrm>
            <a:off x="3497671" y="4726186"/>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Satellite ground control, GTPDOOR</a:t>
            </a:r>
            <a:endParaRPr lang="en-US" sz="900" dirty="0"/>
          </a:p>
        </p:txBody>
      </p:sp>
      <p:sp>
        <p:nvSpPr>
          <p:cNvPr id="39" name="Text 37"/>
          <p:cNvSpPr/>
          <p:nvPr/>
        </p:nvSpPr>
        <p:spPr>
          <a:xfrm>
            <a:off x="6211633" y="4726186"/>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Remote management links abused; GTP covert wrappers deployed</a:t>
            </a:r>
            <a:endParaRPr lang="en-US" sz="900" dirty="0"/>
          </a:p>
        </p:txBody>
      </p:sp>
      <p:sp>
        <p:nvSpPr>
          <p:cNvPr id="40" name="Text 38"/>
          <p:cNvSpPr/>
          <p:nvPr/>
        </p:nvSpPr>
        <p:spPr>
          <a:xfrm>
            <a:off x="8925595" y="4726186"/>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Satellite telemetry accessed; stealthy C2 in roaming interfaces</a:t>
            </a:r>
            <a:endParaRPr lang="en-US" sz="900" dirty="0"/>
          </a:p>
        </p:txBody>
      </p:sp>
      <p:sp>
        <p:nvSpPr>
          <p:cNvPr id="41" name="Text 39"/>
          <p:cNvSpPr/>
          <p:nvPr/>
        </p:nvSpPr>
        <p:spPr>
          <a:xfrm>
            <a:off x="783709" y="5157391"/>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Q1 2026</a:t>
            </a:r>
            <a:endParaRPr lang="en-US" sz="900" dirty="0"/>
          </a:p>
        </p:txBody>
      </p:sp>
      <p:sp>
        <p:nvSpPr>
          <p:cNvPr id="42" name="Text 40"/>
          <p:cNvSpPr/>
          <p:nvPr/>
        </p:nvSpPr>
        <p:spPr>
          <a:xfrm>
            <a:off x="3497671" y="5157391"/>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Enterprise core, Active Directories</a:t>
            </a:r>
            <a:endParaRPr lang="en-US" sz="900" dirty="0"/>
          </a:p>
        </p:txBody>
      </p:sp>
      <p:sp>
        <p:nvSpPr>
          <p:cNvPr id="43" name="Text 41"/>
          <p:cNvSpPr/>
          <p:nvPr/>
        </p:nvSpPr>
        <p:spPr>
          <a:xfrm>
            <a:off x="6211633" y="5157391"/>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Lateral pivot across admin zones</a:t>
            </a:r>
            <a:endParaRPr lang="en-US" sz="900" dirty="0"/>
          </a:p>
        </p:txBody>
      </p:sp>
      <p:sp>
        <p:nvSpPr>
          <p:cNvPr id="44" name="Text 42"/>
          <p:cNvSpPr/>
          <p:nvPr/>
        </p:nvSpPr>
        <p:spPr>
          <a:xfrm>
            <a:off x="8925595" y="5157391"/>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Forensic containment sweeps and continuous auditing</a:t>
            </a:r>
            <a:endParaRPr lang="en-US" sz="900" dirty="0"/>
          </a:p>
        </p:txBody>
      </p:sp>
      <p:sp>
        <p:nvSpPr>
          <p:cNvPr id="45" name="Shape 43"/>
          <p:cNvSpPr/>
          <p:nvPr/>
        </p:nvSpPr>
        <p:spPr>
          <a:xfrm>
            <a:off x="661475" y="5624711"/>
            <a:ext cx="10868745" cy="526554"/>
          </a:xfrm>
          <a:prstGeom prst="roundRect">
            <a:avLst>
              <a:gd name="adj" fmla="val 3298"/>
            </a:avLst>
          </a:prstGeom>
          <a:solidFill>
            <a:srgbClr val="CCFFF3"/>
          </a:solidFill>
          <a:ln/>
        </p:spPr>
      </p:sp>
      <p:pic>
        <p:nvPicPr>
          <p:cNvPr id="46" name="Image 0" descr="preencoded.png">    </p:cNvPr>
          <p:cNvPicPr>
            <a:picLocks noChangeAspect="1"/>
          </p:cNvPicPr>
          <p:nvPr/>
        </p:nvPicPr>
        <p:blipFill>
          <a:blip r:embed="rId1"/>
          <a:stretch>
            <a:fillRect/>
          </a:stretch>
        </p:blipFill>
        <p:spPr>
          <a:xfrm>
            <a:off x="777161" y="5775920"/>
            <a:ext cx="144657" cy="115689"/>
          </a:xfrm>
          <a:prstGeom prst="rect">
            <a:avLst/>
          </a:prstGeom>
        </p:spPr>
      </p:pic>
      <p:sp>
        <p:nvSpPr>
          <p:cNvPr id="47" name="Text 44"/>
          <p:cNvSpPr/>
          <p:nvPr/>
        </p:nvSpPr>
        <p:spPr>
          <a:xfrm>
            <a:off x="1037505" y="5734546"/>
            <a:ext cx="10377029"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Financial Consequences:</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Salt Typhoon disclosure caused a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0.3% market cap drop ($130M loss)</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and triggered a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$177M class-action settlement</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Orange Spain incurred immediate SLA penalties and brand damage.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65373"/>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00674F"/>
                </a:solidFill>
                <a:latin typeface="Crimson Pro SemiBold" pitchFamily="34" charset="0"/>
                <a:ea typeface="Crimson Pro SemiBold" pitchFamily="34" charset="-122"/>
                <a:cs typeface="Crimson Pro SemiBold" pitchFamily="34" charset="-120"/>
              </a:rPr>
              <a:t>Mitigation Strategies</a:t>
            </a:r>
            <a:endParaRPr lang="en-US" sz="2400" dirty="0"/>
          </a:p>
        </p:txBody>
      </p:sp>
      <p:sp>
        <p:nvSpPr>
          <p:cNvPr id="3" name="Text 1"/>
          <p:cNvSpPr/>
          <p:nvPr/>
        </p:nvSpPr>
        <p:spPr>
          <a:xfrm>
            <a:off x="661475" y="1190228"/>
            <a:ext cx="10868745" cy="193774"/>
          </a:xfrm>
          <a:prstGeom prst="rect">
            <a:avLst/>
          </a:prstGeom>
          <a:noFill/>
          <a:ln/>
        </p:spPr>
        <p:txBody>
          <a:bodyPr wrap="none" lIns="0" tIns="0" rIns="0" bIns="0" rtlCol="0" anchor="t"/>
          <a:lstStyle/>
          <a:p>
            <a:pPr algn="l" indent="0" marL="0">
              <a:lnSpc>
                <a:spcPct val="104000"/>
              </a:lnSpc>
              <a:buNone/>
            </a:pPr>
            <a:r>
              <a:rPr lang="en-US" sz="1200" dirty="0">
                <a:solidFill>
                  <a:srgbClr val="00674F"/>
                </a:solidFill>
                <a:latin typeface="Crimson Pro SemiBold" pitchFamily="34" charset="0"/>
                <a:ea typeface="Crimson Pro SemiBold" pitchFamily="34" charset="-122"/>
                <a:cs typeface="Crimson Pro SemiBold" pitchFamily="34" charset="-120"/>
              </a:rPr>
              <a:t>Strategic Countermeasures &amp; Defense-in-Depth Architecture</a:t>
            </a:r>
            <a:endParaRPr lang="en-US" sz="12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523504"/>
            <a:ext cx="310051" cy="310059"/>
          </a:xfrm>
          <a:prstGeom prst="rect">
            <a:avLst/>
          </a:prstGeom>
        </p:spPr>
      </p:pic>
      <p:sp>
        <p:nvSpPr>
          <p:cNvPr id="5" name="Text 2"/>
          <p:cNvSpPr/>
          <p:nvPr/>
        </p:nvSpPr>
        <p:spPr>
          <a:xfrm>
            <a:off x="1087807" y="1523504"/>
            <a:ext cx="4949900" cy="193774"/>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Zero Trust &amp; Phishing-Resistant MFA</a:t>
            </a:r>
            <a:endParaRPr lang="en-US" sz="1200" dirty="0"/>
          </a:p>
        </p:txBody>
      </p:sp>
      <p:sp>
        <p:nvSpPr>
          <p:cNvPr id="6" name="Text 3"/>
          <p:cNvSpPr/>
          <p:nvPr/>
        </p:nvSpPr>
        <p:spPr>
          <a:xfrm>
            <a:off x="1087807" y="1773039"/>
            <a:ext cx="4949900" cy="694531"/>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Enforce MFA across all admin systems, RIR portals, and edge interfaces. Implement PAM to restrict credentials to minimum necessary functions.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Blocks 99%+ of identity-based attacks</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saves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$225K/year</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ZTA restricts lateral movement by up to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80%</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saving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$1.76M</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in recovery costs.</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3988" y="1523504"/>
            <a:ext cx="310051" cy="310059"/>
          </a:xfrm>
          <a:prstGeom prst="rect">
            <a:avLst/>
          </a:prstGeom>
        </p:spPr>
      </p:pic>
      <p:sp>
        <p:nvSpPr>
          <p:cNvPr id="8" name="Text 4"/>
          <p:cNvSpPr/>
          <p:nvPr/>
        </p:nvSpPr>
        <p:spPr>
          <a:xfrm>
            <a:off x="6580321" y="1523504"/>
            <a:ext cx="4949900" cy="193774"/>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Signaling Firewalls (GTP/SS7/Diameter)</a:t>
            </a:r>
            <a:endParaRPr lang="en-US" sz="1200" dirty="0"/>
          </a:p>
        </p:txBody>
      </p:sp>
      <p:sp>
        <p:nvSpPr>
          <p:cNvPr id="9" name="Text 5"/>
          <p:cNvSpPr/>
          <p:nvPr/>
        </p:nvSpPr>
        <p:spPr>
          <a:xfrm>
            <a:off x="6580321" y="1773039"/>
            <a:ext cx="4949900" cy="694531"/>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Deploy dedicated signaling firewalls enforcing GSMA FS.20 parameters and velocity checks. Detects geographically impossible roaming requests and GTPDOOR command structures at network boundaries. Avoids systemic outages and NIS2 turnover-based fines.</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2653605"/>
            <a:ext cx="310051" cy="310059"/>
          </a:xfrm>
          <a:prstGeom prst="rect">
            <a:avLst/>
          </a:prstGeom>
        </p:spPr>
      </p:pic>
      <p:sp>
        <p:nvSpPr>
          <p:cNvPr id="11" name="Text 6"/>
          <p:cNvSpPr/>
          <p:nvPr/>
        </p:nvSpPr>
        <p:spPr>
          <a:xfrm>
            <a:off x="1087807" y="2653605"/>
            <a:ext cx="4949900" cy="193774"/>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Security AI &amp; Automation</a:t>
            </a:r>
            <a:endParaRPr lang="en-US" sz="1200" dirty="0"/>
          </a:p>
        </p:txBody>
      </p:sp>
      <p:sp>
        <p:nvSpPr>
          <p:cNvPr id="12" name="Text 7"/>
          <p:cNvSpPr/>
          <p:nvPr/>
        </p:nvSpPr>
        <p:spPr>
          <a:xfrm>
            <a:off x="1087807" y="2903141"/>
            <a:ext cx="4949900" cy="694531"/>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Integrate real-time telemetry from IT and telecom networks. ML-driven detection flags unauthorized SNMP changes and virtualization-layer lateral movement. Reduces detection and containment times by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80 days</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cutting breach costs by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34%</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and saving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$1.90M</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a:t>
            </a:r>
            <a:endParaRPr lang="en-US" sz="9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53988" y="2653605"/>
            <a:ext cx="310051" cy="310059"/>
          </a:xfrm>
          <a:prstGeom prst="rect">
            <a:avLst/>
          </a:prstGeom>
        </p:spPr>
      </p:pic>
      <p:sp>
        <p:nvSpPr>
          <p:cNvPr id="14" name="Text 8"/>
          <p:cNvSpPr/>
          <p:nvPr/>
        </p:nvSpPr>
        <p:spPr>
          <a:xfrm>
            <a:off x="6580321" y="2653605"/>
            <a:ext cx="4949900" cy="193774"/>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Tested Incident Response Plan</a:t>
            </a:r>
            <a:endParaRPr lang="en-US" sz="1200" dirty="0"/>
          </a:p>
        </p:txBody>
      </p:sp>
      <p:sp>
        <p:nvSpPr>
          <p:cNvPr id="15" name="Text 9"/>
          <p:cNvSpPr/>
          <p:nvPr/>
        </p:nvSpPr>
        <p:spPr>
          <a:xfrm>
            <a:off x="6580321" y="2903141"/>
            <a:ext cx="4949900" cy="520898"/>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Regular tabletop exercises cut containment windows from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287 to 73 days</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The highest single cost mitigator, saving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$2.66M</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Proactive risk management achieves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78% mitigation rate</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vs. 35% for reactive approaches, reducing three-year costs by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25%</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a:t>
            </a:r>
            <a:endParaRPr lang="en-US" sz="950" dirty="0"/>
          </a:p>
        </p:txBody>
      </p:sp>
      <p:sp>
        <p:nvSpPr>
          <p:cNvPr id="16" name="Text 10"/>
          <p:cNvSpPr/>
          <p:nvPr/>
        </p:nvSpPr>
        <p:spPr>
          <a:xfrm>
            <a:off x="661475" y="3737173"/>
            <a:ext cx="10868745" cy="310059"/>
          </a:xfrm>
          <a:prstGeom prst="rect">
            <a:avLst/>
          </a:prstGeom>
          <a:noFill/>
          <a:ln/>
        </p:spPr>
        <p:txBody>
          <a:bodyPr wrap="none" lIns="0" tIns="0" rIns="0" bIns="0" rtlCol="0" anchor="t"/>
          <a:lstStyle/>
          <a:p>
            <a:pPr algn="l" indent="0" marL="0">
              <a:lnSpc>
                <a:spcPct val="104000"/>
              </a:lnSpc>
              <a:buNone/>
            </a:pPr>
            <a:r>
              <a:rPr lang="en-US" sz="1950" dirty="0">
                <a:solidFill>
                  <a:srgbClr val="00674F"/>
                </a:solidFill>
                <a:latin typeface="Crimson Pro SemiBold" pitchFamily="34" charset="0"/>
                <a:ea typeface="Crimson Pro SemiBold" pitchFamily="34" charset="-122"/>
                <a:cs typeface="Crimson Pro SemiBold" pitchFamily="34" charset="-120"/>
              </a:rPr>
              <a:t>European Regulatory Integration: NIS2, DORA &amp; CER</a:t>
            </a:r>
            <a:endParaRPr lang="en-US" sz="1950" dirty="0"/>
          </a:p>
        </p:txBody>
      </p:sp>
      <p:pic>
        <p:nvPicPr>
          <p:cNvPr id="1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186734"/>
            <a:ext cx="3560872" cy="1905794"/>
          </a:xfrm>
          <a:prstGeom prst="rect">
            <a:avLst/>
          </a:prstGeom>
        </p:spPr>
      </p:pic>
      <p:sp>
        <p:nvSpPr>
          <p:cNvPr id="18" name="Text 11"/>
          <p:cNvSpPr/>
          <p:nvPr/>
        </p:nvSpPr>
        <p:spPr>
          <a:xfrm>
            <a:off x="798195" y="4664472"/>
            <a:ext cx="3287432" cy="193774"/>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NIS2 Directive (2022/2555)</a:t>
            </a:r>
            <a:endParaRPr lang="en-US" sz="1200" dirty="0"/>
          </a:p>
        </p:txBody>
      </p:sp>
      <p:sp>
        <p:nvSpPr>
          <p:cNvPr id="19" name="Text 12"/>
          <p:cNvSpPr/>
          <p:nvPr/>
        </p:nvSpPr>
        <p:spPr>
          <a:xfrm>
            <a:off x="798195" y="4914007"/>
            <a:ext cx="3287432" cy="1041797"/>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Telecom operators designated as </a:t>
            </a:r>
            <a:pPr algn="l" indent="0" marL="0">
              <a:lnSpc>
                <a:spcPct val="117000"/>
              </a:lnSpc>
              <a:buNone/>
            </a:pPr>
            <a:r>
              <a:rPr lang="en-US" sz="950" b="1" dirty="0">
                <a:solidFill>
                  <a:srgbClr val="000000"/>
                </a:solidFill>
                <a:latin typeface="Heebo Bold" pitchFamily="34" charset="0"/>
                <a:ea typeface="Heebo Bold" pitchFamily="34" charset="-122"/>
                <a:cs typeface="Heebo Bold" pitchFamily="34" charset="-120"/>
              </a:rPr>
              <a:t>Essential Entities</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face </a:t>
            </a:r>
            <a:pPr algn="l" indent="0" marL="0">
              <a:lnSpc>
                <a:spcPct val="117000"/>
              </a:lnSpc>
              <a:buNone/>
            </a:pPr>
            <a:r>
              <a:rPr lang="en-US" sz="950" i="1" dirty="0">
                <a:solidFill>
                  <a:srgbClr val="000000"/>
                </a:solidFill>
                <a:latin typeface="Heebo" pitchFamily="34" charset="0"/>
                <a:ea typeface="Heebo" pitchFamily="34" charset="-122"/>
                <a:cs typeface="Heebo" pitchFamily="34" charset="-120"/>
              </a:rPr>
              <a:t>ex-ante</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supervision. Article 21 requires MFA, encryption, supply chain risk management, and vulnerability disclosure. Incident reporting: early warning </a:t>
            </a:r>
            <a:pPr algn="l" indent="0" marL="0">
              <a:lnSpc>
                <a:spcPct val="117000"/>
              </a:lnSpc>
              <a:buNone/>
            </a:pPr>
            <a:r>
              <a:rPr lang="en-US" sz="950" b="1" dirty="0">
                <a:solidFill>
                  <a:srgbClr val="000000"/>
                </a:solidFill>
                <a:latin typeface="Heebo Bold" pitchFamily="34" charset="0"/>
                <a:ea typeface="Heebo Bold" pitchFamily="34" charset="-122"/>
                <a:cs typeface="Heebo Bold" pitchFamily="34" charset="-120"/>
              </a:rPr>
              <a:t>24h</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formal notification </a:t>
            </a:r>
            <a:pPr algn="l" indent="0" marL="0">
              <a:lnSpc>
                <a:spcPct val="117000"/>
              </a:lnSpc>
              <a:buNone/>
            </a:pPr>
            <a:r>
              <a:rPr lang="en-US" sz="950" b="1" dirty="0">
                <a:solidFill>
                  <a:srgbClr val="000000"/>
                </a:solidFill>
                <a:latin typeface="Heebo Bold" pitchFamily="34" charset="0"/>
                <a:ea typeface="Heebo Bold" pitchFamily="34" charset="-122"/>
                <a:cs typeface="Heebo Bold" pitchFamily="34" charset="-120"/>
              </a:rPr>
              <a:t>72h</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root-cause analysis </a:t>
            </a:r>
            <a:pPr algn="l" indent="0" marL="0">
              <a:lnSpc>
                <a:spcPct val="117000"/>
              </a:lnSpc>
              <a:buNone/>
            </a:pPr>
            <a:r>
              <a:rPr lang="en-US" sz="950" b="1" dirty="0">
                <a:solidFill>
                  <a:srgbClr val="000000"/>
                </a:solidFill>
                <a:latin typeface="Heebo Bold" pitchFamily="34" charset="0"/>
                <a:ea typeface="Heebo Bold" pitchFamily="34" charset="-122"/>
                <a:cs typeface="Heebo Bold" pitchFamily="34" charset="-120"/>
              </a:rPr>
              <a:t>1 month</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Fines: up to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€10M or 2%</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of worldwide turnover; potential executive liability.</a:t>
            </a:r>
            <a:endParaRPr lang="en-US" sz="950" dirty="0"/>
          </a:p>
        </p:txBody>
      </p:sp>
      <p:pic>
        <p:nvPicPr>
          <p:cNvPr id="2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315312" y="4186734"/>
            <a:ext cx="3560971" cy="1905794"/>
          </a:xfrm>
          <a:prstGeom prst="rect">
            <a:avLst/>
          </a:prstGeom>
        </p:spPr>
      </p:pic>
      <p:sp>
        <p:nvSpPr>
          <p:cNvPr id="21" name="Text 13"/>
          <p:cNvSpPr/>
          <p:nvPr/>
        </p:nvSpPr>
        <p:spPr>
          <a:xfrm>
            <a:off x="4452032" y="4664472"/>
            <a:ext cx="3287531" cy="193774"/>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DORA</a:t>
            </a:r>
            <a:endParaRPr lang="en-US" sz="1200" dirty="0"/>
          </a:p>
        </p:txBody>
      </p:sp>
      <p:sp>
        <p:nvSpPr>
          <p:cNvPr id="22" name="Text 14"/>
          <p:cNvSpPr/>
          <p:nvPr/>
        </p:nvSpPr>
        <p:spPr>
          <a:xfrm>
            <a:off x="4452032" y="4914007"/>
            <a:ext cx="3287531" cy="868164"/>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Applies to telecom operators as critical ICT third-party providers. Requires continuous compliance audits, threat-led penetration testing, and rapid incident disclosure. Fines: up to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1%</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of average daily worldwide turnover for ongoing failures.</a:t>
            </a:r>
            <a:endParaRPr lang="en-US" sz="950" dirty="0"/>
          </a:p>
        </p:txBody>
      </p:sp>
      <p:pic>
        <p:nvPicPr>
          <p:cNvPr id="2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969249" y="4186734"/>
            <a:ext cx="3560872" cy="1905794"/>
          </a:xfrm>
          <a:prstGeom prst="rect">
            <a:avLst/>
          </a:prstGeom>
        </p:spPr>
      </p:pic>
      <p:sp>
        <p:nvSpPr>
          <p:cNvPr id="24" name="Text 15"/>
          <p:cNvSpPr/>
          <p:nvPr/>
        </p:nvSpPr>
        <p:spPr>
          <a:xfrm>
            <a:off x="8105969" y="4664472"/>
            <a:ext cx="3287432" cy="193774"/>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CER Directive (2022/2557)</a:t>
            </a:r>
            <a:endParaRPr lang="en-US" sz="1200" dirty="0"/>
          </a:p>
        </p:txBody>
      </p:sp>
      <p:sp>
        <p:nvSpPr>
          <p:cNvPr id="25" name="Text 16"/>
          <p:cNvSpPr/>
          <p:nvPr/>
        </p:nvSpPr>
        <p:spPr>
          <a:xfrm>
            <a:off x="8105969" y="4914007"/>
            <a:ext cx="3287432" cy="1041797"/>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All-hazards approach to physical and operational security. Requires robust physical security, disaster recovery, and business continuity plans for data centers, subsea cable stations, and terrestrial exchanges. Unified NIS2/DORA/CER framework reduces compliance overhead by </a:t>
            </a:r>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45%</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2026-07-13T12:57:40Z</dcterms:created>
  <dcterms:modified xsi:type="dcterms:W3CDTF">2026-07-13T12:57:40Z</dcterms:modified>
</cp:coreProperties>
</file>